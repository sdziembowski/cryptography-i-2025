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3"/>
  </p:notesMasterIdLst>
  <p:handoutMasterIdLst>
    <p:handoutMasterId r:id="rId64"/>
  </p:handoutMasterIdLst>
  <p:sldIdLst>
    <p:sldId id="256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3" r:id="rId22"/>
    <p:sldId id="354" r:id="rId23"/>
    <p:sldId id="355" r:id="rId24"/>
    <p:sldId id="416" r:id="rId25"/>
    <p:sldId id="356" r:id="rId26"/>
    <p:sldId id="411" r:id="rId27"/>
    <p:sldId id="412" r:id="rId28"/>
    <p:sldId id="413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366" r:id="rId39"/>
    <p:sldId id="368" r:id="rId40"/>
    <p:sldId id="414" r:id="rId41"/>
    <p:sldId id="369" r:id="rId42"/>
    <p:sldId id="370" r:id="rId43"/>
    <p:sldId id="371" r:id="rId44"/>
    <p:sldId id="372" r:id="rId45"/>
    <p:sldId id="373" r:id="rId46"/>
    <p:sldId id="374" r:id="rId47"/>
    <p:sldId id="375" r:id="rId48"/>
    <p:sldId id="376" r:id="rId49"/>
    <p:sldId id="377" r:id="rId50"/>
    <p:sldId id="378" r:id="rId51"/>
    <p:sldId id="379" r:id="rId52"/>
    <p:sldId id="390" r:id="rId53"/>
    <p:sldId id="391" r:id="rId54"/>
    <p:sldId id="417" r:id="rId55"/>
    <p:sldId id="415" r:id="rId56"/>
    <p:sldId id="406" r:id="rId57"/>
    <p:sldId id="407" r:id="rId58"/>
    <p:sldId id="408" r:id="rId59"/>
    <p:sldId id="409" r:id="rId60"/>
    <p:sldId id="410" r:id="rId61"/>
    <p:sldId id="332" r:id="rId62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728" y="4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111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174" cy="340570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247" y="0"/>
            <a:ext cx="4301173" cy="340570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B52B030A-C634-4E3D-8FDD-CD739566B180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7105"/>
            <a:ext cx="4301174" cy="340570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247" y="6457105"/>
            <a:ext cx="4301173" cy="340570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C333A830-0A1A-484E-B3CD-50C50A92CAF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9736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1543" cy="341064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1"/>
            <a:ext cx="4301543" cy="341064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r">
              <a:defRPr sz="1300"/>
            </a:lvl1pPr>
          </a:lstStyle>
          <a:p>
            <a:fld id="{9A9543F3-0831-4635-AD48-8E4410E96487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32175" y="849313"/>
            <a:ext cx="3062288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8" tIns="47779" rIns="95558" bIns="477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5558" tIns="47779" rIns="95558" bIns="477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3"/>
            <a:ext cx="4301543" cy="341063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3"/>
            <a:ext cx="4301543" cy="341063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r">
              <a:defRPr sz="1300"/>
            </a:lvl1pPr>
          </a:lstStyle>
          <a:p>
            <a:fld id="{8BBDC37B-729A-4393-B484-407F8F0BF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3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51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18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07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37116-5B44-4F07-99AC-7D809BCE14D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88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37116-5B44-4F07-99AC-7D809BCE14D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88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26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8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61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70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36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88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3FD5E2-5C49-49DB-8FD6-FBF7B6BD023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47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60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7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08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66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078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49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929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27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726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37116-5B44-4F07-99AC-7D809BCE14D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958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932CF6-142F-4865-B9D1-834084EDB38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029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43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986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711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363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522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35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045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175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670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587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577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794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945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469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428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126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555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172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682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587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431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065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953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1112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4079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4370A-D25C-4D76-95AA-8FE65C24A240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900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930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37116-5B44-4F07-99AC-7D809BCE14D1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462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37116-5B44-4F07-99AC-7D809BCE14D1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7045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37116-5B44-4F07-99AC-7D809BCE14D1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026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37116-5B44-4F07-99AC-7D809BCE14D1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6073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537116-5B44-4F07-99AC-7D809BCE14D1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835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7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F2CE963-E336-4791-BEE1-7AA5286EE6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5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FABD3-5AFF-4669-BE74-12D79B49C211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ypto.edu.pl/Dziembowsk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rkle.com/1974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wmf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60.png"/><Relationship Id="rId10" Type="http://schemas.openxmlformats.org/officeDocument/2006/relationships/image" Target="../media/image10.png"/><Relationship Id="rId4" Type="http://schemas.openxmlformats.org/officeDocument/2006/relationships/image" Target="../media/image4.wmf"/><Relationship Id="rId9" Type="http://schemas.openxmlformats.org/officeDocument/2006/relationships/image" Target="../media/image9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4.wmf"/><Relationship Id="rId10" Type="http://schemas.openxmlformats.org/officeDocument/2006/relationships/image" Target="../media/image19.png"/><Relationship Id="rId4" Type="http://schemas.openxmlformats.org/officeDocument/2006/relationships/image" Target="../media/image3.wmf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11" Type="http://schemas.openxmlformats.org/officeDocument/2006/relationships/image" Target="../media/image32.png"/><Relationship Id="rId5" Type="http://schemas.openxmlformats.org/officeDocument/2006/relationships/image" Target="../media/image7.jpe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6.jpe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41.png"/><Relationship Id="rId18" Type="http://schemas.openxmlformats.org/officeDocument/2006/relationships/image" Target="../media/image45.pn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34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11" Type="http://schemas.openxmlformats.org/officeDocument/2006/relationships/image" Target="../media/image40.png"/><Relationship Id="rId5" Type="http://schemas.openxmlformats.org/officeDocument/2006/relationships/image" Target="../media/image7.jpeg"/><Relationship Id="rId15" Type="http://schemas.openxmlformats.org/officeDocument/2006/relationships/image" Target="../media/image43.png"/><Relationship Id="rId10" Type="http://schemas.openxmlformats.org/officeDocument/2006/relationships/image" Target="../media/image32.png"/><Relationship Id="rId19" Type="http://schemas.openxmlformats.org/officeDocument/2006/relationships/image" Target="../media/image46.png"/><Relationship Id="rId4" Type="http://schemas.openxmlformats.org/officeDocument/2006/relationships/image" Target="../media/image6.jpeg"/><Relationship Id="rId9" Type="http://schemas.openxmlformats.org/officeDocument/2006/relationships/image" Target="../media/image30.png"/><Relationship Id="rId1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wmf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.wmf"/><Relationship Id="rId9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.wmf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0" Type="http://schemas.openxmlformats.org/officeDocument/2006/relationships/image" Target="../media/image58.png"/><Relationship Id="rId4" Type="http://schemas.openxmlformats.org/officeDocument/2006/relationships/image" Target="../media/image4.wmf"/><Relationship Id="rId9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4.wmf"/><Relationship Id="rId7" Type="http://schemas.openxmlformats.org/officeDocument/2006/relationships/image" Target="../media/image9.jpeg"/><Relationship Id="rId12" Type="http://schemas.openxmlformats.org/officeDocument/2006/relationships/image" Target="../media/image24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64.png"/><Relationship Id="rId5" Type="http://schemas.openxmlformats.org/officeDocument/2006/relationships/image" Target="../media/image7.jpe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11.jpe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5.png"/><Relationship Id="rId7" Type="http://schemas.openxmlformats.org/officeDocument/2006/relationships/image" Target="../media/image74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77.png"/><Relationship Id="rId5" Type="http://schemas.openxmlformats.org/officeDocument/2006/relationships/image" Target="../media/image4.wmf"/><Relationship Id="rId10" Type="http://schemas.openxmlformats.org/officeDocument/2006/relationships/image" Target="../media/image76.png"/><Relationship Id="rId4" Type="http://schemas.openxmlformats.org/officeDocument/2006/relationships/image" Target="../media/image3.wmf"/><Relationship Id="rId9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123.png"/><Relationship Id="rId3" Type="http://schemas.openxmlformats.org/officeDocument/2006/relationships/image" Target="../media/image11.jpeg"/><Relationship Id="rId7" Type="http://schemas.openxmlformats.org/officeDocument/2006/relationships/image" Target="../media/image9.jpeg"/><Relationship Id="rId12" Type="http://schemas.openxmlformats.org/officeDocument/2006/relationships/image" Target="../media/image118.pn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11" Type="http://schemas.openxmlformats.org/officeDocument/2006/relationships/image" Target="../media/image117.png"/><Relationship Id="rId5" Type="http://schemas.openxmlformats.org/officeDocument/2006/relationships/image" Target="../media/image81.jpeg"/><Relationship Id="rId15" Type="http://schemas.openxmlformats.org/officeDocument/2006/relationships/image" Target="../media/image120.png"/><Relationship Id="rId10" Type="http://schemas.openxmlformats.org/officeDocument/2006/relationships/image" Target="../media/image116.png"/><Relationship Id="rId4" Type="http://schemas.openxmlformats.org/officeDocument/2006/relationships/image" Target="../media/image80.jpeg"/><Relationship Id="rId9" Type="http://schemas.openxmlformats.org/officeDocument/2006/relationships/image" Target="../media/image30.png"/><Relationship Id="rId14" Type="http://schemas.openxmlformats.org/officeDocument/2006/relationships/image" Target="../media/image1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129.png"/><Relationship Id="rId3" Type="http://schemas.openxmlformats.org/officeDocument/2006/relationships/image" Target="../media/image4.wmf"/><Relationship Id="rId7" Type="http://schemas.openxmlformats.org/officeDocument/2006/relationships/image" Target="../media/image55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27.png"/><Relationship Id="rId5" Type="http://schemas.openxmlformats.org/officeDocument/2006/relationships/image" Target="../media/image3.wmf"/><Relationship Id="rId10" Type="http://schemas.openxmlformats.org/officeDocument/2006/relationships/image" Target="../media/image126.png"/><Relationship Id="rId4" Type="http://schemas.openxmlformats.org/officeDocument/2006/relationships/image" Target="../media/image25.png"/><Relationship Id="rId9" Type="http://schemas.openxmlformats.org/officeDocument/2006/relationships/image" Target="../media/image12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4.wmf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82.wmf"/><Relationship Id="rId4" Type="http://schemas.openxmlformats.org/officeDocument/2006/relationships/image" Target="../media/image1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ipsec.pl/podpis_elektroniczny/ustawa_o_podpisie_elektronicznym.pdf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ipsec.pl/podpis/EU%2099-93%20digsig%20pl.pdf" TargetMode="External"/><Relationship Id="rId4" Type="http://schemas.openxmlformats.org/officeDocument/2006/relationships/hyperlink" Target="http://isip.sejm.gov.pl/servlet/Search?todo=open&amp;id=WDU20011301450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18" Type="http://schemas.openxmlformats.org/officeDocument/2006/relationships/image" Target="../media/image148.png"/><Relationship Id="rId3" Type="http://schemas.openxmlformats.org/officeDocument/2006/relationships/image" Target="../media/image11.jpe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80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9.jpeg"/><Relationship Id="rId15" Type="http://schemas.openxmlformats.org/officeDocument/2006/relationships/image" Target="../media/image145.png"/><Relationship Id="rId10" Type="http://schemas.openxmlformats.org/officeDocument/2006/relationships/image" Target="../media/image140.png"/><Relationship Id="rId4" Type="http://schemas.openxmlformats.org/officeDocument/2006/relationships/image" Target="../media/image80.jpe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55.png"/><Relationship Id="rId18" Type="http://schemas.openxmlformats.org/officeDocument/2006/relationships/image" Target="../media/image158.png"/><Relationship Id="rId3" Type="http://schemas.openxmlformats.org/officeDocument/2006/relationships/image" Target="../media/image11.jpeg"/><Relationship Id="rId21" Type="http://schemas.openxmlformats.org/officeDocument/2006/relationships/image" Target="../media/image161.png"/><Relationship Id="rId7" Type="http://schemas.openxmlformats.org/officeDocument/2006/relationships/image" Target="../media/image150.png"/><Relationship Id="rId12" Type="http://schemas.openxmlformats.org/officeDocument/2006/relationships/image" Target="../media/image154.png"/><Relationship Id="rId17" Type="http://schemas.openxmlformats.org/officeDocument/2006/relationships/image" Target="../media/image157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63.png"/><Relationship Id="rId20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11" Type="http://schemas.openxmlformats.org/officeDocument/2006/relationships/image" Target="../media/image153.png"/><Relationship Id="rId24" Type="http://schemas.openxmlformats.org/officeDocument/2006/relationships/image" Target="../media/image164.png"/><Relationship Id="rId5" Type="http://schemas.openxmlformats.org/officeDocument/2006/relationships/image" Target="../media/image9.jpeg"/><Relationship Id="rId15" Type="http://schemas.openxmlformats.org/officeDocument/2006/relationships/image" Target="../media/image8.jpeg"/><Relationship Id="rId23" Type="http://schemas.openxmlformats.org/officeDocument/2006/relationships/image" Target="../media/image163.png"/><Relationship Id="rId10" Type="http://schemas.openxmlformats.org/officeDocument/2006/relationships/image" Target="../media/image152.png"/><Relationship Id="rId19" Type="http://schemas.openxmlformats.org/officeDocument/2006/relationships/image" Target="../media/image159.png"/><Relationship Id="rId4" Type="http://schemas.openxmlformats.org/officeDocument/2006/relationships/image" Target="../media/image80.jpe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Relationship Id="rId22" Type="http://schemas.openxmlformats.org/officeDocument/2006/relationships/image" Target="../media/image16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1.png"/><Relationship Id="rId18" Type="http://schemas.openxmlformats.org/officeDocument/2006/relationships/image" Target="../media/image174.png"/><Relationship Id="rId26" Type="http://schemas.openxmlformats.org/officeDocument/2006/relationships/image" Target="../media/image179.png"/><Relationship Id="rId3" Type="http://schemas.openxmlformats.org/officeDocument/2006/relationships/image" Target="../media/image81.jpeg"/><Relationship Id="rId21" Type="http://schemas.openxmlformats.org/officeDocument/2006/relationships/image" Target="../media/image176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17" Type="http://schemas.openxmlformats.org/officeDocument/2006/relationships/image" Target="../media/image173.png"/><Relationship Id="rId25" Type="http://schemas.openxmlformats.org/officeDocument/2006/relationships/image" Target="../media/image158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8.jpeg"/><Relationship Id="rId20" Type="http://schemas.openxmlformats.org/officeDocument/2006/relationships/image" Target="../media/image161.png"/><Relationship Id="rId29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69.png"/><Relationship Id="rId24" Type="http://schemas.openxmlformats.org/officeDocument/2006/relationships/image" Target="../media/image178.png"/><Relationship Id="rId5" Type="http://schemas.openxmlformats.org/officeDocument/2006/relationships/image" Target="../media/image80.jpeg"/><Relationship Id="rId15" Type="http://schemas.openxmlformats.org/officeDocument/2006/relationships/image" Target="../media/image156.png"/><Relationship Id="rId23" Type="http://schemas.openxmlformats.org/officeDocument/2006/relationships/image" Target="../media/image177.png"/><Relationship Id="rId28" Type="http://schemas.openxmlformats.org/officeDocument/2006/relationships/image" Target="../media/image180.png"/><Relationship Id="rId10" Type="http://schemas.openxmlformats.org/officeDocument/2006/relationships/image" Target="../media/image168.png"/><Relationship Id="rId19" Type="http://schemas.openxmlformats.org/officeDocument/2006/relationships/image" Target="../media/image175.png"/><Relationship Id="rId31" Type="http://schemas.openxmlformats.org/officeDocument/2006/relationships/image" Target="../media/image183.png"/><Relationship Id="rId4" Type="http://schemas.openxmlformats.org/officeDocument/2006/relationships/image" Target="../media/image11.jpeg"/><Relationship Id="rId9" Type="http://schemas.openxmlformats.org/officeDocument/2006/relationships/image" Target="../media/image167.png"/><Relationship Id="rId14" Type="http://schemas.openxmlformats.org/officeDocument/2006/relationships/image" Target="../media/image172.png"/><Relationship Id="rId22" Type="http://schemas.openxmlformats.org/officeDocument/2006/relationships/image" Target="../media/image163.png"/><Relationship Id="rId27" Type="http://schemas.openxmlformats.org/officeDocument/2006/relationships/image" Target="../media/image157.png"/><Relationship Id="rId30" Type="http://schemas.openxmlformats.org/officeDocument/2006/relationships/image" Target="../media/image18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42.png"/><Relationship Id="rId18" Type="http://schemas.openxmlformats.org/officeDocument/2006/relationships/image" Target="../media/image192.png"/><Relationship Id="rId3" Type="http://schemas.openxmlformats.org/officeDocument/2006/relationships/image" Target="../media/image184.png"/><Relationship Id="rId7" Type="http://schemas.openxmlformats.org/officeDocument/2006/relationships/image" Target="../media/image185.png"/><Relationship Id="rId12" Type="http://schemas.openxmlformats.org/officeDocument/2006/relationships/image" Target="../media/image141.png"/><Relationship Id="rId17" Type="http://schemas.openxmlformats.org/officeDocument/2006/relationships/image" Target="../media/image191.png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8.jpeg"/><Relationship Id="rId20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88.png"/><Relationship Id="rId5" Type="http://schemas.openxmlformats.org/officeDocument/2006/relationships/image" Target="../media/image80.jpeg"/><Relationship Id="rId15" Type="http://schemas.openxmlformats.org/officeDocument/2006/relationships/image" Target="../media/image190.png"/><Relationship Id="rId10" Type="http://schemas.openxmlformats.org/officeDocument/2006/relationships/image" Target="../media/image187.png"/><Relationship Id="rId19" Type="http://schemas.openxmlformats.org/officeDocument/2006/relationships/image" Target="../media/image159.png"/><Relationship Id="rId4" Type="http://schemas.openxmlformats.org/officeDocument/2006/relationships/image" Target="../media/image11.jpeg"/><Relationship Id="rId9" Type="http://schemas.openxmlformats.org/officeDocument/2006/relationships/image" Target="../media/image138.png"/><Relationship Id="rId14" Type="http://schemas.openxmlformats.org/officeDocument/2006/relationships/image" Target="../media/image18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199.png"/><Relationship Id="rId18" Type="http://schemas.openxmlformats.org/officeDocument/2006/relationships/image" Target="../media/image204.png"/><Relationship Id="rId3" Type="http://schemas.openxmlformats.org/officeDocument/2006/relationships/image" Target="../media/image11.jpeg"/><Relationship Id="rId7" Type="http://schemas.openxmlformats.org/officeDocument/2006/relationships/image" Target="../media/image137.png"/><Relationship Id="rId12" Type="http://schemas.openxmlformats.org/officeDocument/2006/relationships/image" Target="../media/image198.png"/><Relationship Id="rId17" Type="http://schemas.openxmlformats.org/officeDocument/2006/relationships/image" Target="../media/image203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11" Type="http://schemas.openxmlformats.org/officeDocument/2006/relationships/image" Target="../media/image197.png"/><Relationship Id="rId5" Type="http://schemas.openxmlformats.org/officeDocument/2006/relationships/image" Target="../media/image9.jpeg"/><Relationship Id="rId15" Type="http://schemas.openxmlformats.org/officeDocument/2006/relationships/image" Target="../media/image201.png"/><Relationship Id="rId10" Type="http://schemas.openxmlformats.org/officeDocument/2006/relationships/image" Target="../media/image196.png"/><Relationship Id="rId19" Type="http://schemas.openxmlformats.org/officeDocument/2006/relationships/image" Target="../media/image205.png"/><Relationship Id="rId4" Type="http://schemas.openxmlformats.org/officeDocument/2006/relationships/image" Target="../media/image80.jpeg"/><Relationship Id="rId9" Type="http://schemas.openxmlformats.org/officeDocument/2006/relationships/image" Target="../media/image139.png"/><Relationship Id="rId14" Type="http://schemas.openxmlformats.org/officeDocument/2006/relationships/image" Target="../media/image20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13" Type="http://schemas.openxmlformats.org/officeDocument/2006/relationships/image" Target="../media/image211.png"/><Relationship Id="rId18" Type="http://schemas.openxmlformats.org/officeDocument/2006/relationships/image" Target="../media/image216.png"/><Relationship Id="rId3" Type="http://schemas.openxmlformats.org/officeDocument/2006/relationships/image" Target="../media/image11.jpeg"/><Relationship Id="rId21" Type="http://schemas.openxmlformats.org/officeDocument/2006/relationships/image" Target="../media/image219.png"/><Relationship Id="rId7" Type="http://schemas.openxmlformats.org/officeDocument/2006/relationships/image" Target="../media/image206.pn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214.png"/><Relationship Id="rId20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209.png"/><Relationship Id="rId5" Type="http://schemas.openxmlformats.org/officeDocument/2006/relationships/image" Target="../media/image9.jpeg"/><Relationship Id="rId15" Type="http://schemas.openxmlformats.org/officeDocument/2006/relationships/image" Target="../media/image213.png"/><Relationship Id="rId10" Type="http://schemas.openxmlformats.org/officeDocument/2006/relationships/image" Target="../media/image140.png"/><Relationship Id="rId19" Type="http://schemas.openxmlformats.org/officeDocument/2006/relationships/image" Target="../media/image217.png"/><Relationship Id="rId4" Type="http://schemas.openxmlformats.org/officeDocument/2006/relationships/image" Target="../media/image80.jpeg"/><Relationship Id="rId9" Type="http://schemas.openxmlformats.org/officeDocument/2006/relationships/image" Target="../media/image208.png"/><Relationship Id="rId14" Type="http://schemas.openxmlformats.org/officeDocument/2006/relationships/image" Target="../media/image2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230.png"/><Relationship Id="rId18" Type="http://schemas.openxmlformats.org/officeDocument/2006/relationships/image" Target="../media/image235.png"/><Relationship Id="rId3" Type="http://schemas.openxmlformats.org/officeDocument/2006/relationships/image" Target="../media/image11.jpeg"/><Relationship Id="rId7" Type="http://schemas.openxmlformats.org/officeDocument/2006/relationships/image" Target="../media/image225.png"/><Relationship Id="rId12" Type="http://schemas.openxmlformats.org/officeDocument/2006/relationships/image" Target="../media/image229.png"/><Relationship Id="rId17" Type="http://schemas.openxmlformats.org/officeDocument/2006/relationships/image" Target="../media/image234.png"/><Relationship Id="rId2" Type="http://schemas.openxmlformats.org/officeDocument/2006/relationships/notesSlide" Target="../notesSlides/notesSlide47.xml"/><Relationship Id="rId16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.png"/><Relationship Id="rId11" Type="http://schemas.openxmlformats.org/officeDocument/2006/relationships/image" Target="../media/image228.png"/><Relationship Id="rId5" Type="http://schemas.openxmlformats.org/officeDocument/2006/relationships/image" Target="../media/image9.jpeg"/><Relationship Id="rId15" Type="http://schemas.openxmlformats.org/officeDocument/2006/relationships/image" Target="../media/image232.png"/><Relationship Id="rId10" Type="http://schemas.openxmlformats.org/officeDocument/2006/relationships/image" Target="../media/image8.jpeg"/><Relationship Id="rId4" Type="http://schemas.openxmlformats.org/officeDocument/2006/relationships/image" Target="../media/image80.jpeg"/><Relationship Id="rId9" Type="http://schemas.openxmlformats.org/officeDocument/2006/relationships/image" Target="../media/image227.png"/><Relationship Id="rId14" Type="http://schemas.openxmlformats.org/officeDocument/2006/relationships/image" Target="../media/image2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247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0.png"/><Relationship Id="rId7" Type="http://schemas.openxmlformats.org/officeDocument/2006/relationships/image" Target="../media/image26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5" Type="http://schemas.openxmlformats.org/officeDocument/2006/relationships/image" Target="../media/image9.jpeg"/><Relationship Id="rId4" Type="http://schemas.openxmlformats.org/officeDocument/2006/relationships/image" Target="../media/image11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9.jpeg"/><Relationship Id="rId4" Type="http://schemas.openxmlformats.org/officeDocument/2006/relationships/image" Target="../media/image80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3.png"/><Relationship Id="rId4" Type="http://schemas.openxmlformats.org/officeDocument/2006/relationships/image" Target="../media/image11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2200" y="632992"/>
            <a:ext cx="7901650" cy="2088407"/>
          </a:xfrm>
        </p:spPr>
        <p:txBody>
          <a:bodyPr>
            <a:noAutofit/>
          </a:bodyPr>
          <a:lstStyle/>
          <a:p>
            <a:r>
              <a:rPr lang="pl-PL" sz="4600" b="1" dirty="0"/>
              <a:t>Chapter 5</a:t>
            </a:r>
            <a:br>
              <a:rPr lang="pl-PL" sz="1000" dirty="0"/>
            </a:br>
            <a:r>
              <a:rPr lang="en-US" sz="4600" b="1" dirty="0">
                <a:solidFill>
                  <a:srgbClr val="0070C0"/>
                </a:solidFill>
              </a:rPr>
              <a:t>Introduction to Public Key Cryptography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645881" y="3045847"/>
            <a:ext cx="3962400" cy="17708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dirty="0">
                <a:solidFill>
                  <a:srgbClr val="FF0000"/>
                </a:solidFill>
              </a:rPr>
              <a:t>Stefan</a:t>
            </a:r>
            <a:r>
              <a:rPr lang="en-US" sz="3000" dirty="0">
                <a:solidFill>
                  <a:srgbClr val="FF0000"/>
                </a:solidFill>
              </a:rPr>
              <a:t> </a:t>
            </a:r>
            <a:r>
              <a:rPr lang="en-US" sz="3000" b="1" dirty="0">
                <a:solidFill>
                  <a:srgbClr val="FF0000"/>
                </a:solidFill>
              </a:rPr>
              <a:t>Dziembowski</a:t>
            </a:r>
            <a:br>
              <a:rPr lang="en-US" sz="3000" b="1" dirty="0">
                <a:solidFill>
                  <a:srgbClr val="FF0000"/>
                </a:solidFill>
              </a:rPr>
            </a:br>
            <a:r>
              <a:rPr lang="en-US" sz="1800" dirty="0">
                <a:solidFill>
                  <a:srgbClr val="FF0000"/>
                </a:solidFill>
                <a:hlinkClick r:id="rId3"/>
              </a:rPr>
              <a:t>www.crypto.edu.pl/Dziembowski</a:t>
            </a:r>
            <a:br>
              <a:rPr lang="en-US" sz="1800" dirty="0">
                <a:solidFill>
                  <a:srgbClr val="FF0000"/>
                </a:solidFill>
              </a:rPr>
            </a:b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600" b="1" dirty="0">
                <a:solidFill>
                  <a:schemeClr val="tx1"/>
                </a:solidFill>
              </a:rPr>
              <a:t>University of Warsaw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r="58267"/>
          <a:stretch/>
        </p:blipFill>
        <p:spPr>
          <a:xfrm>
            <a:off x="3822360" y="4864120"/>
            <a:ext cx="1418989" cy="152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27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56" y="2000240"/>
            <a:ext cx="6929486" cy="292895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Public key cryptography – an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key management problem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qualified signatures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public key infrastructure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Identity-based cryptography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380018" y="2000240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08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3233" y="79355"/>
            <a:ext cx="7886700" cy="1325563"/>
          </a:xfrm>
        </p:spPr>
        <p:txBody>
          <a:bodyPr/>
          <a:lstStyle/>
          <a:p>
            <a:r>
              <a:rPr lang="en-US" dirty="0"/>
              <a:t>Public-Key Cryptography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2590800"/>
            <a:ext cx="31146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4114800" y="5918200"/>
            <a:ext cx="4883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/>
              <a:t>Whitfield </a:t>
            </a:r>
            <a:r>
              <a:rPr lang="en-US" sz="2000" dirty="0" err="1"/>
              <a:t>Diffie</a:t>
            </a:r>
            <a:r>
              <a:rPr lang="en-US" sz="2000" dirty="0"/>
              <a:t> and Martin Hellman (1976)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914400" y="5918200"/>
            <a:ext cx="2484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/>
              <a:t>Ralph Merkle (1974)</a:t>
            </a: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 flipV="1">
            <a:off x="2743200" y="4114800"/>
            <a:ext cx="914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 flipV="1">
            <a:off x="5105400" y="4267200"/>
            <a:ext cx="685800" cy="1676400"/>
          </a:xfrm>
          <a:prstGeom prst="line">
            <a:avLst/>
          </a:prstGeom>
          <a:noFill/>
          <a:ln w="76200">
            <a:solidFill>
              <a:srgbClr val="99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 flipH="1" flipV="1">
            <a:off x="4953000" y="4038600"/>
            <a:ext cx="1828800" cy="19050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Rounded Rectangular Callout 1"/>
          <p:cNvSpPr/>
          <p:nvPr/>
        </p:nvSpPr>
        <p:spPr>
          <a:xfrm>
            <a:off x="4230797" y="1207247"/>
            <a:ext cx="4651156" cy="1278367"/>
          </a:xfrm>
          <a:prstGeom prst="wedgeRoundRectCallout">
            <a:avLst>
              <a:gd name="adj1" fmla="val -24455"/>
              <a:gd name="adj2" fmla="val -72264"/>
              <a:gd name="adj3" fmla="val 16667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also called: </a:t>
            </a:r>
            <a:r>
              <a:rPr lang="en-US" sz="2800" b="1" dirty="0"/>
              <a:t>asymmetric cryptography</a:t>
            </a:r>
          </a:p>
        </p:txBody>
      </p:sp>
    </p:spTree>
    <p:extLst>
      <p:ext uri="{BB962C8B-B14F-4D97-AF65-F5344CB8AC3E}">
        <p14:creationId xmlns:p14="http://schemas.microsoft.com/office/powerpoint/2010/main" val="297097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175259" y="3324102"/>
            <a:ext cx="8831580" cy="2057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365760" rIns="274320" anchor="ctr"/>
          <a:lstStyle/>
          <a:p>
            <a:pPr>
              <a:lnSpc>
                <a:spcPct val="80000"/>
              </a:lnSpc>
            </a:pPr>
            <a:r>
              <a:rPr lang="en-GB" sz="2400" dirty="0"/>
              <a:t>A similar idea was described by </a:t>
            </a:r>
            <a:r>
              <a:rPr lang="en-GB" sz="2400" b="1" dirty="0"/>
              <a:t>Ralph </a:t>
            </a:r>
            <a:r>
              <a:rPr lang="en-GB" sz="2400" b="1" dirty="0" err="1"/>
              <a:t>Merkle</a:t>
            </a:r>
            <a:r>
              <a:rPr lang="en-GB" sz="2400" dirty="0"/>
              <a:t>: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in </a:t>
            </a:r>
            <a:r>
              <a:rPr lang="en-GB" sz="2000" b="1" dirty="0">
                <a:solidFill>
                  <a:srgbClr val="00B050"/>
                </a:solidFill>
              </a:rPr>
              <a:t>1974</a:t>
            </a:r>
            <a:r>
              <a:rPr lang="en-GB" sz="2000" dirty="0">
                <a:solidFill>
                  <a:srgbClr val="00B050"/>
                </a:solidFill>
              </a:rPr>
              <a:t> </a:t>
            </a:r>
            <a:r>
              <a:rPr lang="en-GB" sz="2000" dirty="0"/>
              <a:t>he described it in a project proposal for a </a:t>
            </a:r>
            <a:r>
              <a:rPr lang="en-US" sz="2000" dirty="0"/>
              <a:t>Computer Security course at UC Berkeley </a:t>
            </a:r>
            <a:br>
              <a:rPr lang="en-US" sz="2000" dirty="0"/>
            </a:br>
            <a:r>
              <a:rPr lang="en-US" sz="2000" dirty="0"/>
              <a:t>(it was rejected)</a:t>
            </a:r>
          </a:p>
          <a:p>
            <a:pPr lvl="1">
              <a:lnSpc>
                <a:spcPct val="80000"/>
              </a:lnSpc>
            </a:pPr>
            <a:r>
              <a:rPr lang="en-GB" sz="2000" dirty="0"/>
              <a:t>in </a:t>
            </a:r>
            <a:r>
              <a:rPr lang="en-GB" sz="2000" b="1" dirty="0">
                <a:solidFill>
                  <a:srgbClr val="00B050"/>
                </a:solidFill>
              </a:rPr>
              <a:t>1975</a:t>
            </a:r>
            <a:r>
              <a:rPr lang="en-GB" sz="2000" dirty="0">
                <a:solidFill>
                  <a:srgbClr val="00B050"/>
                </a:solidFill>
              </a:rPr>
              <a:t> </a:t>
            </a:r>
            <a:r>
              <a:rPr lang="en-GB" sz="2000" dirty="0"/>
              <a:t>he submitted it to the </a:t>
            </a:r>
            <a:r>
              <a:rPr lang="en-US" sz="2000" dirty="0"/>
              <a:t>CACM journal (it was rejected)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GB" sz="2000" dirty="0"/>
              <a:t>(see </a:t>
            </a:r>
            <a:r>
              <a:rPr lang="en-GB" sz="2000" dirty="0">
                <a:hlinkClick r:id="rId3"/>
              </a:rPr>
              <a:t>www.merkle.com/1974/</a:t>
            </a:r>
            <a:r>
              <a:rPr lang="en-GB" sz="2000" dirty="0"/>
              <a:t> )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75259" y="1273522"/>
            <a:ext cx="8831580" cy="18802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365760" rIns="274320" anchor="ctr"/>
          <a:lstStyle/>
          <a:p>
            <a:pPr>
              <a:lnSpc>
                <a:spcPct val="80000"/>
              </a:lnSpc>
            </a:pPr>
            <a:r>
              <a:rPr lang="en-GB" sz="2400" b="1" dirty="0" err="1"/>
              <a:t>Diffie</a:t>
            </a:r>
            <a:r>
              <a:rPr lang="en-GB" sz="2400" b="1" dirty="0"/>
              <a:t> and Hellman </a:t>
            </a:r>
            <a:r>
              <a:rPr lang="en-GB" sz="2400" dirty="0"/>
              <a:t>were the first to publish a paper containing the idea of the public-key cryptography:</a:t>
            </a:r>
            <a:br>
              <a:rPr lang="en-GB" sz="2400" dirty="0"/>
            </a:br>
            <a:br>
              <a:rPr lang="en-GB" sz="2400" dirty="0"/>
            </a:br>
            <a:r>
              <a:rPr lang="en-US" b="1" dirty="0" err="1">
                <a:solidFill>
                  <a:schemeClr val="tx1"/>
                </a:solidFill>
              </a:rPr>
              <a:t>W.Diffie</a:t>
            </a:r>
            <a:r>
              <a:rPr lang="en-US" b="1" dirty="0">
                <a:solidFill>
                  <a:schemeClr val="tx1"/>
                </a:solidFill>
              </a:rPr>
              <a:t> and </a:t>
            </a:r>
            <a:r>
              <a:rPr lang="en-US" b="1" dirty="0" err="1">
                <a:solidFill>
                  <a:schemeClr val="tx1"/>
                </a:solidFill>
              </a:rPr>
              <a:t>M.E.Hellman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New directions in cryptography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IEEE Trans. Inform. Theory, IT-22, 6, 1976, pp.644-654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  <a:r>
              <a:rPr lang="en-US" sz="2400" dirty="0"/>
              <a:t> 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13552" y="297165"/>
            <a:ext cx="7886700" cy="831422"/>
          </a:xfrm>
        </p:spPr>
        <p:txBody>
          <a:bodyPr/>
          <a:lstStyle/>
          <a:p>
            <a:r>
              <a:rPr lang="en-GB" dirty="0"/>
              <a:t>A little bit of history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58" y="5551794"/>
            <a:ext cx="8831581" cy="12109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74320" rIns="274320"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I</a:t>
            </a:r>
            <a:r>
              <a:rPr lang="pl-PL" sz="2400" dirty="0"/>
              <a:t>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50"/>
                </a:solidFill>
              </a:rPr>
              <a:t>1997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/>
              <a:t>the GCHQ (the British equivalent of the NSA) revealed that they </a:t>
            </a:r>
            <a:r>
              <a:rPr lang="pl-PL" sz="2400" dirty="0"/>
              <a:t>k</a:t>
            </a:r>
            <a:r>
              <a:rPr lang="en-US" sz="2400" dirty="0"/>
              <a:t>new it already in </a:t>
            </a:r>
            <a:r>
              <a:rPr lang="en-US" sz="2400" b="1" dirty="0">
                <a:solidFill>
                  <a:srgbClr val="00B050"/>
                </a:solidFill>
              </a:rPr>
              <a:t>1973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920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nimBg="1"/>
      <p:bldP spid="38915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428596" y="4138622"/>
            <a:ext cx="1047779" cy="47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614866" cy="1143000"/>
          </a:xfrm>
        </p:spPr>
        <p:txBody>
          <a:bodyPr/>
          <a:lstStyle/>
          <a:p>
            <a:r>
              <a:rPr lang="en-US" dirty="0"/>
              <a:t>The idea</a:t>
            </a:r>
          </a:p>
        </p:txBody>
      </p:sp>
      <p:pic>
        <p:nvPicPr>
          <p:cNvPr id="4" name="Picture 4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13378" y="3643314"/>
            <a:ext cx="1401762" cy="1457325"/>
          </a:xfrm>
          <a:prstGeom prst="rect">
            <a:avLst/>
          </a:prstGeom>
          <a:noFill/>
        </p:spPr>
      </p:pic>
      <p:pic>
        <p:nvPicPr>
          <p:cNvPr id="5" name="Picture 5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82756" y="3633554"/>
            <a:ext cx="1368425" cy="1438275"/>
          </a:xfrm>
          <a:prstGeom prst="rect">
            <a:avLst/>
          </a:prstGeom>
          <a:noFill/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704975" y="4624398"/>
            <a:ext cx="952963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</a:rPr>
              <a:t>Alice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751518" y="4695836"/>
            <a:ext cx="714538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</a:rPr>
              <a:t>Bob</a:t>
            </a:r>
            <a:endParaRPr lang="en-US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0"/>
              <p:cNvSpPr txBox="1">
                <a:spLocks noChangeArrowheads="1"/>
              </p:cNvSpPr>
              <p:nvPr/>
            </p:nvSpPr>
            <p:spPr bwMode="auto">
              <a:xfrm>
                <a:off x="1726474" y="5467792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6474" y="5467792"/>
                <a:ext cx="377026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1"/>
              <p:cNvSpPr txBox="1">
                <a:spLocks noChangeArrowheads="1"/>
              </p:cNvSpPr>
              <p:nvPr/>
            </p:nvSpPr>
            <p:spPr bwMode="auto">
              <a:xfrm>
                <a:off x="5705431" y="5491212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5431" y="5491212"/>
                <a:ext cx="37702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13"/>
          <p:cNvSpPr>
            <a:spLocks noChangeShapeType="1"/>
          </p:cNvSpPr>
          <p:nvPr/>
        </p:nvSpPr>
        <p:spPr bwMode="auto">
          <a:xfrm flipV="1">
            <a:off x="1922847" y="5010592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V="1">
            <a:off x="5937422" y="5086417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729853" y="3904946"/>
                <a:ext cx="450764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853" y="3904946"/>
                <a:ext cx="450764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>
            <a:off x="2844800" y="4138622"/>
            <a:ext cx="2468578" cy="190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9"/>
              <p:cNvSpPr txBox="1">
                <a:spLocks noChangeArrowheads="1"/>
              </p:cNvSpPr>
              <p:nvPr/>
            </p:nvSpPr>
            <p:spPr bwMode="auto">
              <a:xfrm>
                <a:off x="3198504" y="3946573"/>
                <a:ext cx="1750799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8504" y="3946573"/>
                <a:ext cx="1750799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6675422" y="4143379"/>
            <a:ext cx="2039982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9"/>
              <p:cNvSpPr txBox="1">
                <a:spLocks noChangeArrowheads="1"/>
              </p:cNvSpPr>
              <p:nvPr/>
            </p:nvSpPr>
            <p:spPr bwMode="auto">
              <a:xfrm>
                <a:off x="7183486" y="3946573"/>
                <a:ext cx="1189749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83486" y="3946573"/>
                <a:ext cx="1189749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Multiply 27"/>
          <p:cNvSpPr/>
          <p:nvPr/>
        </p:nvSpPr>
        <p:spPr>
          <a:xfrm>
            <a:off x="1505305" y="5143512"/>
            <a:ext cx="785818" cy="1000132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ultiply 28"/>
          <p:cNvSpPr/>
          <p:nvPr/>
        </p:nvSpPr>
        <p:spPr>
          <a:xfrm>
            <a:off x="5468329" y="5175812"/>
            <a:ext cx="785818" cy="1000132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ultiply 29"/>
          <p:cNvSpPr/>
          <p:nvPr/>
        </p:nvSpPr>
        <p:spPr>
          <a:xfrm>
            <a:off x="2933407" y="3625265"/>
            <a:ext cx="2214578" cy="928694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2834431" y="4853364"/>
            <a:ext cx="2478947" cy="190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9"/>
              <p:cNvSpPr txBox="1">
                <a:spLocks noChangeArrowheads="1"/>
              </p:cNvSpPr>
              <p:nvPr/>
            </p:nvSpPr>
            <p:spPr bwMode="auto">
              <a:xfrm>
                <a:off x="3093883" y="4641260"/>
                <a:ext cx="1970411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</m:t>
                      </m:r>
                      <m:r>
                        <a:rPr lang="en-US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3883" y="4641260"/>
                <a:ext cx="1970411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>
            <a:off x="6715140" y="4917055"/>
            <a:ext cx="2039982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9"/>
              <p:cNvSpPr txBox="1">
                <a:spLocks noChangeArrowheads="1"/>
              </p:cNvSpPr>
              <p:nvPr/>
            </p:nvSpPr>
            <p:spPr bwMode="auto">
              <a:xfrm>
                <a:off x="7151085" y="4696391"/>
                <a:ext cx="1305165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51085" y="4696391"/>
                <a:ext cx="1305165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Multiply 35"/>
          <p:cNvSpPr/>
          <p:nvPr/>
        </p:nvSpPr>
        <p:spPr>
          <a:xfrm>
            <a:off x="6715430" y="3692524"/>
            <a:ext cx="2214578" cy="928694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0"/>
              <p:cNvSpPr txBox="1">
                <a:spLocks noChangeArrowheads="1"/>
              </p:cNvSpPr>
              <p:nvPr/>
            </p:nvSpPr>
            <p:spPr bwMode="auto">
              <a:xfrm>
                <a:off x="2236418" y="5472179"/>
                <a:ext cx="519694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36418" y="5472179"/>
                <a:ext cx="519694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14754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ine 13"/>
          <p:cNvSpPr>
            <a:spLocks noChangeShapeType="1"/>
          </p:cNvSpPr>
          <p:nvPr/>
        </p:nvSpPr>
        <p:spPr bwMode="auto">
          <a:xfrm flipV="1">
            <a:off x="2473250" y="5010217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Box 10"/>
              <p:cNvSpPr txBox="1">
                <a:spLocks noChangeArrowheads="1"/>
              </p:cNvSpPr>
              <p:nvPr/>
            </p:nvSpPr>
            <p:spPr bwMode="auto">
              <a:xfrm>
                <a:off x="6182979" y="5491212"/>
                <a:ext cx="49244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2979" y="5491212"/>
                <a:ext cx="492443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Line 13"/>
          <p:cNvSpPr>
            <a:spLocks noChangeShapeType="1"/>
          </p:cNvSpPr>
          <p:nvPr/>
        </p:nvSpPr>
        <p:spPr bwMode="auto">
          <a:xfrm flipV="1">
            <a:off x="6409098" y="506572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428596" y="1428736"/>
                <a:ext cx="8001056" cy="1692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FontTx/>
                  <a:buNone/>
                </a:pPr>
                <a:r>
                  <a:rPr lang="en-US" sz="2800" dirty="0"/>
                  <a:t>Instead of using one key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800" dirty="0"/>
                  <a:t>, </a:t>
                </a:r>
              </a:p>
              <a:p>
                <a:r>
                  <a:rPr lang="en-US" sz="2800" dirty="0"/>
                  <a:t>use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dirty="0"/>
                  <a:t> keys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,</a:t>
                </a:r>
                <a:r>
                  <a:rPr lang="en-US" sz="2800" dirty="0"/>
                  <a:t> where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used for</a:t>
                </a:r>
                <a:r>
                  <a:rPr lang="pl-PL" sz="2400" dirty="0"/>
                  <a:t> </a:t>
                </a:r>
                <a:r>
                  <a:rPr lang="en-US" sz="2400" b="1" dirty="0"/>
                  <a:t>encryption</a:t>
                </a:r>
                <a:r>
                  <a:rPr lang="en-US" sz="2400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used for </a:t>
                </a:r>
                <a:r>
                  <a:rPr lang="en-US" sz="2400" b="1" dirty="0"/>
                  <a:t>decryption</a:t>
                </a:r>
                <a:r>
                  <a:rPr lang="en-US" sz="2400" dirty="0"/>
                  <a:t>. </a:t>
                </a:r>
                <a:endParaRPr lang="en-US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1428736"/>
                <a:ext cx="8001056" cy="1692771"/>
              </a:xfrm>
              <a:prstGeom prst="rect">
                <a:avLst/>
              </a:prstGeom>
              <a:blipFill rotWithShape="0">
                <a:blip r:embed="rId14"/>
                <a:stretch>
                  <a:fillRect l="-1523" t="-3597" b="-719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ular Callout 42"/>
              <p:cNvSpPr/>
              <p:nvPr/>
            </p:nvSpPr>
            <p:spPr>
              <a:xfrm>
                <a:off x="5937422" y="285728"/>
                <a:ext cx="2849420" cy="2714644"/>
              </a:xfrm>
              <a:prstGeom prst="wedgeRectCallout">
                <a:avLst>
                  <a:gd name="adj1" fmla="val -98146"/>
                  <a:gd name="adj2" fmla="val 34465"/>
                </a:avLst>
              </a:prstGeom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sz="2400" dirty="0"/>
                  <a:t> can be public, and only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has to be kept secret!</a:t>
                </a:r>
              </a:p>
              <a:p>
                <a:pPr algn="ctr"/>
                <a:endParaRPr lang="en-US" sz="2400" dirty="0"/>
              </a:p>
              <a:p>
                <a:pPr algn="ctr"/>
                <a:r>
                  <a:rPr lang="en-US" sz="2400" dirty="0"/>
                  <a:t>That’s why it’s called: </a:t>
                </a:r>
                <a:r>
                  <a:rPr lang="en-US" sz="2400" b="1" dirty="0"/>
                  <a:t>public-key cryptography</a:t>
                </a:r>
                <a:endParaRPr lang="en-US" sz="2400" dirty="0"/>
              </a:p>
            </p:txBody>
          </p:sp>
        </mc:Choice>
        <mc:Fallback xmlns="">
          <p:sp>
            <p:nvSpPr>
              <p:cNvPr id="43" name="Rectangular Callout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422" y="285728"/>
                <a:ext cx="2849420" cy="2714644"/>
              </a:xfrm>
              <a:prstGeom prst="wedgeRectCallout">
                <a:avLst>
                  <a:gd name="adj1" fmla="val -98146"/>
                  <a:gd name="adj2" fmla="val 34465"/>
                </a:avLst>
              </a:prstGeom>
              <a:blipFill rotWithShape="0">
                <a:blip r:embed="rId15"/>
                <a:stretch>
                  <a:fillRect/>
                </a:stretch>
              </a:blip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36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9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 fontScale="90000"/>
          </a:bodyPr>
          <a:lstStyle/>
          <a:p>
            <a:r>
              <a:rPr lang="en-US" dirty="0"/>
              <a:t>The same thing works for authentication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14282" y="1571612"/>
                <a:ext cx="435771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used for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computing a tag</a:t>
                </a:r>
                <a:r>
                  <a:rPr lang="en-US" sz="2400" dirty="0"/>
                  <a:t>,</a:t>
                </a:r>
              </a:p>
              <a:p>
                <a:pPr marL="457200" indent="-4572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used for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verifying correctness of the tag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82" y="1571612"/>
                <a:ext cx="4357718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1818" t="-3113" b="-817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89156" y="4146234"/>
            <a:ext cx="1047779" cy="47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4" descr="MCj0411466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13378" y="3643314"/>
            <a:ext cx="1401762" cy="1457325"/>
          </a:xfrm>
          <a:prstGeom prst="rect">
            <a:avLst/>
          </a:prstGeom>
          <a:noFill/>
        </p:spPr>
      </p:pic>
      <p:pic>
        <p:nvPicPr>
          <p:cNvPr id="17" name="Picture 5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36935" y="3641410"/>
            <a:ext cx="1368425" cy="1438275"/>
          </a:xfrm>
          <a:prstGeom prst="rect">
            <a:avLst/>
          </a:prstGeom>
          <a:noFill/>
        </p:spPr>
      </p:pic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365535" y="4632010"/>
            <a:ext cx="922499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</a:rPr>
              <a:t>Alice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5751518" y="4695836"/>
            <a:ext cx="860123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</a:rPr>
              <a:t>Bob</a:t>
            </a:r>
            <a:endParaRPr lang="en-US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0"/>
              <p:cNvSpPr txBox="1">
                <a:spLocks noChangeArrowheads="1"/>
              </p:cNvSpPr>
              <p:nvPr/>
            </p:nvSpPr>
            <p:spPr bwMode="auto">
              <a:xfrm>
                <a:off x="1358905" y="5450911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8905" y="5450911"/>
                <a:ext cx="37702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1"/>
              <p:cNvSpPr txBox="1">
                <a:spLocks noChangeArrowheads="1"/>
              </p:cNvSpPr>
              <p:nvPr/>
            </p:nvSpPr>
            <p:spPr bwMode="auto">
              <a:xfrm>
                <a:off x="5713433" y="5534036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3433" y="5534036"/>
                <a:ext cx="37702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ine 13"/>
          <p:cNvSpPr>
            <a:spLocks noChangeShapeType="1"/>
          </p:cNvSpPr>
          <p:nvPr/>
        </p:nvSpPr>
        <p:spPr bwMode="auto">
          <a:xfrm flipV="1">
            <a:off x="1511305" y="4993711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Line 14"/>
          <p:cNvSpPr>
            <a:spLocks noChangeShapeType="1"/>
          </p:cNvSpPr>
          <p:nvPr/>
        </p:nvSpPr>
        <p:spPr bwMode="auto">
          <a:xfrm flipV="1">
            <a:off x="5901946" y="5072073"/>
            <a:ext cx="0" cy="4572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9"/>
              <p:cNvSpPr txBox="1">
                <a:spLocks noChangeArrowheads="1"/>
              </p:cNvSpPr>
              <p:nvPr/>
            </p:nvSpPr>
            <p:spPr bwMode="auto">
              <a:xfrm>
                <a:off x="522541" y="3924536"/>
                <a:ext cx="450764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541" y="3924536"/>
                <a:ext cx="450764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V="1">
            <a:off x="2505360" y="4143379"/>
            <a:ext cx="2808018" cy="2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9"/>
              <p:cNvSpPr txBox="1">
                <a:spLocks noChangeArrowheads="1"/>
              </p:cNvSpPr>
              <p:nvPr/>
            </p:nvSpPr>
            <p:spPr bwMode="auto">
              <a:xfrm>
                <a:off x="2818380" y="3966326"/>
                <a:ext cx="2234906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𝐓𝐚𝐠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8380" y="3966326"/>
                <a:ext cx="2234906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>
            <a:off x="6675422" y="4143379"/>
            <a:ext cx="228940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Box 9"/>
              <p:cNvSpPr txBox="1">
                <a:spLocks noChangeArrowheads="1"/>
              </p:cNvSpPr>
              <p:nvPr/>
            </p:nvSpPr>
            <p:spPr bwMode="auto">
              <a:xfrm>
                <a:off x="7056759" y="3932865"/>
                <a:ext cx="1593706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56759" y="3932865"/>
                <a:ext cx="1593706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Multiply 28"/>
          <p:cNvSpPr/>
          <p:nvPr/>
        </p:nvSpPr>
        <p:spPr>
          <a:xfrm>
            <a:off x="1154509" y="5135511"/>
            <a:ext cx="785818" cy="1000132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ultiply 29"/>
          <p:cNvSpPr/>
          <p:nvPr/>
        </p:nvSpPr>
        <p:spPr>
          <a:xfrm>
            <a:off x="5549291" y="5222311"/>
            <a:ext cx="785818" cy="1000132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Multiply 30"/>
          <p:cNvSpPr/>
          <p:nvPr/>
        </p:nvSpPr>
        <p:spPr>
          <a:xfrm>
            <a:off x="2818380" y="3703316"/>
            <a:ext cx="2214578" cy="928694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2518048" y="4856126"/>
            <a:ext cx="2847577" cy="44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9"/>
              <p:cNvSpPr txBox="1">
                <a:spLocks noChangeArrowheads="1"/>
              </p:cNvSpPr>
              <p:nvPr/>
            </p:nvSpPr>
            <p:spPr bwMode="auto">
              <a:xfrm>
                <a:off x="2702949" y="4618484"/>
                <a:ext cx="2412840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</m:t>
                      </m:r>
                      <m:r>
                        <a:rPr lang="en-US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2949" y="4618484"/>
                <a:ext cx="2412840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290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6715140" y="4897507"/>
            <a:ext cx="2249687" cy="195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9"/>
              <p:cNvSpPr txBox="1">
                <a:spLocks noChangeArrowheads="1"/>
              </p:cNvSpPr>
              <p:nvPr/>
            </p:nvSpPr>
            <p:spPr bwMode="auto">
              <a:xfrm>
                <a:off x="6991594" y="4696391"/>
                <a:ext cx="1736373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8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1594" y="4696391"/>
                <a:ext cx="1736373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Multiply 35"/>
          <p:cNvSpPr/>
          <p:nvPr/>
        </p:nvSpPr>
        <p:spPr>
          <a:xfrm>
            <a:off x="6715140" y="3641410"/>
            <a:ext cx="2214578" cy="928694"/>
          </a:xfrm>
          <a:prstGeom prst="mathMultiply">
            <a:avLst>
              <a:gd name="adj1" fmla="val 1243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10"/>
              <p:cNvSpPr txBox="1">
                <a:spLocks noChangeArrowheads="1"/>
              </p:cNvSpPr>
              <p:nvPr/>
            </p:nvSpPr>
            <p:spPr bwMode="auto">
              <a:xfrm>
                <a:off x="6224998" y="5529274"/>
                <a:ext cx="519694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4998" y="5529274"/>
                <a:ext cx="519694" cy="369332"/>
              </a:xfrm>
              <a:prstGeom prst="rect">
                <a:avLst/>
              </a:prstGeom>
              <a:blipFill rotWithShape="0">
                <a:blip r:embed="rId13"/>
                <a:stretch>
                  <a:fillRect b="-12903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Line 13"/>
          <p:cNvSpPr>
            <a:spLocks noChangeShapeType="1"/>
          </p:cNvSpPr>
          <p:nvPr/>
        </p:nvSpPr>
        <p:spPr bwMode="auto">
          <a:xfrm flipV="1">
            <a:off x="6377398" y="5072074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10"/>
              <p:cNvSpPr txBox="1">
                <a:spLocks noChangeArrowheads="1"/>
              </p:cNvSpPr>
              <p:nvPr/>
            </p:nvSpPr>
            <p:spPr bwMode="auto">
              <a:xfrm>
                <a:off x="1897949" y="5450911"/>
                <a:ext cx="492443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7949" y="5450911"/>
                <a:ext cx="492443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ine 13"/>
          <p:cNvSpPr>
            <a:spLocks noChangeShapeType="1"/>
          </p:cNvSpPr>
          <p:nvPr/>
        </p:nvSpPr>
        <p:spPr bwMode="auto">
          <a:xfrm flipV="1">
            <a:off x="2139853" y="4972099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AutoShape 4"/>
          <p:cNvSpPr>
            <a:spLocks noChangeArrowheads="1"/>
          </p:cNvSpPr>
          <p:nvPr/>
        </p:nvSpPr>
        <p:spPr bwMode="auto">
          <a:xfrm>
            <a:off x="5383305" y="1071566"/>
            <a:ext cx="3028952" cy="1976438"/>
          </a:xfrm>
          <a:prstGeom prst="wedgeRectCallout">
            <a:avLst>
              <a:gd name="adj1" fmla="val -95636"/>
              <a:gd name="adj2" fmla="val 5123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 anchorCtr="1"/>
          <a:lstStyle/>
          <a:p>
            <a:pPr algn="ctr"/>
            <a:r>
              <a:rPr lang="en-US" sz="2400" dirty="0"/>
              <a:t>this will be called 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b="1" dirty="0"/>
              <a:t>signatures</a:t>
            </a:r>
            <a:r>
              <a:rPr lang="en-US" sz="2400" dirty="0"/>
              <a:t>”</a:t>
            </a:r>
          </a:p>
          <a:p>
            <a:endParaRPr lang="en-US" sz="2400" dirty="0"/>
          </a:p>
          <a:p>
            <a:pPr algn="r"/>
            <a:r>
              <a:rPr lang="en-US" sz="2400" b="1" dirty="0">
                <a:solidFill>
                  <a:srgbClr val="FF0000"/>
                </a:solidFill>
              </a:rPr>
              <a:t>Sign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– the signing algorithm</a:t>
            </a:r>
          </a:p>
        </p:txBody>
      </p:sp>
    </p:spTree>
    <p:extLst>
      <p:ext uri="{BB962C8B-B14F-4D97-AF65-F5344CB8AC3E}">
        <p14:creationId xmlns:p14="http://schemas.microsoft.com/office/powerpoint/2010/main" val="153247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5" name="Rectangle 41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/>
              <a:t>Anyone can send encrypted messages to anyone else</a:t>
            </a:r>
          </a:p>
        </p:txBody>
      </p:sp>
      <p:pic>
        <p:nvPicPr>
          <p:cNvPr id="11268" name="Picture 4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2112963"/>
            <a:ext cx="1058863" cy="857250"/>
          </a:xfrm>
          <a:prstGeom prst="rect">
            <a:avLst/>
          </a:prstGeom>
          <a:noFill/>
        </p:spPr>
      </p:pic>
      <p:pic>
        <p:nvPicPr>
          <p:cNvPr id="11269" name="Picture 5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0" y="2189163"/>
            <a:ext cx="900113" cy="927100"/>
          </a:xfrm>
          <a:prstGeom prst="rect">
            <a:avLst/>
          </a:prstGeom>
          <a:noFill/>
        </p:spPr>
      </p:pic>
      <p:pic>
        <p:nvPicPr>
          <p:cNvPr id="11270" name="Picture 6" descr="PL414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4932363"/>
            <a:ext cx="973138" cy="1011237"/>
          </a:xfrm>
          <a:prstGeom prst="rect">
            <a:avLst/>
          </a:prstGeom>
          <a:noFill/>
        </p:spPr>
      </p:pic>
      <p:pic>
        <p:nvPicPr>
          <p:cNvPr id="11271" name="Picture 7" descr="PL412a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39000" y="4170363"/>
            <a:ext cx="990600" cy="942975"/>
          </a:xfrm>
          <a:prstGeom prst="rect">
            <a:avLst/>
          </a:prstGeom>
          <a:noFill/>
        </p:spPr>
      </p:pic>
      <p:pic>
        <p:nvPicPr>
          <p:cNvPr id="11272" name="Picture 8" descr="PL415a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95738" y="4094163"/>
            <a:ext cx="1041400" cy="96996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277" name="Text Box 13"/>
              <p:cNvSpPr txBox="1">
                <a:spLocks noChangeArrowheads="1"/>
              </p:cNvSpPr>
              <p:nvPr/>
            </p:nvSpPr>
            <p:spPr bwMode="auto">
              <a:xfrm>
                <a:off x="6738938" y="546576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7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8938" y="5465763"/>
                <a:ext cx="58702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8" name="Text Box 14"/>
              <p:cNvSpPr txBox="1">
                <a:spLocks noChangeArrowheads="1"/>
              </p:cNvSpPr>
              <p:nvPr/>
            </p:nvSpPr>
            <p:spPr bwMode="auto">
              <a:xfrm>
                <a:off x="3462338" y="447516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78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2338" y="4475163"/>
                <a:ext cx="587020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9" name="Text Box 15"/>
              <p:cNvSpPr txBox="1">
                <a:spLocks noChangeArrowheads="1"/>
              </p:cNvSpPr>
              <p:nvPr/>
            </p:nvSpPr>
            <p:spPr bwMode="auto">
              <a:xfrm>
                <a:off x="7724814" y="2125231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79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24814" y="2125231"/>
                <a:ext cx="587020" cy="461665"/>
              </a:xfrm>
              <a:prstGeom prst="rect">
                <a:avLst/>
              </a:prstGeom>
              <a:blipFill rotWithShape="0">
                <a:blip r:embed="rId10"/>
                <a:stretch>
                  <a:fillRect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80" name="Text Box 16"/>
              <p:cNvSpPr txBox="1">
                <a:spLocks noChangeArrowheads="1"/>
              </p:cNvSpPr>
              <p:nvPr/>
            </p:nvSpPr>
            <p:spPr bwMode="auto">
              <a:xfrm>
                <a:off x="3657600" y="211296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80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2112963"/>
                <a:ext cx="587020" cy="461665"/>
              </a:xfrm>
              <a:prstGeom prst="rect">
                <a:avLst/>
              </a:prstGeom>
              <a:blipFill rotWithShape="0">
                <a:blip r:embed="rId11"/>
                <a:stretch>
                  <a:fillRect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81" name="Text Box 17"/>
              <p:cNvSpPr txBox="1">
                <a:spLocks noChangeArrowheads="1"/>
              </p:cNvSpPr>
              <p:nvPr/>
            </p:nvSpPr>
            <p:spPr bwMode="auto">
              <a:xfrm>
                <a:off x="8093602" y="4013498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8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93602" y="4013498"/>
                <a:ext cx="587020" cy="461665"/>
              </a:xfrm>
              <a:prstGeom prst="rect">
                <a:avLst/>
              </a:prstGeom>
              <a:blipFill rotWithShape="0">
                <a:blip r:embed="rId12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318" name="Group 5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38639727"/>
                  </p:ext>
                </p:extLst>
              </p:nvPr>
            </p:nvGraphicFramePr>
            <p:xfrm>
              <a:off x="685800" y="2798763"/>
              <a:ext cx="1295400" cy="3071813"/>
            </p:xfrm>
            <a:graphic>
              <a:graphicData uri="http://schemas.openxmlformats.org/drawingml/2006/table">
                <a:tbl>
                  <a:tblPr/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127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59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43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7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59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318" name="Group 5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38639727"/>
                  </p:ext>
                </p:extLst>
              </p:nvPr>
            </p:nvGraphicFramePr>
            <p:xfrm>
              <a:off x="685800" y="2798763"/>
              <a:ext cx="1295400" cy="3071813"/>
            </p:xfrm>
            <a:graphic>
              <a:graphicData uri="http://schemas.openxmlformats.org/drawingml/2006/table">
                <a:tbl>
                  <a:tblPr/>
                  <a:tblGrid>
                    <a:gridCol w="1295400"/>
                  </a:tblGrid>
                  <a:tr h="612775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3"/>
                          <a:stretch>
                            <a:fillRect l="-939" t="-2970" r="-2347" b="-403960"/>
                          </a:stretch>
                        </a:blipFill>
                      </a:tcPr>
                    </a:tc>
                  </a:tr>
                  <a:tr h="61595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3"/>
                          <a:stretch>
                            <a:fillRect l="-939" t="-102970" r="-2347" b="-303960"/>
                          </a:stretch>
                        </a:blipFill>
                      </a:tcPr>
                    </a:tc>
                  </a:tr>
                  <a:tr h="614363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3"/>
                          <a:stretch>
                            <a:fillRect l="-939" t="-202970" r="-2347" b="-203960"/>
                          </a:stretch>
                        </a:blipFill>
                      </a:tcPr>
                    </a:tc>
                  </a:tr>
                  <a:tr h="612775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3"/>
                          <a:stretch>
                            <a:fillRect l="-939" t="-302970" r="-2347" b="-103960"/>
                          </a:stretch>
                        </a:blipFill>
                      </a:tcPr>
                    </a:tc>
                  </a:tr>
                  <a:tr h="61595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3"/>
                          <a:stretch>
                            <a:fillRect l="-939" t="-402970" r="-2347" b="-396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14" name="AutoShape 50"/>
              <p:cNvSpPr>
                <a:spLocks noChangeArrowheads="1"/>
              </p:cNvSpPr>
              <p:nvPr/>
            </p:nvSpPr>
            <p:spPr bwMode="auto">
              <a:xfrm>
                <a:off x="2133600" y="3941763"/>
                <a:ext cx="1905000" cy="685800"/>
              </a:xfrm>
              <a:prstGeom prst="leftArrow">
                <a:avLst>
                  <a:gd name="adj1" fmla="val 50000"/>
                  <a:gd name="adj2" fmla="val 69444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dirty="0"/>
                  <a:t>2. reads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14" name="AutoShap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3941763"/>
                <a:ext cx="1905000" cy="685800"/>
              </a:xfrm>
              <a:prstGeom prst="leftArrow">
                <a:avLst>
                  <a:gd name="adj1" fmla="val 50000"/>
                  <a:gd name="adj2" fmla="val 69444"/>
                </a:avLst>
              </a:prstGeom>
              <a:blipFill rotWithShape="0">
                <a:blip r:embed="rId1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15" name="Text Box 51"/>
              <p:cNvSpPr txBox="1">
                <a:spLocks noChangeArrowheads="1"/>
              </p:cNvSpPr>
              <p:nvPr/>
            </p:nvSpPr>
            <p:spPr bwMode="auto">
              <a:xfrm>
                <a:off x="2133600" y="5237163"/>
                <a:ext cx="3276600" cy="40005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:r>
                  <a:rPr lang="en-US" sz="2000" dirty="0"/>
                  <a:t>1.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pl-PL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000" dirty="0"/>
                  <a:t> wants to send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2000" b="1" dirty="0">
                    <a:solidFill>
                      <a:srgbClr val="990000"/>
                    </a:solidFill>
                  </a:rPr>
                  <a:t> </a:t>
                </a:r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15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5237163"/>
                <a:ext cx="3276600" cy="400050"/>
              </a:xfrm>
              <a:prstGeom prst="rect">
                <a:avLst/>
              </a:prstGeom>
              <a:blipFill rotWithShape="0">
                <a:blip r:embed="rId15"/>
                <a:stretch>
                  <a:fillRect t="-5882" b="-235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17" name="AutoShape 53"/>
              <p:cNvSpPr>
                <a:spLocks noChangeArrowheads="1"/>
              </p:cNvSpPr>
              <p:nvPr/>
            </p:nvSpPr>
            <p:spPr bwMode="auto">
              <a:xfrm rot="8783032" flipV="1">
                <a:off x="4606069" y="2979748"/>
                <a:ext cx="2804528" cy="838200"/>
              </a:xfrm>
              <a:prstGeom prst="leftArrow">
                <a:avLst>
                  <a:gd name="adj1" fmla="val 50000"/>
                  <a:gd name="adj2" fmla="val 72017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dirty="0"/>
                  <a:t>3. sends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17" name="AutoShap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8783032" flipV="1">
                <a:off x="4606069" y="2979748"/>
                <a:ext cx="2804528" cy="838200"/>
              </a:xfrm>
              <a:prstGeom prst="leftArrow">
                <a:avLst>
                  <a:gd name="adj1" fmla="val 50000"/>
                  <a:gd name="adj2" fmla="val 72017"/>
                </a:avLst>
              </a:prstGeom>
              <a:blipFill rotWithShape="0">
                <a:blip r:embed="rId16"/>
                <a:stretch>
                  <a:fillRect l="-2228" b="-622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20" name="Text Box 56"/>
          <p:cNvSpPr txBox="1">
            <a:spLocks noChangeArrowheads="1"/>
          </p:cNvSpPr>
          <p:nvPr/>
        </p:nvSpPr>
        <p:spPr bwMode="auto">
          <a:xfrm>
            <a:off x="304800" y="2133600"/>
            <a:ext cx="2384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/>
              <a:t>public register: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21" name="Rectangle 57"/>
              <p:cNvSpPr>
                <a:spLocks noChangeArrowheads="1"/>
              </p:cNvSpPr>
              <p:nvPr/>
            </p:nvSpPr>
            <p:spPr bwMode="auto">
              <a:xfrm>
                <a:off x="7772400" y="26670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21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2400" y="2667000"/>
                <a:ext cx="914400" cy="45720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22" name="AutoShape 58"/>
              <p:cNvSpPr>
                <a:spLocks noChangeArrowheads="1"/>
              </p:cNvSpPr>
              <p:nvPr/>
            </p:nvSpPr>
            <p:spPr bwMode="auto">
              <a:xfrm>
                <a:off x="6477000" y="1371600"/>
                <a:ext cx="2057400" cy="762000"/>
              </a:xfrm>
              <a:prstGeom prst="upArrow">
                <a:avLst>
                  <a:gd name="adj1" fmla="val 100000"/>
                  <a:gd name="adj2" fmla="val 0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dirty="0"/>
                  <a:t>4. </a:t>
                </a:r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pl-PL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pl-PL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computes</a:t>
                </a:r>
                <a:br>
                  <a:rPr lang="en-US" sz="2000" dirty="0"/>
                </a:br>
                <a:r>
                  <a:rPr lang="en-US" sz="2000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322" name="AutoShap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7000" y="1371600"/>
                <a:ext cx="2057400" cy="762000"/>
              </a:xfrm>
              <a:prstGeom prst="upArrow">
                <a:avLst>
                  <a:gd name="adj1" fmla="val 100000"/>
                  <a:gd name="adj2" fmla="val 0"/>
                </a:avLst>
              </a:prstGeom>
              <a:blipFill rotWithShape="0">
                <a:blip r:embed="rId18"/>
                <a:stretch>
                  <a:fillRect b="-472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14" grpId="0" animBg="1"/>
      <p:bldP spid="11315" grpId="0" animBg="1"/>
      <p:bldP spid="11317" grpId="0" animBg="1"/>
      <p:bldP spid="11320" grpId="0"/>
      <p:bldP spid="11321" grpId="0" animBg="1"/>
      <p:bldP spid="113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17625"/>
            <a:ext cx="8229600" cy="1066800"/>
          </a:xfrm>
        </p:spPr>
        <p:txBody>
          <a:bodyPr/>
          <a:lstStyle/>
          <a:p>
            <a:r>
              <a:rPr lang="en-US" sz="4000" dirty="0"/>
              <a:t>Anyone can verify the signatures</a:t>
            </a:r>
          </a:p>
        </p:txBody>
      </p:sp>
      <p:pic>
        <p:nvPicPr>
          <p:cNvPr id="17411" name="Picture 3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2112963"/>
            <a:ext cx="1058863" cy="857250"/>
          </a:xfrm>
          <a:prstGeom prst="rect">
            <a:avLst/>
          </a:prstGeom>
          <a:noFill/>
        </p:spPr>
      </p:pic>
      <p:pic>
        <p:nvPicPr>
          <p:cNvPr id="17412" name="Picture 4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0" y="2189163"/>
            <a:ext cx="900113" cy="927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pic>
      <p:pic>
        <p:nvPicPr>
          <p:cNvPr id="17413" name="Picture 5" descr="PL414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5105400"/>
            <a:ext cx="973138" cy="1011238"/>
          </a:xfrm>
          <a:prstGeom prst="rect">
            <a:avLst/>
          </a:prstGeom>
          <a:noFill/>
        </p:spPr>
      </p:pic>
      <p:pic>
        <p:nvPicPr>
          <p:cNvPr id="17414" name="Picture 6" descr="PL412a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39000" y="4170363"/>
            <a:ext cx="9906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pic>
      <p:pic>
        <p:nvPicPr>
          <p:cNvPr id="17415" name="Picture 7" descr="PL415a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95738" y="4094163"/>
            <a:ext cx="1041400" cy="96996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416" name="Text Box 8"/>
              <p:cNvSpPr txBox="1">
                <a:spLocks noChangeArrowheads="1"/>
              </p:cNvSpPr>
              <p:nvPr/>
            </p:nvSpPr>
            <p:spPr bwMode="auto">
              <a:xfrm>
                <a:off x="6738938" y="546576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1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8938" y="5465763"/>
                <a:ext cx="58702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7" name="Text Box 9"/>
              <p:cNvSpPr txBox="1">
                <a:spLocks noChangeArrowheads="1"/>
              </p:cNvSpPr>
              <p:nvPr/>
            </p:nvSpPr>
            <p:spPr bwMode="auto">
              <a:xfrm>
                <a:off x="3462338" y="447516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1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2338" y="4475163"/>
                <a:ext cx="587020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9" name="Text Box 11"/>
              <p:cNvSpPr txBox="1">
                <a:spLocks noChangeArrowheads="1"/>
              </p:cNvSpPr>
              <p:nvPr/>
            </p:nvSpPr>
            <p:spPr bwMode="auto">
              <a:xfrm>
                <a:off x="3657600" y="211296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1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2112963"/>
                <a:ext cx="587020" cy="461665"/>
              </a:xfrm>
              <a:prstGeom prst="rect">
                <a:avLst/>
              </a:prstGeom>
              <a:blipFill rotWithShape="0">
                <a:blip r:embed="rId10"/>
                <a:stretch>
                  <a:fillRect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20" name="Text Box 12"/>
              <p:cNvSpPr txBox="1">
                <a:spLocks noChangeArrowheads="1"/>
              </p:cNvSpPr>
              <p:nvPr/>
            </p:nvSpPr>
            <p:spPr bwMode="auto">
              <a:xfrm>
                <a:off x="8082633" y="39624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2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82633" y="3962400"/>
                <a:ext cx="587020" cy="461665"/>
              </a:xfrm>
              <a:prstGeom prst="rect">
                <a:avLst/>
              </a:prstGeom>
              <a:blipFill rotWithShape="0">
                <a:blip r:embed="rId11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421" name="Group 1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32489174"/>
                  </p:ext>
                </p:extLst>
              </p:nvPr>
            </p:nvGraphicFramePr>
            <p:xfrm>
              <a:off x="685800" y="2798763"/>
              <a:ext cx="1295400" cy="3071813"/>
            </p:xfrm>
            <a:graphic>
              <a:graphicData uri="http://schemas.openxmlformats.org/drawingml/2006/table">
                <a:tbl>
                  <a:tblPr/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127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59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43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7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59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421" name="Group 1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32489174"/>
                  </p:ext>
                </p:extLst>
              </p:nvPr>
            </p:nvGraphicFramePr>
            <p:xfrm>
              <a:off x="685800" y="2798763"/>
              <a:ext cx="1295400" cy="3071813"/>
            </p:xfrm>
            <a:graphic>
              <a:graphicData uri="http://schemas.openxmlformats.org/drawingml/2006/table">
                <a:tbl>
                  <a:tblPr/>
                  <a:tblGrid>
                    <a:gridCol w="1295400"/>
                  </a:tblGrid>
                  <a:tr h="612775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2"/>
                          <a:stretch>
                            <a:fillRect l="-939" t="-2970" r="-2347" b="-403960"/>
                          </a:stretch>
                        </a:blipFill>
                      </a:tcPr>
                    </a:tc>
                  </a:tr>
                  <a:tr h="61595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2"/>
                          <a:stretch>
                            <a:fillRect l="-939" t="-102970" r="-2347" b="-303960"/>
                          </a:stretch>
                        </a:blipFill>
                      </a:tcPr>
                    </a:tc>
                  </a:tr>
                  <a:tr h="614363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2"/>
                          <a:stretch>
                            <a:fillRect l="-939" t="-202970" r="-2347" b="-203960"/>
                          </a:stretch>
                        </a:blipFill>
                      </a:tcPr>
                    </a:tc>
                  </a:tr>
                  <a:tr h="612775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2"/>
                          <a:stretch>
                            <a:fillRect l="-939" t="-302970" r="-2347" b="-103960"/>
                          </a:stretch>
                        </a:blipFill>
                      </a:tcPr>
                    </a:tc>
                  </a:tr>
                  <a:tr h="61595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2"/>
                          <a:stretch>
                            <a:fillRect l="-939" t="-402970" r="-2347" b="-396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7" name="AutoShape 29"/>
              <p:cNvSpPr>
                <a:spLocks noChangeArrowheads="1"/>
              </p:cNvSpPr>
              <p:nvPr/>
            </p:nvSpPr>
            <p:spPr bwMode="auto">
              <a:xfrm rot="8646920" flipH="1" flipV="1">
                <a:off x="4495800" y="2971800"/>
                <a:ext cx="2411413" cy="954088"/>
              </a:xfrm>
              <a:prstGeom prst="leftArrow">
                <a:avLst>
                  <a:gd name="adj1" fmla="val 50000"/>
                  <a:gd name="adj2" fmla="val 63186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dirty="0"/>
                  <a:t>1.</a:t>
                </a:r>
                <a:r>
                  <a:rPr lang="en-US" sz="2000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𝐒𝐢𝐠𝐧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37" name="AutoShap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8646920" flipH="1" flipV="1">
                <a:off x="4495800" y="2971800"/>
                <a:ext cx="2411413" cy="954088"/>
              </a:xfrm>
              <a:prstGeom prst="leftArrow">
                <a:avLst>
                  <a:gd name="adj1" fmla="val 50000"/>
                  <a:gd name="adj2" fmla="val 63186"/>
                </a:avLst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304800" y="2133600"/>
            <a:ext cx="2384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/>
              <a:t>public register: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39" name="AutoShape 31"/>
              <p:cNvSpPr>
                <a:spLocks noChangeArrowheads="1"/>
              </p:cNvSpPr>
              <p:nvPr/>
            </p:nvSpPr>
            <p:spPr bwMode="auto">
              <a:xfrm rot="10800000" flipH="1" flipV="1">
                <a:off x="4800600" y="1676400"/>
                <a:ext cx="1905000" cy="954088"/>
              </a:xfrm>
              <a:prstGeom prst="leftArrow">
                <a:avLst>
                  <a:gd name="adj1" fmla="val 50083"/>
                  <a:gd name="adj2" fmla="val 60898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39" name="AutoShap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10800000" flipH="1" flipV="1">
                <a:off x="4800600" y="1676400"/>
                <a:ext cx="1905000" cy="954088"/>
              </a:xfrm>
              <a:prstGeom prst="leftArrow">
                <a:avLst>
                  <a:gd name="adj1" fmla="val 50083"/>
                  <a:gd name="adj2" fmla="val 60898"/>
                </a:avLst>
              </a:prstGeom>
              <a:blipFill rotWithShape="0">
                <a:blip r:embed="rId1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0" name="AutoShape 32"/>
              <p:cNvSpPr>
                <a:spLocks noChangeArrowheads="1"/>
              </p:cNvSpPr>
              <p:nvPr/>
            </p:nvSpPr>
            <p:spPr bwMode="auto">
              <a:xfrm rot="6256874" flipH="1" flipV="1">
                <a:off x="5849144" y="3675856"/>
                <a:ext cx="2057400" cy="954088"/>
              </a:xfrm>
              <a:prstGeom prst="leftArrow">
                <a:avLst>
                  <a:gd name="adj1" fmla="val 54241"/>
                  <a:gd name="adj2" fmla="val 60479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sz="20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40" name="AutoShap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6256874" flipH="1" flipV="1">
                <a:off x="5849144" y="3675856"/>
                <a:ext cx="2057400" cy="954088"/>
              </a:xfrm>
              <a:prstGeom prst="leftArrow">
                <a:avLst>
                  <a:gd name="adj1" fmla="val 54241"/>
                  <a:gd name="adj2" fmla="val 60479"/>
                </a:avLst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1" name="AutoShape 33"/>
              <p:cNvSpPr>
                <a:spLocks noChangeArrowheads="1"/>
              </p:cNvSpPr>
              <p:nvPr/>
            </p:nvSpPr>
            <p:spPr bwMode="auto">
              <a:xfrm>
                <a:off x="2057400" y="3962400"/>
                <a:ext cx="1905000" cy="685800"/>
              </a:xfrm>
              <a:prstGeom prst="leftArrow">
                <a:avLst>
                  <a:gd name="adj1" fmla="val 50000"/>
                  <a:gd name="adj2" fmla="val 69444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:r>
                  <a:rPr lang="en-US" sz="2000" dirty="0"/>
                  <a:t>2. reads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41" name="AutoShap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7400" y="3962400"/>
                <a:ext cx="1905000" cy="685800"/>
              </a:xfrm>
              <a:prstGeom prst="leftArrow">
                <a:avLst>
                  <a:gd name="adj1" fmla="val 50000"/>
                  <a:gd name="adj2" fmla="val 69444"/>
                </a:avLst>
              </a:prstGeom>
              <a:blipFill rotWithShape="0">
                <a:blip r:embed="rId1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2" name="Rectangle 34"/>
              <p:cNvSpPr>
                <a:spLocks noChangeArrowheads="1"/>
              </p:cNvSpPr>
              <p:nvPr/>
            </p:nvSpPr>
            <p:spPr bwMode="auto">
              <a:xfrm>
                <a:off x="7772400" y="26670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42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2400" y="2667000"/>
                <a:ext cx="914400" cy="45720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3" name="Text Box 35"/>
              <p:cNvSpPr txBox="1">
                <a:spLocks noChangeArrowheads="1"/>
              </p:cNvSpPr>
              <p:nvPr/>
            </p:nvSpPr>
            <p:spPr bwMode="auto">
              <a:xfrm>
                <a:off x="2133600" y="5237163"/>
                <a:ext cx="3276600" cy="40005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algn="ctr"/>
                <a:r>
                  <a:rPr lang="en-US" sz="2000" dirty="0"/>
                  <a:t>3. computes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𝐕𝐫𝐟𝐲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000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443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5237163"/>
                <a:ext cx="3276600" cy="400050"/>
              </a:xfrm>
              <a:prstGeom prst="rect">
                <a:avLst/>
              </a:prstGeom>
              <a:blipFill rotWithShape="0">
                <a:blip r:embed="rId18"/>
                <a:stretch>
                  <a:fillRect t="-5882" b="-235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1"/>
              <p:cNvSpPr txBox="1">
                <a:spLocks noChangeArrowheads="1"/>
              </p:cNvSpPr>
              <p:nvPr/>
            </p:nvSpPr>
            <p:spPr bwMode="auto">
              <a:xfrm>
                <a:off x="7675918" y="214810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it-IT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5918" y="2148103"/>
                <a:ext cx="587020" cy="461665"/>
              </a:xfrm>
              <a:prstGeom prst="rect">
                <a:avLst/>
              </a:prstGeom>
              <a:blipFill rotWithShape="0">
                <a:blip r:embed="rId19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16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7" grpId="0" animBg="1"/>
      <p:bldP spid="17439" grpId="0" animBg="1"/>
      <p:bldP spid="17440" grpId="0" animBg="1"/>
      <p:bldP spid="17441" grpId="0" animBg="1"/>
      <p:bldP spid="1744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2608863"/>
            <a:ext cx="9144000" cy="2286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822960" anchor="ctr"/>
          <a:lstStyle/>
          <a:p>
            <a:pPr marL="609600" indent="-609600">
              <a:buFontTx/>
              <a:buAutoNum type="arabicPeriod"/>
            </a:pPr>
            <a:r>
              <a:rPr lang="pl-PL" sz="2800" dirty="0"/>
              <a:t> </a:t>
            </a:r>
            <a:r>
              <a:rPr lang="en-GB" sz="2800" b="1" dirty="0">
                <a:solidFill>
                  <a:srgbClr val="FF0000"/>
                </a:solidFill>
              </a:rPr>
              <a:t>publicly verifiable</a:t>
            </a:r>
            <a:r>
              <a:rPr lang="pl-PL" sz="2800" dirty="0">
                <a:solidFill>
                  <a:schemeClr val="tx1"/>
                </a:solidFill>
              </a:rPr>
              <a:t>,</a:t>
            </a:r>
            <a:endParaRPr lang="en-GB" sz="2800" dirty="0">
              <a:solidFill>
                <a:schemeClr val="tx1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pl-PL" sz="2800" dirty="0"/>
              <a:t> </a:t>
            </a:r>
            <a:r>
              <a:rPr lang="en-GB" sz="2800" b="1" dirty="0">
                <a:solidFill>
                  <a:srgbClr val="7030A0"/>
                </a:solidFill>
              </a:rPr>
              <a:t>transferable</a:t>
            </a:r>
            <a:r>
              <a:rPr lang="pl-PL" sz="2800" dirty="0">
                <a:solidFill>
                  <a:schemeClr val="tx1"/>
                </a:solidFill>
              </a:rPr>
              <a:t>, and</a:t>
            </a:r>
            <a:endParaRPr lang="en-GB" sz="2800" dirty="0">
              <a:solidFill>
                <a:schemeClr val="tx1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pl-PL" sz="2800" dirty="0"/>
              <a:t> </a:t>
            </a:r>
            <a:r>
              <a:rPr lang="en-GB" sz="2800" dirty="0"/>
              <a:t>provide </a:t>
            </a:r>
            <a:r>
              <a:rPr lang="en-GB" sz="2800" b="1" dirty="0">
                <a:solidFill>
                  <a:srgbClr val="0070C0"/>
                </a:solidFill>
              </a:rPr>
              <a:t>non-repudiation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96562" y="231820"/>
            <a:ext cx="8218788" cy="985321"/>
          </a:xfrm>
        </p:spPr>
        <p:txBody>
          <a:bodyPr/>
          <a:lstStyle/>
          <a:p>
            <a:r>
              <a:rPr lang="en-GB" sz="4000" dirty="0"/>
              <a:t>Advantages of the signature schemes</a:t>
            </a:r>
            <a:endParaRPr lang="en-US" sz="40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7694" y="1743696"/>
            <a:ext cx="7886700" cy="540694"/>
          </a:xfrm>
        </p:spPr>
        <p:txBody>
          <a:bodyPr>
            <a:normAutofit/>
          </a:bodyPr>
          <a:lstStyle/>
          <a:p>
            <a:pPr marL="609600" indent="-609600">
              <a:buFontTx/>
              <a:buNone/>
            </a:pPr>
            <a:r>
              <a:rPr lang="en-GB" dirty="0"/>
              <a:t>Digital signatures are:</a:t>
            </a:r>
            <a:endParaRPr lang="pl-PL" dirty="0"/>
          </a:p>
          <a:p>
            <a:pPr marL="609600" indent="-609600">
              <a:buFontTx/>
              <a:buAutoNum type="arabicPeriod"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  <p:sp>
        <p:nvSpPr>
          <p:cNvPr id="2" name="Rectangle 1"/>
          <p:cNvSpPr/>
          <p:nvPr/>
        </p:nvSpPr>
        <p:spPr>
          <a:xfrm>
            <a:off x="3767085" y="5654587"/>
            <a:ext cx="51473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/>
              <a:t>(we explain it on the next slides)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2051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uiExpand="1" build="p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GB"/>
              <a:t>Look at the MACs...</a:t>
            </a:r>
            <a:endParaRPr lang="en-US"/>
          </a:p>
        </p:txBody>
      </p:sp>
      <p:pic>
        <p:nvPicPr>
          <p:cNvPr id="11277" name="Picture 13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53138" y="1824038"/>
            <a:ext cx="1401762" cy="1457325"/>
          </a:xfrm>
          <a:prstGeom prst="rect">
            <a:avLst/>
          </a:prstGeom>
          <a:noFill/>
        </p:spPr>
      </p:pic>
      <p:pic>
        <p:nvPicPr>
          <p:cNvPr id="11278" name="Picture 14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6375" y="1752600"/>
            <a:ext cx="1368425" cy="1438275"/>
          </a:xfrm>
          <a:prstGeom prst="rect">
            <a:avLst/>
          </a:prstGeom>
          <a:noFill/>
        </p:spPr>
      </p:pic>
      <p:sp>
        <p:nvSpPr>
          <p:cNvPr id="11279" name="Line 15"/>
          <p:cNvSpPr>
            <a:spLocks noChangeShapeType="1"/>
          </p:cNvSpPr>
          <p:nvPr/>
        </p:nvSpPr>
        <p:spPr bwMode="auto">
          <a:xfrm>
            <a:off x="2916238" y="2473325"/>
            <a:ext cx="309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1675256" y="2743200"/>
            <a:ext cx="707373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6510338" y="2814638"/>
            <a:ext cx="631825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82" name="Text Box 18"/>
              <p:cNvSpPr txBox="1">
                <a:spLocks noChangeArrowheads="1"/>
              </p:cNvSpPr>
              <p:nvPr/>
            </p:nvSpPr>
            <p:spPr bwMode="auto">
              <a:xfrm>
                <a:off x="3374182" y="2257425"/>
                <a:ext cx="2071401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 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𝒕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</m:t>
                      </m:r>
                      <m:r>
                        <a:rPr lang="en-US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𝐓𝐚𝐠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128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4182" y="2257425"/>
                <a:ext cx="2071401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83" name="Text Box 19"/>
              <p:cNvSpPr txBox="1">
                <a:spLocks noChangeArrowheads="1"/>
              </p:cNvSpPr>
              <p:nvPr/>
            </p:nvSpPr>
            <p:spPr bwMode="auto">
              <a:xfrm>
                <a:off x="1981200" y="1066800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1283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1066800"/>
                <a:ext cx="377026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84" name="Text Box 20"/>
              <p:cNvSpPr txBox="1">
                <a:spLocks noChangeArrowheads="1"/>
              </p:cNvSpPr>
              <p:nvPr/>
            </p:nvSpPr>
            <p:spPr bwMode="auto">
              <a:xfrm>
                <a:off x="6629400" y="1143000"/>
                <a:ext cx="37702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𝒌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1284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9400" y="1143000"/>
                <a:ext cx="37702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85" name="Line 21"/>
          <p:cNvSpPr>
            <a:spLocks noChangeShapeType="1"/>
          </p:cNvSpPr>
          <p:nvPr/>
        </p:nvSpPr>
        <p:spPr bwMode="auto">
          <a:xfrm>
            <a:off x="2133600" y="144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86" name="Line 22"/>
          <p:cNvSpPr>
            <a:spLocks noChangeShapeType="1"/>
          </p:cNvSpPr>
          <p:nvPr/>
        </p:nvSpPr>
        <p:spPr bwMode="auto">
          <a:xfrm>
            <a:off x="6781800" y="1524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87" name="Text Box 23"/>
              <p:cNvSpPr txBox="1">
                <a:spLocks noChangeArrowheads="1"/>
              </p:cNvSpPr>
              <p:nvPr/>
            </p:nvSpPr>
            <p:spPr bwMode="auto">
              <a:xfrm>
                <a:off x="364534" y="2257425"/>
                <a:ext cx="1355628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∈</m:t>
                      </m:r>
                      <m:sSup>
                        <m:s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  <m:t>𝟎</m:t>
                              </m:r>
                              <m: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  <m:t>,</m:t>
                              </m:r>
                              <m: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287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534" y="2257425"/>
                <a:ext cx="1355628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90" name="Picture 26" descr="j029202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96000" y="4724400"/>
            <a:ext cx="1752600" cy="1663700"/>
          </a:xfrm>
          <a:prstGeom prst="rect">
            <a:avLst/>
          </a:prstGeom>
          <a:noFill/>
        </p:spPr>
      </p:pic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6629400" y="5943600"/>
            <a:ext cx="990600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Carol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11292" name="Line 28"/>
          <p:cNvSpPr>
            <a:spLocks noChangeShapeType="1"/>
          </p:cNvSpPr>
          <p:nvPr/>
        </p:nvSpPr>
        <p:spPr bwMode="auto">
          <a:xfrm>
            <a:off x="6781800" y="32766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93" name="Text Box 29"/>
              <p:cNvSpPr txBox="1">
                <a:spLocks noChangeArrowheads="1"/>
              </p:cNvSpPr>
              <p:nvPr/>
            </p:nvSpPr>
            <p:spPr bwMode="auto">
              <a:xfrm>
                <a:off x="5486400" y="3657600"/>
                <a:ext cx="2892425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GB" dirty="0"/>
                  <a:t>Look, I got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from Alice</a:t>
                </a:r>
                <a:endParaRPr lang="en-US" dirty="0"/>
              </a:p>
            </p:txBody>
          </p:sp>
        </mc:Choice>
        <mc:Fallback xmlns="">
          <p:sp>
            <p:nvSpPr>
              <p:cNvPr id="11293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3657600"/>
                <a:ext cx="2892425" cy="369888"/>
              </a:xfrm>
              <a:prstGeom prst="rect">
                <a:avLst/>
              </a:prstGeom>
              <a:blipFill rotWithShape="0">
                <a:blip r:embed="rId10"/>
                <a:stretch>
                  <a:fillRect l="-1471" t="-7937" r="-1891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94" name="AutoShape 30"/>
              <p:cNvSpPr>
                <a:spLocks noChangeArrowheads="1"/>
              </p:cNvSpPr>
              <p:nvPr/>
            </p:nvSpPr>
            <p:spPr bwMode="auto">
              <a:xfrm>
                <a:off x="762000" y="3505200"/>
                <a:ext cx="4267200" cy="2667000"/>
              </a:xfrm>
              <a:prstGeom prst="wedgeRectCallout">
                <a:avLst>
                  <a:gd name="adj1" fmla="val 85046"/>
                  <a:gd name="adj2" fmla="val 7264"/>
                </a:avLst>
              </a:prstGeom>
              <a:ln>
                <a:headEnd/>
                <a:tailEnd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marL="342900" indent="-342900" algn="ctr"/>
                <a:r>
                  <a:rPr lang="en-GB" sz="2400" b="1" dirty="0"/>
                  <a:t>Why shall I trust you?</a:t>
                </a:r>
              </a:p>
              <a:p>
                <a:pPr marL="342900" indent="-342900" algn="ctr"/>
                <a:endParaRPr lang="en-GB" sz="2400" b="1" dirty="0"/>
              </a:p>
              <a:p>
                <a:pPr marL="342900" indent="-342900">
                  <a:buFontTx/>
                  <a:buAutoNum type="arabicPeriod"/>
                </a:pPr>
                <a:r>
                  <a:rPr lang="en-GB" sz="2000" dirty="0"/>
                  <a:t>You could have created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GB" sz="2000" dirty="0"/>
                  <a:t> yourself (because you know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GB" sz="2000" dirty="0"/>
                  <a:t>)</a:t>
                </a:r>
              </a:p>
              <a:p>
                <a:pPr marL="342900" indent="-342900">
                  <a:buFontTx/>
                  <a:buAutoNum type="arabicPeriod"/>
                </a:pPr>
                <a:endParaRPr lang="en-GB" sz="2000" dirty="0"/>
              </a:p>
              <a:p>
                <a:pPr marL="342900" indent="-342900">
                  <a:buFontTx/>
                  <a:buAutoNum type="arabicPeriod"/>
                </a:pPr>
                <a:r>
                  <a:rPr lang="en-GB" sz="2000" dirty="0"/>
                  <a:t>I don’t know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GB" sz="2000" dirty="0"/>
                  <a:t>, so how can I verify the tag?</a:t>
                </a:r>
              </a:p>
              <a:p>
                <a:pPr marL="342900" indent="-342900">
                  <a:buFontTx/>
                  <a:buAutoNum type="arabicPeriod"/>
                </a:pPr>
                <a:endParaRPr lang="en-US" sz="2000" dirty="0"/>
              </a:p>
            </p:txBody>
          </p:sp>
        </mc:Choice>
        <mc:Fallback xmlns="">
          <p:sp>
            <p:nvSpPr>
              <p:cNvPr id="11294" name="AutoShap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3505200"/>
                <a:ext cx="4267200" cy="2667000"/>
              </a:xfrm>
              <a:prstGeom prst="wedgeRectCallout">
                <a:avLst>
                  <a:gd name="adj1" fmla="val 85046"/>
                  <a:gd name="adj2" fmla="val 7264"/>
                </a:avLst>
              </a:prstGeom>
              <a:blipFill rotWithShape="0">
                <a:blip r:embed="rId11"/>
                <a:stretch>
                  <a:fillRect l="-527" t="-136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943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9" grpId="0" animBg="1"/>
      <p:bldP spid="11282" grpId="0" animBg="1"/>
      <p:bldP spid="11291" grpId="0" animBg="1"/>
      <p:bldP spid="11292" grpId="0" animBg="1"/>
      <p:bldP spid="11293" grpId="0" animBg="1"/>
      <p:bldP spid="1129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GB" sz="4000"/>
              <a:t>Signatures are publicly-verifiable!</a:t>
            </a:r>
            <a:endParaRPr lang="en-US" sz="4000"/>
          </a:p>
        </p:txBody>
      </p:sp>
      <p:pic>
        <p:nvPicPr>
          <p:cNvPr id="12292" name="Picture 4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53138" y="1824038"/>
            <a:ext cx="1401762" cy="1457325"/>
          </a:xfrm>
          <a:prstGeom prst="rect">
            <a:avLst/>
          </a:prstGeom>
          <a:noFill/>
        </p:spPr>
      </p:pic>
      <p:pic>
        <p:nvPicPr>
          <p:cNvPr id="12293" name="Picture 5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6375" y="1752600"/>
            <a:ext cx="1368425" cy="1438275"/>
          </a:xfrm>
          <a:prstGeom prst="rect">
            <a:avLst/>
          </a:prstGeom>
          <a:noFill/>
        </p:spPr>
      </p:pic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2916238" y="2473325"/>
            <a:ext cx="3095625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n-US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1675256" y="2743200"/>
            <a:ext cx="707373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6510338" y="2814638"/>
            <a:ext cx="631825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7" name="Text Box 9"/>
              <p:cNvSpPr txBox="1">
                <a:spLocks noChangeArrowheads="1"/>
              </p:cNvSpPr>
              <p:nvPr/>
            </p:nvSpPr>
            <p:spPr bwMode="auto">
              <a:xfrm>
                <a:off x="3418168" y="2257425"/>
                <a:ext cx="2220480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 </m:t>
                      </m:r>
                      <m:r>
                        <a:rPr lang="el-GR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</m:t>
                      </m:r>
                      <m:r>
                        <a:rPr lang="en-US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𝐒𝐢𝐠𝐧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𝒔𝒌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229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8168" y="2257425"/>
                <a:ext cx="222048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8" name="Text Box 10"/>
              <p:cNvSpPr txBox="1">
                <a:spLocks noChangeArrowheads="1"/>
              </p:cNvSpPr>
              <p:nvPr/>
            </p:nvSpPr>
            <p:spPr bwMode="auto">
              <a:xfrm>
                <a:off x="1905000" y="1066800"/>
                <a:ext cx="595035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𝒔𝒌</m:t>
                      </m:r>
                      <m:r>
                        <a:rPr lang="en-GB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229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1066800"/>
                <a:ext cx="595035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9" name="Text Box 11"/>
              <p:cNvSpPr txBox="1">
                <a:spLocks noChangeArrowheads="1"/>
              </p:cNvSpPr>
              <p:nvPr/>
            </p:nvSpPr>
            <p:spPr bwMode="auto">
              <a:xfrm>
                <a:off x="7162800" y="1143000"/>
                <a:ext cx="62228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𝒑𝒌</m:t>
                      </m:r>
                      <m:r>
                        <a:rPr lang="en-GB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2299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1143000"/>
                <a:ext cx="622286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2133600" y="144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 flipH="1">
            <a:off x="6781800" y="15240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02" name="Text Box 14"/>
              <p:cNvSpPr txBox="1">
                <a:spLocks noChangeArrowheads="1"/>
              </p:cNvSpPr>
              <p:nvPr/>
            </p:nvSpPr>
            <p:spPr bwMode="auto">
              <a:xfrm>
                <a:off x="364535" y="2257425"/>
                <a:ext cx="1355628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∈</m:t>
                      </m:r>
                      <m:sSup>
                        <m:sSupPr>
                          <m:ctrlP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  <m:t>𝟎</m:t>
                              </m:r>
                              <m: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  <m:t>,</m:t>
                              </m:r>
                              <m: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2302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535" y="2257425"/>
                <a:ext cx="1355628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03" name="Picture 15" descr="j029202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096000" y="4724400"/>
            <a:ext cx="1752600" cy="1663700"/>
          </a:xfrm>
          <a:prstGeom prst="rect">
            <a:avLst/>
          </a:prstGeom>
          <a:noFill/>
        </p:spPr>
      </p:pic>
      <p:sp>
        <p:nvSpPr>
          <p:cNvPr id="12304" name="Text Box 16"/>
          <p:cNvSpPr txBox="1">
            <a:spLocks noChangeArrowheads="1"/>
          </p:cNvSpPr>
          <p:nvPr/>
        </p:nvSpPr>
        <p:spPr bwMode="auto">
          <a:xfrm>
            <a:off x="6629400" y="5943600"/>
            <a:ext cx="990600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Carol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>
            <a:off x="6781800" y="32766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06" name="AutoShape 18"/>
              <p:cNvSpPr>
                <a:spLocks noChangeArrowheads="1"/>
              </p:cNvSpPr>
              <p:nvPr/>
            </p:nvSpPr>
            <p:spPr bwMode="auto">
              <a:xfrm>
                <a:off x="1600200" y="4267200"/>
                <a:ext cx="3657600" cy="1905000"/>
              </a:xfrm>
              <a:prstGeom prst="wedgeRectCallout">
                <a:avLst>
                  <a:gd name="adj1" fmla="val 89065"/>
                  <a:gd name="adj2" fmla="val -6000"/>
                </a:avLst>
              </a:prstGeom>
              <a:ln>
                <a:headEnd/>
                <a:tailE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marL="342900" indent="-342900" algn="ctr"/>
                <a:r>
                  <a:rPr lang="en-GB" sz="2000" dirty="0"/>
                  <a:t>I can calculate</a:t>
                </a:r>
              </a:p>
              <a:p>
                <a:pPr marL="342900" indent="-342900" algn="ctr"/>
                <a:endParaRPr lang="en-GB" sz="2000" dirty="0"/>
              </a:p>
              <a:p>
                <a:pPr marL="342900" indent="-3429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𝝈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</m:oMath>
                  </m:oMathPara>
                </a14:m>
                <a:endParaRPr lang="el-GR" sz="2000" b="1" baseline="-25000" dirty="0">
                  <a:solidFill>
                    <a:srgbClr val="FF0000"/>
                  </a:solidFill>
                  <a:cs typeface="Arial" pitchFamily="34" charset="0"/>
                </a:endParaRPr>
              </a:p>
              <a:p>
                <a:pPr marL="342900" indent="-342900" algn="ctr"/>
                <a:endParaRPr lang="en-GB" sz="2000" dirty="0"/>
              </a:p>
              <a:p>
                <a:pPr marL="342900" indent="-342900" algn="ctr"/>
                <a:r>
                  <a:rPr lang="en-GB" sz="2000" dirty="0"/>
                  <a:t>and check.</a:t>
                </a:r>
                <a:endParaRPr lang="en-US" dirty="0"/>
              </a:p>
            </p:txBody>
          </p:sp>
        </mc:Choice>
        <mc:Fallback xmlns="">
          <p:sp>
            <p:nvSpPr>
              <p:cNvPr id="12306" name="AutoShap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0200" y="4267200"/>
                <a:ext cx="3657600" cy="1905000"/>
              </a:xfrm>
              <a:prstGeom prst="wedgeRectCallout">
                <a:avLst>
                  <a:gd name="adj1" fmla="val 89065"/>
                  <a:gd name="adj2" fmla="val -6000"/>
                </a:avLst>
              </a:prstGeom>
              <a:blipFill rotWithShape="0"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07" name="AutoShape 19"/>
          <p:cNvCxnSpPr>
            <a:cxnSpLocks noChangeShapeType="1"/>
            <a:stCxn id="12299" idx="3"/>
            <a:endCxn id="12303" idx="3"/>
          </p:cNvCxnSpPr>
          <p:nvPr/>
        </p:nvCxnSpPr>
        <p:spPr bwMode="auto">
          <a:xfrm>
            <a:off x="7785086" y="1327666"/>
            <a:ext cx="63514" cy="4228584"/>
          </a:xfrm>
          <a:prstGeom prst="curvedConnector3">
            <a:avLst>
              <a:gd name="adj1" fmla="val 163695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08" name="Text Box 20"/>
              <p:cNvSpPr txBox="1">
                <a:spLocks noChangeArrowheads="1"/>
              </p:cNvSpPr>
              <p:nvPr/>
            </p:nvSpPr>
            <p:spPr bwMode="auto">
              <a:xfrm>
                <a:off x="5486400" y="3657600"/>
                <a:ext cx="2973388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GB" dirty="0"/>
                  <a:t>Look, I got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from Alice</a:t>
                </a:r>
                <a:endParaRPr lang="en-US" dirty="0"/>
              </a:p>
            </p:txBody>
          </p:sp>
        </mc:Choice>
        <mc:Fallback xmlns="">
          <p:sp>
            <p:nvSpPr>
              <p:cNvPr id="1230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6400" y="3657600"/>
                <a:ext cx="2973388" cy="369888"/>
              </a:xfrm>
              <a:prstGeom prst="rect">
                <a:avLst/>
              </a:prstGeom>
              <a:blipFill rotWithShape="0">
                <a:blip r:embed="rId11"/>
                <a:stretch>
                  <a:fillRect l="-1426" t="-7813" r="-611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50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9" grpId="0" animBg="1"/>
      <p:bldP spid="12301" grpId="0" animBg="1"/>
      <p:bldP spid="12305" grpId="0" animBg="1"/>
      <p:bldP spid="12306" grpId="0" animBg="1"/>
      <p:bldP spid="1230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30" name="Picture 18" descr="MCj041580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066800"/>
            <a:ext cx="1368425" cy="1438275"/>
          </a:xfrm>
          <a:prstGeom prst="rect">
            <a:avLst/>
          </a:prstGeom>
          <a:noFill/>
        </p:spPr>
      </p:pic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GB" sz="4000"/>
              <a:t>So, the signatures are transferable</a:t>
            </a:r>
            <a:endParaRPr lang="en-US" sz="4000"/>
          </a:p>
        </p:txBody>
      </p:sp>
      <p:pic>
        <p:nvPicPr>
          <p:cNvPr id="13316" name="Picture 4" descr="PL416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67600" y="5029200"/>
            <a:ext cx="1058863" cy="857250"/>
          </a:xfrm>
          <a:prstGeom prst="rect">
            <a:avLst/>
          </a:prstGeom>
          <a:noFill/>
        </p:spPr>
      </p:pic>
      <p:pic>
        <p:nvPicPr>
          <p:cNvPr id="13318" name="Picture 6" descr="PL414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60663" y="4953000"/>
            <a:ext cx="973137" cy="1011238"/>
          </a:xfrm>
          <a:prstGeom prst="rect">
            <a:avLst/>
          </a:prstGeom>
          <a:noFill/>
        </p:spPr>
      </p:pic>
      <p:pic>
        <p:nvPicPr>
          <p:cNvPr id="13319" name="Picture 7" descr="PL412a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5800" y="4953000"/>
            <a:ext cx="990600" cy="942975"/>
          </a:xfrm>
          <a:prstGeom prst="rect">
            <a:avLst/>
          </a:prstGeom>
          <a:noFill/>
        </p:spPr>
      </p:pic>
      <p:pic>
        <p:nvPicPr>
          <p:cNvPr id="13320" name="Picture 8" descr="PL415a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54600" y="5029200"/>
            <a:ext cx="1041400" cy="96996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321" name="Text Box 9"/>
              <p:cNvSpPr txBox="1">
                <a:spLocks noChangeArrowheads="1"/>
              </p:cNvSpPr>
              <p:nvPr/>
            </p:nvSpPr>
            <p:spPr bwMode="auto">
              <a:xfrm>
                <a:off x="3124200" y="60198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21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4200" y="6019800"/>
                <a:ext cx="58702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2" name="Text Box 10"/>
              <p:cNvSpPr txBox="1">
                <a:spLocks noChangeArrowheads="1"/>
              </p:cNvSpPr>
              <p:nvPr/>
            </p:nvSpPr>
            <p:spPr bwMode="auto">
              <a:xfrm>
                <a:off x="5359400" y="60198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22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9400" y="6019800"/>
                <a:ext cx="587020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1677987" y="1295400"/>
            <a:ext cx="912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Alice</a:t>
            </a:r>
            <a:endParaRPr lang="en-US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24" name="Text Box 12"/>
              <p:cNvSpPr txBox="1">
                <a:spLocks noChangeArrowheads="1"/>
              </p:cNvSpPr>
              <p:nvPr/>
            </p:nvSpPr>
            <p:spPr bwMode="auto">
              <a:xfrm>
                <a:off x="7772400" y="60198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24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2400" y="6019800"/>
                <a:ext cx="587020" cy="461665"/>
              </a:xfrm>
              <a:prstGeom prst="rect">
                <a:avLst/>
              </a:prstGeom>
              <a:blipFill rotWithShape="0">
                <a:blip r:embed="rId10"/>
                <a:stretch>
                  <a:fillRect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5" name="Text Box 13"/>
              <p:cNvSpPr txBox="1">
                <a:spLocks noChangeArrowheads="1"/>
              </p:cNvSpPr>
              <p:nvPr/>
            </p:nvSpPr>
            <p:spPr bwMode="auto">
              <a:xfrm>
                <a:off x="914400" y="60198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2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6019800"/>
                <a:ext cx="587020" cy="461665"/>
              </a:xfrm>
              <a:prstGeom prst="rect">
                <a:avLst/>
              </a:prstGeom>
              <a:blipFill rotWithShape="0">
                <a:blip r:embed="rId11"/>
                <a:stretch>
                  <a:fillRect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7" name="AutoShape 15"/>
              <p:cNvSpPr>
                <a:spLocks noChangeArrowheads="1"/>
              </p:cNvSpPr>
              <p:nvPr/>
            </p:nvSpPr>
            <p:spPr bwMode="auto">
              <a:xfrm rot="5400000" flipH="1" flipV="1">
                <a:off x="-89308" y="3147605"/>
                <a:ext cx="2504304" cy="954088"/>
              </a:xfrm>
              <a:prstGeom prst="leftArrow">
                <a:avLst>
                  <a:gd name="adj1" fmla="val 50417"/>
                  <a:gd name="adj2" fmla="val 47598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𝝈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 = </m:t>
                      </m:r>
                      <m:r>
                        <a:rPr lang="en-US" sz="20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sSub>
                        <m:sSubPr>
                          <m:ctrlPr>
                            <a:rPr lang="en-GB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27" name="AutoShap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rot="5400000" flipH="1" flipV="1">
                <a:off x="-89308" y="3147605"/>
                <a:ext cx="2504304" cy="954088"/>
              </a:xfrm>
              <a:prstGeom prst="leftArrow">
                <a:avLst>
                  <a:gd name="adj1" fmla="val 50417"/>
                  <a:gd name="adj2" fmla="val 47598"/>
                </a:avLst>
              </a:prstGeom>
              <a:blipFill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9" name="Rectangle 17"/>
              <p:cNvSpPr>
                <a:spLocks noChangeArrowheads="1"/>
              </p:cNvSpPr>
              <p:nvPr/>
            </p:nvSpPr>
            <p:spPr bwMode="auto">
              <a:xfrm>
                <a:off x="1752600" y="18288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29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1828800"/>
                <a:ext cx="914400" cy="45720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1" name="AutoShape 19"/>
              <p:cNvSpPr>
                <a:spLocks noChangeArrowheads="1"/>
              </p:cNvSpPr>
              <p:nvPr/>
            </p:nvSpPr>
            <p:spPr bwMode="auto">
              <a:xfrm>
                <a:off x="1752600" y="5105400"/>
                <a:ext cx="1066800" cy="685800"/>
              </a:xfrm>
              <a:prstGeom prst="rightArrow">
                <a:avLst>
                  <a:gd name="adj1" fmla="val 50000"/>
                  <a:gd name="adj2" fmla="val 38889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31" name="AutoShap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5105400"/>
                <a:ext cx="1066800" cy="685800"/>
              </a:xfrm>
              <a:prstGeom prst="rightArrow">
                <a:avLst>
                  <a:gd name="adj1" fmla="val 50000"/>
                  <a:gd name="adj2" fmla="val 38889"/>
                </a:avLst>
              </a:prstGeom>
              <a:blipFill rotWithShape="0">
                <a:blip r:embed="rId14"/>
                <a:stretch>
                  <a:fillRect l="-280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3" name="AutoShape 21"/>
              <p:cNvSpPr>
                <a:spLocks noChangeArrowheads="1"/>
              </p:cNvSpPr>
              <p:nvPr/>
            </p:nvSpPr>
            <p:spPr bwMode="auto">
              <a:xfrm>
                <a:off x="3886200" y="5105400"/>
                <a:ext cx="1066800" cy="685800"/>
              </a:xfrm>
              <a:prstGeom prst="rightArrow">
                <a:avLst>
                  <a:gd name="adj1" fmla="val 50000"/>
                  <a:gd name="adj2" fmla="val 38889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33" name="AutoShap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6200" y="5105400"/>
                <a:ext cx="1066800" cy="685800"/>
              </a:xfrm>
              <a:prstGeom prst="rightArrow">
                <a:avLst>
                  <a:gd name="adj1" fmla="val 50000"/>
                  <a:gd name="adj2" fmla="val 38889"/>
                </a:avLst>
              </a:prstGeom>
              <a:blipFill rotWithShape="0">
                <a:blip r:embed="rId14"/>
                <a:stretch>
                  <a:fillRect l="-280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4" name="AutoShape 22"/>
              <p:cNvSpPr>
                <a:spLocks noChangeArrowheads="1"/>
              </p:cNvSpPr>
              <p:nvPr/>
            </p:nvSpPr>
            <p:spPr bwMode="auto">
              <a:xfrm>
                <a:off x="6248400" y="5105400"/>
                <a:ext cx="1066800" cy="685800"/>
              </a:xfrm>
              <a:prstGeom prst="rightArrow">
                <a:avLst>
                  <a:gd name="adj1" fmla="val 50000"/>
                  <a:gd name="adj2" fmla="val 38889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34" name="AutoShap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8400" y="5105400"/>
                <a:ext cx="1066800" cy="685800"/>
              </a:xfrm>
              <a:prstGeom prst="rightArrow">
                <a:avLst>
                  <a:gd name="adj1" fmla="val 50000"/>
                  <a:gd name="adj2" fmla="val 38889"/>
                </a:avLst>
              </a:prstGeom>
              <a:blipFill rotWithShape="0">
                <a:blip r:embed="rId15"/>
                <a:stretch>
                  <a:fillRect l="-224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5" name="AutoShape 23"/>
              <p:cNvSpPr>
                <a:spLocks noChangeArrowheads="1"/>
              </p:cNvSpPr>
              <p:nvPr/>
            </p:nvSpPr>
            <p:spPr bwMode="auto">
              <a:xfrm>
                <a:off x="2514600" y="2514600"/>
                <a:ext cx="1371600" cy="685800"/>
              </a:xfrm>
              <a:prstGeom prst="wedgeRectCallout">
                <a:avLst>
                  <a:gd name="adj1" fmla="val -137639"/>
                  <a:gd name="adj2" fmla="val 317130"/>
                </a:avLst>
              </a:prstGeom>
              <a:ln>
                <a:headEnd/>
                <a:tailE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GB" dirty="0"/>
                  <a:t>“Alice signed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”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335" name="AutoShap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2514600"/>
                <a:ext cx="1371600" cy="685800"/>
              </a:xfrm>
              <a:prstGeom prst="wedgeRectCallout">
                <a:avLst>
                  <a:gd name="adj1" fmla="val -137639"/>
                  <a:gd name="adj2" fmla="val 317130"/>
                </a:avLst>
              </a:prstGeom>
              <a:blipFill rotWithShape="0">
                <a:blip r:embed="rId16"/>
                <a:stretch>
                  <a:fillRect t="-144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6" name="Rectangle 24"/>
              <p:cNvSpPr>
                <a:spLocks noChangeArrowheads="1"/>
              </p:cNvSpPr>
              <p:nvPr/>
            </p:nvSpPr>
            <p:spPr bwMode="auto">
              <a:xfrm>
                <a:off x="304800" y="5638800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36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5638800"/>
                <a:ext cx="533400" cy="457200"/>
              </a:xfrm>
              <a:prstGeom prst="rect">
                <a:avLst/>
              </a:prstGeom>
              <a:blipFill rotWithShape="0">
                <a:blip r:embed="rId17"/>
                <a:stretch>
                  <a:fillRect l="-21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7" name="Rectangle 25"/>
              <p:cNvSpPr>
                <a:spLocks noChangeArrowheads="1"/>
              </p:cNvSpPr>
              <p:nvPr/>
            </p:nvSpPr>
            <p:spPr bwMode="auto">
              <a:xfrm>
                <a:off x="2590800" y="5638800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37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800" y="5638800"/>
                <a:ext cx="533400" cy="457200"/>
              </a:xfrm>
              <a:prstGeom prst="rect">
                <a:avLst/>
              </a:prstGeom>
              <a:blipFill rotWithShape="0">
                <a:blip r:embed="rId17"/>
                <a:stretch>
                  <a:fillRect l="-21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8" name="Rectangle 26"/>
              <p:cNvSpPr>
                <a:spLocks noChangeArrowheads="1"/>
              </p:cNvSpPr>
              <p:nvPr/>
            </p:nvSpPr>
            <p:spPr bwMode="auto">
              <a:xfrm>
                <a:off x="4876800" y="5638800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38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5638800"/>
                <a:ext cx="533400" cy="457200"/>
              </a:xfrm>
              <a:prstGeom prst="rect">
                <a:avLst/>
              </a:prstGeom>
              <a:blipFill rotWithShape="0">
                <a:blip r:embed="rId17"/>
                <a:stretch>
                  <a:fillRect l="-21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9" name="Rectangle 27"/>
              <p:cNvSpPr>
                <a:spLocks noChangeArrowheads="1"/>
              </p:cNvSpPr>
              <p:nvPr/>
            </p:nvSpPr>
            <p:spPr bwMode="auto">
              <a:xfrm>
                <a:off x="7162800" y="5638800"/>
                <a:ext cx="53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339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5638800"/>
                <a:ext cx="533400" cy="457200"/>
              </a:xfrm>
              <a:prstGeom prst="rect">
                <a:avLst/>
              </a:prstGeom>
              <a:blipFill rotWithShape="0">
                <a:blip r:embed="rId17"/>
                <a:stretch>
                  <a:fillRect l="-21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40" name="AutoShape 28"/>
              <p:cNvSpPr>
                <a:spLocks noChangeArrowheads="1"/>
              </p:cNvSpPr>
              <p:nvPr/>
            </p:nvSpPr>
            <p:spPr bwMode="auto">
              <a:xfrm>
                <a:off x="4760912" y="2514600"/>
                <a:ext cx="1394254" cy="685800"/>
              </a:xfrm>
              <a:prstGeom prst="wedgeRectCallout">
                <a:avLst>
                  <a:gd name="adj1" fmla="val -141667"/>
                  <a:gd name="adj2" fmla="val 323843"/>
                </a:avLst>
              </a:prstGeom>
              <a:ln>
                <a:headEnd/>
                <a:tailE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GB" dirty="0"/>
                  <a:t>“Alice signed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”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340" name="AutoShap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0912" y="2514600"/>
                <a:ext cx="1394254" cy="685800"/>
              </a:xfrm>
              <a:prstGeom prst="wedgeRectCallout">
                <a:avLst>
                  <a:gd name="adj1" fmla="val -141667"/>
                  <a:gd name="adj2" fmla="val 323843"/>
                </a:avLst>
              </a:prstGeom>
              <a:blipFill rotWithShape="0">
                <a:blip r:embed="rId18"/>
                <a:stretch>
                  <a:fillRect t="-142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41" name="AutoShape 29"/>
              <p:cNvSpPr>
                <a:spLocks noChangeArrowheads="1"/>
              </p:cNvSpPr>
              <p:nvPr/>
            </p:nvSpPr>
            <p:spPr bwMode="auto">
              <a:xfrm>
                <a:off x="7010400" y="2505075"/>
                <a:ext cx="1349020" cy="685800"/>
              </a:xfrm>
              <a:prstGeom prst="wedgeRectCallout">
                <a:avLst>
                  <a:gd name="adj1" fmla="val -152474"/>
                  <a:gd name="adj2" fmla="val 318994"/>
                </a:avLst>
              </a:prstGeom>
              <a:ln>
                <a:headEnd/>
                <a:tailE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/>
                <a:r>
                  <a:rPr lang="en-GB" dirty="0"/>
                  <a:t>“Alice signed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”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341" name="AutoShap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2505075"/>
                <a:ext cx="1349020" cy="685800"/>
              </a:xfrm>
              <a:prstGeom prst="wedgeRectCallout">
                <a:avLst>
                  <a:gd name="adj1" fmla="val -152474"/>
                  <a:gd name="adj2" fmla="val 318994"/>
                </a:avLst>
              </a:prstGeom>
              <a:blipFill rotWithShape="0">
                <a:blip r:embed="rId19"/>
                <a:stretch>
                  <a:fillRect t="-143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42" name="AutoShape 30"/>
          <p:cNvSpPr>
            <a:spLocks noChangeArrowheads="1"/>
          </p:cNvSpPr>
          <p:nvPr/>
        </p:nvSpPr>
        <p:spPr bwMode="auto">
          <a:xfrm>
            <a:off x="2438400" y="4038600"/>
            <a:ext cx="1447800" cy="381000"/>
          </a:xfrm>
          <a:prstGeom prst="wedgeRectCallout">
            <a:avLst>
              <a:gd name="adj1" fmla="val -3949"/>
              <a:gd name="adj2" fmla="val 178750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GB" b="1" dirty="0"/>
              <a:t>I believe it!</a:t>
            </a:r>
            <a:endParaRPr lang="en-US" b="1" dirty="0"/>
          </a:p>
        </p:txBody>
      </p:sp>
      <p:sp>
        <p:nvSpPr>
          <p:cNvPr id="13343" name="AutoShape 31"/>
          <p:cNvSpPr>
            <a:spLocks noChangeArrowheads="1"/>
          </p:cNvSpPr>
          <p:nvPr/>
        </p:nvSpPr>
        <p:spPr bwMode="auto">
          <a:xfrm>
            <a:off x="4648200" y="4038600"/>
            <a:ext cx="1447800" cy="381000"/>
          </a:xfrm>
          <a:prstGeom prst="wedgeRectCallout">
            <a:avLst>
              <a:gd name="adj1" fmla="val -1426"/>
              <a:gd name="adj2" fmla="val 187500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GB" b="1" dirty="0"/>
              <a:t>I believe it!</a:t>
            </a:r>
            <a:endParaRPr lang="en-US" b="1" dirty="0"/>
          </a:p>
        </p:txBody>
      </p:sp>
      <p:sp>
        <p:nvSpPr>
          <p:cNvPr id="13344" name="AutoShape 32"/>
          <p:cNvSpPr>
            <a:spLocks noChangeArrowheads="1"/>
          </p:cNvSpPr>
          <p:nvPr/>
        </p:nvSpPr>
        <p:spPr bwMode="auto">
          <a:xfrm>
            <a:off x="7010400" y="4038600"/>
            <a:ext cx="1447800" cy="381000"/>
          </a:xfrm>
          <a:prstGeom prst="wedgeRectCallout">
            <a:avLst>
              <a:gd name="adj1" fmla="val -1426"/>
              <a:gd name="adj2" fmla="val 187500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GB" b="1"/>
              <a:t>I believe it!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6306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7" grpId="0" animBg="1"/>
      <p:bldP spid="13331" grpId="0" animBg="1"/>
      <p:bldP spid="13333" grpId="0" animBg="1"/>
      <p:bldP spid="13334" grpId="0" animBg="1"/>
      <p:bldP spid="13335" grpId="0" animBg="1"/>
      <p:bldP spid="13340" grpId="0" animBg="1"/>
      <p:bldP spid="13341" grpId="0" animBg="1"/>
      <p:bldP spid="13342" grpId="0" animBg="1"/>
      <p:bldP spid="13343" grpId="0" animBg="1"/>
      <p:bldP spid="1334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80" name="Picture 20" descr="MCj0434879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4648200"/>
            <a:ext cx="1905000" cy="1905000"/>
          </a:xfrm>
          <a:prstGeom prst="rect">
            <a:avLst/>
          </a:prstGeom>
          <a:noFill/>
        </p:spPr>
      </p:pic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GB"/>
              <a:t>Non-repudiation</a:t>
            </a:r>
            <a:endParaRPr lang="en-US"/>
          </a:p>
        </p:txBody>
      </p:sp>
      <p:pic>
        <p:nvPicPr>
          <p:cNvPr id="15363" name="Picture 3" descr="MCj0411466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53138" y="1824038"/>
            <a:ext cx="1401762" cy="1457325"/>
          </a:xfrm>
          <a:prstGeom prst="rect">
            <a:avLst/>
          </a:prstGeom>
          <a:noFill/>
        </p:spPr>
      </p:pic>
      <p:pic>
        <p:nvPicPr>
          <p:cNvPr id="15364" name="Picture 4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76375" y="1752600"/>
            <a:ext cx="1368425" cy="1438275"/>
          </a:xfrm>
          <a:prstGeom prst="rect">
            <a:avLst/>
          </a:prstGeom>
          <a:noFill/>
        </p:spPr>
      </p:pic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2916238" y="2473325"/>
            <a:ext cx="309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675256" y="2743200"/>
            <a:ext cx="707373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6510338" y="2814638"/>
            <a:ext cx="631825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8" name="Text Box 8"/>
              <p:cNvSpPr txBox="1">
                <a:spLocks noChangeArrowheads="1"/>
              </p:cNvSpPr>
              <p:nvPr/>
            </p:nvSpPr>
            <p:spPr bwMode="auto">
              <a:xfrm>
                <a:off x="3418168" y="2257425"/>
                <a:ext cx="2220480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, </m:t>
                      </m:r>
                      <m:r>
                        <a:rPr lang="el-GR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=</m:t>
                      </m:r>
                      <m:r>
                        <a:rPr lang="en-US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𝐒𝐢𝐠𝐧</m:t>
                      </m:r>
                      <m:r>
                        <a:rPr lang="en-US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𝒔𝒌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5368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8168" y="2257425"/>
                <a:ext cx="2220480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269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9" name="Text Box 9"/>
              <p:cNvSpPr txBox="1">
                <a:spLocks noChangeArrowheads="1"/>
              </p:cNvSpPr>
              <p:nvPr/>
            </p:nvSpPr>
            <p:spPr bwMode="auto">
              <a:xfrm>
                <a:off x="1847292" y="1066800"/>
                <a:ext cx="595035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𝒔𝒌</m:t>
                      </m:r>
                      <m:r>
                        <a:rPr lang="en-GB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536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7292" y="1066800"/>
                <a:ext cx="595035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0" name="Text Box 10"/>
              <p:cNvSpPr txBox="1">
                <a:spLocks noChangeArrowheads="1"/>
              </p:cNvSpPr>
              <p:nvPr/>
            </p:nvSpPr>
            <p:spPr bwMode="auto">
              <a:xfrm>
                <a:off x="7107497" y="1143000"/>
                <a:ext cx="62228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𝒑𝒌</m:t>
                      </m:r>
                      <m:r>
                        <a:rPr lang="en-GB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1537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07497" y="1143000"/>
                <a:ext cx="622286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2913" b="-1311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2133600" y="144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 flipH="1">
            <a:off x="6781800" y="15240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73" name="Text Box 13"/>
              <p:cNvSpPr txBox="1">
                <a:spLocks noChangeArrowheads="1"/>
              </p:cNvSpPr>
              <p:nvPr/>
            </p:nvSpPr>
            <p:spPr bwMode="auto">
              <a:xfrm>
                <a:off x="364535" y="2257425"/>
                <a:ext cx="1355628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pl-PL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∈</m:t>
                      </m:r>
                      <m:sSup>
                        <m:sSupPr>
                          <m:ctrlP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  <m:t>𝟎</m:t>
                              </m:r>
                              <m: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  <m:t>,</m:t>
                              </m:r>
                              <m:r>
                                <a:rPr lang="pl-PL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34" charset="-128"/>
                                  <a:cs typeface="Arial" pitchFamily="34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pl-PL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34" charset="-128"/>
                              <a:cs typeface="Arial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34" charset="-128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537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535" y="2257425"/>
                <a:ext cx="1355628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6477000" y="6096000"/>
            <a:ext cx="990600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34" charset="-128"/>
              </a:rPr>
              <a:t>Judge</a:t>
            </a:r>
            <a:endParaRPr lang="en-US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6781800" y="32766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15378" name="AutoShape 18"/>
          <p:cNvCxnSpPr>
            <a:cxnSpLocks noChangeShapeType="1"/>
            <a:stCxn id="15370" idx="3"/>
            <a:endCxn id="15380" idx="3"/>
          </p:cNvCxnSpPr>
          <p:nvPr/>
        </p:nvCxnSpPr>
        <p:spPr bwMode="auto">
          <a:xfrm>
            <a:off x="7729783" y="1327666"/>
            <a:ext cx="42617" cy="4273034"/>
          </a:xfrm>
          <a:prstGeom prst="curvedConnector3">
            <a:avLst>
              <a:gd name="adj1" fmla="val 247758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379" name="Text Box 19"/>
              <p:cNvSpPr txBox="1">
                <a:spLocks noChangeArrowheads="1"/>
              </p:cNvSpPr>
              <p:nvPr/>
            </p:nvSpPr>
            <p:spPr bwMode="auto">
              <a:xfrm>
                <a:off x="5638800" y="3657600"/>
                <a:ext cx="2829749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GB" dirty="0"/>
                  <a:t>“I’ve got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from Alice”</a:t>
                </a:r>
                <a:endParaRPr lang="en-US" dirty="0"/>
              </a:p>
            </p:txBody>
          </p:sp>
        </mc:Choice>
        <mc:Fallback xmlns="">
          <p:sp>
            <p:nvSpPr>
              <p:cNvPr id="15379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3657600"/>
                <a:ext cx="2829749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1502" t="-7937" r="-1073" b="-2063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1" name="AutoShape 21"/>
              <p:cNvSpPr>
                <a:spLocks noChangeArrowheads="1"/>
              </p:cNvSpPr>
              <p:nvPr/>
            </p:nvSpPr>
            <p:spPr bwMode="auto">
              <a:xfrm>
                <a:off x="2514600" y="4191000"/>
                <a:ext cx="2895600" cy="762000"/>
              </a:xfrm>
              <a:prstGeom prst="wedgeRectCallout">
                <a:avLst>
                  <a:gd name="adj1" fmla="val -54399"/>
                  <a:gd name="adj2" fmla="val -289155"/>
                </a:avLst>
              </a:prstGeom>
              <a:ln>
                <a:headEnd/>
                <a:tailE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:r>
                  <a:rPr lang="en-GB" sz="2000" dirty="0"/>
                  <a:t>It’s not true!</a:t>
                </a:r>
                <a:br>
                  <a:rPr lang="en-GB" sz="2000" dirty="0"/>
                </a:br>
                <a:r>
                  <a:rPr lang="en-GB" sz="2000" dirty="0"/>
                  <a:t>I never signed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sz="2000" dirty="0"/>
                  <a:t>!</a:t>
                </a:r>
                <a:endParaRPr lang="en-US" sz="2000" dirty="0"/>
              </a:p>
            </p:txBody>
          </p:sp>
        </mc:Choice>
        <mc:Fallback xmlns="">
          <p:sp>
            <p:nvSpPr>
              <p:cNvPr id="15381" name="AutoShap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4191000"/>
                <a:ext cx="2895600" cy="762000"/>
              </a:xfrm>
              <a:prstGeom prst="wedgeRectCallout">
                <a:avLst>
                  <a:gd name="adj1" fmla="val -54399"/>
                  <a:gd name="adj2" fmla="val -289155"/>
                </a:avLst>
              </a:prstGeom>
              <a:blipFill rotWithShape="0">
                <a:blip r:embed="rId11"/>
                <a:stretch>
                  <a:fillRect b="-234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2" name="AutoShape 22"/>
              <p:cNvSpPr>
                <a:spLocks noChangeArrowheads="1"/>
              </p:cNvSpPr>
              <p:nvPr/>
            </p:nvSpPr>
            <p:spPr bwMode="auto">
              <a:xfrm>
                <a:off x="685799" y="5638800"/>
                <a:ext cx="4584357" cy="838200"/>
              </a:xfrm>
              <a:prstGeom prst="wedgeRectCallout">
                <a:avLst>
                  <a:gd name="adj1" fmla="val 86668"/>
                  <a:gd name="adj2" fmla="val -80031"/>
                </a:avLst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GB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𝝈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) = </m:t>
                      </m:r>
                      <m:r>
                        <a:rPr lang="en-GB" sz="20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itchFamily="34" charset="0"/>
                        </a:rPr>
                        <m:t>𝐲𝐞𝐬</m:t>
                      </m:r>
                    </m:oMath>
                  </m:oMathPara>
                </a14:m>
                <a:br>
                  <a:rPr lang="en-GB" sz="2000" b="1" dirty="0">
                    <a:solidFill>
                      <a:srgbClr val="993300"/>
                    </a:solidFill>
                    <a:cs typeface="Arial" pitchFamily="34" charset="0"/>
                  </a:rPr>
                </a:br>
                <a:r>
                  <a:rPr lang="en-GB" sz="2000" dirty="0">
                    <a:cs typeface="Arial" pitchFamily="34" charset="0"/>
                  </a:rPr>
                  <a:t>so you cannot </a:t>
                </a:r>
                <a:r>
                  <a:rPr lang="en-GB" sz="2000" b="1" dirty="0">
                    <a:cs typeface="Arial" pitchFamily="34" charset="0"/>
                  </a:rPr>
                  <a:t>repudiate</a:t>
                </a:r>
                <a:r>
                  <a:rPr lang="en-GB" sz="2000" dirty="0">
                    <a:cs typeface="Arial" pitchFamily="34" charset="0"/>
                  </a:rPr>
                  <a:t> signing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𝒎</m:t>
                    </m:r>
                  </m:oMath>
                </a14:m>
                <a:r>
                  <a:rPr lang="en-GB" sz="2000" dirty="0">
                    <a:cs typeface="Arial" pitchFamily="34" charset="0"/>
                  </a:rPr>
                  <a:t>...</a:t>
                </a:r>
                <a:endParaRPr lang="en-US" sz="2000" dirty="0"/>
              </a:p>
            </p:txBody>
          </p:sp>
        </mc:Choice>
        <mc:Fallback xmlns="">
          <p:sp>
            <p:nvSpPr>
              <p:cNvPr id="15382" name="AutoShap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799" y="5638800"/>
                <a:ext cx="4584357" cy="838200"/>
              </a:xfrm>
              <a:prstGeom prst="wedgeRectCallout">
                <a:avLst>
                  <a:gd name="adj1" fmla="val 86668"/>
                  <a:gd name="adj2" fmla="val -80031"/>
                </a:avLst>
              </a:prstGeom>
              <a:blipFill rotWithShape="0">
                <a:blip r:embed="rId12"/>
                <a:stretch>
                  <a:fillRect b="-274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76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6" grpId="0" animBg="1"/>
      <p:bldP spid="15379" grpId="0" animBg="1"/>
      <p:bldP spid="15381" grpId="0" animBg="1"/>
      <p:bldP spid="1538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24764" y="383662"/>
            <a:ext cx="7886700" cy="709912"/>
          </a:xfrm>
        </p:spPr>
        <p:txBody>
          <a:bodyPr/>
          <a:lstStyle/>
          <a:p>
            <a:r>
              <a:rPr lang="en-US" sz="4000" dirty="0"/>
              <a:t>Things that need to be discussed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229600" cy="2302476"/>
          </a:xfrm>
        </p:spPr>
        <p:txBody>
          <a:bodyPr/>
          <a:lstStyle/>
          <a:p>
            <a:r>
              <a:rPr lang="en-US" dirty="0"/>
              <a:t>Who </a:t>
            </a:r>
            <a:r>
              <a:rPr lang="en-US" b="1" dirty="0">
                <a:solidFill>
                  <a:srgbClr val="0070C0"/>
                </a:solidFill>
              </a:rPr>
              <a:t>maintains “the register”</a:t>
            </a:r>
            <a:r>
              <a:rPr lang="en-US" dirty="0"/>
              <a:t>?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dirty="0"/>
              <a:t>How to </a:t>
            </a:r>
            <a:r>
              <a:rPr lang="en-US" b="1" dirty="0">
                <a:solidFill>
                  <a:srgbClr val="7030A0"/>
                </a:solidFill>
              </a:rPr>
              <a:t>contact it securely</a:t>
            </a:r>
            <a:r>
              <a:rPr lang="en-US" dirty="0"/>
              <a:t>?</a:t>
            </a:r>
          </a:p>
          <a:p>
            <a:r>
              <a:rPr lang="en-US" dirty="0"/>
              <a:t>How to </a:t>
            </a:r>
            <a:r>
              <a:rPr lang="en-US" b="1" dirty="0">
                <a:solidFill>
                  <a:srgbClr val="FF0000"/>
                </a:solidFill>
              </a:rPr>
              <a:t>revoke the key </a:t>
            </a:r>
            <a:r>
              <a:rPr lang="en-US" dirty="0"/>
              <a:t>(if it is lost)?</a:t>
            </a:r>
          </a:p>
          <a:p>
            <a:r>
              <a:rPr lang="en-US" dirty="0"/>
              <a:t>...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13316" name="AutoShape 4"/>
          <p:cNvSpPr>
            <a:spLocks noChangeArrowheads="1"/>
          </p:cNvSpPr>
          <p:nvPr/>
        </p:nvSpPr>
        <p:spPr bwMode="auto">
          <a:xfrm>
            <a:off x="381000" y="3179444"/>
            <a:ext cx="8538518" cy="3419476"/>
          </a:xfrm>
          <a:prstGeom prst="cloud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dirty="0"/>
              <a:t>We will discuss these things later, when we will be talking about the</a:t>
            </a:r>
            <a:br>
              <a:rPr lang="en-US" sz="3200" dirty="0"/>
            </a:br>
            <a:r>
              <a:rPr lang="en-US" sz="3200" b="1" dirty="0">
                <a:solidFill>
                  <a:schemeClr val="bg1"/>
                </a:solidFill>
              </a:rPr>
              <a:t>Public-Key Infrastructure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0929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AutoShape 8"/>
          <p:cNvSpPr>
            <a:spLocks noChangeArrowheads="1"/>
          </p:cNvSpPr>
          <p:nvPr/>
        </p:nvSpPr>
        <p:spPr bwMode="auto">
          <a:xfrm>
            <a:off x="2819400" y="3657600"/>
            <a:ext cx="4114800" cy="914400"/>
          </a:xfrm>
          <a:prstGeom prst="rightArrow">
            <a:avLst>
              <a:gd name="adj1" fmla="val 50000"/>
              <a:gd name="adj2" fmla="val 46688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/>
              <a:t>anyone can lock it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/>
              <a:t>But is it possible?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1"/>
            <a:ext cx="8229600" cy="22860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sz="2800" dirty="0"/>
              <a:t>In the “physical world”: </a:t>
            </a:r>
            <a:r>
              <a:rPr lang="en-US" sz="2800" b="1" dirty="0">
                <a:solidFill>
                  <a:srgbClr val="FF0000"/>
                </a:solidFill>
              </a:rPr>
              <a:t>yes!</a:t>
            </a:r>
          </a:p>
          <a:p>
            <a:pPr marL="609600" indent="-609600" algn="ctr">
              <a:buFontTx/>
              <a:buNone/>
            </a:pPr>
            <a:r>
              <a:rPr lang="en-US" sz="2800" b="1" dirty="0">
                <a:solidFill>
                  <a:srgbClr val="7030A0"/>
                </a:solidFill>
              </a:rPr>
              <a:t>Examples</a:t>
            </a:r>
            <a:r>
              <a:rPr lang="en-US" sz="2800" dirty="0"/>
              <a:t>: </a:t>
            </a:r>
          </a:p>
          <a:p>
            <a:pPr marL="609600" indent="-609600">
              <a:buFontTx/>
              <a:buAutoNum type="arabicPeriod"/>
            </a:pPr>
            <a:r>
              <a:rPr lang="en-US" sz="2800" dirty="0"/>
              <a:t>“normal” signatures</a:t>
            </a:r>
          </a:p>
          <a:p>
            <a:pPr marL="609600" indent="-609600">
              <a:buFontTx/>
              <a:buAutoNum type="arabicPeriod"/>
            </a:pPr>
            <a:r>
              <a:rPr lang="en-US" sz="2800" dirty="0"/>
              <a:t>padlocks:</a:t>
            </a:r>
          </a:p>
        </p:txBody>
      </p:sp>
      <p:pic>
        <p:nvPicPr>
          <p:cNvPr id="14341" name="Picture 5" descr="MCj043159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3429000"/>
            <a:ext cx="2133600" cy="2133600"/>
          </a:xfrm>
          <a:prstGeom prst="rect">
            <a:avLst/>
          </a:prstGeom>
          <a:noFill/>
        </p:spPr>
      </p:pic>
      <p:pic>
        <p:nvPicPr>
          <p:cNvPr id="14342" name="Picture 6" descr="MCj0431599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0" y="3581400"/>
            <a:ext cx="2057400" cy="2057400"/>
          </a:xfrm>
          <a:prstGeom prst="rect">
            <a:avLst/>
          </a:prstGeom>
          <a:noFill/>
        </p:spPr>
      </p:pic>
      <p:pic>
        <p:nvPicPr>
          <p:cNvPr id="14343" name="Picture 7" descr="MCj0433903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62400" y="5257800"/>
            <a:ext cx="1371600" cy="1371600"/>
          </a:xfrm>
          <a:prstGeom prst="rect">
            <a:avLst/>
          </a:prstGeom>
          <a:noFill/>
        </p:spPr>
      </p:pic>
      <p:sp>
        <p:nvSpPr>
          <p:cNvPr id="14345" name="AutoShape 9"/>
          <p:cNvSpPr>
            <a:spLocks noChangeArrowheads="1"/>
          </p:cNvSpPr>
          <p:nvPr/>
        </p:nvSpPr>
        <p:spPr bwMode="auto">
          <a:xfrm flipH="1">
            <a:off x="2362200" y="4495800"/>
            <a:ext cx="4191000" cy="990600"/>
          </a:xfrm>
          <a:prstGeom prst="rightArrow">
            <a:avLst>
              <a:gd name="adj1" fmla="val 50000"/>
              <a:gd name="adj2" fmla="val 43894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/>
              <a:t>the key is needed to unlock</a:t>
            </a:r>
          </a:p>
        </p:txBody>
      </p:sp>
    </p:spTree>
    <p:extLst>
      <p:ext uri="{BB962C8B-B14F-4D97-AF65-F5344CB8AC3E}">
        <p14:creationId xmlns:p14="http://schemas.microsoft.com/office/powerpoint/2010/main" val="123879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animBg="1"/>
      <p:bldP spid="143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1524000"/>
            <a:ext cx="9144000" cy="1371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457200" anchor="ctr"/>
          <a:lstStyle/>
          <a:p>
            <a:r>
              <a:rPr lang="en-US" sz="2800" dirty="0" err="1"/>
              <a:t>Diffie</a:t>
            </a:r>
            <a:r>
              <a:rPr lang="en-US" sz="2800" dirty="0"/>
              <a:t> and Hellman proposed the public key cryptography in </a:t>
            </a:r>
            <a:r>
              <a:rPr lang="en-US" sz="2800" b="1" dirty="0">
                <a:solidFill>
                  <a:srgbClr val="00B050"/>
                </a:solidFill>
              </a:rPr>
              <a:t>1976</a:t>
            </a:r>
            <a:r>
              <a:rPr lang="en-US" sz="2800" dirty="0"/>
              <a:t>.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3124200"/>
            <a:ext cx="9144000" cy="1371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457200" anchor="ctr"/>
          <a:lstStyle/>
          <a:p>
            <a:r>
              <a:rPr lang="en-US" sz="2800" dirty="0"/>
              <a:t>They just proposed the </a:t>
            </a:r>
            <a:r>
              <a:rPr lang="en-US" sz="2800" b="1" dirty="0">
                <a:solidFill>
                  <a:srgbClr val="FF0000"/>
                </a:solidFill>
              </a:rPr>
              <a:t>concept</a:t>
            </a:r>
            <a:r>
              <a:rPr lang="en-US" sz="2800" dirty="0"/>
              <a:t>, not the </a:t>
            </a:r>
            <a:r>
              <a:rPr lang="en-US" sz="2800" b="1" dirty="0"/>
              <a:t>implementation</a:t>
            </a:r>
            <a:r>
              <a:rPr lang="en-US" sz="2800" dirty="0"/>
              <a:t>.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0" y="4724400"/>
            <a:ext cx="9144000" cy="1295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anchor="ctr"/>
          <a:lstStyle/>
          <a:p>
            <a:r>
              <a:rPr lang="en-US" sz="2800"/>
              <a:t>They have also shown a protocol for </a:t>
            </a:r>
            <a:r>
              <a:rPr lang="en-US" sz="2800" b="1"/>
              <a:t>key-exchange</a:t>
            </a:r>
            <a:r>
              <a:rPr lang="en-US" sz="2800"/>
              <a:t>.</a:t>
            </a:r>
            <a:endParaRPr lang="en-US" sz="2800" dirty="0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699" y="117991"/>
            <a:ext cx="7886700" cy="1325563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Diffie</a:t>
            </a:r>
            <a:r>
              <a:rPr lang="en-US" dirty="0">
                <a:solidFill>
                  <a:schemeClr val="tx1"/>
                </a:solidFill>
              </a:rPr>
              <a:t> and Hellman (1976)</a:t>
            </a:r>
          </a:p>
        </p:txBody>
      </p:sp>
    </p:spTree>
    <p:extLst>
      <p:ext uri="{BB962C8B-B14F-4D97-AF65-F5344CB8AC3E}">
        <p14:creationId xmlns:p14="http://schemas.microsoft.com/office/powerpoint/2010/main" val="44460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nimBg="1"/>
      <p:bldP spid="1536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GB" sz="3600" dirty="0"/>
              <a:t>The observation of </a:t>
            </a:r>
            <a:r>
              <a:rPr lang="en-GB" sz="3600" dirty="0" err="1"/>
              <a:t>Diffie</a:t>
            </a:r>
            <a:r>
              <a:rPr lang="en-GB" sz="3600" dirty="0"/>
              <a:t> and Hellman:</a:t>
            </a:r>
            <a:endParaRPr lang="en-US" sz="3600" dirty="0"/>
          </a:p>
        </p:txBody>
      </p:sp>
      <p:sp>
        <p:nvSpPr>
          <p:cNvPr id="43023" name="Rectangle 15"/>
          <p:cNvSpPr>
            <a:spLocks noChangeArrowheads="1"/>
          </p:cNvSpPr>
          <p:nvPr/>
        </p:nvSpPr>
        <p:spPr bwMode="auto">
          <a:xfrm>
            <a:off x="214313" y="2362200"/>
            <a:ext cx="22860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pl-PL" sz="2400" b="1" dirty="0" err="1">
                <a:solidFill>
                  <a:srgbClr val="FF0000"/>
                </a:solidFill>
              </a:rPr>
              <a:t>plaintexts</a:t>
            </a:r>
            <a:endParaRPr lang="en-US" sz="2400" b="1" baseline="30000" dirty="0">
              <a:solidFill>
                <a:srgbClr val="FF0000"/>
              </a:solidFill>
            </a:endParaRPr>
          </a:p>
        </p:txBody>
      </p:sp>
      <p:sp>
        <p:nvSpPr>
          <p:cNvPr id="43024" name="Rectangle 16"/>
          <p:cNvSpPr>
            <a:spLocks noChangeArrowheads="1"/>
          </p:cNvSpPr>
          <p:nvPr/>
        </p:nvSpPr>
        <p:spPr bwMode="auto">
          <a:xfrm>
            <a:off x="6767513" y="2286000"/>
            <a:ext cx="1843087" cy="990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pl-PL" sz="2400" b="1" dirty="0" err="1">
                <a:solidFill>
                  <a:srgbClr val="FF0000"/>
                </a:solidFill>
              </a:rPr>
              <a:t>ciphertexts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3025" name="Line 17"/>
          <p:cNvSpPr>
            <a:spLocks noChangeShapeType="1"/>
          </p:cNvSpPr>
          <p:nvPr/>
        </p:nvSpPr>
        <p:spPr bwMode="auto">
          <a:xfrm>
            <a:off x="2728913" y="2590800"/>
            <a:ext cx="3810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26" name="Text Box 18"/>
              <p:cNvSpPr txBox="1">
                <a:spLocks noChangeArrowheads="1"/>
              </p:cNvSpPr>
              <p:nvPr/>
            </p:nvSpPr>
            <p:spPr bwMode="auto">
              <a:xfrm>
                <a:off x="228600" y="1252834"/>
                <a:ext cx="310668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pl-PL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pl-PL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400" dirty="0"/>
                  <a:t>– the key pair</a:t>
                </a:r>
                <a:endParaRPr lang="en-US" sz="2400" dirty="0"/>
              </a:p>
            </p:txBody>
          </p:sp>
        </mc:Choice>
        <mc:Fallback xmlns="">
          <p:sp>
            <p:nvSpPr>
              <p:cNvPr id="4302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252834"/>
                <a:ext cx="3106684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1768" t="-10667" r="-2554" b="-30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27" name="Text Box 19"/>
              <p:cNvSpPr txBox="1">
                <a:spLocks noChangeArrowheads="1"/>
              </p:cNvSpPr>
              <p:nvPr/>
            </p:nvSpPr>
            <p:spPr bwMode="auto">
              <a:xfrm>
                <a:off x="3962547" y="2362200"/>
                <a:ext cx="1476173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027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547" y="2362200"/>
                <a:ext cx="1476173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470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28" name="Line 20"/>
          <p:cNvSpPr>
            <a:spLocks noChangeShapeType="1"/>
          </p:cNvSpPr>
          <p:nvPr/>
        </p:nvSpPr>
        <p:spPr bwMode="auto">
          <a:xfrm flipH="1">
            <a:off x="2728913" y="3048000"/>
            <a:ext cx="3733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29" name="Text Box 21"/>
              <p:cNvSpPr txBox="1">
                <a:spLocks noChangeArrowheads="1"/>
              </p:cNvSpPr>
              <p:nvPr/>
            </p:nvSpPr>
            <p:spPr bwMode="auto">
              <a:xfrm>
                <a:off x="3962547" y="2895600"/>
                <a:ext cx="1450525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𝐃𝐞𝐜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029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547" y="2895600"/>
                <a:ext cx="1450525" cy="400110"/>
              </a:xfrm>
              <a:prstGeom prst="rect">
                <a:avLst/>
              </a:prstGeom>
              <a:blipFill rotWithShape="0">
                <a:blip r:embed="rId5"/>
                <a:stretch>
                  <a:fillRect b="-1304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30" name="AutoShape 22"/>
              <p:cNvSpPr>
                <a:spLocks noChangeArrowheads="1"/>
              </p:cNvSpPr>
              <p:nvPr/>
            </p:nvSpPr>
            <p:spPr bwMode="auto">
              <a:xfrm>
                <a:off x="2468228" y="3466070"/>
                <a:ext cx="3124200" cy="425160"/>
              </a:xfrm>
              <a:prstGeom prst="wedgeRoundRectCallout">
                <a:avLst>
                  <a:gd name="adj1" fmla="val -22398"/>
                  <a:gd name="adj2" fmla="val -148006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pl-PL" sz="2000" dirty="0"/>
                  <a:t>easy only if one knows </a:t>
                </a:r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030" name="AutoShap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8228" y="3466070"/>
                <a:ext cx="3124200" cy="425160"/>
              </a:xfrm>
              <a:prstGeom prst="wedgeRoundRectCallout">
                <a:avLst>
                  <a:gd name="adj1" fmla="val -22398"/>
                  <a:gd name="adj2" fmla="val -148006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31" name="Rectangle 23"/>
          <p:cNvSpPr>
            <a:spLocks noChangeArrowheads="1"/>
          </p:cNvSpPr>
          <p:nvPr/>
        </p:nvSpPr>
        <p:spPr bwMode="auto">
          <a:xfrm>
            <a:off x="228600" y="4724400"/>
            <a:ext cx="23622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pl-PL" sz="2400" b="1" dirty="0" err="1">
                <a:solidFill>
                  <a:srgbClr val="FF0000"/>
                </a:solidFill>
              </a:rPr>
              <a:t>tags</a:t>
            </a:r>
            <a:br>
              <a:rPr lang="pl-PL" sz="2400" b="1" dirty="0">
                <a:solidFill>
                  <a:srgbClr val="FF0000"/>
                </a:solidFill>
              </a:rPr>
            </a:br>
            <a:r>
              <a:rPr lang="pl-PL" sz="2400" b="1" dirty="0">
                <a:solidFill>
                  <a:srgbClr val="FF0000"/>
                </a:solidFill>
              </a:rPr>
              <a:t>(</a:t>
            </a:r>
            <a:r>
              <a:rPr lang="en-US" sz="2400" b="1" dirty="0">
                <a:solidFill>
                  <a:srgbClr val="FF0000"/>
                </a:solidFill>
              </a:rPr>
              <a:t>“signatures”)</a:t>
            </a:r>
            <a:endParaRPr lang="en-US" sz="2400" b="1" baseline="30000" dirty="0">
              <a:solidFill>
                <a:srgbClr val="FF0000"/>
              </a:solidFill>
            </a:endParaRPr>
          </a:p>
        </p:txBody>
      </p:sp>
      <p:sp>
        <p:nvSpPr>
          <p:cNvPr id="43032" name="Rectangle 24"/>
          <p:cNvSpPr>
            <a:spLocks noChangeArrowheads="1"/>
          </p:cNvSpPr>
          <p:nvPr/>
        </p:nvSpPr>
        <p:spPr bwMode="auto">
          <a:xfrm>
            <a:off x="6858000" y="4724400"/>
            <a:ext cx="1843088" cy="990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US" sz="2400" b="1" dirty="0">
                <a:solidFill>
                  <a:srgbClr val="FF0000"/>
                </a:solidFill>
              </a:rPr>
              <a:t>messages</a:t>
            </a:r>
          </a:p>
        </p:txBody>
      </p:sp>
      <p:sp>
        <p:nvSpPr>
          <p:cNvPr id="43033" name="Line 25"/>
          <p:cNvSpPr>
            <a:spLocks noChangeShapeType="1"/>
          </p:cNvSpPr>
          <p:nvPr/>
        </p:nvSpPr>
        <p:spPr bwMode="auto">
          <a:xfrm>
            <a:off x="2819400" y="5486400"/>
            <a:ext cx="3810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34" name="Text Box 26"/>
              <p:cNvSpPr txBox="1">
                <a:spLocks noChangeArrowheads="1"/>
              </p:cNvSpPr>
              <p:nvPr/>
            </p:nvSpPr>
            <p:spPr bwMode="auto">
              <a:xfrm>
                <a:off x="3824434" y="5257800"/>
                <a:ext cx="1543499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03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4434" y="5257800"/>
                <a:ext cx="1543499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1470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35" name="Line 27"/>
          <p:cNvSpPr>
            <a:spLocks noChangeShapeType="1"/>
          </p:cNvSpPr>
          <p:nvPr/>
        </p:nvSpPr>
        <p:spPr bwMode="auto">
          <a:xfrm flipH="1">
            <a:off x="2819400" y="4996248"/>
            <a:ext cx="3733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36" name="Text Box 28"/>
              <p:cNvSpPr txBox="1">
                <a:spLocks noChangeArrowheads="1"/>
              </p:cNvSpPr>
              <p:nvPr/>
            </p:nvSpPr>
            <p:spPr bwMode="auto">
              <a:xfrm>
                <a:off x="3824434" y="4806778"/>
                <a:ext cx="1503425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𝐒𝐢𝐠𝐧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pl-PL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l-PL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036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4434" y="4806778"/>
                <a:ext cx="1503425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470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37" name="AutoShape 29"/>
              <p:cNvSpPr>
                <a:spLocks noChangeArrowheads="1"/>
              </p:cNvSpPr>
              <p:nvPr/>
            </p:nvSpPr>
            <p:spPr bwMode="auto">
              <a:xfrm>
                <a:off x="2430379" y="5907089"/>
                <a:ext cx="3124200" cy="379412"/>
              </a:xfrm>
              <a:prstGeom prst="wedgeRoundRectCallout">
                <a:avLst>
                  <a:gd name="adj1" fmla="val -19107"/>
                  <a:gd name="adj2" fmla="val -283885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pl-PL" sz="2000" dirty="0"/>
                  <a:t>easy only if one knows </a:t>
                </a:r>
                <a14:m>
                  <m:oMath xmlns:m="http://schemas.openxmlformats.org/officeDocument/2006/math">
                    <m:r>
                      <a:rPr lang="it-IT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037" name="AutoShap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0379" y="5907089"/>
                <a:ext cx="3124200" cy="379412"/>
              </a:xfrm>
              <a:prstGeom prst="wedgeRoundRectCallout">
                <a:avLst>
                  <a:gd name="adj1" fmla="val -19107"/>
                  <a:gd name="adj2" fmla="val -283885"/>
                  <a:gd name="adj3" fmla="val 16667"/>
                </a:avLst>
              </a:prstGeom>
              <a:blipFill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38" name="Text Box 30"/>
          <p:cNvSpPr txBox="1">
            <a:spLocks noChangeArrowheads="1"/>
          </p:cNvSpPr>
          <p:nvPr/>
        </p:nvSpPr>
        <p:spPr bwMode="auto">
          <a:xfrm>
            <a:off x="3157730" y="1707803"/>
            <a:ext cx="33817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7030A0"/>
                </a:solidFill>
              </a:rPr>
              <a:t>public-key encryption:</a:t>
            </a:r>
          </a:p>
        </p:txBody>
      </p:sp>
      <p:sp>
        <p:nvSpPr>
          <p:cNvPr id="43039" name="Text Box 31"/>
          <p:cNvSpPr txBox="1">
            <a:spLocks noChangeArrowheads="1"/>
          </p:cNvSpPr>
          <p:nvPr/>
        </p:nvSpPr>
        <p:spPr bwMode="auto">
          <a:xfrm>
            <a:off x="3399976" y="4101869"/>
            <a:ext cx="28972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rgbClr val="7030A0"/>
                </a:solidFill>
              </a:rPr>
              <a:t>signature schemes:</a:t>
            </a:r>
          </a:p>
        </p:txBody>
      </p:sp>
      <p:sp>
        <p:nvSpPr>
          <p:cNvPr id="43040" name="Text Box 32"/>
          <p:cNvSpPr txBox="1">
            <a:spLocks noChangeArrowheads="1"/>
          </p:cNvSpPr>
          <p:nvPr/>
        </p:nvSpPr>
        <p:spPr bwMode="auto">
          <a:xfrm>
            <a:off x="288925" y="6059488"/>
            <a:ext cx="22177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Looks similar...</a:t>
            </a:r>
          </a:p>
        </p:txBody>
      </p:sp>
      <p:sp>
        <p:nvSpPr>
          <p:cNvPr id="21" name="Rectangular Callout 1">
            <a:extLst>
              <a:ext uri="{FF2B5EF4-FFF2-40B4-BE49-F238E27FC236}">
                <a16:creationId xmlns:a16="http://schemas.microsoft.com/office/drawing/2014/main" id="{ECBA780E-9ED2-45F5-9E50-459D4F4F7D24}"/>
              </a:ext>
            </a:extLst>
          </p:cNvPr>
          <p:cNvSpPr/>
          <p:nvPr/>
        </p:nvSpPr>
        <p:spPr>
          <a:xfrm>
            <a:off x="5698958" y="6147713"/>
            <a:ext cx="2859505" cy="364065"/>
          </a:xfrm>
          <a:prstGeom prst="wedgeRectCallout">
            <a:avLst>
              <a:gd name="adj1" fmla="val 20798"/>
              <a:gd name="adj2" fmla="val -16511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and compare the result 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391291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3" grpId="0" animBg="1"/>
      <p:bldP spid="43024" grpId="0" animBg="1"/>
      <p:bldP spid="43025" grpId="0" animBg="1"/>
      <p:bldP spid="43027" grpId="0" animBg="1"/>
      <p:bldP spid="43028" grpId="0" animBg="1"/>
      <p:bldP spid="43029" grpId="0" animBg="1"/>
      <p:bldP spid="43030" grpId="0" animBg="1"/>
      <p:bldP spid="43031" grpId="0" animBg="1"/>
      <p:bldP spid="43032" grpId="0" animBg="1"/>
      <p:bldP spid="43033" grpId="0" animBg="1"/>
      <p:bldP spid="43034" grpId="0" animBg="1"/>
      <p:bldP spid="43035" grpId="0" animBg="1"/>
      <p:bldP spid="43036" grpId="0" animBg="1"/>
      <p:bldP spid="43037" grpId="0" animBg="1"/>
      <p:bldP spid="43039" grpId="0"/>
      <p:bldP spid="43040" grpId="0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5796" y="320489"/>
            <a:ext cx="8928204" cy="500066"/>
          </a:xfrm>
        </p:spPr>
        <p:txBody>
          <a:bodyPr>
            <a:noAutofit/>
          </a:bodyPr>
          <a:lstStyle/>
          <a:p>
            <a:r>
              <a:rPr lang="en-US" sz="3600" dirty="0"/>
              <a:t>Trapdoor permutations (informal definition)</a:t>
            </a:r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>
            <a:off x="1981200" y="4495800"/>
            <a:ext cx="5638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7" name="Rectangle 5"/>
              <p:cNvSpPr>
                <a:spLocks noChangeArrowheads="1"/>
              </p:cNvSpPr>
              <p:nvPr/>
            </p:nvSpPr>
            <p:spPr bwMode="auto">
              <a:xfrm>
                <a:off x="838200" y="4267200"/>
                <a:ext cx="1081088" cy="230505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𝑿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4037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267200"/>
                <a:ext cx="1081088" cy="230505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38" name="Rectangle 6"/>
              <p:cNvSpPr>
                <a:spLocks noChangeArrowheads="1"/>
              </p:cNvSpPr>
              <p:nvPr/>
            </p:nvSpPr>
            <p:spPr bwMode="auto">
              <a:xfrm>
                <a:off x="7772400" y="4267200"/>
                <a:ext cx="1081088" cy="230505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𝑿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4038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2400" y="4267200"/>
                <a:ext cx="1081088" cy="230505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9" name="Line 7"/>
          <p:cNvSpPr>
            <a:spLocks noChangeShapeType="1"/>
          </p:cNvSpPr>
          <p:nvPr/>
        </p:nvSpPr>
        <p:spPr bwMode="auto">
          <a:xfrm flipH="1">
            <a:off x="1981200" y="5867400"/>
            <a:ext cx="5562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2819400" y="4191000"/>
            <a:ext cx="3886200" cy="5032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GB" sz="2400" b="1" dirty="0">
                <a:solidFill>
                  <a:srgbClr val="00B050"/>
                </a:solidFill>
                <a:ea typeface="ＭＳ Ｐゴシック" pitchFamily="34" charset="-128"/>
              </a:rPr>
              <a:t>easy</a:t>
            </a:r>
            <a:endParaRPr lang="en-US" sz="2400" b="1" dirty="0">
              <a:solidFill>
                <a:srgbClr val="00B050"/>
              </a:solidFill>
              <a:ea typeface="ＭＳ Ｐゴシック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41" name="Rectangle 9"/>
              <p:cNvSpPr>
                <a:spLocks noChangeArrowheads="1"/>
              </p:cNvSpPr>
              <p:nvPr/>
            </p:nvSpPr>
            <p:spPr bwMode="auto">
              <a:xfrm>
                <a:off x="2819400" y="5215581"/>
                <a:ext cx="4419251" cy="130363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eaLnBrk="0" hangingPunct="0">
                  <a:buFontTx/>
                  <a:buChar char="•"/>
                </a:pPr>
                <a:r>
                  <a:rPr lang="en-GB" sz="2400" dirty="0">
                    <a:ea typeface="ＭＳ Ｐゴシック" pitchFamily="34" charset="-128"/>
                  </a:rPr>
                  <a:t> </a:t>
                </a:r>
                <a:r>
                  <a:rPr lang="en-GB" sz="2400" b="1" dirty="0">
                    <a:solidFill>
                      <a:srgbClr val="00B050"/>
                    </a:solidFill>
                    <a:ea typeface="ＭＳ Ｐゴシック" pitchFamily="34" charset="-128"/>
                  </a:rPr>
                  <a:t>easy</a:t>
                </a:r>
                <a:r>
                  <a:rPr lang="pl-PL" sz="2400" dirty="0"/>
                  <a:t>: </a:t>
                </a:r>
                <a:r>
                  <a:rPr lang="en-GB" sz="2400" dirty="0">
                    <a:ea typeface="ＭＳ Ｐゴシック" pitchFamily="34" charset="-128"/>
                  </a:rPr>
                  <a:t>one can compute </a:t>
                </a:r>
                <a14:m>
                  <m:oMath xmlns:m="http://schemas.openxmlformats.org/officeDocument/2006/math"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Sup>
                      <m:sSubSup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l-PL" sz="24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𝒑𝒌</m:t>
                        </m:r>
                      </m:sub>
                      <m:sup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</m:oMath>
                </a14:m>
                <a:br>
                  <a:rPr lang="pl-PL" sz="2400" b="1" baseline="30000" dirty="0">
                    <a:solidFill>
                      <a:srgbClr val="990000"/>
                    </a:solidFill>
                  </a:rPr>
                </a:br>
                <a:r>
                  <a:rPr lang="pl-PL" sz="2400" b="1" baseline="30000" dirty="0">
                    <a:solidFill>
                      <a:srgbClr val="990000"/>
                    </a:solidFill>
                  </a:rPr>
                  <a:t>   </a:t>
                </a:r>
                <a:r>
                  <a:rPr lang="pl-PL" sz="2400" dirty="0"/>
                  <a:t>if one knows a </a:t>
                </a:r>
                <a:r>
                  <a:rPr lang="pl-PL" sz="2400" b="1" dirty="0"/>
                  <a:t>trapdoor</a:t>
                </a:r>
                <a:r>
                  <a:rPr lang="pl-PL" sz="2400" b="1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endParaRPr lang="en-GB" sz="24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  <a:p>
                <a:pPr eaLnBrk="0" hangingPunct="0">
                  <a:buFontTx/>
                  <a:buChar char="•"/>
                </a:pPr>
                <a:r>
                  <a:rPr lang="en-GB" sz="2400" b="1" dirty="0">
                    <a:solidFill>
                      <a:schemeClr val="tx1"/>
                    </a:solidFill>
                    <a:ea typeface="ＭＳ Ｐゴシック" pitchFamily="34" charset="-128"/>
                  </a:rPr>
                  <a:t> </a:t>
                </a:r>
                <a:r>
                  <a:rPr lang="en-GB" sz="2400" b="1" dirty="0">
                    <a:solidFill>
                      <a:srgbClr val="FF0000"/>
                    </a:solidFill>
                    <a:ea typeface="ＭＳ Ｐゴシック" pitchFamily="34" charset="-128"/>
                  </a:rPr>
                  <a:t>hard</a:t>
                </a:r>
                <a:r>
                  <a:rPr lang="en-GB" sz="2400" dirty="0">
                    <a:solidFill>
                      <a:srgbClr val="FF0000"/>
                    </a:solidFill>
                    <a:ea typeface="ＭＳ Ｐゴシック" pitchFamily="34" charset="-128"/>
                  </a:rPr>
                  <a:t> </a:t>
                </a:r>
                <a:r>
                  <a:rPr lang="en-GB" sz="2400" dirty="0">
                    <a:ea typeface="ＭＳ Ｐゴシック" pitchFamily="34" charset="-128"/>
                  </a:rPr>
                  <a:t>(otherwise)</a:t>
                </a:r>
                <a:endParaRPr lang="en-US" sz="2400" dirty="0"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4041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400" y="5215581"/>
                <a:ext cx="4419251" cy="1303638"/>
              </a:xfrm>
              <a:prstGeom prst="rect">
                <a:avLst/>
              </a:prstGeom>
              <a:blipFill rotWithShape="0">
                <a:blip r:embed="rId5"/>
                <a:stretch>
                  <a:fillRect l="-1926" t="-463" b="-833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2106613" y="3663950"/>
            <a:ext cx="51847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43" name="Rectangle 11"/>
              <p:cNvSpPr>
                <a:spLocks noChangeArrowheads="1"/>
              </p:cNvSpPr>
              <p:nvPr/>
            </p:nvSpPr>
            <p:spPr bwMode="auto">
              <a:xfrm>
                <a:off x="3796168" y="3282156"/>
                <a:ext cx="2159000" cy="6270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𝐄𝐧𝐜</m:t>
                      </m:r>
                      <m:r>
                        <a:rPr lang="en-US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4043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6168" y="3282156"/>
                <a:ext cx="2159000" cy="627063"/>
              </a:xfrm>
              <a:prstGeom prst="rect">
                <a:avLst/>
              </a:prstGeom>
              <a:blipFill rotWithShape="0">
                <a:blip r:embed="rId6"/>
                <a:stretch>
                  <a:fillRect b="-94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44" name="AutoShape 12"/>
              <p:cNvSpPr>
                <a:spLocks noChangeArrowheads="1"/>
              </p:cNvSpPr>
              <p:nvPr/>
            </p:nvSpPr>
            <p:spPr bwMode="auto">
              <a:xfrm>
                <a:off x="7543800" y="2133600"/>
                <a:ext cx="1371600" cy="1295400"/>
              </a:xfrm>
              <a:prstGeom prst="wedgeRectCallout">
                <a:avLst>
                  <a:gd name="adj1" fmla="val -124421"/>
                  <a:gd name="adj2" fmla="val 195954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:r>
                  <a:rPr lang="pl-PL" sz="2400" dirty="0"/>
                  <a:t>this is denoted </a:t>
                </a:r>
                <a14:m>
                  <m:oMath xmlns:m="http://schemas.openxmlformats.org/officeDocument/2006/math">
                    <m:r>
                      <a:rPr lang="pl-PL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it-IT" sz="2400" b="1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endParaRPr lang="en-US" sz="24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044" name="AutoShap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43800" y="2133600"/>
                <a:ext cx="1371600" cy="1295400"/>
              </a:xfrm>
              <a:prstGeom prst="wedgeRectCallout">
                <a:avLst>
                  <a:gd name="adj1" fmla="val -124421"/>
                  <a:gd name="adj2" fmla="val 195954"/>
                </a:avLst>
              </a:prstGeom>
              <a:blipFill rotWithShape="0">
                <a:blip r:embed="rId7"/>
                <a:stretch>
                  <a:fillRect r="-3797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45" name="Text Box 13"/>
              <p:cNvSpPr txBox="1">
                <a:spLocks noChangeArrowheads="1"/>
              </p:cNvSpPr>
              <p:nvPr/>
            </p:nvSpPr>
            <p:spPr bwMode="auto">
              <a:xfrm>
                <a:off x="270492" y="1084079"/>
                <a:ext cx="6654899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A family of permutations indexed by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𝐤𝐞𝐲𝐬</m:t>
                    </m:r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:</a:t>
                </a: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404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492" y="1084079"/>
                <a:ext cx="6654899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1374" t="-10526" b="-2894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46" name="Text Box 14"/>
              <p:cNvSpPr txBox="1">
                <a:spLocks noChangeArrowheads="1"/>
              </p:cNvSpPr>
              <p:nvPr/>
            </p:nvSpPr>
            <p:spPr bwMode="auto">
              <a:xfrm>
                <a:off x="3452840" y="1592087"/>
                <a:ext cx="3770583" cy="5627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𝐄𝐧𝐜</m:t>
                              </m:r>
                              <m:r>
                                <a:rPr lang="en-US" sz="2400" b="1" i="1" baseline="-25000" dirty="0" err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𝒑𝒌</m:t>
                              </m:r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sz="2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→ </m:t>
                              </m:r>
                              <m:r>
                                <a:rPr lang="en-US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𝑿</m:t>
                              </m:r>
                            </m:e>
                          </m:d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𝒑𝒌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 ∈ </m:t>
                          </m:r>
                          <m:r>
                            <a:rPr lang="en-US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𝐤𝐞𝐲𝐬</m:t>
                          </m:r>
                          <m:r>
                            <a:rPr lang="en-US" sz="2800" b="1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ru-RU" sz="2400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4046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2840" y="1592087"/>
                <a:ext cx="3770583" cy="56271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047" name="Text Box 15"/>
              <p:cNvSpPr txBox="1">
                <a:spLocks noChangeArrowheads="1"/>
              </p:cNvSpPr>
              <p:nvPr/>
            </p:nvSpPr>
            <p:spPr bwMode="auto">
              <a:xfrm>
                <a:off x="270492" y="2155649"/>
                <a:ext cx="7020896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such that for every key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US" sz="2400" b="1" dirty="0">
                    <a:solidFill>
                      <a:srgbClr val="336600"/>
                    </a:solidFill>
                  </a:rPr>
                  <a:t> </a:t>
                </a:r>
                <a:r>
                  <a:rPr lang="en-US" sz="2400" dirty="0"/>
                  <a:t>there exists a key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r>
                  <a:rPr lang="en-US" sz="2400" dirty="0"/>
                  <a:t>, and:</a:t>
                </a:r>
              </a:p>
            </p:txBody>
          </p:sp>
        </mc:Choice>
        <mc:Fallback xmlns="">
          <p:sp>
            <p:nvSpPr>
              <p:cNvPr id="44047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492" y="2155649"/>
                <a:ext cx="7020896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302" t="-10667" r="-694" b="-30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86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animBg="1"/>
      <p:bldP spid="44037" grpId="0" animBg="1"/>
      <p:bldP spid="44038" grpId="0" animBg="1"/>
      <p:bldP spid="44039" grpId="0" animBg="1"/>
      <p:bldP spid="44040" grpId="0" animBg="1"/>
      <p:bldP spid="44041" grpId="0" build="allAtOnce" animBg="1"/>
      <p:bldP spid="44042" grpId="0" animBg="1"/>
      <p:bldP spid="44043" grpId="0" animBg="1"/>
      <p:bldP spid="44044" grpId="0" animBg="1"/>
      <p:bldP spid="44045" grpId="0"/>
      <p:bldP spid="44046" grpId="0"/>
      <p:bldP spid="440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058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457200" y="152400"/>
                <a:ext cx="8229600" cy="1143000"/>
              </a:xfrm>
            </p:spPr>
            <p:txBody>
              <a:bodyPr/>
              <a:lstStyle/>
              <a:p>
                <a:r>
                  <a:rPr lang="en-US" dirty="0"/>
                  <a:t>How to encrypt a message</a:t>
                </a:r>
                <a:r>
                  <a:rPr lang="en-US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05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152400"/>
                <a:ext cx="8229600" cy="1143000"/>
              </a:xfrm>
              <a:blipFill rotWithShape="0">
                <a:blip r:embed="rId3"/>
                <a:stretch>
                  <a:fillRect l="-2963" b="-58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60" name="Line 4"/>
          <p:cNvSpPr>
            <a:spLocks noChangeShapeType="1"/>
          </p:cNvSpPr>
          <p:nvPr/>
        </p:nvSpPr>
        <p:spPr bwMode="auto">
          <a:xfrm>
            <a:off x="2133600" y="2493183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304800" y="2264583"/>
            <a:ext cx="1690688" cy="23050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GB" sz="2400" b="1" dirty="0">
                <a:solidFill>
                  <a:srgbClr val="FF0000"/>
                </a:solidFill>
                <a:ea typeface="ＭＳ Ｐゴシック" pitchFamily="34" charset="-128"/>
              </a:rPr>
              <a:t>messages</a:t>
            </a:r>
            <a:endParaRPr lang="en-US" sz="2400" b="1" baseline="30000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7162799" y="2264583"/>
            <a:ext cx="1786835" cy="23050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pl-PL" sz="2400" b="1" dirty="0">
                <a:solidFill>
                  <a:srgbClr val="FF0000"/>
                </a:solidFill>
                <a:ea typeface="ＭＳ Ｐゴシック" pitchFamily="34" charset="-128"/>
              </a:rPr>
              <a:t>ciphertexts</a:t>
            </a:r>
            <a:endParaRPr lang="en-US" sz="2400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45063" name="Line 7"/>
          <p:cNvSpPr>
            <a:spLocks noChangeShapeType="1"/>
          </p:cNvSpPr>
          <p:nvPr/>
        </p:nvSpPr>
        <p:spPr bwMode="auto">
          <a:xfrm flipH="1">
            <a:off x="2133600" y="3864783"/>
            <a:ext cx="495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65" name="Rectangle 9"/>
              <p:cNvSpPr>
                <a:spLocks noChangeArrowheads="1"/>
              </p:cNvSpPr>
              <p:nvPr/>
            </p:nvSpPr>
            <p:spPr bwMode="auto">
              <a:xfrm>
                <a:off x="2667000" y="3559983"/>
                <a:ext cx="3886200" cy="6858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:=</m:t>
                      </m:r>
                      <m:r>
                        <a:rPr lang="en-GB" sz="24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𝐃𝐞𝐜</m:t>
                      </m:r>
                      <m:r>
                        <a:rPr lang="en-GB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𝒔𝒌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𝒄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5065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3559983"/>
                <a:ext cx="3886200" cy="6858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67" name="Rectangle 11"/>
              <p:cNvSpPr>
                <a:spLocks noChangeArrowheads="1"/>
              </p:cNvSpPr>
              <p:nvPr/>
            </p:nvSpPr>
            <p:spPr bwMode="auto">
              <a:xfrm>
                <a:off x="3657600" y="2188383"/>
                <a:ext cx="2159000" cy="6270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𝒄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 :=</m:t>
                      </m:r>
                      <m:r>
                        <a:rPr lang="en-GB" sz="2400" b="1" i="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𝐄𝐧𝐜</m:t>
                      </m:r>
                      <m:r>
                        <a:rPr lang="en-GB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𝒑𝒌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5067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2188383"/>
                <a:ext cx="2159000" cy="627063"/>
              </a:xfrm>
              <a:prstGeom prst="rect">
                <a:avLst/>
              </a:prstGeom>
              <a:blipFill rotWithShape="0">
                <a:blip r:embed="rId5"/>
                <a:stretch>
                  <a:fillRect r="-28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68" name="AutoShape 12"/>
              <p:cNvSpPr>
                <a:spLocks noChangeArrowheads="1"/>
              </p:cNvSpPr>
              <p:nvPr/>
            </p:nvSpPr>
            <p:spPr bwMode="auto">
              <a:xfrm>
                <a:off x="5562600" y="4702983"/>
                <a:ext cx="2590800" cy="838200"/>
              </a:xfrm>
              <a:prstGeom prst="wedgeRoundRectCallout">
                <a:avLst>
                  <a:gd name="adj1" fmla="val -83028"/>
                  <a:gd name="adj2" fmla="val -121782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:r>
                  <a:rPr lang="en-US" sz="2000" dirty="0"/>
                  <a:t>one can compute it only if one knows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068" name="AutoShap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2600" y="4702983"/>
                <a:ext cx="2590800" cy="838200"/>
              </a:xfrm>
              <a:prstGeom prst="wedgeRoundRectCallout">
                <a:avLst>
                  <a:gd name="adj1" fmla="val -83028"/>
                  <a:gd name="adj2" fmla="val -121782"/>
                  <a:gd name="adj3" fmla="val 16667"/>
                </a:avLst>
              </a:prstGeom>
              <a:blipFill rotWithShape="0">
                <a:blip r:embed="rId6"/>
                <a:stretch>
                  <a:fillRect b="-250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2209800" y="1694236"/>
            <a:ext cx="14078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/>
              <a:t>encryption:</a:t>
            </a:r>
            <a:endParaRPr lang="en-US" b="1" dirty="0"/>
          </a:p>
        </p:txBody>
      </p:sp>
      <p:sp>
        <p:nvSpPr>
          <p:cNvPr id="45070" name="Text Box 14"/>
          <p:cNvSpPr txBox="1">
            <a:spLocks noChangeArrowheads="1"/>
          </p:cNvSpPr>
          <p:nvPr/>
        </p:nvSpPr>
        <p:spPr bwMode="auto">
          <a:xfrm>
            <a:off x="2209800" y="3026583"/>
            <a:ext cx="139987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/>
              <a:t>decryption</a:t>
            </a:r>
            <a:r>
              <a:rPr lang="en-US" dirty="0"/>
              <a:t>:</a:t>
            </a:r>
          </a:p>
        </p:txBody>
      </p:sp>
      <p:sp>
        <p:nvSpPr>
          <p:cNvPr id="45071" name="Text Box 15"/>
          <p:cNvSpPr txBox="1">
            <a:spLocks noChangeArrowheads="1"/>
          </p:cNvSpPr>
          <p:nvPr/>
        </p:nvSpPr>
        <p:spPr bwMode="auto">
          <a:xfrm>
            <a:off x="214282" y="6072206"/>
            <a:ext cx="8624918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Warning</a:t>
            </a:r>
            <a:r>
              <a:rPr lang="en-US" sz="2400" dirty="0"/>
              <a:t>:  In reality it’s not that simple.  We will explain it later.</a:t>
            </a:r>
          </a:p>
        </p:txBody>
      </p:sp>
    </p:spTree>
    <p:extLst>
      <p:ext uri="{BB962C8B-B14F-4D97-AF65-F5344CB8AC3E}">
        <p14:creationId xmlns:p14="http://schemas.microsoft.com/office/powerpoint/2010/main" val="257080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animBg="1"/>
      <p:bldP spid="45063" grpId="0" animBg="1"/>
      <p:bldP spid="45065" grpId="0" animBg="1"/>
      <p:bldP spid="45067" grpId="0" animBg="1"/>
      <p:bldP spid="45068" grpId="0" animBg="1"/>
      <p:bldP spid="45069" grpId="0"/>
      <p:bldP spid="45070" grpId="0"/>
      <p:bldP spid="4507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10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457200" y="152400"/>
                <a:ext cx="8229600" cy="1143000"/>
              </a:xfrm>
            </p:spPr>
            <p:txBody>
              <a:bodyPr/>
              <a:lstStyle/>
              <a:p>
                <a:r>
                  <a:rPr lang="en-US" dirty="0"/>
                  <a:t>How to </a:t>
                </a:r>
                <a:r>
                  <a:rPr lang="pl-PL" dirty="0" err="1"/>
                  <a:t>sign</a:t>
                </a:r>
                <a:r>
                  <a:rPr lang="en-US" dirty="0"/>
                  <a:t> a message</a:t>
                </a:r>
                <a:r>
                  <a:rPr lang="en-US" dirty="0">
                    <a:solidFill>
                      <a:srgbClr val="99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10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152400"/>
                <a:ext cx="8229600" cy="1143000"/>
              </a:xfrm>
              <a:blipFill rotWithShape="0">
                <a:blip r:embed="rId3"/>
                <a:stretch>
                  <a:fillRect l="-2963" b="-585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7" name="Line 3"/>
          <p:cNvSpPr>
            <a:spLocks noChangeShapeType="1"/>
          </p:cNvSpPr>
          <p:nvPr/>
        </p:nvSpPr>
        <p:spPr bwMode="auto">
          <a:xfrm>
            <a:off x="2133600" y="4267200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304800" y="2514600"/>
            <a:ext cx="1690688" cy="23050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GB" sz="2400" b="1" dirty="0">
                <a:solidFill>
                  <a:srgbClr val="FF0000"/>
                </a:solidFill>
                <a:ea typeface="ＭＳ Ｐゴシック" pitchFamily="34" charset="-128"/>
              </a:rPr>
              <a:t>signatures</a:t>
            </a:r>
            <a:endParaRPr lang="en-US" sz="2400" b="1" baseline="30000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7239000" y="2514600"/>
            <a:ext cx="1600200" cy="23050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/>
            <a:r>
              <a:rPr lang="en-GB" sz="2400" b="1" dirty="0">
                <a:solidFill>
                  <a:srgbClr val="FF0000"/>
                </a:solidFill>
                <a:ea typeface="ＭＳ Ｐゴシック" pitchFamily="34" charset="-128"/>
              </a:rPr>
              <a:t>messages</a:t>
            </a:r>
            <a:endParaRPr lang="en-US" sz="2400" b="1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H="1">
            <a:off x="2133600" y="2971800"/>
            <a:ext cx="495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11" name="Rectangle 7"/>
              <p:cNvSpPr>
                <a:spLocks noChangeArrowheads="1"/>
              </p:cNvSpPr>
              <p:nvPr/>
            </p:nvSpPr>
            <p:spPr bwMode="auto">
              <a:xfrm>
                <a:off x="2667000" y="2667000"/>
                <a:ext cx="38862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𝐃𝐞𝐜</m:t>
                      </m:r>
                      <m:r>
                        <a:rPr lang="en-GB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𝒔𝒌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en-GB" sz="2400" b="1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7111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2667000"/>
                <a:ext cx="3886200" cy="609600"/>
              </a:xfrm>
              <a:prstGeom prst="rect">
                <a:avLst/>
              </a:prstGeom>
              <a:blipFill rotWithShape="0">
                <a:blip r:embed="rId4"/>
                <a:stretch>
                  <a:fillRect b="-97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12" name="Rectangle 8"/>
              <p:cNvSpPr>
                <a:spLocks noChangeArrowheads="1"/>
              </p:cNvSpPr>
              <p:nvPr/>
            </p:nvSpPr>
            <p:spPr bwMode="auto">
              <a:xfrm>
                <a:off x="3657600" y="3962400"/>
                <a:ext cx="2159000" cy="6270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𝐄𝐧𝐜</m:t>
                      </m:r>
                      <m:r>
                        <a:rPr lang="en-GB" sz="24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𝒑𝒌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(</m:t>
                      </m:r>
                      <m:r>
                        <a:rPr lang="en-GB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𝒎</m:t>
                      </m:r>
                      <m:r>
                        <a:rPr lang="en-GB" sz="24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34" charset="-128"/>
                        </a:rPr>
                        <m:t>)</m:t>
                      </m:r>
                    </m:oMath>
                  </m:oMathPara>
                </a14:m>
                <a:endParaRPr lang="en-US" sz="2400" b="1" baseline="30000" dirty="0">
                  <a:solidFill>
                    <a:srgbClr val="FF0000"/>
                  </a:solidFill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7112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3962400"/>
                <a:ext cx="2159000" cy="6270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13" name="AutoShape 9"/>
              <p:cNvSpPr>
                <a:spLocks noChangeArrowheads="1"/>
              </p:cNvSpPr>
              <p:nvPr/>
            </p:nvSpPr>
            <p:spPr bwMode="auto">
              <a:xfrm>
                <a:off x="5638800" y="1295400"/>
                <a:ext cx="2590800" cy="838200"/>
              </a:xfrm>
              <a:prstGeom prst="wedgeRoundRectCallout">
                <a:avLst>
                  <a:gd name="adj1" fmla="val -91116"/>
                  <a:gd name="adj2" fmla="val 128407"/>
                  <a:gd name="adj3" fmla="val 1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 algn="ctr"/>
                <a:r>
                  <a:rPr lang="en-US" sz="2000" dirty="0"/>
                  <a:t>one can compute it only if one knows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</m:oMath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113" name="AutoShap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1295400"/>
                <a:ext cx="2590800" cy="838200"/>
              </a:xfrm>
              <a:prstGeom prst="wedgeRoundRectCallout">
                <a:avLst>
                  <a:gd name="adj1" fmla="val -91116"/>
                  <a:gd name="adj2" fmla="val 128407"/>
                  <a:gd name="adj3" fmla="val 16667"/>
                </a:avLst>
              </a:prstGeom>
              <a:blipFill rotWithShape="0"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14" name="Text Box 10"/>
          <p:cNvSpPr txBox="1">
            <a:spLocks noChangeArrowheads="1"/>
          </p:cNvSpPr>
          <p:nvPr/>
        </p:nvSpPr>
        <p:spPr bwMode="auto">
          <a:xfrm>
            <a:off x="2209800" y="2057400"/>
            <a:ext cx="10021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/>
              <a:t>signing:</a:t>
            </a: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2193925" y="3694113"/>
            <a:ext cx="118545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/>
              <a:t>verifying: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214282" y="6072206"/>
            <a:ext cx="8707296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Warning</a:t>
            </a:r>
            <a:r>
              <a:rPr lang="en-US" sz="2400" dirty="0"/>
              <a:t>:  In reality it’s not that simple.  We will explain it later.</a:t>
            </a:r>
          </a:p>
        </p:txBody>
      </p:sp>
      <p:sp>
        <p:nvSpPr>
          <p:cNvPr id="2" name="Rectangular Callout 1"/>
          <p:cNvSpPr/>
          <p:nvPr/>
        </p:nvSpPr>
        <p:spPr>
          <a:xfrm>
            <a:off x="4853940" y="5045202"/>
            <a:ext cx="3657600" cy="612648"/>
          </a:xfrm>
          <a:prstGeom prst="wedgeRectCallout">
            <a:avLst>
              <a:gd name="adj1" fmla="val 20798"/>
              <a:gd name="adj2" fmla="val -16511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and compare the result </a:t>
            </a: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2128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nimBg="1"/>
      <p:bldP spid="47110" grpId="0" animBg="1"/>
      <p:bldP spid="47111" grpId="0" animBg="1"/>
      <p:bldP spid="47112" grpId="0" animBg="1"/>
      <p:bldP spid="47113" grpId="0" animBg="1"/>
      <p:bldP spid="47114" grpId="0"/>
      <p:bldP spid="47115" grpId="0"/>
      <p:bldP spid="13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/>
              <a:t>Do such functions exist? 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357826"/>
            <a:ext cx="8458200" cy="10668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/>
              <a:t>Ron </a:t>
            </a:r>
            <a:r>
              <a:rPr lang="en-US" sz="2400" dirty="0" err="1"/>
              <a:t>Rivest</a:t>
            </a:r>
            <a:r>
              <a:rPr lang="en-US" sz="2400" dirty="0"/>
              <a:t>, </a:t>
            </a:r>
            <a:r>
              <a:rPr lang="en-US" sz="2400" dirty="0" err="1"/>
              <a:t>Adi</a:t>
            </a:r>
            <a:r>
              <a:rPr lang="en-US" sz="2400" dirty="0"/>
              <a:t> Shamir, and Leonard </a:t>
            </a:r>
            <a:r>
              <a:rPr lang="en-US" sz="2400" dirty="0" err="1"/>
              <a:t>Adleman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00B050"/>
                </a:solidFill>
              </a:rPr>
              <a:t>19</a:t>
            </a:r>
            <a:r>
              <a:rPr lang="pl-PL" sz="2400" b="1" dirty="0">
                <a:solidFill>
                  <a:srgbClr val="00B050"/>
                </a:solidFill>
              </a:rPr>
              <a:t>7</a:t>
            </a:r>
            <a:r>
              <a:rPr lang="en-US" sz="2400" b="1" dirty="0">
                <a:solidFill>
                  <a:srgbClr val="00B050"/>
                </a:solidFill>
              </a:rPr>
              <a:t>7</a:t>
            </a:r>
            <a:r>
              <a:rPr lang="en-US" sz="2400" dirty="0"/>
              <a:t>)</a:t>
            </a:r>
          </a:p>
        </p:txBody>
      </p:sp>
      <p:pic>
        <p:nvPicPr>
          <p:cNvPr id="4915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2228864"/>
            <a:ext cx="3590925" cy="251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158" name="Text Box 6"/>
              <p:cNvSpPr txBox="1">
                <a:spLocks noChangeArrowheads="1"/>
              </p:cNvSpPr>
              <p:nvPr/>
            </p:nvSpPr>
            <p:spPr bwMode="auto">
              <a:xfrm>
                <a:off x="500034" y="1071546"/>
                <a:ext cx="8429684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Yes</a:t>
                </a:r>
                <a:r>
                  <a:rPr lang="en-US" sz="2400" dirty="0"/>
                  <a:t>: exponentiation modulo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2400" dirty="0"/>
                  <a:t> is a product of two large primes.</a:t>
                </a:r>
              </a:p>
            </p:txBody>
          </p:sp>
        </mc:Choice>
        <mc:Fallback xmlns="">
          <p:sp>
            <p:nvSpPr>
              <p:cNvPr id="4915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034" y="1071546"/>
                <a:ext cx="8429684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85" t="-5882" b="-1617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159" name="Line 7"/>
          <p:cNvSpPr>
            <a:spLocks noChangeShapeType="1"/>
          </p:cNvSpPr>
          <p:nvPr/>
        </p:nvSpPr>
        <p:spPr bwMode="auto">
          <a:xfrm flipV="1">
            <a:off x="1752600" y="3676664"/>
            <a:ext cx="3200400" cy="1752600"/>
          </a:xfrm>
          <a:prstGeom prst="line">
            <a:avLst/>
          </a:prstGeom>
          <a:noFill/>
          <a:ln w="76200">
            <a:solidFill>
              <a:srgbClr val="99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60" name="Line 8"/>
          <p:cNvSpPr>
            <a:spLocks noChangeShapeType="1"/>
          </p:cNvSpPr>
          <p:nvPr/>
        </p:nvSpPr>
        <p:spPr bwMode="auto">
          <a:xfrm flipV="1">
            <a:off x="3276600" y="3448064"/>
            <a:ext cx="381000" cy="1981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61" name="Line 9"/>
          <p:cNvSpPr>
            <a:spLocks noChangeShapeType="1"/>
          </p:cNvSpPr>
          <p:nvPr/>
        </p:nvSpPr>
        <p:spPr bwMode="auto">
          <a:xfrm flipV="1">
            <a:off x="5867400" y="3295664"/>
            <a:ext cx="152400" cy="2057400"/>
          </a:xfrm>
          <a:prstGeom prst="line">
            <a:avLst/>
          </a:prstGeom>
          <a:noFill/>
          <a:ln w="76200">
            <a:solidFill>
              <a:srgbClr val="3366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62" name="Text Box 10"/>
          <p:cNvSpPr txBox="1">
            <a:spLocks noChangeArrowheads="1"/>
          </p:cNvSpPr>
          <p:nvPr/>
        </p:nvSpPr>
        <p:spPr bwMode="auto">
          <a:xfrm>
            <a:off x="990600" y="5638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9163" name="Text Box 11"/>
          <p:cNvSpPr txBox="1">
            <a:spLocks noChangeArrowheads="1"/>
          </p:cNvSpPr>
          <p:nvPr/>
        </p:nvSpPr>
        <p:spPr bwMode="auto">
          <a:xfrm>
            <a:off x="857224" y="6072206"/>
            <a:ext cx="80336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RSA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function is (conjectured to be) a trapdoor permutation!</a:t>
            </a:r>
          </a:p>
        </p:txBody>
      </p:sp>
    </p:spTree>
    <p:extLst>
      <p:ext uri="{BB962C8B-B14F-4D97-AF65-F5344CB8AC3E}">
        <p14:creationId xmlns:p14="http://schemas.microsoft.com/office/powerpoint/2010/main" val="82092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49158" grpId="0"/>
      <p:bldP spid="49159" grpId="0" animBg="1"/>
      <p:bldP spid="49160" grpId="0" animBg="1"/>
      <p:bldP spid="49161" grpId="0" animBg="1"/>
      <p:bldP spid="4916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134350" cy="1143000"/>
          </a:xfrm>
        </p:spPr>
        <p:txBody>
          <a:bodyPr/>
          <a:lstStyle/>
          <a:p>
            <a:r>
              <a:rPr lang="en-GB" dirty="0"/>
              <a:t>The RSA function</a:t>
            </a:r>
            <a:endParaRPr lang="en-US" b="1" dirty="0">
              <a:solidFill>
                <a:srgbClr val="9933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4" name="Rectangle 4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040654"/>
                <a:ext cx="8465567" cy="3358352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28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GB" sz="2800" b="1" dirty="0">
                    <a:solidFill>
                      <a:srgbClr val="993300"/>
                    </a:solidFill>
                  </a:rPr>
                  <a:t>,</a:t>
                </a:r>
                <a:r>
                  <a:rPr lang="pl-PL" sz="2800" b="1" dirty="0">
                    <a:solidFill>
                      <a:srgbClr val="993300"/>
                    </a:solidFill>
                  </a:rPr>
                  <a:t> </a:t>
                </a:r>
                <a:r>
                  <a:rPr lang="pl-PL" sz="2800" dirty="0"/>
                  <a:t>such that </a:t>
                </a:r>
                <a14:m>
                  <m:oMath xmlns:m="http://schemas.openxmlformats.org/officeDocument/2006/math"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pl-PL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800" dirty="0"/>
                  <a:t>and </a:t>
                </a:r>
                <a14:m>
                  <m:oMath xmlns:m="http://schemas.openxmlformats.org/officeDocument/2006/math"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pl-PL" sz="2800" dirty="0"/>
                  <a:t> </a:t>
                </a:r>
                <a:r>
                  <a:rPr lang="en-US" sz="2800" dirty="0"/>
                  <a:t>are</a:t>
                </a:r>
                <a:r>
                  <a:rPr lang="pl-PL" sz="2800" dirty="0"/>
                  <a:t> </a:t>
                </a:r>
                <a:r>
                  <a:rPr lang="en-US" sz="2800" b="1" dirty="0">
                    <a:solidFill>
                      <a:srgbClr val="7030A0"/>
                    </a:solidFill>
                  </a:rPr>
                  <a:t>random</a:t>
                </a:r>
                <a:r>
                  <a:rPr lang="it-IT" sz="2800" b="1" dirty="0">
                    <a:solidFill>
                      <a:srgbClr val="7030A0"/>
                    </a:solidFill>
                  </a:rPr>
                  <a:t> </a:t>
                </a:r>
                <a:r>
                  <a:rPr lang="pl-PL" sz="2800" b="1" dirty="0">
                    <a:solidFill>
                      <a:srgbClr val="7030A0"/>
                    </a:solidFill>
                  </a:rPr>
                  <a:t>primes</a:t>
                </a:r>
                <a:r>
                  <a:rPr lang="it-IT" sz="2800" dirty="0"/>
                  <a:t>,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it-IT" sz="2800" dirty="0"/>
                  <a:t>and </a:t>
                </a:r>
                <a14:m>
                  <m:oMath xmlns:m="http://schemas.openxmlformats.org/officeDocument/2006/math">
                    <m:r>
                      <a:rPr lang="it-IT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it-IT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it-IT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it-IT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it-IT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800" b="1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GB" sz="2800" dirty="0">
                    <a:solidFill>
                      <a:srgbClr val="993300"/>
                    </a:solidFill>
                  </a:rPr>
                  <a:t> </a:t>
                </a:r>
                <a:r>
                  <a:rPr lang="en-GB" sz="2800" dirty="0"/>
                  <a:t>– 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random such that </a:t>
                </a:r>
                <a14:m>
                  <m:oMath xmlns:m="http://schemas.openxmlformats.org/officeDocument/2006/math"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GB" sz="28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800" dirty="0"/>
                  <a:t>– 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random such that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𝒆𝒅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28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GB" sz="28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None/>
                </a:pPr>
                <a:endParaRPr lang="en-GB" b="1" dirty="0">
                  <a:solidFill>
                    <a:srgbClr val="993300"/>
                  </a:solidFill>
                </a:endParaRPr>
              </a:p>
              <a:p>
                <a:pPr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(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  </m:t>
                      </m:r>
                      <m:r>
                        <a:rPr lang="it-IT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(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800" b="1" dirty="0">
                  <a:solidFill>
                    <a:srgbClr val="9933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800" b="1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51204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040654"/>
                <a:ext cx="8465567" cy="3358352"/>
              </a:xfrm>
              <a:blipFill rotWithShape="0">
                <a:blip r:embed="rId3"/>
                <a:stretch>
                  <a:fillRect l="-1440" t="-45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26306" y="4531439"/>
                <a:ext cx="8167817" cy="2048534"/>
              </a:xfrm>
              <a:prstGeom prst="rect">
                <a:avLst/>
              </a:prstGeom>
              <a:ln>
                <a:solidFill>
                  <a:schemeClr val="accent4">
                    <a:alpha val="88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lIns="274320" rtlCol="0" anchor="ctr"/>
              <a:lstStyle/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GB" sz="28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→ </m:t>
                    </m:r>
                    <m:sSub>
                      <m:sSubPr>
                        <m:ctrlPr>
                          <a:rPr lang="pl-PL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𝒁</m:t>
                        </m:r>
                      </m:e>
                      <m:sub>
                        <m:r>
                          <a:rPr lang="pl-PL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sub>
                    </m:sSub>
                    <m:r>
                      <a:rPr lang="en-GB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defined as</a:t>
                </a:r>
                <a:r>
                  <a:rPr lang="pl-PL" sz="2800" dirty="0"/>
                  <a:t>:</a:t>
                </a:r>
              </a:p>
              <a:p>
                <a:pPr algn="ctr"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GB" sz="28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p>
                      <m:sSup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p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GB" sz="2800" dirty="0"/>
                  <a:t>.</a:t>
                </a:r>
              </a:p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GB" sz="28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→ </m:t>
                    </m:r>
                    <m:sSub>
                      <m:sSubPr>
                        <m:ctrlPr>
                          <a:rPr lang="pl-PL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𝒁</m:t>
                        </m:r>
                      </m:e>
                      <m:sub>
                        <m:r>
                          <a:rPr lang="pl-PL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sub>
                    </m:sSub>
                    <m:r>
                      <a:rPr lang="en-GB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is defined as</a:t>
                </a:r>
                <a:r>
                  <a:rPr lang="pl-PL" sz="2800" dirty="0"/>
                  <a:t>:</a:t>
                </a:r>
              </a:p>
              <a:p>
                <a:pPr algn="ctr">
                  <a:buFontTx/>
                  <a:buNone/>
                </a:pPr>
                <a14:m>
                  <m:oMath xmlns:m="http://schemas.openxmlformats.org/officeDocument/2006/math">
                    <m:r>
                      <a:rPr lang="en-GB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GB" sz="28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GB" sz="2800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2800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sz="2800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GB" sz="2800" dirty="0"/>
                  <a:t>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06" y="4531439"/>
                <a:ext cx="8167817" cy="20485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4">
                    <a:alpha val="88000"/>
                  </a:schemeClr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3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1143000"/>
          </a:xfrm>
        </p:spPr>
        <p:txBody>
          <a:bodyPr/>
          <a:lstStyle/>
          <a:p>
            <a:r>
              <a:rPr lang="en-US" dirty="0"/>
              <a:t>Questions and doubts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/>
              <p:cNvSpPr txBox="1">
                <a:spLocks noChangeArrowheads="1"/>
              </p:cNvSpPr>
              <p:nvPr/>
            </p:nvSpPr>
            <p:spPr>
              <a:xfrm>
                <a:off x="357157" y="1643050"/>
                <a:ext cx="5543193" cy="2966020"/>
              </a:xfrm>
              <a:prstGeom prst="rect">
                <a:avLst/>
              </a:prstGeom>
              <a:solidFill>
                <a:schemeClr val="bg1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 vert="horz" lIns="91440" tIns="45720" rIns="91440" bIns="45720" rtlCol="0" anchor="ctr"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GB" b="1" dirty="0">
                    <a:solidFill>
                      <a:srgbClr val="993300"/>
                    </a:solidFill>
                  </a:rPr>
                  <a:t>,</a:t>
                </a:r>
                <a:r>
                  <a:rPr lang="pl-PL" b="1" dirty="0">
                    <a:solidFill>
                      <a:srgbClr val="993300"/>
                    </a:solidFill>
                  </a:rPr>
                  <a:t> </a:t>
                </a:r>
                <a:r>
                  <a:rPr lang="pl-PL" dirty="0"/>
                  <a:t>such that </a:t>
                </a:r>
                <a14:m>
                  <m:oMath xmlns:m="http://schemas.openxmlformats.org/officeDocument/2006/math"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pl-P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dirty="0"/>
                  <a:t>and </a:t>
                </a:r>
                <a14:m>
                  <m:oMath xmlns:m="http://schemas.openxmlformats.org/officeDocument/2006/math">
                    <m:r>
                      <a:rPr lang="pl-PL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pl-PL" dirty="0"/>
                  <a:t> </a:t>
                </a:r>
                <a:r>
                  <a:rPr lang="pl-PL" dirty="0" err="1"/>
                  <a:t>are</a:t>
                </a:r>
                <a:r>
                  <a:rPr lang="pl-PL" dirty="0"/>
                  <a:t> </a:t>
                </a:r>
                <a:r>
                  <a:rPr lang="en-US" dirty="0"/>
                  <a:t>random</a:t>
                </a:r>
                <a:r>
                  <a:rPr lang="it-IT" dirty="0"/>
                  <a:t> </a:t>
                </a:r>
                <a:r>
                  <a:rPr lang="pl-PL" dirty="0"/>
                  <a:t>primes</a:t>
                </a:r>
                <a:r>
                  <a:rPr lang="it-IT" dirty="0"/>
                  <a:t>,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it-IT" dirty="0"/>
                  <a:t>and </a:t>
                </a:r>
                <a14:m>
                  <m:oMath xmlns:m="http://schemas.openxmlformats.org/officeDocument/2006/math"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it-IT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endParaRPr lang="it-IT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b="1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GB" dirty="0">
                    <a:solidFill>
                      <a:srgbClr val="993300"/>
                    </a:solidFill>
                  </a:rPr>
                  <a:t> </a:t>
                </a:r>
                <a:r>
                  <a:rPr lang="en-GB" dirty="0"/>
                  <a:t>– random such that</a:t>
                </a:r>
                <a:r>
                  <a:rPr lang="en-GB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⊥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GB" b="1" dirty="0">
                    <a:solidFill>
                      <a:srgbClr val="993300"/>
                    </a:solidFill>
                  </a:rPr>
                  <a:t> </a:t>
                </a:r>
                <a:r>
                  <a:rPr lang="en-GB" dirty="0"/>
                  <a:t>– random such that</a:t>
                </a:r>
                <a:r>
                  <a:rPr lang="en-GB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𝒆𝒅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GB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None/>
                </a:pPr>
                <a:endParaRPr lang="en-GB" b="1" dirty="0">
                  <a:solidFill>
                    <a:srgbClr val="993300"/>
                  </a:solidFill>
                </a:endParaRPr>
              </a:p>
              <a:p>
                <a:pPr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(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  </m:t>
                      </m:r>
                      <m:r>
                        <a:rPr lang="it-IT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it-IT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:= (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pl-PL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b="1" dirty="0">
                  <a:solidFill>
                    <a:srgbClr val="993300"/>
                  </a:solidFill>
                </a:endParaRP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GB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𝒁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𝑵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defined as</a:t>
                </a:r>
                <a:r>
                  <a:rPr lang="pl-PL" dirty="0"/>
                  <a:t>:</a:t>
                </a: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𝐄𝐧𝐜</m:t>
                    </m:r>
                    <m:r>
                      <a:rPr lang="en-GB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𝐞</m:t>
                        </m:r>
                      </m:sup>
                    </m:sSup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GB" dirty="0"/>
                  <a:t>.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GB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𝒁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𝑵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defined as</a:t>
                </a:r>
                <a:r>
                  <a:rPr lang="pl-PL" dirty="0"/>
                  <a:t>:</a:t>
                </a: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14:m>
                  <m:oMath xmlns:m="http://schemas.openxmlformats.org/officeDocument/2006/math"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𝐃𝐞𝐜</m:t>
                    </m:r>
                    <m:r>
                      <a:rPr lang="en-GB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GB" b="1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b="1" i="1" baseline="30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GB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GB" dirty="0"/>
                  <a:t>.</a:t>
                </a:r>
                <a:endParaRPr kumimoji="0" lang="en-GB" b="1" i="0" u="none" strike="noStrike" kern="1200" cap="none" spc="0" normalizeH="0" baseline="0" noProof="0" dirty="0">
                  <a:ln>
                    <a:noFill/>
                  </a:ln>
                  <a:solidFill>
                    <a:srgbClr val="9933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4" name="Rectangl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57" y="1643050"/>
                <a:ext cx="5543193" cy="29660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ular Callout 4"/>
          <p:cNvSpPr/>
          <p:nvPr/>
        </p:nvSpPr>
        <p:spPr>
          <a:xfrm>
            <a:off x="6143636" y="1126076"/>
            <a:ext cx="2714644" cy="928694"/>
          </a:xfrm>
          <a:prstGeom prst="wedgeRectCallout">
            <a:avLst>
              <a:gd name="adj1" fmla="val -88972"/>
              <a:gd name="adj2" fmla="val 21412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How </a:t>
            </a:r>
            <a:r>
              <a:rPr lang="en-US" sz="2000" b="1" dirty="0"/>
              <a:t>large these primes </a:t>
            </a:r>
            <a:r>
              <a:rPr lang="en-US" sz="2000" dirty="0"/>
              <a:t>need to be?</a:t>
            </a:r>
            <a:br>
              <a:rPr lang="en-US" sz="2000" dirty="0"/>
            </a:br>
            <a:r>
              <a:rPr lang="en-US" sz="2000" dirty="0"/>
              <a:t>How to </a:t>
            </a:r>
            <a:r>
              <a:rPr lang="en-US" sz="2000" b="1" dirty="0">
                <a:solidFill>
                  <a:srgbClr val="0070C0"/>
                </a:solidFill>
              </a:rPr>
              <a:t>sample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them? </a:t>
            </a:r>
          </a:p>
        </p:txBody>
      </p:sp>
      <p:sp>
        <p:nvSpPr>
          <p:cNvPr id="6" name="Rectangular Callout 5"/>
          <p:cNvSpPr/>
          <p:nvPr/>
        </p:nvSpPr>
        <p:spPr>
          <a:xfrm>
            <a:off x="6143636" y="3243247"/>
            <a:ext cx="2714644" cy="928694"/>
          </a:xfrm>
          <a:prstGeom prst="wedgeRectCallout">
            <a:avLst>
              <a:gd name="adj1" fmla="val -144527"/>
              <a:gd name="adj2" fmla="val -669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Can </a:t>
            </a:r>
            <a:r>
              <a:rPr lang="en-US" sz="2000" b="1" dirty="0">
                <a:solidFill>
                  <a:srgbClr val="7030A0"/>
                </a:solidFill>
              </a:rPr>
              <a:t>exponentiation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  <a:r>
              <a:rPr lang="en-US" sz="2000" dirty="0"/>
              <a:t>be done </a:t>
            </a:r>
            <a:r>
              <a:rPr lang="en-US" sz="2000" b="1" dirty="0">
                <a:solidFill>
                  <a:srgbClr val="7030A0"/>
                </a:solidFill>
              </a:rPr>
              <a:t>efficiently</a:t>
            </a:r>
            <a:r>
              <a:rPr lang="en-US" sz="2000" dirty="0"/>
              <a:t>? 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6143636" y="2172441"/>
            <a:ext cx="2714644" cy="928694"/>
          </a:xfrm>
          <a:prstGeom prst="wedgeRectCallout">
            <a:avLst>
              <a:gd name="adj1" fmla="val -73451"/>
              <a:gd name="adj2" fmla="val -1533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where does this come from?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ular Callout 9"/>
              <p:cNvSpPr/>
              <p:nvPr/>
            </p:nvSpPr>
            <p:spPr>
              <a:xfrm>
                <a:off x="5325762" y="4314053"/>
                <a:ext cx="3577281" cy="928694"/>
              </a:xfrm>
              <a:prstGeom prst="wedgeRectCallout">
                <a:avLst>
                  <a:gd name="adj1" fmla="val -92830"/>
                  <a:gd name="adj2" fmla="val -81591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en-GB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GB" sz="20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000" b="1" i="1" baseline="30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𝐦𝐨𝐝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20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GB" sz="2000" dirty="0">
                    <a:solidFill>
                      <a:schemeClr val="tx1"/>
                    </a:solidFill>
                  </a:rPr>
                  <a:t>Oops...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ular Callou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762" y="4314053"/>
                <a:ext cx="3577281" cy="928694"/>
              </a:xfrm>
              <a:prstGeom prst="wedgeRectCallout">
                <a:avLst>
                  <a:gd name="adj1" fmla="val -92830"/>
                  <a:gd name="adj2" fmla="val -81591"/>
                </a:avLst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ular Callout 10"/>
          <p:cNvSpPr/>
          <p:nvPr/>
        </p:nvSpPr>
        <p:spPr>
          <a:xfrm>
            <a:off x="1771431" y="4898302"/>
            <a:ext cx="2714644" cy="928694"/>
          </a:xfrm>
          <a:prstGeom prst="wedgeRectCallout">
            <a:avLst>
              <a:gd name="adj1" fmla="val -12332"/>
              <a:gd name="adj2" fmla="val -15207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encryption is </a:t>
            </a:r>
            <a:r>
              <a:rPr lang="en-GB" sz="2000" b="1" dirty="0">
                <a:solidFill>
                  <a:srgbClr val="002060"/>
                </a:solidFill>
              </a:rPr>
              <a:t>deterministic</a:t>
            </a:r>
            <a:r>
              <a:rPr lang="en-GB" sz="2000" dirty="0">
                <a:solidFill>
                  <a:schemeClr val="tx1"/>
                </a:solidFill>
              </a:rPr>
              <a:t>...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6964" y="6060623"/>
            <a:ext cx="3845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will address them later...</a:t>
            </a:r>
          </a:p>
        </p:txBody>
      </p:sp>
    </p:spTree>
    <p:extLst>
      <p:ext uri="{BB962C8B-B14F-4D97-AF65-F5344CB8AC3E}">
        <p14:creationId xmlns:p14="http://schemas.microsoft.com/office/powerpoint/2010/main" val="156480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70" y="250826"/>
            <a:ext cx="7886700" cy="1325563"/>
          </a:xfrm>
        </p:spPr>
        <p:txBody>
          <a:bodyPr/>
          <a:lstStyle/>
          <a:p>
            <a:r>
              <a:rPr lang="en-US" dirty="0"/>
              <a:t>“Handbook” RSA</a:t>
            </a:r>
            <a:endParaRPr lang="pl-P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4820" y="1576389"/>
                <a:ext cx="7957184" cy="2128837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2700" b="1" dirty="0">
                    <a:solidFill>
                      <a:srgbClr val="7030A0"/>
                    </a:solidFill>
                  </a:rPr>
                  <a:t>Handbook RSA encryption scheme</a:t>
                </a:r>
                <a:r>
                  <a:rPr lang="en-US" sz="2700" dirty="0"/>
                  <a:t>:</a:t>
                </a:r>
              </a:p>
              <a:p>
                <a:pPr marL="0" indent="0">
                  <a:buNone/>
                </a:pPr>
                <a:r>
                  <a:rPr lang="en-US" sz="2700" b="1" dirty="0">
                    <a:solidFill>
                      <a:srgbClr val="0070C0"/>
                    </a:solidFill>
                  </a:rPr>
                  <a:t>messages</a:t>
                </a:r>
                <a:r>
                  <a:rPr lang="en-US" sz="2700" dirty="0">
                    <a:solidFill>
                      <a:srgbClr val="0070C0"/>
                    </a:solidFill>
                  </a:rPr>
                  <a:t> </a:t>
                </a:r>
                <a:r>
                  <a:rPr lang="en-US" sz="2700" dirty="0"/>
                  <a:t>and </a:t>
                </a:r>
                <a:r>
                  <a:rPr lang="en-US" sz="2700" b="1" dirty="0" err="1">
                    <a:solidFill>
                      <a:srgbClr val="0070C0"/>
                    </a:solidFill>
                  </a:rPr>
                  <a:t>ciphertexts</a:t>
                </a:r>
                <a:r>
                  <a:rPr lang="en-US" sz="27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US" sz="27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𝐄𝐧</m:t>
                    </m:r>
                    <m:sSub>
                      <m:sSub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p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7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𝐃𝐞</m:t>
                    </m:r>
                    <m:sSub>
                      <m:sSubPr>
                        <m:ctrlP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4820" y="1576389"/>
                <a:ext cx="7957184" cy="2128837"/>
              </a:xfrm>
              <a:prstGeom prst="roundRect">
                <a:avLst/>
              </a:prstGeom>
              <a:blipFill rotWithShape="0">
                <a:blip r:embed="rId2"/>
                <a:stretch>
                  <a:fillRect l="-76" t="-170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61561" y="250826"/>
                <a:ext cx="4046219" cy="40011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– as on the previous slide</a:t>
                </a:r>
                <a:endParaRPr lang="pl-PL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1561" y="250826"/>
                <a:ext cx="4046219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5797" b="-2173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4820" y="4145280"/>
                <a:ext cx="7962900" cy="2103120"/>
              </a:xfrm>
              <a:prstGeom prst="round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n-US" sz="2700" b="1" dirty="0">
                    <a:solidFill>
                      <a:srgbClr val="7030A0"/>
                    </a:solidFill>
                  </a:rPr>
                  <a:t>Handbook RSA signature scheme:</a:t>
                </a:r>
              </a:p>
              <a:p>
                <a:r>
                  <a:rPr lang="en-US" sz="2700" b="1" dirty="0">
                    <a:solidFill>
                      <a:srgbClr val="0070C0"/>
                    </a:solidFill>
                  </a:rPr>
                  <a:t>messages</a:t>
                </a:r>
                <a:r>
                  <a:rPr lang="en-US" sz="2700" dirty="0">
                    <a:solidFill>
                      <a:srgbClr val="0070C0"/>
                    </a:solidFill>
                  </a:rPr>
                  <a:t> </a:t>
                </a:r>
                <a:r>
                  <a:rPr lang="en-US" sz="2700" dirty="0"/>
                  <a:t>and </a:t>
                </a:r>
                <a:r>
                  <a:rPr lang="en-US" sz="2700" b="1" dirty="0">
                    <a:solidFill>
                      <a:srgbClr val="0070C0"/>
                    </a:solidFill>
                  </a:rPr>
                  <a:t>signatures</a:t>
                </a:r>
                <a:r>
                  <a:rPr lang="en-US" sz="27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</m:oMath>
                </a14:m>
                <a:endParaRPr lang="en-US" sz="27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𝐒𝐢𝐠</m:t>
                    </m:r>
                    <m:sSub>
                      <m:sSub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d>
                      <m:d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7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𝐕𝐫𝐟</m:t>
                    </m:r>
                    <m:sSub>
                      <m:sSubPr>
                        <m:ctrlP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d>
                      <m:dPr>
                        <m:ctrlP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</m:d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700" b="1" dirty="0"/>
                  <a:t>output</a:t>
                </a:r>
                <a:r>
                  <a:rPr lang="en-US" sz="2700" b="1" dirty="0">
                    <a:solidFill>
                      <a:srgbClr val="FF0000"/>
                    </a:solidFill>
                  </a:rPr>
                  <a:t> yes </a:t>
                </a:r>
                <a:r>
                  <a:rPr lang="en-US" sz="2700" b="1" dirty="0" err="1"/>
                  <a:t>iff</a:t>
                </a:r>
                <a:r>
                  <a:rPr lang="en-US" sz="27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p>
                    </m:sSup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pl-PL" sz="27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" y="4145280"/>
                <a:ext cx="7962900" cy="2103120"/>
              </a:xfrm>
              <a:prstGeom prst="roundRect">
                <a:avLst/>
              </a:prstGeom>
              <a:blipFill rotWithShape="0">
                <a:blip r:embed="rId4"/>
                <a:stretch>
                  <a:fillRect l="-7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39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93" y="148883"/>
            <a:ext cx="7886700" cy="1325563"/>
          </a:xfrm>
          <a:prstGeom prst="roundRect">
            <a:avLst/>
          </a:prstGeom>
        </p:spPr>
        <p:txBody>
          <a:bodyPr/>
          <a:lstStyle/>
          <a:p>
            <a:r>
              <a:rPr lang="en-US" dirty="0"/>
              <a:t>Is </a:t>
            </a:r>
            <a:r>
              <a:rPr lang="en-US" b="1" dirty="0">
                <a:solidFill>
                  <a:srgbClr val="FF0000"/>
                </a:solidFill>
              </a:rPr>
              <a:t>RSA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secure?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89314"/>
            <a:ext cx="8229600" cy="47686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buNone/>
            </a:pPr>
            <a:r>
              <a:rPr lang="en-US" dirty="0"/>
              <a:t>Is </a:t>
            </a:r>
            <a:r>
              <a:rPr lang="en-US" b="1" dirty="0">
                <a:solidFill>
                  <a:srgbClr val="FF0000"/>
                </a:solidFill>
              </a:rPr>
              <a:t>RSA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secure: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 an </a:t>
            </a:r>
            <a:r>
              <a:rPr lang="en-US" b="1" dirty="0">
                <a:solidFill>
                  <a:srgbClr val="7030A0"/>
                </a:solidFill>
              </a:rPr>
              <a:t>encryption scheme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 a </a:t>
            </a:r>
            <a:r>
              <a:rPr lang="en-US" b="1" dirty="0">
                <a:solidFill>
                  <a:srgbClr val="00B050"/>
                </a:solidFill>
              </a:rPr>
              <a:t>signature scheme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None/>
            </a:pPr>
            <a:r>
              <a:rPr lang="en-US" dirty="0"/>
              <a:t>The answer is not that simple.</a:t>
            </a:r>
          </a:p>
          <a:p>
            <a:pPr marL="514350" indent="-514350">
              <a:buNone/>
            </a:pPr>
            <a:endParaRPr lang="en-US" dirty="0"/>
          </a:p>
          <a:p>
            <a:pPr marL="514350" indent="-514350" algn="r">
              <a:buNone/>
            </a:pPr>
            <a:r>
              <a:rPr lang="en-US" b="1" dirty="0">
                <a:solidFill>
                  <a:srgbClr val="0070C0"/>
                </a:solidFill>
              </a:rPr>
              <a:t>First, we would need to define security!</a:t>
            </a:r>
          </a:p>
          <a:p>
            <a:pPr marL="514350" indent="-514350" algn="r">
              <a:buNone/>
            </a:pPr>
            <a:r>
              <a:rPr lang="en-US" b="1" dirty="0">
                <a:solidFill>
                  <a:schemeClr val="tx1"/>
                </a:solidFill>
              </a:rPr>
              <a:t>We will do it on the next lectures.</a:t>
            </a:r>
          </a:p>
        </p:txBody>
      </p:sp>
    </p:spTree>
    <p:extLst>
      <p:ext uri="{BB962C8B-B14F-4D97-AF65-F5344CB8AC3E}">
        <p14:creationId xmlns:p14="http://schemas.microsoft.com/office/powerpoint/2010/main" val="311931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202148"/>
            <a:ext cx="8515350" cy="1325563"/>
          </a:xfrm>
        </p:spPr>
        <p:txBody>
          <a:bodyPr/>
          <a:lstStyle/>
          <a:p>
            <a:r>
              <a:rPr lang="en-US" dirty="0"/>
              <a:t>Symmetric vs asymmetric crypto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556824"/>
            <a:ext cx="7886700" cy="16188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sz="2400" dirty="0"/>
              <a:t>S</a:t>
            </a:r>
            <a:r>
              <a:rPr lang="en-US" sz="2400" dirty="0" err="1"/>
              <a:t>ymmetric</a:t>
            </a:r>
            <a:r>
              <a:rPr lang="en-US" sz="2400" dirty="0"/>
              <a:t> cryptography (also called: private key cryptography) is </a:t>
            </a:r>
            <a:r>
              <a:rPr lang="en-US" sz="2400" b="1" dirty="0">
                <a:solidFill>
                  <a:srgbClr val="FF0000"/>
                </a:solidFill>
              </a:rPr>
              <a:t>much more efficient</a:t>
            </a:r>
            <a:r>
              <a:rPr lang="en-US" sz="2400" dirty="0"/>
              <a:t>!</a:t>
            </a:r>
          </a:p>
          <a:p>
            <a:pPr marL="0" indent="0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it-IT" sz="2400" b="1" dirty="0">
                <a:solidFill>
                  <a:srgbClr val="7030A0"/>
                </a:solidFill>
              </a:rPr>
              <a:t>Example </a:t>
            </a:r>
            <a:r>
              <a:rPr lang="it-IT" sz="2400" dirty="0"/>
              <a:t>(Intel Core 2 1.83 GHz processor):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pl-PL" sz="2400" b="1" dirty="0">
                <a:solidFill>
                  <a:srgbClr val="FFFFFF"/>
                </a:solidFill>
                <a:latin typeface="Cambria" panose="02040503050406030204" pitchFamily="18" charset="0"/>
              </a:rPr>
              <a:t>11.9</a:t>
            </a:r>
            <a:endParaRPr lang="pl-PL" sz="2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pl-PL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307478"/>
              </p:ext>
            </p:extLst>
          </p:nvPr>
        </p:nvGraphicFramePr>
        <p:xfrm>
          <a:off x="314325" y="3311611"/>
          <a:ext cx="8409545" cy="11887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824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4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l-P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 err="1"/>
                        <a:t>MiB</a:t>
                      </a:r>
                      <a:r>
                        <a:rPr lang="en-US" sz="2000" noProof="0" dirty="0"/>
                        <a:t>/Second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Cycles/Byte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noProof="0" dirty="0"/>
                        <a:t>AES/CTR (128-bit key)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rgbClr val="FF0000"/>
                          </a:solidFill>
                        </a:rPr>
                        <a:t>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rgbClr val="FF0000"/>
                          </a:solidFill>
                        </a:rPr>
                        <a:t>12.6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noProof="0" dirty="0"/>
                        <a:t>HMAC(SHA-1)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rgbClr val="FF0000"/>
                          </a:solidFill>
                        </a:rPr>
                        <a:t>147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rgbClr val="FF0000"/>
                          </a:solidFill>
                        </a:rPr>
                        <a:t>11.9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94843"/>
              </p:ext>
            </p:extLst>
          </p:nvPr>
        </p:nvGraphicFramePr>
        <p:xfrm>
          <a:off x="314325" y="4862383"/>
          <a:ext cx="8409546" cy="118872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843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2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414">
                <a:tc>
                  <a:txBody>
                    <a:bodyPr/>
                    <a:lstStyle/>
                    <a:p>
                      <a:endParaRPr lang="pl-P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Operation</a:t>
                      </a:r>
                      <a:r>
                        <a:rPr lang="en-US" sz="2000" dirty="0"/>
                        <a:t>s/Second</a:t>
                      </a:r>
                      <a:endParaRPr lang="pl-PL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Megacycles/Operation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noProof="0" dirty="0"/>
                        <a:t>RSA 2048 Encryption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6,250</a:t>
                      </a:r>
                      <a:endParaRPr lang="pl-PL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rgbClr val="FF0000"/>
                          </a:solidFill>
                        </a:rPr>
                        <a:t>0.29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kern="1200" noProof="0" dirty="0">
                          <a:effectLst/>
                        </a:rPr>
                        <a:t>RSA 2048 Signature</a:t>
                      </a:r>
                      <a:endParaRPr lang="en-US" sz="20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165</a:t>
                      </a:r>
                      <a:endParaRPr lang="pl-PL" sz="2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000" b="1" dirty="0">
                          <a:solidFill>
                            <a:srgbClr val="FF0000"/>
                          </a:solidFill>
                        </a:rPr>
                        <a:t>11.06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558303" y="6325691"/>
            <a:ext cx="5481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Source: </a:t>
            </a:r>
            <a:r>
              <a:rPr lang="pl-PL" i="1" dirty="0"/>
              <a:t>https://www.cryptopp.com/benchmarks.html</a:t>
            </a:r>
          </a:p>
        </p:txBody>
      </p:sp>
    </p:spTree>
    <p:extLst>
      <p:ext uri="{BB962C8B-B14F-4D97-AF65-F5344CB8AC3E}">
        <p14:creationId xmlns:p14="http://schemas.microsoft.com/office/powerpoint/2010/main" val="192635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solutions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Typically </a:t>
            </a:r>
            <a:r>
              <a:rPr lang="en-US" b="1" dirty="0">
                <a:solidFill>
                  <a:srgbClr val="0070C0"/>
                </a:solidFill>
              </a:rPr>
              <a:t>asymmetric cryptography </a:t>
            </a:r>
            <a:r>
              <a:rPr lang="en-US" dirty="0"/>
              <a:t>is </a:t>
            </a:r>
            <a:r>
              <a:rPr lang="en-US" b="1" dirty="0">
                <a:solidFill>
                  <a:srgbClr val="FF0000"/>
                </a:solidFill>
              </a:rPr>
              <a:t>combined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with the </a:t>
            </a:r>
            <a:r>
              <a:rPr lang="en-US" b="1" dirty="0">
                <a:solidFill>
                  <a:srgbClr val="0070C0"/>
                </a:solidFill>
              </a:rPr>
              <a:t>symmetric one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>
                <a:solidFill>
                  <a:srgbClr val="7030A0"/>
                </a:solidFill>
              </a:rPr>
              <a:t>For example</a:t>
            </a:r>
            <a:r>
              <a:rPr lang="en-US" dirty="0"/>
              <a:t>: asymmetric cryptography is used only for </a:t>
            </a:r>
            <a:r>
              <a:rPr lang="en-US" b="1" dirty="0">
                <a:solidFill>
                  <a:srgbClr val="00B050"/>
                </a:solidFill>
              </a:rPr>
              <a:t>agreeing on a symmetric key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>
                <a:solidFill>
                  <a:srgbClr val="7030A0"/>
                </a:solidFill>
              </a:rPr>
              <a:t>Or</a:t>
            </a:r>
            <a:r>
              <a:rPr lang="en-US" b="1" dirty="0">
                <a:solidFill>
                  <a:srgbClr val="7030A0"/>
                </a:solidFill>
              </a:rPr>
              <a:t>: </a:t>
            </a:r>
            <a:r>
              <a:rPr lang="en-US" dirty="0"/>
              <a:t>one can combine it directly using a “</a:t>
            </a:r>
            <a:r>
              <a:rPr lang="en-US" b="1" dirty="0"/>
              <a:t>hybrid approach</a:t>
            </a:r>
            <a:r>
              <a:rPr lang="en-US" dirty="0"/>
              <a:t>”.</a:t>
            </a:r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(we will discuss it later)</a:t>
            </a:r>
          </a:p>
        </p:txBody>
      </p:sp>
    </p:spTree>
    <p:extLst>
      <p:ext uri="{BB962C8B-B14F-4D97-AF65-F5344CB8AC3E}">
        <p14:creationId xmlns:p14="http://schemas.microsoft.com/office/powerpoint/2010/main" val="79423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56" y="2000240"/>
            <a:ext cx="6929486" cy="292895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Public key cryptography – an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key management problem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qualified signatures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public key infrastructure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Identity-based cryptography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500034" y="2964653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97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1338" y="2190750"/>
            <a:ext cx="1058862" cy="857250"/>
          </a:xfrm>
          <a:prstGeom prst="rect">
            <a:avLst/>
          </a:prstGeom>
          <a:noFill/>
        </p:spPr>
      </p:pic>
      <p:pic>
        <p:nvPicPr>
          <p:cNvPr id="6148" name="Picture 4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0" y="2189163"/>
            <a:ext cx="900113" cy="927100"/>
          </a:xfrm>
          <a:prstGeom prst="rect">
            <a:avLst/>
          </a:prstGeom>
          <a:noFill/>
        </p:spPr>
      </p:pic>
      <p:pic>
        <p:nvPicPr>
          <p:cNvPr id="6149" name="Picture 5" descr="PL414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67400" y="5105400"/>
            <a:ext cx="973138" cy="1011238"/>
          </a:xfrm>
          <a:prstGeom prst="rect">
            <a:avLst/>
          </a:prstGeom>
          <a:noFill/>
        </p:spPr>
      </p:pic>
      <p:pic>
        <p:nvPicPr>
          <p:cNvPr id="6150" name="Picture 6" descr="PL412a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39000" y="4170363"/>
            <a:ext cx="990600" cy="942975"/>
          </a:xfrm>
          <a:prstGeom prst="rect">
            <a:avLst/>
          </a:prstGeom>
          <a:noFill/>
        </p:spPr>
      </p:pic>
      <p:pic>
        <p:nvPicPr>
          <p:cNvPr id="6151" name="Picture 7" descr="PL415a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95738" y="4094163"/>
            <a:ext cx="1041400" cy="96996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52" name="Text Box 8"/>
              <p:cNvSpPr txBox="1">
                <a:spLocks noChangeArrowheads="1"/>
              </p:cNvSpPr>
              <p:nvPr/>
            </p:nvSpPr>
            <p:spPr bwMode="auto">
              <a:xfrm>
                <a:off x="6738938" y="546576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5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8938" y="5465763"/>
                <a:ext cx="58702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53" name="Text Box 9"/>
              <p:cNvSpPr txBox="1">
                <a:spLocks noChangeArrowheads="1"/>
              </p:cNvSpPr>
              <p:nvPr/>
            </p:nvSpPr>
            <p:spPr bwMode="auto">
              <a:xfrm>
                <a:off x="3462338" y="447516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5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2338" y="4475163"/>
                <a:ext cx="587020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54" name="Text Box 10"/>
              <p:cNvSpPr txBox="1">
                <a:spLocks noChangeArrowheads="1"/>
              </p:cNvSpPr>
              <p:nvPr/>
            </p:nvSpPr>
            <p:spPr bwMode="auto">
              <a:xfrm>
                <a:off x="7734300" y="201007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5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34300" y="2010073"/>
                <a:ext cx="587020" cy="461665"/>
              </a:xfrm>
              <a:prstGeom prst="rect">
                <a:avLst/>
              </a:prstGeom>
              <a:blipFill rotWithShape="0">
                <a:blip r:embed="rId10"/>
                <a:stretch>
                  <a:fillRect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55" name="Text Box 11"/>
              <p:cNvSpPr txBox="1">
                <a:spLocks noChangeArrowheads="1"/>
              </p:cNvSpPr>
              <p:nvPr/>
            </p:nvSpPr>
            <p:spPr bwMode="auto">
              <a:xfrm>
                <a:off x="3970338" y="21907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55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0338" y="2190750"/>
                <a:ext cx="587020" cy="461665"/>
              </a:xfrm>
              <a:prstGeom prst="rect">
                <a:avLst/>
              </a:prstGeom>
              <a:blipFill rotWithShape="0">
                <a:blip r:embed="rId11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56" name="Text Box 12"/>
              <p:cNvSpPr txBox="1">
                <a:spLocks noChangeArrowheads="1"/>
              </p:cNvSpPr>
              <p:nvPr/>
            </p:nvSpPr>
            <p:spPr bwMode="auto">
              <a:xfrm>
                <a:off x="8215338" y="4114808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5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15338" y="4114808"/>
                <a:ext cx="587020" cy="461665"/>
              </a:xfrm>
              <a:prstGeom prst="rect">
                <a:avLst/>
              </a:prstGeom>
              <a:blipFill rotWithShape="0">
                <a:blip r:embed="rId12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157" name="Group 1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84756162"/>
                  </p:ext>
                </p:extLst>
              </p:nvPr>
            </p:nvGraphicFramePr>
            <p:xfrm>
              <a:off x="685800" y="2798763"/>
              <a:ext cx="1295400" cy="3071813"/>
            </p:xfrm>
            <a:graphic>
              <a:graphicData uri="http://schemas.openxmlformats.org/drawingml/2006/table">
                <a:tbl>
                  <a:tblPr/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6127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59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US" sz="2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143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1277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595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1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𝒑𝒌</m:t>
                                </m:r>
                                <m:r>
                                  <a:rPr kumimoji="0" lang="en-US" sz="2800" b="1" i="1" u="none" strike="noStrike" cap="none" normalizeH="0" baseline="-25000" dirty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US" sz="2800" b="1" i="0" u="none" strike="noStrike" cap="none" normalizeH="0" baseline="-2500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" panose="02040503050406030204" pitchFamily="18" charset="0"/>
                          </a:endParaRP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157" name="Group 1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84756162"/>
                  </p:ext>
                </p:extLst>
              </p:nvPr>
            </p:nvGraphicFramePr>
            <p:xfrm>
              <a:off x="685800" y="2798763"/>
              <a:ext cx="1295400" cy="3071813"/>
            </p:xfrm>
            <a:graphic>
              <a:graphicData uri="http://schemas.openxmlformats.org/drawingml/2006/table">
                <a:tbl>
                  <a:tblPr/>
                  <a:tblGrid>
                    <a:gridCol w="1295400"/>
                  </a:tblGrid>
                  <a:tr h="612775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3"/>
                          <a:stretch>
                            <a:fillRect l="-939" t="-2970" r="-2347" b="-403960"/>
                          </a:stretch>
                        </a:blipFill>
                      </a:tcPr>
                    </a:tc>
                  </a:tr>
                  <a:tr h="61595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3"/>
                          <a:stretch>
                            <a:fillRect l="-939" t="-102970" r="-2347" b="-303960"/>
                          </a:stretch>
                        </a:blipFill>
                      </a:tcPr>
                    </a:tc>
                  </a:tr>
                  <a:tr h="614363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3"/>
                          <a:stretch>
                            <a:fillRect l="-939" t="-202970" r="-2347" b="-203960"/>
                          </a:stretch>
                        </a:blipFill>
                      </a:tcPr>
                    </a:tc>
                  </a:tr>
                  <a:tr h="612775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3"/>
                          <a:stretch>
                            <a:fillRect l="-939" t="-302970" r="-2347" b="-103960"/>
                          </a:stretch>
                        </a:blipFill>
                      </a:tcPr>
                    </a:tc>
                  </a:tr>
                  <a:tr h="615950">
                    <a:tc>
                      <a:txBody>
                        <a:bodyPr/>
                        <a:lstStyle/>
                        <a:p>
                          <a:endParaRPr lang="pl-PL"/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 rotWithShape="0">
                          <a:blip r:embed="rId13"/>
                          <a:stretch>
                            <a:fillRect l="-939" t="-402970" r="-2347" b="-396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172" name="Text Box 28"/>
          <p:cNvSpPr txBox="1">
            <a:spLocks noChangeArrowheads="1"/>
          </p:cNvSpPr>
          <p:nvPr/>
        </p:nvSpPr>
        <p:spPr bwMode="auto">
          <a:xfrm>
            <a:off x="304800" y="2133600"/>
            <a:ext cx="2384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b="1"/>
              <a:t>public register: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76" name="Rectangle 32"/>
              <p:cNvSpPr>
                <a:spLocks noChangeArrowheads="1"/>
              </p:cNvSpPr>
              <p:nvPr/>
            </p:nvSpPr>
            <p:spPr bwMode="auto">
              <a:xfrm>
                <a:off x="7467600" y="2804319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76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7600" y="2804319"/>
                <a:ext cx="914400" cy="45720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78" name="Rectangle 34"/>
              <p:cNvSpPr>
                <a:spLocks noChangeArrowheads="1"/>
              </p:cNvSpPr>
              <p:nvPr/>
            </p:nvSpPr>
            <p:spPr bwMode="auto">
              <a:xfrm>
                <a:off x="5257800" y="58674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78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5867400"/>
                <a:ext cx="914400" cy="45720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79" name="Rectangle 35"/>
              <p:cNvSpPr>
                <a:spLocks noChangeArrowheads="1"/>
              </p:cNvSpPr>
              <p:nvPr/>
            </p:nvSpPr>
            <p:spPr bwMode="auto">
              <a:xfrm>
                <a:off x="7924800" y="49530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79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24800" y="4953000"/>
                <a:ext cx="914400" cy="45720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80" name="Rectangle 36"/>
              <p:cNvSpPr>
                <a:spLocks noChangeArrowheads="1"/>
              </p:cNvSpPr>
              <p:nvPr/>
            </p:nvSpPr>
            <p:spPr bwMode="auto">
              <a:xfrm>
                <a:off x="3886200" y="50292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80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6200" y="5029200"/>
                <a:ext cx="914400" cy="45720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81" name="Rectangle 37"/>
              <p:cNvSpPr>
                <a:spLocks noChangeArrowheads="1"/>
              </p:cNvSpPr>
              <p:nvPr/>
            </p:nvSpPr>
            <p:spPr bwMode="auto">
              <a:xfrm>
                <a:off x="4114800" y="2911772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81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2911772"/>
                <a:ext cx="914400" cy="45720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this slide?</a:t>
            </a:r>
          </a:p>
        </p:txBody>
      </p:sp>
    </p:spTree>
    <p:extLst>
      <p:ext uri="{BB962C8B-B14F-4D97-AF65-F5344CB8AC3E}">
        <p14:creationId xmlns:p14="http://schemas.microsoft.com/office/powerpoint/2010/main" val="2538046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07773" y="365126"/>
            <a:ext cx="8107577" cy="1539874"/>
          </a:xfrm>
        </p:spPr>
        <p:txBody>
          <a:bodyPr>
            <a:normAutofit/>
          </a:bodyPr>
          <a:lstStyle/>
          <a:p>
            <a:r>
              <a:rPr lang="en-GB" sz="3600" b="1" dirty="0"/>
              <a:t>Question</a:t>
            </a:r>
            <a:r>
              <a:rPr lang="en-GB" sz="3600" dirty="0"/>
              <a:t>:</a:t>
            </a:r>
            <a:br>
              <a:rPr lang="en-GB" sz="3600" dirty="0"/>
            </a:br>
            <a:r>
              <a:rPr lang="en-GB" sz="3600" dirty="0"/>
              <a:t>How to maintain the public register?</a:t>
            </a:r>
            <a:endParaRPr lang="en-US" sz="36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marL="609600" indent="-609600">
              <a:buFontTx/>
              <a:buNone/>
            </a:pPr>
            <a:endParaRPr lang="en-GB" dirty="0"/>
          </a:p>
          <a:p>
            <a:pPr marL="609600" indent="-609600">
              <a:buFontTx/>
              <a:buAutoNum type="arabicPeriod"/>
            </a:pPr>
            <a:r>
              <a:rPr lang="en-GB" dirty="0"/>
              <a:t>We start with the case when the public keys are used for </a:t>
            </a:r>
            <a:r>
              <a:rPr lang="en-GB" b="1" dirty="0"/>
              <a:t>signing that is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legally binding</a:t>
            </a:r>
            <a:r>
              <a:rPr lang="en-GB" dirty="0"/>
              <a:t>.</a:t>
            </a:r>
          </a:p>
          <a:p>
            <a:pPr marL="609600" indent="-609600">
              <a:buFontTx/>
              <a:buAutoNum type="arabicPeriod"/>
            </a:pPr>
            <a:endParaRPr lang="en-GB" dirty="0"/>
          </a:p>
          <a:p>
            <a:pPr marL="609600" indent="-609600">
              <a:buFontTx/>
              <a:buAutoNum type="arabicPeriod"/>
            </a:pPr>
            <a:r>
              <a:rPr lang="en-GB" dirty="0"/>
              <a:t>Then we consider other cases.</a:t>
            </a:r>
          </a:p>
          <a:p>
            <a:pPr marL="609600" indent="-609600">
              <a:buFontTx/>
              <a:buAutoNum type="arabicPeriod"/>
            </a:pPr>
            <a:endParaRPr lang="en-GB" dirty="0"/>
          </a:p>
          <a:p>
            <a:pPr marL="609600" indent="-609600">
              <a:buFontTx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67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5" name="Picture 5" descr="MCj041580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6375" y="1752600"/>
            <a:ext cx="1368425" cy="1438275"/>
          </a:xfrm>
          <a:prstGeom prst="rect">
            <a:avLst/>
          </a:prstGeom>
          <a:noFill/>
        </p:spPr>
      </p:pic>
      <p:pic>
        <p:nvPicPr>
          <p:cNvPr id="10242" name="Picture 2" descr="MCj0434879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4648200"/>
            <a:ext cx="1905000" cy="1905000"/>
          </a:xfrm>
          <a:prstGeom prst="rect">
            <a:avLst/>
          </a:prstGeom>
          <a:noFill/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GB"/>
              <a:t>A problem</a:t>
            </a:r>
            <a:endParaRPr lang="en-US"/>
          </a:p>
        </p:txBody>
      </p:sp>
      <p:pic>
        <p:nvPicPr>
          <p:cNvPr id="10244" name="Picture 4" descr="MCj0411466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53138" y="1824038"/>
            <a:ext cx="1401762" cy="1457325"/>
          </a:xfrm>
          <a:prstGeom prst="rect">
            <a:avLst/>
          </a:prstGeom>
          <a:noFill/>
        </p:spPr>
      </p:pic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2916238" y="2473325"/>
            <a:ext cx="309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1766873" y="2743200"/>
            <a:ext cx="733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0" hangingPunct="0"/>
            <a:r>
              <a:rPr lang="en-GB" b="1" dirty="0">
                <a:solidFill>
                  <a:srgbClr val="FF0000"/>
                </a:solidFill>
                <a:ea typeface="ＭＳ Ｐゴシック" pitchFamily="16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6510338" y="2814638"/>
            <a:ext cx="631825" cy="36988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/>
            <a:r>
              <a:rPr lang="en-GB" b="1" dirty="0">
                <a:solidFill>
                  <a:srgbClr val="FF0000"/>
                </a:solidFill>
                <a:ea typeface="ＭＳ Ｐゴシック" pitchFamily="16" charset="-128"/>
              </a:rPr>
              <a:t>Bob</a:t>
            </a:r>
            <a:endParaRPr lang="en-US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9" name="Text Box 9"/>
              <p:cNvSpPr txBox="1">
                <a:spLocks noChangeArrowheads="1"/>
              </p:cNvSpPr>
              <p:nvPr/>
            </p:nvSpPr>
            <p:spPr bwMode="auto">
              <a:xfrm>
                <a:off x="3185046" y="2253392"/>
                <a:ext cx="2558008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(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, </m:t>
                      </m:r>
                      <m:r>
                        <a:rPr lang="el-GR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=</m:t>
                      </m:r>
                      <m:r>
                        <a:rPr lang="en-US" sz="2000" b="1" i="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𝐒𝐢𝐠𝐧</m:t>
                      </m:r>
                      <m:r>
                        <a:rPr lang="en-US" sz="2000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𝒔𝒌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𝒎</m:t>
                      </m:r>
                      <m:r>
                        <a:rPr lang="en-US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))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024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5046" y="2253392"/>
                <a:ext cx="2558008" cy="400110"/>
              </a:xfrm>
              <a:prstGeom prst="rect">
                <a:avLst/>
              </a:prstGeom>
              <a:blipFill rotWithShape="0">
                <a:blip r:embed="rId6"/>
                <a:stretch>
                  <a:fillRect b="-1641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0" name="Text Box 10"/>
              <p:cNvSpPr txBox="1">
                <a:spLocks noChangeArrowheads="1"/>
              </p:cNvSpPr>
              <p:nvPr/>
            </p:nvSpPr>
            <p:spPr bwMode="auto">
              <a:xfrm>
                <a:off x="1905000" y="1066800"/>
                <a:ext cx="595035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𝒔𝒌</m:t>
                      </m:r>
                      <m:r>
                        <a:rPr lang="en-GB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025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1066800"/>
                <a:ext cx="595035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1" name="Text Box 11"/>
              <p:cNvSpPr txBox="1">
                <a:spLocks noChangeArrowheads="1"/>
              </p:cNvSpPr>
              <p:nvPr/>
            </p:nvSpPr>
            <p:spPr bwMode="auto">
              <a:xfrm>
                <a:off x="7162800" y="1143000"/>
                <a:ext cx="622286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𝒑𝒌</m:t>
                      </m:r>
                      <m:r>
                        <a:rPr lang="en-GB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𝑨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ea typeface="ＭＳ Ｐゴシック" pitchFamily="16" charset="-128"/>
                </a:endParaRPr>
              </a:p>
            </p:txBody>
          </p:sp>
        </mc:Choice>
        <mc:Fallback xmlns="">
          <p:sp>
            <p:nvSpPr>
              <p:cNvPr id="1025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2800" y="1143000"/>
                <a:ext cx="622286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3115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2133600" y="144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 flipH="1">
            <a:off x="6781800" y="15240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4" name="Text Box 14"/>
              <p:cNvSpPr txBox="1">
                <a:spLocks noChangeArrowheads="1"/>
              </p:cNvSpPr>
              <p:nvPr/>
            </p:nvSpPr>
            <p:spPr bwMode="auto">
              <a:xfrm>
                <a:off x="296016" y="2295435"/>
                <a:ext cx="1483290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𝒎</m:t>
                      </m:r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ＭＳ Ｐゴシック" pitchFamily="16" charset="-128"/>
                        </a:rPr>
                        <m:t>∈</m:t>
                      </m:r>
                      <m:sSup>
                        <m:sSup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16" charset="-128"/>
                              <a:cs typeface="Arial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pl-PL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16" charset="-128"/>
                                  <a:cs typeface="Arial" charset="0"/>
                                </a:rPr>
                              </m:ctrlPr>
                            </m:dPr>
                            <m:e>
                              <m:r>
                                <a:rPr lang="pl-PL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16" charset="-128"/>
                                  <a:cs typeface="Arial" charset="0"/>
                                </a:rPr>
                                <m:t>𝟎</m:t>
                              </m:r>
                              <m:r>
                                <a:rPr lang="pl-PL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16" charset="-128"/>
                                  <a:cs typeface="Arial" charset="0"/>
                                </a:rPr>
                                <m:t>,</m:t>
                              </m:r>
                              <m:r>
                                <a:rPr lang="pl-PL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ＭＳ Ｐゴシック" pitchFamily="16" charset="-128"/>
                                  <a:cs typeface="Arial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ＭＳ Ｐゴシック" pitchFamily="16" charset="-128"/>
                              <a:cs typeface="Arial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  <a:ea typeface="ＭＳ Ｐゴシック" pitchFamily="16" charset="-128"/>
                  <a:cs typeface="Arial" charset="0"/>
                </a:endParaRPr>
              </a:p>
            </p:txBody>
          </p:sp>
        </mc:Choice>
        <mc:Fallback xmlns="">
          <p:sp>
            <p:nvSpPr>
              <p:cNvPr id="10254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016" y="2295435"/>
                <a:ext cx="1483290" cy="40011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6477000" y="6096000"/>
            <a:ext cx="990600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16" charset="-128"/>
              </a:rPr>
              <a:t>Judge</a:t>
            </a:r>
            <a:endParaRPr lang="en-US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>
            <a:off x="6781800" y="32766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10257" name="AutoShape 17"/>
          <p:cNvCxnSpPr>
            <a:cxnSpLocks noChangeShapeType="1"/>
          </p:cNvCxnSpPr>
          <p:nvPr/>
        </p:nvCxnSpPr>
        <p:spPr bwMode="auto">
          <a:xfrm>
            <a:off x="7924800" y="1295400"/>
            <a:ext cx="122238" cy="4227513"/>
          </a:xfrm>
          <a:prstGeom prst="curvedConnector3">
            <a:avLst>
              <a:gd name="adj1" fmla="val 82856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58" name="Text Box 18"/>
              <p:cNvSpPr txBox="1">
                <a:spLocks noChangeArrowheads="1"/>
              </p:cNvSpPr>
              <p:nvPr/>
            </p:nvSpPr>
            <p:spPr bwMode="auto">
              <a:xfrm>
                <a:off x="5638800" y="3657600"/>
                <a:ext cx="2615331" cy="40011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sz="2000" dirty="0"/>
                  <a:t>I got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GB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from Alice</a:t>
                </a:r>
                <a:endParaRPr lang="en-US" sz="2000" dirty="0"/>
              </a:p>
            </p:txBody>
          </p:sp>
        </mc:Choice>
        <mc:Fallback xmlns="">
          <p:sp>
            <p:nvSpPr>
              <p:cNvPr id="1025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3657600"/>
                <a:ext cx="2615331" cy="400110"/>
              </a:xfrm>
              <a:prstGeom prst="rect">
                <a:avLst/>
              </a:prstGeom>
              <a:blipFill rotWithShape="0">
                <a:blip r:embed="rId10"/>
                <a:stretch>
                  <a:fillRect l="-2088" t="-5882" r="-1160" b="-2352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9" name="AutoShape 19"/>
              <p:cNvSpPr>
                <a:spLocks noChangeArrowheads="1"/>
              </p:cNvSpPr>
              <p:nvPr/>
            </p:nvSpPr>
            <p:spPr bwMode="auto">
              <a:xfrm>
                <a:off x="2438400" y="3810000"/>
                <a:ext cx="2895600" cy="762000"/>
              </a:xfrm>
              <a:prstGeom prst="wedgeRectCallout">
                <a:avLst>
                  <a:gd name="adj1" fmla="val -53343"/>
                  <a:gd name="adj2" fmla="val -243750"/>
                </a:avLst>
              </a:prstGeom>
              <a:ln>
                <a:headEnd/>
                <a:tailE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r>
                  <a:rPr lang="en-GB" sz="2000" dirty="0"/>
                  <a:t>It’s not true!</a:t>
                </a:r>
                <a:br>
                  <a:rPr lang="en-GB" sz="2000" dirty="0"/>
                </a:br>
                <a:r>
                  <a:rPr lang="en-GB" sz="2000" dirty="0"/>
                  <a:t>I never signed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sz="2000" dirty="0"/>
                  <a:t>!</a:t>
                </a:r>
                <a:endParaRPr lang="en-US" sz="2000" dirty="0"/>
              </a:p>
            </p:txBody>
          </p:sp>
        </mc:Choice>
        <mc:Fallback xmlns="">
          <p:sp>
            <p:nvSpPr>
              <p:cNvPr id="10259" name="AutoShap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3810000"/>
                <a:ext cx="2895600" cy="762000"/>
              </a:xfrm>
              <a:prstGeom prst="wedgeRectCallout">
                <a:avLst>
                  <a:gd name="adj1" fmla="val -53343"/>
                  <a:gd name="adj2" fmla="val -243750"/>
                </a:avLst>
              </a:prstGeom>
              <a:blipFill rotWithShape="0">
                <a:blip r:embed="rId11"/>
                <a:stretch>
                  <a:fillRect b="-2965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60" name="AutoShape 20"/>
              <p:cNvSpPr>
                <a:spLocks noChangeArrowheads="1"/>
              </p:cNvSpPr>
              <p:nvPr/>
            </p:nvSpPr>
            <p:spPr bwMode="auto">
              <a:xfrm>
                <a:off x="1828800" y="4786322"/>
                <a:ext cx="4429108" cy="838200"/>
              </a:xfrm>
              <a:prstGeom prst="wedgeRectCallout">
                <a:avLst>
                  <a:gd name="adj1" fmla="val 78261"/>
                  <a:gd name="adj2" fmla="val 26080"/>
                </a:avLst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𝐕𝐫𝐟𝐲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GB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20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𝝈</m:t>
                      </m:r>
                      <m:r>
                        <a:rPr lang="en-GB" sz="20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) = </m:t>
                      </m:r>
                      <m:r>
                        <a:rPr lang="en-GB" sz="2000" b="1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𝐲𝐞𝐬</m:t>
                      </m:r>
                    </m:oMath>
                  </m:oMathPara>
                </a14:m>
                <a:br>
                  <a:rPr lang="en-GB" sz="2000" b="1" dirty="0">
                    <a:solidFill>
                      <a:srgbClr val="FF0000"/>
                    </a:solidFill>
                    <a:cs typeface="Arial" charset="0"/>
                  </a:rPr>
                </a:br>
                <a:r>
                  <a:rPr lang="en-GB" sz="2000" dirty="0">
                    <a:cs typeface="Arial" charset="0"/>
                  </a:rPr>
                  <a:t>so you cannot </a:t>
                </a:r>
                <a:r>
                  <a:rPr lang="en-GB" sz="2000" b="1" dirty="0">
                    <a:cs typeface="Arial" charset="0"/>
                  </a:rPr>
                  <a:t>repudiate</a:t>
                </a:r>
                <a:r>
                  <a:rPr lang="en-GB" sz="2000" dirty="0">
                    <a:cs typeface="Arial" charset="0"/>
                  </a:rPr>
                  <a:t> signing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charset="0"/>
                      </a:rPr>
                      <m:t>𝒎</m:t>
                    </m:r>
                  </m:oMath>
                </a14:m>
                <a:r>
                  <a:rPr lang="en-GB" sz="2000" dirty="0">
                    <a:cs typeface="Arial" charset="0"/>
                  </a:rPr>
                  <a:t>...</a:t>
                </a:r>
                <a:endParaRPr lang="en-US" sz="2000" dirty="0"/>
              </a:p>
            </p:txBody>
          </p:sp>
        </mc:Choice>
        <mc:Fallback xmlns="">
          <p:sp>
            <p:nvSpPr>
              <p:cNvPr id="10260" name="AutoShap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8800" y="4786322"/>
                <a:ext cx="4429108" cy="838200"/>
              </a:xfrm>
              <a:prstGeom prst="wedgeRectCallout">
                <a:avLst>
                  <a:gd name="adj1" fmla="val 78261"/>
                  <a:gd name="adj2" fmla="val 26080"/>
                </a:avLst>
              </a:prstGeom>
              <a:blipFill rotWithShape="0">
                <a:blip r:embed="rId12"/>
                <a:stretch>
                  <a:fillRect b="-357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64" name="AutoShape 24"/>
              <p:cNvSpPr>
                <a:spLocks noChangeArrowheads="1"/>
              </p:cNvSpPr>
              <p:nvPr/>
            </p:nvSpPr>
            <p:spPr bwMode="auto">
              <a:xfrm>
                <a:off x="152400" y="5867400"/>
                <a:ext cx="3419468" cy="762000"/>
              </a:xfrm>
              <a:prstGeom prst="wedgeRectCallout">
                <a:avLst>
                  <a:gd name="adj1" fmla="val -986"/>
                  <a:gd name="adj2" fmla="val -532083"/>
                </a:avLst>
              </a:prstGeom>
              <a:ln>
                <a:headEnd/>
                <a:tailEnd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anchor="ctr" anchorCtr="1"/>
              <a:lstStyle/>
              <a:p>
                <a:r>
                  <a:rPr lang="en-GB" sz="2000" dirty="0"/>
                  <a:t>But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</m:oMath>
                </a14:m>
                <a:r>
                  <a:rPr lang="en-GB" sz="2000" dirty="0"/>
                  <a:t> is not my public key!</a:t>
                </a:r>
                <a:endParaRPr lang="en-US" sz="2000" dirty="0"/>
              </a:p>
            </p:txBody>
          </p:sp>
        </mc:Choice>
        <mc:Fallback xmlns="">
          <p:sp>
            <p:nvSpPr>
              <p:cNvPr id="10264" name="AutoShap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5867400"/>
                <a:ext cx="3419468" cy="762000"/>
              </a:xfrm>
              <a:prstGeom prst="wedgeRectCallout">
                <a:avLst>
                  <a:gd name="adj1" fmla="val -986"/>
                  <a:gd name="adj2" fmla="val -532083"/>
                </a:avLst>
              </a:prstGeom>
              <a:blipFill rotWithShape="0"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92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6" grpId="0" animBg="1"/>
      <p:bldP spid="10258" grpId="0" animBg="1"/>
      <p:bldP spid="10259" grpId="0" animBg="1"/>
      <p:bldP spid="10260" grpId="0" animBg="1"/>
      <p:bldP spid="1026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5867"/>
            <a:ext cx="8515350" cy="1325563"/>
          </a:xfrm>
        </p:spPr>
        <p:txBody>
          <a:bodyPr/>
          <a:lstStyle/>
          <a:p>
            <a:r>
              <a:rPr lang="en-GB"/>
              <a:t>Solution: certification authorities</a:t>
            </a:r>
            <a:endParaRPr lang="en-US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229600" cy="533400"/>
          </a:xfrm>
        </p:spPr>
        <p:txBody>
          <a:bodyPr/>
          <a:lstStyle/>
          <a:p>
            <a:pPr>
              <a:buFontTx/>
              <a:buNone/>
            </a:pPr>
            <a:r>
              <a:rPr lang="en-GB" sz="2800" dirty="0"/>
              <a:t>A simplified view:</a:t>
            </a:r>
            <a:endParaRPr lang="en-US" sz="2800" i="1" dirty="0"/>
          </a:p>
        </p:txBody>
      </p:sp>
      <p:pic>
        <p:nvPicPr>
          <p:cNvPr id="11269" name="Picture 5" descr="MCj041580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2362200"/>
            <a:ext cx="1368425" cy="14382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270" name="AutoShape 6"/>
              <p:cNvSpPr>
                <a:spLocks noChangeArrowheads="1"/>
              </p:cNvSpPr>
              <p:nvPr/>
            </p:nvSpPr>
            <p:spPr bwMode="auto">
              <a:xfrm>
                <a:off x="2895599" y="1905000"/>
                <a:ext cx="3699109" cy="1828800"/>
              </a:xfrm>
              <a:prstGeom prst="leftArrow">
                <a:avLst>
                  <a:gd name="adj1" fmla="val 50000"/>
                  <a:gd name="adj2" fmla="val 46875"/>
                </a:avLst>
              </a:prstGeom>
              <a:ln>
                <a:headEnd/>
                <a:tailEnd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r>
                  <a:rPr lang="en-GB" dirty="0"/>
                  <a:t>comes with her </a:t>
                </a:r>
                <a:r>
                  <a:rPr lang="en-GB" b="1" dirty="0"/>
                  <a:t>ID</a:t>
                </a:r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0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𝐀𝐥𝐢𝐜𝐞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70" name="AutoShap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5599" y="1905000"/>
                <a:ext cx="3699109" cy="1828800"/>
              </a:xfrm>
              <a:prstGeom prst="leftArrow">
                <a:avLst>
                  <a:gd name="adj1" fmla="val 50000"/>
                  <a:gd name="adj2" fmla="val 46875"/>
                </a:avLst>
              </a:prstGeom>
              <a:blipFill rotWithShape="0"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72" name="Picture 8" descr="MCj0234477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" y="2286000"/>
            <a:ext cx="2057400" cy="164465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274" name="Rectangle 10"/>
              <p:cNvSpPr>
                <a:spLocks noChangeArrowheads="1"/>
              </p:cNvSpPr>
              <p:nvPr/>
            </p:nvSpPr>
            <p:spPr bwMode="auto">
              <a:xfrm>
                <a:off x="685800" y="2057400"/>
                <a:ext cx="1752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0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𝐂𝐞𝐫𝐭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𝒔𝒌</m:t>
                      </m:r>
                      <m:r>
                        <a:rPr lang="en-US" b="1" i="0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𝐂𝐞𝐫𝐭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274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2057400"/>
                <a:ext cx="1752600" cy="457200"/>
              </a:xfrm>
              <a:prstGeom prst="rect">
                <a:avLst/>
              </a:prstGeom>
              <a:blipFill rotWithShape="0">
                <a:blip r:embed="rId6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5" name="Rectangle 11"/>
              <p:cNvSpPr>
                <a:spLocks noChangeArrowheads="1"/>
              </p:cNvSpPr>
              <p:nvPr/>
            </p:nvSpPr>
            <p:spPr bwMode="auto">
              <a:xfrm>
                <a:off x="228600" y="3886200"/>
                <a:ext cx="4724400" cy="12954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r>
                  <a:rPr lang="en-GB" sz="2000" dirty="0"/>
                  <a:t>checks the </a:t>
                </a:r>
                <a:r>
                  <a:rPr lang="en-GB" sz="2000" b="1" dirty="0"/>
                  <a:t>ID</a:t>
                </a:r>
                <a:r>
                  <a:rPr lang="en-GB" sz="2000" dirty="0"/>
                  <a:t> of </a:t>
                </a:r>
                <a:r>
                  <a:rPr lang="en-GB" sz="2000" b="1" dirty="0"/>
                  <a:t>Alice</a:t>
                </a:r>
                <a:r>
                  <a:rPr lang="en-GB" sz="2000" dirty="0"/>
                  <a:t> and </a:t>
                </a:r>
              </a:p>
              <a:p>
                <a:r>
                  <a:rPr lang="en-GB" sz="2000" dirty="0"/>
                  <a:t>issues a </a:t>
                </a:r>
                <a:r>
                  <a:rPr lang="en-GB" sz="2000" b="1" dirty="0"/>
                  <a:t>certificate</a:t>
                </a:r>
                <a:r>
                  <a:rPr lang="en-GB" sz="2000" dirty="0"/>
                  <a:t>:</a:t>
                </a:r>
              </a:p>
              <a:p>
                <a:endParaRPr lang="en-GB" sz="1050" i="1" dirty="0"/>
              </a:p>
              <a:p>
                <a:r>
                  <a:rPr lang="en-GB" sz="2000" b="1" dirty="0" err="1">
                    <a:solidFill>
                      <a:srgbClr val="FF0000"/>
                    </a:solidFill>
                  </a:rPr>
                  <a:t>Sign</a:t>
                </a:r>
                <a:r>
                  <a:rPr lang="en-GB" sz="2000" b="1" i="1" baseline="-25000" dirty="0" err="1">
                    <a:solidFill>
                      <a:srgbClr val="FF0000"/>
                    </a:solidFill>
                  </a:rPr>
                  <a:t>sk</a:t>
                </a:r>
                <a:r>
                  <a:rPr lang="en-GB" sz="2000" b="1" baseline="-40000" dirty="0" err="1">
                    <a:solidFill>
                      <a:srgbClr val="FF0000"/>
                    </a:solidFill>
                  </a:rPr>
                  <a:t>Cert</a:t>
                </a:r>
                <a:r>
                  <a:rPr lang="en-GB" sz="2000" dirty="0"/>
                  <a:t>(“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sz="2000" b="1" i="0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𝐀𝐥𝐢𝐜𝐞</m:t>
                    </m:r>
                    <m:r>
                      <a:rPr lang="en-GB" sz="2000" b="1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is a public key of </a:t>
                </a:r>
                <a:r>
                  <a:rPr lang="en-GB" sz="2000" b="1" dirty="0"/>
                  <a:t>Alice</a:t>
                </a:r>
                <a:r>
                  <a:rPr lang="en-GB" sz="2000" dirty="0"/>
                  <a:t>”)</a:t>
                </a:r>
                <a:endParaRPr lang="en-US" sz="2000" dirty="0"/>
              </a:p>
            </p:txBody>
          </p:sp>
        </mc:Choice>
        <mc:Fallback xmlns="">
          <p:sp>
            <p:nvSpPr>
              <p:cNvPr id="11275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3886200"/>
                <a:ext cx="4724400" cy="1295400"/>
              </a:xfrm>
              <a:prstGeom prst="rect">
                <a:avLst/>
              </a:prstGeom>
              <a:blipFill rotWithShape="0">
                <a:blip r:embed="rId7"/>
                <a:stretch>
                  <a:fillRect l="-1285" r="-1542" b="-465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6980681" y="3581400"/>
            <a:ext cx="707373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16" charset="-128"/>
              </a:rPr>
              <a:t>Alice</a:t>
            </a:r>
            <a:endParaRPr lang="en-US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77" name="Text Box 13"/>
              <p:cNvSpPr txBox="1">
                <a:spLocks noChangeArrowheads="1"/>
              </p:cNvSpPr>
              <p:nvPr/>
            </p:nvSpPr>
            <p:spPr bwMode="auto">
              <a:xfrm>
                <a:off x="857224" y="5357826"/>
                <a:ext cx="8066092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2400" dirty="0"/>
                  <a:t>Now, </a:t>
                </a:r>
                <a:r>
                  <a:rPr lang="en-GB" sz="2400" b="1" dirty="0"/>
                  <a:t>everyone</a:t>
                </a:r>
                <a:r>
                  <a:rPr lang="en-GB" sz="2400" dirty="0"/>
                  <a:t> can verify that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sz="2400" b="1" i="0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𝐀𝐥𝐢𝐜𝐞</m:t>
                    </m:r>
                  </m:oMath>
                </a14:m>
                <a:r>
                  <a:rPr lang="en-GB" sz="24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400" dirty="0"/>
                  <a:t>is a public key of </a:t>
                </a:r>
                <a:r>
                  <a:rPr lang="en-GB" sz="2400" b="1" dirty="0">
                    <a:solidFill>
                      <a:srgbClr val="FF0000"/>
                    </a:solidFill>
                  </a:rPr>
                  <a:t>Alice</a:t>
                </a:r>
                <a:r>
                  <a:rPr lang="en-GB" sz="2400" dirty="0"/>
                  <a:t>. </a:t>
                </a:r>
                <a:br>
                  <a:rPr lang="en-GB" sz="2400" dirty="0"/>
                </a:br>
                <a:r>
                  <a:rPr lang="en-GB" sz="2400" dirty="0"/>
                  <a:t>So </a:t>
                </a:r>
                <a:r>
                  <a:rPr lang="en-GB" sz="2400" b="1" dirty="0">
                    <a:solidFill>
                      <a:srgbClr val="FF0000"/>
                    </a:solidFill>
                  </a:rPr>
                  <a:t>Alice</a:t>
                </a:r>
                <a:r>
                  <a:rPr lang="en-GB" sz="2400" dirty="0">
                    <a:solidFill>
                      <a:srgbClr val="FF0000"/>
                    </a:solidFill>
                  </a:rPr>
                  <a:t> </a:t>
                </a:r>
                <a:r>
                  <a:rPr lang="en-GB" sz="2400" dirty="0"/>
                  <a:t>can attach it to every signature</a:t>
                </a:r>
                <a:endParaRPr lang="en-US" sz="2400" dirty="0"/>
              </a:p>
            </p:txBody>
          </p:sp>
        </mc:Choice>
        <mc:Fallback xmlns="">
          <p:sp>
            <p:nvSpPr>
              <p:cNvPr id="11277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7224" y="5357826"/>
                <a:ext cx="8066092" cy="830997"/>
              </a:xfrm>
              <a:prstGeom prst="rect">
                <a:avLst/>
              </a:prstGeom>
              <a:blipFill rotWithShape="0">
                <a:blip r:embed="rId8"/>
                <a:stretch>
                  <a:fillRect l="-1209" t="-5882" r="-1965" b="-1617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8" name="Text Box 14"/>
          <p:cNvSpPr txBox="1">
            <a:spLocks noChangeArrowheads="1"/>
          </p:cNvSpPr>
          <p:nvPr/>
        </p:nvSpPr>
        <p:spPr bwMode="auto">
          <a:xfrm>
            <a:off x="142102" y="3364468"/>
            <a:ext cx="2753497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0" hangingPunct="0"/>
            <a:r>
              <a:rPr lang="en-GB" b="1" dirty="0">
                <a:solidFill>
                  <a:srgbClr val="FF0000"/>
                </a:solidFill>
                <a:ea typeface="ＭＳ Ｐゴシック" pitchFamily="16" charset="-128"/>
              </a:rPr>
              <a:t>Certification Authority</a:t>
            </a:r>
            <a:endParaRPr lang="en-US" b="1" dirty="0">
              <a:solidFill>
                <a:srgbClr val="FF0000"/>
              </a:solidFill>
              <a:ea typeface="ＭＳ Ｐゴシック" pitchFamily="16" charset="-128"/>
            </a:endParaRPr>
          </a:p>
        </p:txBody>
      </p:sp>
      <p:sp>
        <p:nvSpPr>
          <p:cNvPr id="11280" name="AutoShape 16"/>
          <p:cNvSpPr>
            <a:spLocks noChangeArrowheads="1"/>
          </p:cNvSpPr>
          <p:nvPr/>
        </p:nvSpPr>
        <p:spPr bwMode="auto">
          <a:xfrm>
            <a:off x="1266567" y="5829312"/>
            <a:ext cx="2438400" cy="909639"/>
          </a:xfrm>
          <a:prstGeom prst="upArrowCallout">
            <a:avLst>
              <a:gd name="adj1" fmla="val 62015"/>
              <a:gd name="adj2" fmla="val 77363"/>
              <a:gd name="adj3" fmla="val 21093"/>
              <a:gd name="adj4" fmla="val 66667"/>
            </a:avLst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GB" sz="2000" b="1" dirty="0"/>
              <a:t>really everyone?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0501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animBg="1"/>
      <p:bldP spid="11274" grpId="0" animBg="1"/>
      <p:bldP spid="11275" grpId="0" animBg="1"/>
      <p:bldP spid="11276" grpId="0" animBg="1"/>
      <p:bldP spid="11277" grpId="0"/>
      <p:bldP spid="11278" grpId="0" animBg="1"/>
      <p:bldP spid="1128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4521584"/>
            <a:ext cx="9144000" cy="233641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548640" rIns="457200" anchor="ctr"/>
          <a:lstStyle/>
          <a:p>
            <a:pPr marL="609600" indent="-609600">
              <a:buFontTx/>
              <a:buNone/>
            </a:pPr>
            <a:r>
              <a:rPr lang="en-GB" sz="2800" dirty="0"/>
              <a:t>It is better if </a:t>
            </a:r>
            <a:r>
              <a:rPr lang="en-GB" sz="2800" b="1" dirty="0">
                <a:solidFill>
                  <a:srgbClr val="FF0000"/>
                </a:solidFill>
              </a:rPr>
              <a:t>Cert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also keeps a document:</a:t>
            </a:r>
          </a:p>
          <a:p>
            <a:pPr marL="609600" indent="-609600" algn="ctr">
              <a:buFontTx/>
              <a:buNone/>
            </a:pPr>
            <a:r>
              <a:rPr lang="en-GB" sz="2800" i="1" dirty="0"/>
              <a:t>“I, </a:t>
            </a:r>
            <a:r>
              <a:rPr lang="en-GB" sz="2800" b="1" i="1" dirty="0">
                <a:solidFill>
                  <a:srgbClr val="FF0000"/>
                </a:solidFill>
              </a:rPr>
              <a:t>Alice</a:t>
            </a:r>
            <a:r>
              <a:rPr lang="en-GB" sz="2800" i="1" dirty="0">
                <a:solidFill>
                  <a:srgbClr val="FF0000"/>
                </a:solidFill>
              </a:rPr>
              <a:t> </a:t>
            </a:r>
            <a:r>
              <a:rPr lang="en-GB" sz="2800" i="1" dirty="0"/>
              <a:t>certify that</a:t>
            </a:r>
            <a:r>
              <a:rPr lang="en-GB" sz="2800" dirty="0"/>
              <a:t> </a:t>
            </a:r>
            <a:r>
              <a:rPr lang="en-GB" sz="2800" b="1" i="1" dirty="0" err="1">
                <a:solidFill>
                  <a:srgbClr val="FF0000"/>
                </a:solidFill>
              </a:rPr>
              <a:t>pk</a:t>
            </a:r>
            <a:r>
              <a:rPr lang="en-GB" sz="2800" b="1" baseline="-25000" dirty="0" err="1">
                <a:solidFill>
                  <a:srgbClr val="FF0000"/>
                </a:solidFill>
              </a:rPr>
              <a:t>Alice</a:t>
            </a:r>
            <a:r>
              <a:rPr lang="en-GB" sz="2800" b="1" i="1" dirty="0">
                <a:solidFill>
                  <a:srgbClr val="993300"/>
                </a:solidFill>
              </a:rPr>
              <a:t> </a:t>
            </a:r>
            <a:r>
              <a:rPr lang="en-GB" sz="2400" i="1" dirty="0"/>
              <a:t>is my public key”</a:t>
            </a:r>
          </a:p>
          <a:p>
            <a:pPr marL="609600" indent="-609600" algn="r">
              <a:buFontTx/>
              <a:buNone/>
            </a:pPr>
            <a:r>
              <a:rPr lang="en-GB" sz="2400" dirty="0"/>
              <a:t>with a </a:t>
            </a:r>
            <a:r>
              <a:rPr lang="en-GB" sz="2400" b="1" dirty="0">
                <a:solidFill>
                  <a:srgbClr val="0070C0"/>
                </a:solidFill>
              </a:rPr>
              <a:t>written</a:t>
            </a:r>
            <a:r>
              <a:rPr lang="en-GB" sz="2400" dirty="0"/>
              <a:t> signature of </a:t>
            </a:r>
            <a:r>
              <a:rPr lang="en-GB" sz="2400" b="1" dirty="0">
                <a:solidFill>
                  <a:srgbClr val="FF0000"/>
                </a:solidFill>
              </a:rPr>
              <a:t>Alice</a:t>
            </a:r>
            <a:r>
              <a:rPr lang="en-GB" sz="2400" dirty="0"/>
              <a:t>.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75336" y="216845"/>
            <a:ext cx="7886700" cy="1325563"/>
          </a:xfrm>
        </p:spPr>
        <p:txBody>
          <a:bodyPr/>
          <a:lstStyle/>
          <a:p>
            <a:r>
              <a:rPr lang="en-GB" sz="4000"/>
              <a:t>What is needed to verify the certificate</a:t>
            </a:r>
            <a:endParaRPr lang="en-US" sz="400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7987" y="1868874"/>
            <a:ext cx="8608026" cy="2561024"/>
          </a:xfrm>
        </p:spPr>
        <p:txBody>
          <a:bodyPr>
            <a:normAutofit/>
          </a:bodyPr>
          <a:lstStyle/>
          <a:p>
            <a:pPr marL="609600" indent="-609600">
              <a:buFontTx/>
              <a:buNone/>
            </a:pPr>
            <a:r>
              <a:rPr lang="en-GB" sz="2800" dirty="0"/>
              <a:t>To verify the certificate coming from </a:t>
            </a:r>
            <a:r>
              <a:rPr lang="en-GB" sz="2800" b="1" dirty="0">
                <a:solidFill>
                  <a:srgbClr val="FF0000"/>
                </a:solidFill>
              </a:rPr>
              <a:t>Cert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one needs:</a:t>
            </a:r>
          </a:p>
          <a:p>
            <a:pPr marL="609600" indent="-609600">
              <a:buFontTx/>
              <a:buNone/>
            </a:pPr>
            <a:endParaRPr lang="en-GB" sz="2800" dirty="0"/>
          </a:p>
          <a:p>
            <a:pPr marL="609600" indent="-609600">
              <a:buFontTx/>
              <a:buAutoNum type="arabicPeriod"/>
            </a:pPr>
            <a:r>
              <a:rPr lang="en-GB" sz="2800" dirty="0"/>
              <a:t>to </a:t>
            </a:r>
            <a:r>
              <a:rPr lang="en-GB" sz="2800" b="1" dirty="0">
                <a:solidFill>
                  <a:srgbClr val="7030A0"/>
                </a:solidFill>
              </a:rPr>
              <a:t>know</a:t>
            </a:r>
            <a:r>
              <a:rPr lang="en-GB" sz="2800" dirty="0">
                <a:solidFill>
                  <a:srgbClr val="7030A0"/>
                </a:solidFill>
              </a:rPr>
              <a:t> </a:t>
            </a:r>
            <a:r>
              <a:rPr lang="en-GB" sz="2800" dirty="0"/>
              <a:t>the public key of the </a:t>
            </a:r>
            <a:r>
              <a:rPr lang="en-GB" sz="2800" b="1" dirty="0">
                <a:solidFill>
                  <a:srgbClr val="FF0000"/>
                </a:solidFill>
              </a:rPr>
              <a:t>Cert</a:t>
            </a:r>
          </a:p>
          <a:p>
            <a:pPr marL="609600" indent="-609600">
              <a:buFontTx/>
              <a:buAutoNum type="arabicPeriod"/>
            </a:pPr>
            <a:r>
              <a:rPr lang="en-GB" sz="2800" dirty="0"/>
              <a:t>to </a:t>
            </a:r>
            <a:r>
              <a:rPr lang="en-GB" sz="2800" b="1" dirty="0">
                <a:solidFill>
                  <a:srgbClr val="7030A0"/>
                </a:solidFill>
              </a:rPr>
              <a:t>trust</a:t>
            </a:r>
            <a:r>
              <a:rPr lang="en-GB" sz="2800" dirty="0">
                <a:solidFill>
                  <a:srgbClr val="7030A0"/>
                </a:solidFill>
              </a:rPr>
              <a:t> </a:t>
            </a:r>
            <a:r>
              <a:rPr lang="en-GB" sz="2800" b="1" dirty="0">
                <a:solidFill>
                  <a:srgbClr val="FF0000"/>
                </a:solidFill>
              </a:rPr>
              <a:t>Cert</a:t>
            </a:r>
            <a:r>
              <a:rPr lang="en-GB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66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0" y="4522573"/>
            <a:ext cx="9144000" cy="19894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365760" rIns="365760" anchor="ctr"/>
          <a:lstStyle/>
          <a:p>
            <a:pPr>
              <a:lnSpc>
                <a:spcPct val="90000"/>
              </a:lnSpc>
              <a:buFontTx/>
              <a:buNone/>
            </a:pPr>
            <a:r>
              <a:rPr lang="pl-PL" sz="2500" b="1" dirty="0">
                <a:hlinkClick r:id="rId3"/>
              </a:rPr>
              <a:t>Ustawa o podpisie elektronicznym</a:t>
            </a:r>
            <a:r>
              <a:rPr lang="pl-PL" sz="2500" dirty="0"/>
              <a:t>, z dnia 18 września 2001 r.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pl-PL" sz="2500" dirty="0"/>
              <a:t>(Dz.U.01.130.1450) 28 str. (</a:t>
            </a:r>
            <a:r>
              <a:rPr lang="pl-PL" sz="2500" dirty="0">
                <a:hlinkClick r:id="rId4"/>
              </a:rPr>
              <a:t>ISIP</a:t>
            </a:r>
            <a:r>
              <a:rPr lang="pl-PL" sz="2500" dirty="0"/>
              <a:t>), na podst. dyrektywy EU </a:t>
            </a:r>
            <a:r>
              <a:rPr lang="pl-PL" sz="2500" dirty="0">
                <a:hlinkClick r:id="rId5"/>
              </a:rPr>
              <a:t>1999/93/EC</a:t>
            </a:r>
            <a:endParaRPr lang="pl-PL" sz="2500" dirty="0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0" y="2761325"/>
            <a:ext cx="9144000" cy="8620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365760" rIns="365760" anchor="ctr"/>
          <a:lstStyle/>
          <a:p>
            <a:pPr>
              <a:lnSpc>
                <a:spcPct val="90000"/>
              </a:lnSpc>
              <a:buFontTx/>
              <a:buNone/>
            </a:pPr>
            <a:r>
              <a:rPr lang="en-GB" sz="2500" dirty="0"/>
              <a:t>Many countries have now a special law regulating these things.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13553" y="223188"/>
            <a:ext cx="7886700" cy="1325563"/>
          </a:xfrm>
        </p:spPr>
        <p:txBody>
          <a:bodyPr>
            <a:normAutofit/>
          </a:bodyPr>
          <a:lstStyle/>
          <a:p>
            <a:r>
              <a:rPr lang="en-GB" sz="4000" dirty="0"/>
              <a:t>How does it look from the legal point of view?</a:t>
            </a:r>
            <a:endParaRPr lang="en-US" sz="4000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869911"/>
            <a:ext cx="8779476" cy="661086"/>
          </a:xfrm>
        </p:spPr>
        <p:txBody>
          <a:bodyPr lIns="365760" rIns="365760">
            <a:no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GB" sz="2500" dirty="0"/>
              <a:t>What matters at the end is if you can </a:t>
            </a:r>
            <a:r>
              <a:rPr lang="en-GB" sz="2500" b="1" dirty="0">
                <a:solidFill>
                  <a:srgbClr val="FF0000"/>
                </a:solidFill>
              </a:rPr>
              <a:t>convince the judge</a:t>
            </a:r>
            <a:r>
              <a:rPr lang="en-GB" sz="2500" dirty="0"/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53663"/>
            <a:ext cx="4572000" cy="438582"/>
          </a:xfrm>
          <a:prstGeom prst="rect">
            <a:avLst/>
          </a:prstGeom>
        </p:spPr>
        <p:txBody>
          <a:bodyPr lIns="365760" rIns="365760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GB" sz="2500" dirty="0"/>
              <a:t>In </a:t>
            </a:r>
            <a:r>
              <a:rPr lang="en-GB" sz="2500" b="1" dirty="0">
                <a:solidFill>
                  <a:srgbClr val="7030A0"/>
                </a:solidFill>
              </a:rPr>
              <a:t>Poland</a:t>
            </a:r>
            <a:r>
              <a:rPr lang="en-GB" sz="2500" dirty="0"/>
              <a:t>: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76690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/>
      <p:bldP spid="8196" grpId="0" animBg="1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0" y="5224482"/>
            <a:ext cx="9144000" cy="990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anchor="ctr"/>
          <a:lstStyle/>
          <a:p>
            <a:pPr>
              <a:lnSpc>
                <a:spcPct val="80000"/>
              </a:lnSpc>
              <a:buNone/>
            </a:pPr>
            <a:r>
              <a:rPr lang="en-GB" sz="2800" dirty="0"/>
              <a:t>The </a:t>
            </a:r>
            <a:r>
              <a:rPr lang="en-GB" sz="2800" b="1" dirty="0"/>
              <a:t>qualified signature</a:t>
            </a:r>
            <a:r>
              <a:rPr lang="en-GB" sz="2800" dirty="0"/>
              <a:t> is equivalent to the written one!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0" y="3624282"/>
            <a:ext cx="9144000" cy="1447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216000" anchor="ctr"/>
          <a:lstStyle/>
          <a:p>
            <a:pPr>
              <a:lnSpc>
                <a:spcPct val="80000"/>
              </a:lnSpc>
              <a:buFontTx/>
              <a:buNone/>
            </a:pPr>
            <a:r>
              <a:rPr lang="en-GB" sz="2800" dirty="0"/>
              <a:t>A signature obtained this way is called a </a:t>
            </a:r>
            <a:r>
              <a:rPr lang="en-GB" sz="2800" b="1" dirty="0">
                <a:solidFill>
                  <a:srgbClr val="FF0000"/>
                </a:solidFill>
              </a:rPr>
              <a:t>qualified digital signature</a:t>
            </a:r>
            <a:r>
              <a:rPr lang="en-US" sz="2800" dirty="0"/>
              <a:t>.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0" y="2100282"/>
            <a:ext cx="9144000" cy="1371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16000" anchor="ctr"/>
          <a:lstStyle/>
          <a:p>
            <a:pPr>
              <a:lnSpc>
                <a:spcPct val="80000"/>
              </a:lnSpc>
              <a:buFontTx/>
              <a:buNone/>
            </a:pPr>
            <a:r>
              <a:rPr lang="en-GB" sz="2800" dirty="0"/>
              <a:t>A certificate issued by such an authority is called a </a:t>
            </a:r>
            <a:r>
              <a:rPr lang="en-GB" sz="2800" b="1" dirty="0">
                <a:solidFill>
                  <a:srgbClr val="0070C0"/>
                </a:solidFill>
              </a:rPr>
              <a:t>qualified certificate</a:t>
            </a:r>
            <a:r>
              <a:rPr lang="en-GB" sz="2800" dirty="0"/>
              <a:t>.</a:t>
            </a:r>
            <a:endParaRPr lang="en-GB" sz="2800" i="1" dirty="0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0" y="576282"/>
            <a:ext cx="9144000" cy="1371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16000" anchor="ctr"/>
          <a:lstStyle/>
          <a:p>
            <a:pPr>
              <a:lnSpc>
                <a:spcPct val="80000"/>
              </a:lnSpc>
              <a:buFontTx/>
              <a:buNone/>
            </a:pPr>
            <a:r>
              <a:rPr lang="en-GB" sz="2800" dirty="0"/>
              <a:t>This law defines the conditions to become an official </a:t>
            </a:r>
            <a:r>
              <a:rPr lang="en-GB" sz="2800" b="1" dirty="0">
                <a:solidFill>
                  <a:srgbClr val="7030A0"/>
                </a:solidFill>
              </a:rPr>
              <a:t>certification authority</a:t>
            </a:r>
            <a:r>
              <a:rPr lang="en-GB" sz="2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970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nimBg="1"/>
      <p:bldP spid="12294" grpId="0" animBg="1"/>
      <p:bldP spid="12293" grpId="0" animBg="1"/>
      <p:bldP spid="1229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Polish Certificate Authorities: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8412" t="7139" r="14720" b="6762"/>
          <a:stretch/>
        </p:blipFill>
        <p:spPr>
          <a:xfrm>
            <a:off x="935596" y="1700808"/>
            <a:ext cx="7272808" cy="453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148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0" y="4376352"/>
            <a:ext cx="9144000" cy="1600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74320" rIns="274320" anchor="ctr"/>
          <a:lstStyle/>
          <a:p>
            <a:pPr>
              <a:buFontTx/>
              <a:buNone/>
            </a:pPr>
            <a:r>
              <a:rPr lang="en-GB" sz="2800" dirty="0"/>
              <a:t>The certificate is </a:t>
            </a:r>
            <a:r>
              <a:rPr lang="en-GB" sz="2800" b="1" dirty="0">
                <a:solidFill>
                  <a:srgbClr val="FF0000"/>
                </a:solidFill>
              </a:rPr>
              <a:t>valid just for some period</a:t>
            </a:r>
            <a:r>
              <a:rPr lang="en-GB" sz="2800" dirty="0"/>
              <a:t>.</a:t>
            </a:r>
            <a:endParaRPr lang="en-US" sz="2800" dirty="0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2233420"/>
            <a:ext cx="9144000" cy="1600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274320" rIns="274320" anchor="ctr"/>
          <a:lstStyle/>
          <a:p>
            <a:pPr>
              <a:buFontTx/>
              <a:buNone/>
            </a:pPr>
            <a:r>
              <a:rPr lang="en-GB" sz="2800" dirty="0"/>
              <a:t>You have to go to one of </a:t>
            </a:r>
            <a:r>
              <a:rPr lang="en-GB" sz="2800" dirty="0" err="1"/>
              <a:t>th</a:t>
            </a:r>
            <a:r>
              <a:rPr lang="pl-PL" sz="2800" dirty="0"/>
              <a:t>e</a:t>
            </a:r>
            <a:r>
              <a:rPr lang="en-GB" sz="2800" dirty="0"/>
              <a:t>s</a:t>
            </a:r>
            <a:r>
              <a:rPr lang="pl-PL" sz="2800"/>
              <a:t>e</a:t>
            </a:r>
            <a:r>
              <a:rPr lang="en-GB" sz="2800"/>
              <a:t> </a:t>
            </a:r>
            <a:r>
              <a:rPr lang="en-GB" sz="2800" dirty="0"/>
              <a:t>companies and </a:t>
            </a:r>
            <a:r>
              <a:rPr lang="en-GB" sz="2800" b="1" dirty="0">
                <a:solidFill>
                  <a:srgbClr val="0070C0"/>
                </a:solidFill>
              </a:rPr>
              <a:t>get a qualified certificate</a:t>
            </a:r>
            <a:r>
              <a:rPr lang="en-GB" sz="2800" dirty="0"/>
              <a:t> (it costs!).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861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000" dirty="0"/>
              <a:t>So, what to do if you want to issue the qualified signatures?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1285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nimBg="1"/>
      <p:bldP spid="1434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2133600"/>
            <a:ext cx="9144000" cy="2209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365760" rIns="365760" anchor="ctr"/>
          <a:lstStyle/>
          <a:p>
            <a:r>
              <a:rPr lang="en-GB" sz="2800" dirty="0"/>
              <a:t>In this case you have to </a:t>
            </a:r>
            <a:r>
              <a:rPr lang="en-GB" sz="2800" b="1" dirty="0">
                <a:solidFill>
                  <a:srgbClr val="7030A0"/>
                </a:solidFill>
              </a:rPr>
              <a:t>revoke</a:t>
            </a:r>
            <a:r>
              <a:rPr lang="en-GB" sz="2800" dirty="0">
                <a:solidFill>
                  <a:srgbClr val="7030A0"/>
                </a:solidFill>
              </a:rPr>
              <a:t> </a:t>
            </a:r>
            <a:r>
              <a:rPr lang="en-GB" sz="2800" dirty="0"/>
              <a:t>the certificate.</a:t>
            </a:r>
          </a:p>
          <a:p>
            <a:br>
              <a:rPr lang="en-GB" sz="2800" dirty="0"/>
            </a:br>
            <a:r>
              <a:rPr lang="en-GB" sz="2800" dirty="0"/>
              <a:t>Every authority maintains a list of </a:t>
            </a:r>
            <a:r>
              <a:rPr lang="en-GB" sz="2800" b="1" dirty="0">
                <a:solidFill>
                  <a:srgbClr val="FF0000"/>
                </a:solidFill>
              </a:rPr>
              <a:t>revoked certificates</a:t>
            </a:r>
            <a:r>
              <a:rPr lang="en-GB" sz="2800" dirty="0"/>
              <a:t>.</a:t>
            </a:r>
            <a:endParaRPr lang="en-US" sz="2800" dirty="0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4572000"/>
            <a:ext cx="9144000" cy="1371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365760" rIns="365760" anchor="ctr"/>
          <a:lstStyle/>
          <a:p>
            <a:r>
              <a:rPr lang="en-GB" sz="2800" dirty="0"/>
              <a:t>The certificates come with some </a:t>
            </a:r>
            <a:r>
              <a:rPr lang="en-GB" sz="2800" b="1" dirty="0">
                <a:solidFill>
                  <a:srgbClr val="7030A0"/>
                </a:solidFill>
              </a:rPr>
              <a:t>insurance</a:t>
            </a:r>
            <a:r>
              <a:rPr lang="en-GB" sz="2800" dirty="0"/>
              <a:t>.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if the secret key is lost?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8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uiExpand="1" build="p" animBg="1"/>
      <p:bldP spid="1536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0" y="2341605"/>
            <a:ext cx="9144000" cy="44164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274320" rIns="274320" anchor="ctr"/>
          <a:lstStyle/>
          <a:p>
            <a:pPr>
              <a:lnSpc>
                <a:spcPct val="90000"/>
              </a:lnSpc>
            </a:pPr>
            <a:r>
              <a:rPr lang="en-GB" sz="2800" dirty="0"/>
              <a:t>It’s </a:t>
            </a:r>
            <a:r>
              <a:rPr lang="en-GB" sz="2800" b="1" dirty="0">
                <a:solidFill>
                  <a:srgbClr val="7030A0"/>
                </a:solidFill>
              </a:rPr>
              <a:t>risky</a:t>
            </a:r>
            <a:r>
              <a:rPr lang="en-GB" sz="2800" dirty="0">
                <a:solidFill>
                  <a:srgbClr val="7030A0"/>
                </a:solidFill>
              </a:rPr>
              <a:t> </a:t>
            </a:r>
            <a:r>
              <a:rPr lang="en-GB" sz="2800" dirty="0"/>
              <a:t>to use them:</a:t>
            </a:r>
            <a:br>
              <a:rPr lang="en-GB" sz="2800" dirty="0"/>
            </a:br>
            <a:endParaRPr lang="en-GB" sz="2800" dirty="0"/>
          </a:p>
          <a:p>
            <a:pPr marL="609600" indent="-609600">
              <a:lnSpc>
                <a:spcPct val="90000"/>
              </a:lnSpc>
              <a:buNone/>
            </a:pPr>
            <a:r>
              <a:rPr lang="en-GB" sz="2800" dirty="0"/>
              <a:t>How do you know what your computer is really signing?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en-GB" sz="2800" dirty="0"/>
              <a:t>Computers have </a:t>
            </a:r>
            <a:r>
              <a:rPr lang="en-GB" sz="2800" b="1" dirty="0"/>
              <a:t>viruses, Trojan horses</a:t>
            </a:r>
            <a:r>
              <a:rPr lang="en-GB" sz="2800" dirty="0"/>
              <a:t>, etc.</a:t>
            </a:r>
            <a:br>
              <a:rPr lang="en-GB" sz="2800" dirty="0"/>
            </a:br>
            <a:endParaRPr lang="en-GB" sz="2800" dirty="0"/>
          </a:p>
          <a:p>
            <a:pPr marL="609600" indent="-609600">
              <a:lnSpc>
                <a:spcPct val="90000"/>
              </a:lnSpc>
              <a:buNone/>
            </a:pPr>
            <a:r>
              <a:rPr lang="en-GB" sz="2800" dirty="0"/>
              <a:t>You can use </a:t>
            </a:r>
            <a:r>
              <a:rPr lang="en-GB" sz="2800" b="1" dirty="0">
                <a:solidFill>
                  <a:srgbClr val="002060"/>
                </a:solidFill>
              </a:rPr>
              <a:t>external trusted hardware </a:t>
            </a:r>
            <a:r>
              <a:rPr lang="en-GB" sz="2800" dirty="0"/>
              <a:t>but it should have a display (so you can see what is signed).</a:t>
            </a:r>
            <a:br>
              <a:rPr lang="en-GB" sz="2800" dirty="0"/>
            </a:br>
            <a:endParaRPr lang="en-GB" sz="2800" dirty="0"/>
          </a:p>
          <a:p>
            <a:pPr marL="609600" indent="-609600">
              <a:lnSpc>
                <a:spcPct val="90000"/>
              </a:lnSpc>
              <a:buNone/>
            </a:pPr>
            <a:r>
              <a:rPr lang="en-GB" sz="2800" b="1" dirty="0">
                <a:solidFill>
                  <a:srgbClr val="FF0000"/>
                </a:solidFill>
              </a:rPr>
              <a:t>Remember</a:t>
            </a:r>
            <a:r>
              <a:rPr lang="en-GB" sz="2800" dirty="0"/>
              <a:t>: qualified signatures are equivalent to the written ones!</a:t>
            </a:r>
            <a:endParaRPr lang="en-US" sz="2800" dirty="0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1447800"/>
            <a:ext cx="9144000" cy="685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74320" rIns="274320" anchor="ctr"/>
          <a:lstStyle/>
          <a:p>
            <a:pPr>
              <a:lnSpc>
                <a:spcPct val="90000"/>
              </a:lnSpc>
            </a:pPr>
            <a:r>
              <a:rPr lang="en-GB" sz="2800" dirty="0"/>
              <a:t>The certificates cost.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sz="4000"/>
              <a:t>In many case one doesn’t want to use the qualified signatures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66322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uiExpand="1" build="p" animBg="1"/>
      <p:bldP spid="1638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56" y="2000240"/>
            <a:ext cx="6929486" cy="292895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Public key cryptography – an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key management problem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qualified signatures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public key infrastructure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Identity-based cryptography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500034" y="3315173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5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0" y="1524000"/>
            <a:ext cx="9144000" cy="1295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288000" anchor="ctr"/>
          <a:lstStyle/>
          <a:p>
            <a:pPr>
              <a:buFontTx/>
              <a:buNone/>
            </a:pPr>
            <a:r>
              <a:rPr lang="en-GB" sz="2800" dirty="0"/>
              <a:t>In many cases the </a:t>
            </a:r>
            <a:r>
              <a:rPr lang="en-GB" sz="2800" b="1" dirty="0"/>
              <a:t>qualified signatures</a:t>
            </a:r>
            <a:r>
              <a:rPr lang="en-GB" sz="2800" dirty="0"/>
              <a:t> are an overkill.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0" y="4876800"/>
            <a:ext cx="9144000" cy="1295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288000" anchor="ctr"/>
          <a:lstStyle/>
          <a:p>
            <a:pPr>
              <a:buFontTx/>
              <a:buNone/>
            </a:pPr>
            <a:r>
              <a:rPr lang="en-GB" sz="2800" dirty="0"/>
              <a:t>The certificates are distributed using a </a:t>
            </a:r>
            <a:r>
              <a:rPr lang="en-GB" sz="2800" b="1" dirty="0"/>
              <a:t>public-key infrastructure (PKI)</a:t>
            </a:r>
            <a:r>
              <a:rPr lang="en-GB" sz="2800" dirty="0"/>
              <a:t>.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3124200"/>
            <a:ext cx="9144000" cy="1295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288000" anchor="ctr"/>
          <a:lstStyle/>
          <a:p>
            <a:pPr>
              <a:buFontTx/>
              <a:buNone/>
            </a:pPr>
            <a:r>
              <a:rPr lang="en-GB" sz="2800" dirty="0"/>
              <a:t>Instead, people use </a:t>
            </a:r>
            <a:r>
              <a:rPr lang="en-GB" sz="2800" b="1" dirty="0">
                <a:solidFill>
                  <a:srgbClr val="FF0000"/>
                </a:solidFill>
              </a:rPr>
              <a:t>non</a:t>
            </a:r>
            <a:r>
              <a:rPr lang="en-GB" sz="2800" dirty="0"/>
              <a:t>-qualified signatures.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699" y="46037"/>
            <a:ext cx="7886700" cy="1325563"/>
          </a:xfrm>
        </p:spPr>
        <p:txBody>
          <a:bodyPr/>
          <a:lstStyle/>
          <a:p>
            <a:r>
              <a:rPr lang="en-GB" dirty="0"/>
              <a:t>Practical 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42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  <p:bldP spid="174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653334" cy="1254126"/>
          </a:xfrm>
        </p:spPr>
        <p:txBody>
          <a:bodyPr>
            <a:normAutofit/>
          </a:bodyPr>
          <a:lstStyle/>
          <a:p>
            <a:r>
              <a:rPr lang="en-GB" sz="3900" dirty="0"/>
              <a:t>Users can certify keys of the other users</a:t>
            </a:r>
            <a:endParaRPr lang="en-US" sz="3900" dirty="0"/>
          </a:p>
        </p:txBody>
      </p:sp>
      <p:pic>
        <p:nvPicPr>
          <p:cNvPr id="18436" name="Picture 4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667000"/>
            <a:ext cx="1058863" cy="857250"/>
          </a:xfrm>
          <a:prstGeom prst="rect">
            <a:avLst/>
          </a:prstGeom>
          <a:noFill/>
        </p:spPr>
      </p:pic>
      <p:pic>
        <p:nvPicPr>
          <p:cNvPr id="18437" name="Picture 5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67600" y="2667000"/>
            <a:ext cx="900113" cy="927100"/>
          </a:xfrm>
          <a:prstGeom prst="rect">
            <a:avLst/>
          </a:prstGeom>
          <a:noFill/>
        </p:spPr>
      </p:pic>
      <p:pic>
        <p:nvPicPr>
          <p:cNvPr id="18439" name="Picture 7" descr="PL4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71600" y="2667000"/>
            <a:ext cx="1041400" cy="96996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441" name="Text Box 9"/>
              <p:cNvSpPr txBox="1">
                <a:spLocks noChangeArrowheads="1"/>
              </p:cNvSpPr>
              <p:nvPr/>
            </p:nvSpPr>
            <p:spPr bwMode="auto">
              <a:xfrm>
                <a:off x="838200" y="25908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41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590800"/>
                <a:ext cx="58702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2" name="Text Box 10"/>
              <p:cNvSpPr txBox="1">
                <a:spLocks noChangeArrowheads="1"/>
              </p:cNvSpPr>
              <p:nvPr/>
            </p:nvSpPr>
            <p:spPr bwMode="auto">
              <a:xfrm>
                <a:off x="6934200" y="2590800"/>
                <a:ext cx="50006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42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4200" y="2590800"/>
                <a:ext cx="500063" cy="457200"/>
              </a:xfrm>
              <a:prstGeom prst="rect">
                <a:avLst/>
              </a:prstGeom>
              <a:blipFill rotWithShape="0">
                <a:blip r:embed="rId7"/>
                <a:stretch>
                  <a:fillRect l="-3659"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3" name="Text Box 11"/>
              <p:cNvSpPr txBox="1">
                <a:spLocks noChangeArrowheads="1"/>
              </p:cNvSpPr>
              <p:nvPr/>
            </p:nvSpPr>
            <p:spPr bwMode="auto">
              <a:xfrm>
                <a:off x="3970338" y="25717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43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0338" y="2571750"/>
                <a:ext cx="58702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4" name="Rectangle 12"/>
              <p:cNvSpPr>
                <a:spLocks noChangeArrowheads="1"/>
              </p:cNvSpPr>
              <p:nvPr/>
            </p:nvSpPr>
            <p:spPr bwMode="auto">
              <a:xfrm>
                <a:off x="6934200" y="32004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44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4200" y="3200400"/>
                <a:ext cx="914400" cy="457200"/>
              </a:xfrm>
              <a:prstGeom prst="rect">
                <a:avLst/>
              </a:prstGeom>
              <a:blipFill rotWithShape="0">
                <a:blip r:embed="rId9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5" name="Rectangle 13"/>
              <p:cNvSpPr>
                <a:spLocks noChangeArrowheads="1"/>
              </p:cNvSpPr>
              <p:nvPr/>
            </p:nvSpPr>
            <p:spPr bwMode="auto">
              <a:xfrm>
                <a:off x="762000" y="32004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45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3200400"/>
                <a:ext cx="914400" cy="457200"/>
              </a:xfrm>
              <a:prstGeom prst="rect">
                <a:avLst/>
              </a:prstGeom>
              <a:blipFill rotWithShape="0">
                <a:blip r:embed="rId10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6" name="Rectangle 14"/>
              <p:cNvSpPr>
                <a:spLocks noChangeArrowheads="1"/>
              </p:cNvSpPr>
              <p:nvPr/>
            </p:nvSpPr>
            <p:spPr bwMode="auto">
              <a:xfrm>
                <a:off x="3810000" y="32766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46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3276600"/>
                <a:ext cx="914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47" name="AutoShape 15"/>
          <p:cNvCxnSpPr>
            <a:cxnSpLocks noChangeShapeType="1"/>
          </p:cNvCxnSpPr>
          <p:nvPr/>
        </p:nvCxnSpPr>
        <p:spPr bwMode="auto">
          <a:xfrm rot="5400000" flipV="1">
            <a:off x="6433344" y="1183481"/>
            <a:ext cx="1588" cy="2968625"/>
          </a:xfrm>
          <a:prstGeom prst="curvedConnector3">
            <a:avLst>
              <a:gd name="adj1" fmla="val -319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8448" name="AutoShape 16"/>
          <p:cNvCxnSpPr>
            <a:cxnSpLocks noChangeShapeType="1"/>
          </p:cNvCxnSpPr>
          <p:nvPr/>
        </p:nvCxnSpPr>
        <p:spPr bwMode="auto">
          <a:xfrm rot="5400000" flipV="1">
            <a:off x="3420269" y="1139031"/>
            <a:ext cx="1588" cy="3057525"/>
          </a:xfrm>
          <a:prstGeom prst="curvedConnector3">
            <a:avLst>
              <a:gd name="adj1" fmla="val -320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8449" name="AutoShape 17"/>
          <p:cNvCxnSpPr>
            <a:cxnSpLocks noChangeShapeType="1"/>
          </p:cNvCxnSpPr>
          <p:nvPr/>
        </p:nvCxnSpPr>
        <p:spPr bwMode="auto">
          <a:xfrm rot="5400000" flipH="1" flipV="1">
            <a:off x="3364706" y="2051844"/>
            <a:ext cx="112713" cy="3057525"/>
          </a:xfrm>
          <a:prstGeom prst="curvedConnector3">
            <a:avLst>
              <a:gd name="adj1" fmla="val -623944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50" name="Text Box 18"/>
              <p:cNvSpPr txBox="1">
                <a:spLocks noChangeArrowheads="1"/>
              </p:cNvSpPr>
              <p:nvPr/>
            </p:nvSpPr>
            <p:spPr bwMode="auto">
              <a:xfrm>
                <a:off x="2667000" y="19812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5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1981200"/>
                <a:ext cx="1249363" cy="369888"/>
              </a:xfrm>
              <a:prstGeom prst="rect">
                <a:avLst/>
              </a:prstGeom>
              <a:blipFill rotWithShape="0">
                <a:blip r:embed="rId12"/>
                <a:stretch>
                  <a:fillRect l="-3865" t="-7813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51" name="Text Box 19"/>
              <p:cNvSpPr txBox="1">
                <a:spLocks noChangeArrowheads="1"/>
              </p:cNvSpPr>
              <p:nvPr/>
            </p:nvSpPr>
            <p:spPr bwMode="auto">
              <a:xfrm>
                <a:off x="5943600" y="19812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51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3600" y="1981200"/>
                <a:ext cx="1249363" cy="369888"/>
              </a:xfrm>
              <a:prstGeom prst="rect">
                <a:avLst/>
              </a:prstGeom>
              <a:blipFill rotWithShape="0">
                <a:blip r:embed="rId13"/>
                <a:stretch>
                  <a:fillRect l="-3365" t="-7813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52" name="Text Box 20"/>
              <p:cNvSpPr txBox="1">
                <a:spLocks noChangeArrowheads="1"/>
              </p:cNvSpPr>
              <p:nvPr/>
            </p:nvSpPr>
            <p:spPr bwMode="auto">
              <a:xfrm>
                <a:off x="2667000" y="41148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5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4114800"/>
                <a:ext cx="1239442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3883" t="-7813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59" name="Rectangle 27"/>
              <p:cNvSpPr>
                <a:spLocks noChangeArrowheads="1"/>
              </p:cNvSpPr>
              <p:nvPr/>
            </p:nvSpPr>
            <p:spPr bwMode="auto">
              <a:xfrm>
                <a:off x="304800" y="5181600"/>
                <a:ext cx="434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dirty="0"/>
                  <a:t> certifies that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dirty="0"/>
                  <a:t> is a public key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59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5181600"/>
                <a:ext cx="4343400" cy="457200"/>
              </a:xfrm>
              <a:prstGeom prst="rect">
                <a:avLst/>
              </a:prstGeom>
              <a:blipFill rotWithShape="0">
                <a:blip r:embed="rId15"/>
                <a:stretch>
                  <a:fillRect b="-641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0" name="Rectangle 28"/>
              <p:cNvSpPr>
                <a:spLocks noChangeArrowheads="1"/>
              </p:cNvSpPr>
              <p:nvPr/>
            </p:nvSpPr>
            <p:spPr bwMode="auto">
              <a:xfrm>
                <a:off x="4648200" y="5181600"/>
                <a:ext cx="1752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r>
                  <a:rPr lang="en-GB" dirty="0"/>
                  <a:t>signature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60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8200" y="5181600"/>
                <a:ext cx="1752600" cy="457200"/>
              </a:xfrm>
              <a:prstGeom prst="rect">
                <a:avLst/>
              </a:prstGeom>
              <a:blipFill rotWithShape="0">
                <a:blip r:embed="rId16"/>
                <a:stretch>
                  <a:fillRect l="-2768"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4" name="Text Box 32"/>
              <p:cNvSpPr txBox="1">
                <a:spLocks noChangeArrowheads="1"/>
              </p:cNvSpPr>
              <p:nvPr/>
            </p:nvSpPr>
            <p:spPr bwMode="auto">
              <a:xfrm>
                <a:off x="6934200" y="4876800"/>
                <a:ext cx="1844675" cy="92333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dirty="0"/>
                  <a:t> believes</a:t>
                </a:r>
                <a:br>
                  <a:rPr lang="en-GB" dirty="0"/>
                </a:br>
                <a:r>
                  <a:rPr lang="en-GB" dirty="0"/>
                  <a:t>that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dirty="0"/>
                  <a:t> is a public key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464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4200" y="4876800"/>
                <a:ext cx="1844675" cy="92333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66" name="AutoShape 34"/>
          <p:cNvCxnSpPr>
            <a:cxnSpLocks noChangeShapeType="1"/>
          </p:cNvCxnSpPr>
          <p:nvPr/>
        </p:nvCxnSpPr>
        <p:spPr bwMode="auto">
          <a:xfrm>
            <a:off x="6477000" y="5334000"/>
            <a:ext cx="3810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67" name="AutoShape 35"/>
              <p:cNvSpPr>
                <a:spLocks noChangeArrowheads="1"/>
              </p:cNvSpPr>
              <p:nvPr/>
            </p:nvSpPr>
            <p:spPr bwMode="auto">
              <a:xfrm>
                <a:off x="304800" y="6248400"/>
                <a:ext cx="8458200" cy="381000"/>
              </a:xfrm>
              <a:prstGeom prst="wedgeRectCallout">
                <a:avLst>
                  <a:gd name="adj1" fmla="val -38065"/>
                  <a:gd name="adj2" fmla="val -231667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GB" dirty="0"/>
                  <a:t>this should be done only if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dirty="0"/>
                  <a:t>  really met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b="1" baseline="-25000" dirty="0">
                    <a:solidFill>
                      <a:srgbClr val="993300"/>
                    </a:solidFill>
                  </a:rPr>
                  <a:t> </a:t>
                </a:r>
                <a:r>
                  <a:rPr lang="en-GB" dirty="0"/>
                  <a:t>in person and verified his identity</a:t>
                </a:r>
                <a:endParaRPr lang="en-US" dirty="0"/>
              </a:p>
            </p:txBody>
          </p:sp>
        </mc:Choice>
        <mc:Fallback xmlns="">
          <p:sp>
            <p:nvSpPr>
              <p:cNvPr id="18467" name="AutoShap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6248400"/>
                <a:ext cx="8458200" cy="381000"/>
              </a:xfrm>
              <a:prstGeom prst="wedgeRectCallout">
                <a:avLst>
                  <a:gd name="adj1" fmla="val -38065"/>
                  <a:gd name="adj2" fmla="val -231667"/>
                </a:avLst>
              </a:prstGeom>
              <a:blipFill rotWithShape="0">
                <a:blip r:embed="rId18"/>
                <a:stretch>
                  <a:fillRect l="-504" b="-6111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368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0" grpId="0" animBg="1"/>
      <p:bldP spid="18451" grpId="0" animBg="1"/>
      <p:bldP spid="18452" grpId="0" animBg="1"/>
      <p:bldP spid="18459" grpId="0" animBg="1"/>
      <p:bldP spid="18460" grpId="0" animBg="1"/>
      <p:bldP spid="18464" grpId="0" animBg="1"/>
      <p:bldP spid="1846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2133600"/>
            <a:ext cx="1058863" cy="857250"/>
          </a:xfrm>
          <a:prstGeom prst="rect">
            <a:avLst/>
          </a:prstGeom>
          <a:noFill/>
        </p:spPr>
      </p:pic>
      <p:pic>
        <p:nvPicPr>
          <p:cNvPr id="19461" name="Picture 5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76888" y="2133600"/>
            <a:ext cx="900112" cy="927100"/>
          </a:xfrm>
          <a:prstGeom prst="rect">
            <a:avLst/>
          </a:prstGeom>
          <a:noFill/>
        </p:spPr>
      </p:pic>
      <p:pic>
        <p:nvPicPr>
          <p:cNvPr id="19462" name="Picture 6" descr="PL4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44600" y="2133600"/>
            <a:ext cx="1041400" cy="96996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463" name="Text Box 7"/>
              <p:cNvSpPr txBox="1">
                <a:spLocks noChangeArrowheads="1"/>
              </p:cNvSpPr>
              <p:nvPr/>
            </p:nvSpPr>
            <p:spPr bwMode="auto">
              <a:xfrm>
                <a:off x="711200" y="20574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63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200" y="2057400"/>
                <a:ext cx="58702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4" name="Text Box 8"/>
              <p:cNvSpPr txBox="1">
                <a:spLocks noChangeArrowheads="1"/>
              </p:cNvSpPr>
              <p:nvPr/>
            </p:nvSpPr>
            <p:spPr bwMode="auto">
              <a:xfrm>
                <a:off x="5043488" y="2057400"/>
                <a:ext cx="5000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6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3488" y="2057400"/>
                <a:ext cx="500062" cy="457200"/>
              </a:xfrm>
              <a:prstGeom prst="rect">
                <a:avLst/>
              </a:prstGeom>
              <a:blipFill rotWithShape="0">
                <a:blip r:embed="rId7"/>
                <a:stretch>
                  <a:fillRect l="-2439"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5" name="Text Box 9"/>
              <p:cNvSpPr txBox="1">
                <a:spLocks noChangeArrowheads="1"/>
              </p:cNvSpPr>
              <p:nvPr/>
            </p:nvSpPr>
            <p:spPr bwMode="auto">
              <a:xfrm>
                <a:off x="2903538" y="20383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6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3538" y="2038350"/>
                <a:ext cx="58702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6" name="Rectangle 10"/>
              <p:cNvSpPr>
                <a:spLocks noChangeArrowheads="1"/>
              </p:cNvSpPr>
              <p:nvPr/>
            </p:nvSpPr>
            <p:spPr bwMode="auto">
              <a:xfrm>
                <a:off x="5043488" y="26670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66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3488" y="2667000"/>
                <a:ext cx="914400" cy="457200"/>
              </a:xfrm>
              <a:prstGeom prst="rect">
                <a:avLst/>
              </a:prstGeom>
              <a:blipFill rotWithShape="0">
                <a:blip r:embed="rId9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7" name="Rectangle 11"/>
              <p:cNvSpPr>
                <a:spLocks noChangeArrowheads="1"/>
              </p:cNvSpPr>
              <p:nvPr/>
            </p:nvSpPr>
            <p:spPr bwMode="auto">
              <a:xfrm>
                <a:off x="635000" y="26670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67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000" y="2667000"/>
                <a:ext cx="914400" cy="457200"/>
              </a:xfrm>
              <a:prstGeom prst="rect">
                <a:avLst/>
              </a:prstGeom>
              <a:blipFill rotWithShape="0">
                <a:blip r:embed="rId10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68" name="Rectangle 12"/>
              <p:cNvSpPr>
                <a:spLocks noChangeArrowheads="1"/>
              </p:cNvSpPr>
              <p:nvPr/>
            </p:nvSpPr>
            <p:spPr bwMode="auto">
              <a:xfrm>
                <a:off x="2743200" y="27432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68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3200" y="2743200"/>
                <a:ext cx="914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69" name="AutoShape 13"/>
          <p:cNvCxnSpPr>
            <a:cxnSpLocks noChangeShapeType="1"/>
          </p:cNvCxnSpPr>
          <p:nvPr/>
        </p:nvCxnSpPr>
        <p:spPr bwMode="auto">
          <a:xfrm rot="5400000" flipV="1">
            <a:off x="4954588" y="1062037"/>
            <a:ext cx="1588" cy="2144713"/>
          </a:xfrm>
          <a:prstGeom prst="curvedConnector3">
            <a:avLst>
              <a:gd name="adj1" fmla="val -326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0" name="AutoShape 14"/>
          <p:cNvCxnSpPr>
            <a:cxnSpLocks noChangeShapeType="1"/>
          </p:cNvCxnSpPr>
          <p:nvPr/>
        </p:nvCxnSpPr>
        <p:spPr bwMode="auto">
          <a:xfrm rot="5400000" flipV="1">
            <a:off x="2823369" y="1075531"/>
            <a:ext cx="1588" cy="2117725"/>
          </a:xfrm>
          <a:prstGeom prst="curvedConnector3">
            <a:avLst>
              <a:gd name="adj1" fmla="val -303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1" name="AutoShape 15"/>
          <p:cNvCxnSpPr>
            <a:cxnSpLocks noChangeShapeType="1"/>
          </p:cNvCxnSpPr>
          <p:nvPr/>
        </p:nvCxnSpPr>
        <p:spPr bwMode="auto">
          <a:xfrm rot="5400000" flipH="1" flipV="1">
            <a:off x="2767806" y="1988344"/>
            <a:ext cx="112713" cy="2117725"/>
          </a:xfrm>
          <a:prstGeom prst="curvedConnector3">
            <a:avLst>
              <a:gd name="adj1" fmla="val -401412"/>
            </a:avLst>
          </a:prstGeom>
          <a:ln>
            <a:solidFill>
              <a:schemeClr val="tx1"/>
            </a:solidFill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472" name="Text Box 16"/>
              <p:cNvSpPr txBox="1">
                <a:spLocks noChangeArrowheads="1"/>
              </p:cNvSpPr>
              <p:nvPr/>
            </p:nvSpPr>
            <p:spPr bwMode="auto">
              <a:xfrm>
                <a:off x="2057400" y="14478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72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7400" y="1447800"/>
                <a:ext cx="1249363" cy="369888"/>
              </a:xfrm>
              <a:prstGeom prst="rect">
                <a:avLst/>
              </a:prstGeom>
              <a:blipFill rotWithShape="0">
                <a:blip r:embed="rId12"/>
                <a:stretch>
                  <a:fillRect l="-3865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3" name="Text Box 17"/>
              <p:cNvSpPr txBox="1">
                <a:spLocks noChangeArrowheads="1"/>
              </p:cNvSpPr>
              <p:nvPr/>
            </p:nvSpPr>
            <p:spPr bwMode="auto">
              <a:xfrm>
                <a:off x="4343400" y="14478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73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400" y="1447800"/>
                <a:ext cx="1249363" cy="369888"/>
              </a:xfrm>
              <a:prstGeom prst="rect">
                <a:avLst/>
              </a:prstGeom>
              <a:blipFill rotWithShape="0">
                <a:blip r:embed="rId13"/>
                <a:stretch>
                  <a:fillRect l="-3865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74" name="Text Box 18"/>
              <p:cNvSpPr txBox="1">
                <a:spLocks noChangeArrowheads="1"/>
              </p:cNvSpPr>
              <p:nvPr/>
            </p:nvSpPr>
            <p:spPr bwMode="auto">
              <a:xfrm>
                <a:off x="2133600" y="32766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7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3276600"/>
                <a:ext cx="1239442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3398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478" name="Picture 22" descr="PL412a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543800" y="1981200"/>
            <a:ext cx="990600" cy="9429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479" name="Text Box 23"/>
              <p:cNvSpPr txBox="1">
                <a:spLocks noChangeArrowheads="1"/>
              </p:cNvSpPr>
              <p:nvPr/>
            </p:nvSpPr>
            <p:spPr bwMode="auto">
              <a:xfrm>
                <a:off x="7010400" y="20574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79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2057400"/>
                <a:ext cx="587020" cy="461665"/>
              </a:xfrm>
              <a:prstGeom prst="rect">
                <a:avLst/>
              </a:prstGeom>
              <a:blipFill rotWithShape="0">
                <a:blip r:embed="rId16"/>
                <a:stretch>
                  <a:fillRect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0" name="Rectangle 24"/>
              <p:cNvSpPr>
                <a:spLocks noChangeArrowheads="1"/>
              </p:cNvSpPr>
              <p:nvPr/>
            </p:nvSpPr>
            <p:spPr bwMode="auto">
              <a:xfrm>
                <a:off x="7010400" y="26670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80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2667000"/>
                <a:ext cx="914400" cy="457200"/>
              </a:xfrm>
              <a:prstGeom prst="rect">
                <a:avLst/>
              </a:prstGeom>
              <a:blipFill rotWithShape="0">
                <a:blip r:embed="rId17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81" name="AutoShape 25"/>
          <p:cNvCxnSpPr>
            <a:cxnSpLocks noChangeShapeType="1"/>
          </p:cNvCxnSpPr>
          <p:nvPr/>
        </p:nvCxnSpPr>
        <p:spPr bwMode="auto">
          <a:xfrm rot="5400000" flipV="1">
            <a:off x="7088188" y="1062037"/>
            <a:ext cx="1588" cy="2144713"/>
          </a:xfrm>
          <a:prstGeom prst="curvedConnector3">
            <a:avLst>
              <a:gd name="adj1" fmla="val -326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482" name="Text Box 26"/>
              <p:cNvSpPr txBox="1">
                <a:spLocks noChangeArrowheads="1"/>
              </p:cNvSpPr>
              <p:nvPr/>
            </p:nvSpPr>
            <p:spPr bwMode="auto">
              <a:xfrm>
                <a:off x="6477000" y="14478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82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7000" y="1447800"/>
                <a:ext cx="1249363" cy="369888"/>
              </a:xfrm>
              <a:prstGeom prst="rect">
                <a:avLst/>
              </a:prstGeom>
              <a:blipFill rotWithShape="0">
                <a:blip r:embed="rId18"/>
                <a:stretch>
                  <a:fillRect l="-3865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83" name="AutoShape 27"/>
          <p:cNvCxnSpPr>
            <a:cxnSpLocks noChangeShapeType="1"/>
          </p:cNvCxnSpPr>
          <p:nvPr/>
        </p:nvCxnSpPr>
        <p:spPr bwMode="auto">
          <a:xfrm rot="5400000" flipH="1" flipV="1">
            <a:off x="3862387" y="938213"/>
            <a:ext cx="42863" cy="4262438"/>
          </a:xfrm>
          <a:prstGeom prst="curvedConnector3">
            <a:avLst>
              <a:gd name="adj1" fmla="val -3503704"/>
            </a:avLst>
          </a:prstGeom>
          <a:ln>
            <a:solidFill>
              <a:schemeClr val="tx1"/>
            </a:solidFill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484" name="Text Box 28"/>
              <p:cNvSpPr txBox="1">
                <a:spLocks noChangeArrowheads="1"/>
              </p:cNvSpPr>
              <p:nvPr/>
            </p:nvSpPr>
            <p:spPr bwMode="auto">
              <a:xfrm>
                <a:off x="3352800" y="43434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84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4343400"/>
                <a:ext cx="1239442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3398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5" name="Rectangle 29"/>
              <p:cNvSpPr>
                <a:spLocks noChangeArrowheads="1"/>
              </p:cNvSpPr>
              <p:nvPr/>
            </p:nvSpPr>
            <p:spPr bwMode="auto">
              <a:xfrm>
                <a:off x="381000" y="5105400"/>
                <a:ext cx="434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dirty="0"/>
                  <a:t> certifies that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dirty="0"/>
                  <a:t> is a public key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85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5105400"/>
                <a:ext cx="4343400" cy="457200"/>
              </a:xfrm>
              <a:prstGeom prst="rect">
                <a:avLst/>
              </a:prstGeom>
              <a:blipFill rotWithShape="0">
                <a:blip r:embed="rId20"/>
                <a:stretch>
                  <a:fillRect b="-641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6" name="Rectangle 30"/>
              <p:cNvSpPr>
                <a:spLocks noChangeArrowheads="1"/>
              </p:cNvSpPr>
              <p:nvPr/>
            </p:nvSpPr>
            <p:spPr bwMode="auto">
              <a:xfrm>
                <a:off x="4724400" y="5105400"/>
                <a:ext cx="1752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r>
                  <a:rPr lang="en-GB" dirty="0"/>
                  <a:t>signature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86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5105400"/>
                <a:ext cx="1752600" cy="457200"/>
              </a:xfrm>
              <a:prstGeom prst="rect">
                <a:avLst/>
              </a:prstGeom>
              <a:blipFill rotWithShape="0">
                <a:blip r:embed="rId21"/>
                <a:stretch>
                  <a:fillRect l="-2414"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7" name="Rectangle 31"/>
              <p:cNvSpPr>
                <a:spLocks noChangeArrowheads="1"/>
              </p:cNvSpPr>
              <p:nvPr/>
            </p:nvSpPr>
            <p:spPr bwMode="auto">
              <a:xfrm>
                <a:off x="381000" y="5638800"/>
                <a:ext cx="434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dirty="0"/>
                  <a:t> certifies that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 public key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87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5638800"/>
                <a:ext cx="4343400" cy="457200"/>
              </a:xfrm>
              <a:prstGeom prst="rect">
                <a:avLst/>
              </a:prstGeom>
              <a:blipFill rotWithShape="0">
                <a:blip r:embed="rId22"/>
                <a:stretch>
                  <a:fillRect b="-641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8" name="Rectangle 32"/>
              <p:cNvSpPr>
                <a:spLocks noChangeArrowheads="1"/>
              </p:cNvSpPr>
              <p:nvPr/>
            </p:nvSpPr>
            <p:spPr bwMode="auto">
              <a:xfrm>
                <a:off x="4724400" y="5638800"/>
                <a:ext cx="1752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r>
                  <a:rPr lang="en-GB" dirty="0"/>
                  <a:t>signature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88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5638800"/>
                <a:ext cx="1752600" cy="457200"/>
              </a:xfrm>
              <a:prstGeom prst="rect">
                <a:avLst/>
              </a:prstGeom>
              <a:blipFill rotWithShape="0">
                <a:blip r:embed="rId23"/>
                <a:stretch>
                  <a:fillRect l="-2414"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89" name="AutoShape 33"/>
          <p:cNvSpPr>
            <a:spLocks/>
          </p:cNvSpPr>
          <p:nvPr/>
        </p:nvSpPr>
        <p:spPr bwMode="auto">
          <a:xfrm>
            <a:off x="6477000" y="4953000"/>
            <a:ext cx="381000" cy="1219200"/>
          </a:xfrm>
          <a:prstGeom prst="rightBrace">
            <a:avLst>
              <a:gd name="adj1" fmla="val 2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90" name="Text Box 34"/>
              <p:cNvSpPr txBox="1">
                <a:spLocks noChangeArrowheads="1"/>
              </p:cNvSpPr>
              <p:nvPr/>
            </p:nvSpPr>
            <p:spPr bwMode="auto">
              <a:xfrm>
                <a:off x="7086600" y="5105400"/>
                <a:ext cx="1844675" cy="9191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dirty="0"/>
                  <a:t> believes</a:t>
                </a:r>
                <a:br>
                  <a:rPr lang="en-GB" dirty="0"/>
                </a:br>
                <a:r>
                  <a:rPr lang="en-GB" dirty="0"/>
                  <a:t>that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dirty="0"/>
                  <a:t> is a public key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490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6600" y="5105400"/>
                <a:ext cx="1844675" cy="919163"/>
              </a:xfrm>
              <a:prstGeom prst="rect">
                <a:avLst/>
              </a:prstGeom>
              <a:blipFill rotWithShape="0">
                <a:blip r:embed="rId24"/>
                <a:stretch>
                  <a:fillRect l="-2632" t="-3947" b="-855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91" name="AutoShape 35"/>
          <p:cNvCxnSpPr>
            <a:cxnSpLocks noChangeShapeType="1"/>
            <a:stCxn id="19489" idx="1"/>
            <a:endCxn id="19490" idx="1"/>
          </p:cNvCxnSpPr>
          <p:nvPr/>
        </p:nvCxnSpPr>
        <p:spPr bwMode="auto">
          <a:xfrm>
            <a:off x="6858000" y="5562600"/>
            <a:ext cx="2286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5024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2" grpId="0" animBg="1"/>
      <p:bldP spid="19473" grpId="0" animBg="1"/>
      <p:bldP spid="19474" grpId="0" animBg="1"/>
      <p:bldP spid="19482" grpId="0" animBg="1"/>
      <p:bldP spid="19484" grpId="0" animBg="1"/>
      <p:bldP spid="19485" grpId="0" animBg="1"/>
      <p:bldP spid="19486" grpId="0" animBg="1"/>
      <p:bldP spid="19487" grpId="0" animBg="1"/>
      <p:bldP spid="19488" grpId="0" animBg="1"/>
      <p:bldP spid="19489" grpId="0" animBg="1"/>
      <p:bldP spid="1949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5" descr="PL414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1024" y="1071546"/>
            <a:ext cx="973138" cy="1011238"/>
          </a:xfrm>
          <a:prstGeom prst="rect">
            <a:avLst/>
          </a:prstGeom>
          <a:noFill/>
        </p:spPr>
      </p:pic>
      <p:pic>
        <p:nvPicPr>
          <p:cNvPr id="20482" name="Picture 2" descr="PL416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74938" y="1219200"/>
            <a:ext cx="1058862" cy="857250"/>
          </a:xfrm>
          <a:prstGeom prst="rect">
            <a:avLst/>
          </a:prstGeom>
          <a:noFill/>
        </p:spPr>
      </p:pic>
      <p:pic>
        <p:nvPicPr>
          <p:cNvPr id="20483" name="Picture 3" descr="PL413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5800" y="1219200"/>
            <a:ext cx="900113" cy="927100"/>
          </a:xfrm>
          <a:prstGeom prst="rect">
            <a:avLst/>
          </a:prstGeom>
          <a:noFill/>
        </p:spPr>
      </p:pic>
      <p:pic>
        <p:nvPicPr>
          <p:cNvPr id="20484" name="Picture 4" descr="PL415a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2000" y="1219200"/>
            <a:ext cx="1041400" cy="96996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485" name="Text Box 5"/>
              <p:cNvSpPr txBox="1">
                <a:spLocks noChangeArrowheads="1"/>
              </p:cNvSpPr>
              <p:nvPr/>
            </p:nvSpPr>
            <p:spPr bwMode="auto">
              <a:xfrm>
                <a:off x="228600" y="11430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8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143000"/>
                <a:ext cx="587020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6" name="Text Box 6"/>
              <p:cNvSpPr txBox="1">
                <a:spLocks noChangeArrowheads="1"/>
              </p:cNvSpPr>
              <p:nvPr/>
            </p:nvSpPr>
            <p:spPr bwMode="auto">
              <a:xfrm>
                <a:off x="3962400" y="1143000"/>
                <a:ext cx="50006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8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1143000"/>
                <a:ext cx="500063" cy="457200"/>
              </a:xfrm>
              <a:prstGeom prst="rect">
                <a:avLst/>
              </a:prstGeom>
              <a:blipFill rotWithShape="0">
                <a:blip r:embed="rId8"/>
                <a:stretch>
                  <a:fillRect l="-2439"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7" name="Text Box 7"/>
              <p:cNvSpPr txBox="1">
                <a:spLocks noChangeArrowheads="1"/>
              </p:cNvSpPr>
              <p:nvPr/>
            </p:nvSpPr>
            <p:spPr bwMode="auto">
              <a:xfrm>
                <a:off x="2225675" y="11239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87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5675" y="1123950"/>
                <a:ext cx="587020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8" name="Rectangle 8"/>
              <p:cNvSpPr>
                <a:spLocks noChangeArrowheads="1"/>
              </p:cNvSpPr>
              <p:nvPr/>
            </p:nvSpPr>
            <p:spPr bwMode="auto">
              <a:xfrm>
                <a:off x="3962400" y="17526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88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1752600"/>
                <a:ext cx="914400" cy="457200"/>
              </a:xfrm>
              <a:prstGeom prst="rect">
                <a:avLst/>
              </a:prstGeom>
              <a:blipFill rotWithShape="0">
                <a:blip r:embed="rId10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9" name="Rectangle 9"/>
              <p:cNvSpPr>
                <a:spLocks noChangeArrowheads="1"/>
              </p:cNvSpPr>
              <p:nvPr/>
            </p:nvSpPr>
            <p:spPr bwMode="auto">
              <a:xfrm>
                <a:off x="152400" y="17526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89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752600"/>
                <a:ext cx="914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90" name="Rectangle 10"/>
              <p:cNvSpPr>
                <a:spLocks noChangeArrowheads="1"/>
              </p:cNvSpPr>
              <p:nvPr/>
            </p:nvSpPr>
            <p:spPr bwMode="auto">
              <a:xfrm>
                <a:off x="2065338" y="17526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90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5338" y="1752600"/>
                <a:ext cx="914400" cy="457200"/>
              </a:xfrm>
              <a:prstGeom prst="rect">
                <a:avLst/>
              </a:prstGeom>
              <a:blipFill rotWithShape="0">
                <a:blip r:embed="rId12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91" name="AutoShape 11"/>
          <p:cNvCxnSpPr>
            <a:cxnSpLocks noChangeShapeType="1"/>
          </p:cNvCxnSpPr>
          <p:nvPr/>
        </p:nvCxnSpPr>
        <p:spPr bwMode="auto">
          <a:xfrm rot="5400000" flipV="1">
            <a:off x="4075113" y="349250"/>
            <a:ext cx="1588" cy="1741487"/>
          </a:xfrm>
          <a:prstGeom prst="curvedConnector3">
            <a:avLst>
              <a:gd name="adj1" fmla="val -252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492" name="AutoShape 12"/>
          <p:cNvCxnSpPr>
            <a:cxnSpLocks noChangeShapeType="1"/>
          </p:cNvCxnSpPr>
          <p:nvPr/>
        </p:nvCxnSpPr>
        <p:spPr bwMode="auto">
          <a:xfrm rot="5400000" flipV="1">
            <a:off x="2243138" y="258762"/>
            <a:ext cx="1588" cy="1922463"/>
          </a:xfrm>
          <a:prstGeom prst="curvedConnector3">
            <a:avLst>
              <a:gd name="adj1" fmla="val -260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493" name="AutoShape 13"/>
          <p:cNvCxnSpPr>
            <a:cxnSpLocks noChangeShapeType="1"/>
          </p:cNvCxnSpPr>
          <p:nvPr/>
        </p:nvCxnSpPr>
        <p:spPr bwMode="auto">
          <a:xfrm rot="5400000" flipH="1" flipV="1">
            <a:off x="2234407" y="1181100"/>
            <a:ext cx="112713" cy="1922463"/>
          </a:xfrm>
          <a:prstGeom prst="curvedConnector3">
            <a:avLst>
              <a:gd name="adj1" fmla="val -201407"/>
            </a:avLst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494" name="Text Box 14"/>
              <p:cNvSpPr txBox="1">
                <a:spLocks noChangeArrowheads="1"/>
              </p:cNvSpPr>
              <p:nvPr/>
            </p:nvSpPr>
            <p:spPr bwMode="auto">
              <a:xfrm>
                <a:off x="1574800" y="5334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94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4800" y="533400"/>
                <a:ext cx="1249363" cy="369888"/>
              </a:xfrm>
              <a:prstGeom prst="rect">
                <a:avLst/>
              </a:prstGeom>
              <a:blipFill rotWithShape="0">
                <a:blip r:embed="rId13"/>
                <a:stretch>
                  <a:fillRect l="-3365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95" name="Text Box 15"/>
              <p:cNvSpPr txBox="1">
                <a:spLocks noChangeArrowheads="1"/>
              </p:cNvSpPr>
              <p:nvPr/>
            </p:nvSpPr>
            <p:spPr bwMode="auto">
              <a:xfrm>
                <a:off x="3352800" y="5334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9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533400"/>
                <a:ext cx="1249363" cy="369888"/>
              </a:xfrm>
              <a:prstGeom prst="rect">
                <a:avLst/>
              </a:prstGeom>
              <a:blipFill rotWithShape="0">
                <a:blip r:embed="rId14"/>
                <a:stretch>
                  <a:fillRect l="-3365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96" name="Text Box 16"/>
              <p:cNvSpPr txBox="1">
                <a:spLocks noChangeArrowheads="1"/>
              </p:cNvSpPr>
              <p:nvPr/>
            </p:nvSpPr>
            <p:spPr bwMode="auto">
              <a:xfrm>
                <a:off x="1524000" y="23622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96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2362200"/>
                <a:ext cx="1239442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3398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497" name="Picture 17" descr="PL412a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248400" y="1143000"/>
            <a:ext cx="990600" cy="9429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498" name="Text Box 18"/>
              <p:cNvSpPr txBox="1">
                <a:spLocks noChangeArrowheads="1"/>
              </p:cNvSpPr>
              <p:nvPr/>
            </p:nvSpPr>
            <p:spPr bwMode="auto">
              <a:xfrm>
                <a:off x="5715000" y="11430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98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0" y="1143000"/>
                <a:ext cx="587020" cy="461665"/>
              </a:xfrm>
              <a:prstGeom prst="rect">
                <a:avLst/>
              </a:prstGeom>
              <a:blipFill rotWithShape="0">
                <a:blip r:embed="rId17"/>
                <a:stretch>
                  <a:fillRect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99" name="Rectangle 19"/>
              <p:cNvSpPr>
                <a:spLocks noChangeArrowheads="1"/>
              </p:cNvSpPr>
              <p:nvPr/>
            </p:nvSpPr>
            <p:spPr bwMode="auto">
              <a:xfrm>
                <a:off x="5715000" y="17526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499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0" y="1752600"/>
                <a:ext cx="914400" cy="457200"/>
              </a:xfrm>
              <a:prstGeom prst="rect">
                <a:avLst/>
              </a:prstGeom>
              <a:blipFill rotWithShape="0">
                <a:blip r:embed="rId18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04" name="Rectangle 24"/>
              <p:cNvSpPr>
                <a:spLocks noChangeArrowheads="1"/>
              </p:cNvSpPr>
              <p:nvPr/>
            </p:nvSpPr>
            <p:spPr bwMode="auto">
              <a:xfrm>
                <a:off x="381000" y="4953000"/>
                <a:ext cx="434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certifies that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 public key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04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4953000"/>
                <a:ext cx="4343400" cy="457200"/>
              </a:xfrm>
              <a:prstGeom prst="rect">
                <a:avLst/>
              </a:prstGeom>
              <a:blipFill rotWithShape="0">
                <a:blip r:embed="rId19"/>
                <a:stretch>
                  <a:fillRect b="-641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05" name="Rectangle 25"/>
              <p:cNvSpPr>
                <a:spLocks noChangeArrowheads="1"/>
              </p:cNvSpPr>
              <p:nvPr/>
            </p:nvSpPr>
            <p:spPr bwMode="auto">
              <a:xfrm>
                <a:off x="4724400" y="4953000"/>
                <a:ext cx="1752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r>
                  <a:rPr lang="en-GB" dirty="0"/>
                  <a:t>signature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05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4953000"/>
                <a:ext cx="1752600" cy="457200"/>
              </a:xfrm>
              <a:prstGeom prst="rect">
                <a:avLst/>
              </a:prstGeom>
              <a:blipFill rotWithShape="0">
                <a:blip r:embed="rId20"/>
                <a:stretch>
                  <a:fillRect l="-2414"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06" name="Rectangle 26"/>
              <p:cNvSpPr>
                <a:spLocks noChangeArrowheads="1"/>
              </p:cNvSpPr>
              <p:nvPr/>
            </p:nvSpPr>
            <p:spPr bwMode="auto">
              <a:xfrm>
                <a:off x="381000" y="5486400"/>
                <a:ext cx="434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dirty="0"/>
                  <a:t> certifies that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dirty="0"/>
                  <a:t> is a public key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06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5486400"/>
                <a:ext cx="4343400" cy="457200"/>
              </a:xfrm>
              <a:prstGeom prst="rect">
                <a:avLst/>
              </a:prstGeom>
              <a:blipFill rotWithShape="0">
                <a:blip r:embed="rId21"/>
                <a:stretch>
                  <a:fillRect b="-641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07" name="Rectangle 27"/>
              <p:cNvSpPr>
                <a:spLocks noChangeArrowheads="1"/>
              </p:cNvSpPr>
              <p:nvPr/>
            </p:nvSpPr>
            <p:spPr bwMode="auto">
              <a:xfrm>
                <a:off x="4724400" y="5486400"/>
                <a:ext cx="1752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r>
                  <a:rPr lang="en-GB" dirty="0"/>
                  <a:t>signature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07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5486400"/>
                <a:ext cx="1752600" cy="457200"/>
              </a:xfrm>
              <a:prstGeom prst="rect">
                <a:avLst/>
              </a:prstGeom>
              <a:blipFill rotWithShape="0">
                <a:blip r:embed="rId22"/>
                <a:stretch>
                  <a:fillRect l="-2414"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08" name="AutoShape 28"/>
          <p:cNvSpPr>
            <a:spLocks/>
          </p:cNvSpPr>
          <p:nvPr/>
        </p:nvSpPr>
        <p:spPr bwMode="auto">
          <a:xfrm>
            <a:off x="6477000" y="4800600"/>
            <a:ext cx="381000" cy="1828800"/>
          </a:xfrm>
          <a:prstGeom prst="rightBrace">
            <a:avLst>
              <a:gd name="adj1" fmla="val 4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9" name="Text Box 29"/>
              <p:cNvSpPr txBox="1">
                <a:spLocks noChangeArrowheads="1"/>
              </p:cNvSpPr>
              <p:nvPr/>
            </p:nvSpPr>
            <p:spPr bwMode="auto">
              <a:xfrm>
                <a:off x="7086600" y="5257800"/>
                <a:ext cx="1844675" cy="9191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believes</a:t>
                </a:r>
                <a:br>
                  <a:rPr lang="en-GB" dirty="0"/>
                </a:br>
                <a:r>
                  <a:rPr lang="en-GB" dirty="0"/>
                  <a:t>that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GB" dirty="0"/>
                  <a:t> is a public key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09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6600" y="5257800"/>
                <a:ext cx="1844675" cy="919163"/>
              </a:xfrm>
              <a:prstGeom prst="rect">
                <a:avLst/>
              </a:prstGeom>
              <a:blipFill rotWithShape="0">
                <a:blip r:embed="rId23"/>
                <a:stretch>
                  <a:fillRect l="-2632" t="-3947" b="-855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10" name="AutoShape 30"/>
          <p:cNvCxnSpPr>
            <a:cxnSpLocks noChangeShapeType="1"/>
            <a:stCxn id="20508" idx="1"/>
            <a:endCxn id="20509" idx="1"/>
          </p:cNvCxnSpPr>
          <p:nvPr/>
        </p:nvCxnSpPr>
        <p:spPr bwMode="auto">
          <a:xfrm>
            <a:off x="6858000" y="5715000"/>
            <a:ext cx="2286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511" name="AutoShape 31"/>
          <p:cNvCxnSpPr>
            <a:cxnSpLocks noChangeShapeType="1"/>
          </p:cNvCxnSpPr>
          <p:nvPr/>
        </p:nvCxnSpPr>
        <p:spPr bwMode="auto">
          <a:xfrm rot="5400000" flipH="1" flipV="1">
            <a:off x="3093243" y="335757"/>
            <a:ext cx="42863" cy="3663950"/>
          </a:xfrm>
          <a:prstGeom prst="curvedConnector3">
            <a:avLst>
              <a:gd name="adj1" fmla="val -2544444"/>
            </a:avLst>
          </a:prstGeom>
          <a:ln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03" name="Text Box 23"/>
              <p:cNvSpPr txBox="1">
                <a:spLocks noChangeArrowheads="1"/>
              </p:cNvSpPr>
              <p:nvPr/>
            </p:nvSpPr>
            <p:spPr bwMode="auto">
              <a:xfrm>
                <a:off x="2667000" y="31242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03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3124200"/>
                <a:ext cx="1239442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3883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12" name="AutoShape 32"/>
          <p:cNvCxnSpPr>
            <a:cxnSpLocks noChangeShapeType="1"/>
          </p:cNvCxnSpPr>
          <p:nvPr/>
        </p:nvCxnSpPr>
        <p:spPr bwMode="auto">
          <a:xfrm rot="16200000">
            <a:off x="5807075" y="282575"/>
            <a:ext cx="76200" cy="1797050"/>
          </a:xfrm>
          <a:prstGeom prst="curvedConnector3">
            <a:avLst>
              <a:gd name="adj1" fmla="val 55624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01" name="Text Box 21"/>
              <p:cNvSpPr txBox="1">
                <a:spLocks noChangeArrowheads="1"/>
              </p:cNvSpPr>
              <p:nvPr/>
            </p:nvSpPr>
            <p:spPr bwMode="auto">
              <a:xfrm>
                <a:off x="5257800" y="5334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01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533400"/>
                <a:ext cx="1249363" cy="369888"/>
              </a:xfrm>
              <a:prstGeom prst="rect">
                <a:avLst/>
              </a:prstGeom>
              <a:blipFill rotWithShape="0">
                <a:blip r:embed="rId25"/>
                <a:stretch>
                  <a:fillRect l="-3865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4" name="Text Box 34"/>
              <p:cNvSpPr txBox="1">
                <a:spLocks noChangeArrowheads="1"/>
              </p:cNvSpPr>
              <p:nvPr/>
            </p:nvSpPr>
            <p:spPr bwMode="auto">
              <a:xfrm>
                <a:off x="7467600" y="11430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14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7600" y="1143000"/>
                <a:ext cx="587020" cy="461665"/>
              </a:xfrm>
              <a:prstGeom prst="rect">
                <a:avLst/>
              </a:prstGeom>
              <a:blipFill rotWithShape="0">
                <a:blip r:embed="rId26"/>
                <a:stretch>
                  <a:fillRect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5" name="Rectangle 35"/>
              <p:cNvSpPr>
                <a:spLocks noChangeArrowheads="1"/>
              </p:cNvSpPr>
              <p:nvPr/>
            </p:nvSpPr>
            <p:spPr bwMode="auto">
              <a:xfrm>
                <a:off x="7467600" y="17526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15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7600" y="1752600"/>
                <a:ext cx="914400" cy="457200"/>
              </a:xfrm>
              <a:prstGeom prst="rect">
                <a:avLst/>
              </a:prstGeom>
              <a:blipFill rotWithShape="0">
                <a:blip r:embed="rId27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16" name="AutoShape 36"/>
          <p:cNvCxnSpPr>
            <a:cxnSpLocks noChangeShapeType="1"/>
          </p:cNvCxnSpPr>
          <p:nvPr/>
        </p:nvCxnSpPr>
        <p:spPr bwMode="auto">
          <a:xfrm rot="5400000" flipH="1" flipV="1">
            <a:off x="3961606" y="-592931"/>
            <a:ext cx="103188" cy="5461000"/>
          </a:xfrm>
          <a:prstGeom prst="curvedConnector3">
            <a:avLst>
              <a:gd name="adj1" fmla="val -1916926"/>
            </a:avLst>
          </a:prstGeom>
          <a:ln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17" name="Text Box 37"/>
              <p:cNvSpPr txBox="1">
                <a:spLocks noChangeArrowheads="1"/>
              </p:cNvSpPr>
              <p:nvPr/>
            </p:nvSpPr>
            <p:spPr bwMode="auto">
              <a:xfrm>
                <a:off x="3505200" y="39624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17" name="Text 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3962400"/>
                <a:ext cx="1239442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3398" t="-7813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8" name="Rectangle 38"/>
              <p:cNvSpPr>
                <a:spLocks noChangeArrowheads="1"/>
              </p:cNvSpPr>
              <p:nvPr/>
            </p:nvSpPr>
            <p:spPr bwMode="auto">
              <a:xfrm>
                <a:off x="381000" y="6019800"/>
                <a:ext cx="4343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certifies that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GB" dirty="0"/>
                  <a:t> is a public key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18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6019800"/>
                <a:ext cx="4343400" cy="457200"/>
              </a:xfrm>
              <a:prstGeom prst="rect">
                <a:avLst/>
              </a:prstGeom>
              <a:blipFill rotWithShape="0">
                <a:blip r:embed="rId29"/>
                <a:stretch>
                  <a:fillRect b="-641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19" name="Rectangle 39"/>
              <p:cNvSpPr>
                <a:spLocks noChangeArrowheads="1"/>
              </p:cNvSpPr>
              <p:nvPr/>
            </p:nvSpPr>
            <p:spPr bwMode="auto">
              <a:xfrm>
                <a:off x="4724400" y="6019800"/>
                <a:ext cx="17526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r>
                  <a:rPr lang="en-GB" dirty="0"/>
                  <a:t>signature of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19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6019800"/>
                <a:ext cx="1752600" cy="457200"/>
              </a:xfrm>
              <a:prstGeom prst="rect">
                <a:avLst/>
              </a:prstGeom>
              <a:blipFill rotWithShape="0">
                <a:blip r:embed="rId30"/>
                <a:stretch>
                  <a:fillRect l="-2414"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20" name="Rectangle 40"/>
          <p:cNvSpPr>
            <a:spLocks noChangeArrowheads="1"/>
          </p:cNvSpPr>
          <p:nvPr/>
        </p:nvSpPr>
        <p:spPr bwMode="auto">
          <a:xfrm>
            <a:off x="6629400" y="3200400"/>
            <a:ext cx="2057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GB" dirty="0"/>
              <a:t>This is called a</a:t>
            </a:r>
            <a:br>
              <a:rPr lang="en-GB" dirty="0"/>
            </a:br>
            <a:r>
              <a:rPr lang="en-GB" b="1" dirty="0">
                <a:solidFill>
                  <a:srgbClr val="0070C0"/>
                </a:solidFill>
              </a:rPr>
              <a:t>certificate chain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0521" name="Line 41"/>
          <p:cNvSpPr>
            <a:spLocks noChangeShapeType="1"/>
          </p:cNvSpPr>
          <p:nvPr/>
        </p:nvSpPr>
        <p:spPr bwMode="auto">
          <a:xfrm flipH="1">
            <a:off x="5715000" y="4114800"/>
            <a:ext cx="914400" cy="609600"/>
          </a:xfrm>
          <a:prstGeom prst="line">
            <a:avLst/>
          </a:prstGeom>
          <a:noFill/>
          <a:ln w="76200">
            <a:solidFill>
              <a:srgbClr val="DE3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20522" name="AutoShape 42"/>
          <p:cNvCxnSpPr>
            <a:cxnSpLocks noChangeShapeType="1"/>
          </p:cNvCxnSpPr>
          <p:nvPr/>
        </p:nvCxnSpPr>
        <p:spPr bwMode="auto">
          <a:xfrm rot="16200000">
            <a:off x="7566025" y="206375"/>
            <a:ext cx="76200" cy="1797050"/>
          </a:xfrm>
          <a:prstGeom prst="curvedConnector3">
            <a:avLst>
              <a:gd name="adj1" fmla="val 55624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23" name="Text Box 43"/>
              <p:cNvSpPr txBox="1">
                <a:spLocks noChangeArrowheads="1"/>
              </p:cNvSpPr>
              <p:nvPr/>
            </p:nvSpPr>
            <p:spPr bwMode="auto">
              <a:xfrm>
                <a:off x="7010400" y="5334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523" name="Text 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533400"/>
                <a:ext cx="1249363" cy="369888"/>
              </a:xfrm>
              <a:prstGeom prst="rect">
                <a:avLst/>
              </a:prstGeom>
              <a:blipFill rotWithShape="0">
                <a:blip r:embed="rId31"/>
                <a:stretch>
                  <a:fillRect l="-3365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24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4" grpId="0" animBg="1"/>
      <p:bldP spid="20505" grpId="0" animBg="1"/>
      <p:bldP spid="20506" grpId="0" animBg="1"/>
      <p:bldP spid="20507" grpId="0" animBg="1"/>
      <p:bldP spid="20508" grpId="0" animBg="1"/>
      <p:bldP spid="20509" grpId="0" animBg="1"/>
      <p:bldP spid="20518" grpId="0" animBg="1"/>
      <p:bldP spid="20519" grpId="0" animBg="1"/>
      <p:bldP spid="20520" grpId="0" animBg="1"/>
      <p:bldP spid="205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GB"/>
              <a:t>A problem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4724400"/>
                <a:ext cx="8229600" cy="1401763"/>
              </a:xfrm>
            </p:spPr>
            <p:txBody>
              <a:bodyPr/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800" dirty="0"/>
                  <a:t>What if </a:t>
                </a:r>
                <a14:m>
                  <m:oMath xmlns:m="http://schemas.openxmlformats.org/officeDocument/2006/math">
                    <m:r>
                      <a:rPr lang="pl-PL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pl-PL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does not know</a:t>
                </a:r>
                <a:r>
                  <a:rPr lang="en-GB" sz="2800" b="1" dirty="0"/>
                  <a:t>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sz="2800" dirty="0"/>
                  <a:t>?</a:t>
                </a:r>
                <a:endParaRPr lang="en-US" sz="28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800" dirty="0"/>
                  <a:t>How can he trust him?</a:t>
                </a:r>
              </a:p>
              <a:p>
                <a:pPr algn="r">
                  <a:lnSpc>
                    <a:spcPct val="80000"/>
                  </a:lnSpc>
                  <a:buFontTx/>
                  <a:buNone/>
                </a:pPr>
                <a:r>
                  <a:rPr lang="en-GB" sz="2800" b="1" dirty="0">
                    <a:solidFill>
                      <a:srgbClr val="7030A0"/>
                    </a:solidFill>
                  </a:rPr>
                  <a:t>Answer</a:t>
                </a:r>
                <a:r>
                  <a:rPr lang="en-GB" sz="2800" dirty="0"/>
                  <a:t>: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2800" dirty="0"/>
                  <a:t> can </a:t>
                </a:r>
                <a:r>
                  <a:rPr lang="en-GB" sz="2800" b="1" dirty="0">
                    <a:solidFill>
                      <a:srgbClr val="0070C0"/>
                    </a:solidFill>
                  </a:rPr>
                  <a:t>recommend</a:t>
                </a:r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sz="2800" dirty="0"/>
                  <a:t> to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2800" dirty="0"/>
                  <a:t>.</a:t>
                </a:r>
                <a:endParaRPr lang="en-US" sz="2800" dirty="0"/>
              </a:p>
            </p:txBody>
          </p:sp>
        </mc:Choice>
        <mc:Fallback xmlns="">
          <p:sp>
            <p:nvSpPr>
              <p:cNvPr id="215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4724400"/>
                <a:ext cx="8229600" cy="1401763"/>
              </a:xfrm>
              <a:blipFill rotWithShape="0">
                <a:blip r:embed="rId3"/>
                <a:stretch>
                  <a:fillRect l="-1481" t="-10435" r="-1481" b="-95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508" name="Picture 4" descr="PL416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2800" y="1905000"/>
            <a:ext cx="1058863" cy="857250"/>
          </a:xfrm>
          <a:prstGeom prst="rect">
            <a:avLst/>
          </a:prstGeom>
          <a:noFill/>
        </p:spPr>
      </p:pic>
      <p:pic>
        <p:nvPicPr>
          <p:cNvPr id="21509" name="Picture 5" descr="PL413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76888" y="1905000"/>
            <a:ext cx="900112" cy="927100"/>
          </a:xfrm>
          <a:prstGeom prst="rect">
            <a:avLst/>
          </a:prstGeom>
          <a:noFill/>
        </p:spPr>
      </p:pic>
      <p:pic>
        <p:nvPicPr>
          <p:cNvPr id="21510" name="Picture 6" descr="PL415a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44600" y="1905000"/>
            <a:ext cx="1041400" cy="96996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511" name="Text Box 7"/>
              <p:cNvSpPr txBox="1">
                <a:spLocks noChangeArrowheads="1"/>
              </p:cNvSpPr>
              <p:nvPr/>
            </p:nvSpPr>
            <p:spPr bwMode="auto">
              <a:xfrm>
                <a:off x="711200" y="18288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11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1200" y="1828800"/>
                <a:ext cx="587020" cy="461665"/>
              </a:xfrm>
              <a:prstGeom prst="rect">
                <a:avLst/>
              </a:prstGeom>
              <a:blipFill rotWithShape="0">
                <a:blip r:embed="rId7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2" name="Text Box 8"/>
              <p:cNvSpPr txBox="1">
                <a:spLocks noChangeArrowheads="1"/>
              </p:cNvSpPr>
              <p:nvPr/>
            </p:nvSpPr>
            <p:spPr bwMode="auto">
              <a:xfrm>
                <a:off x="5043488" y="1828800"/>
                <a:ext cx="5000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1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3488" y="1828800"/>
                <a:ext cx="500062" cy="457200"/>
              </a:xfrm>
              <a:prstGeom prst="rect">
                <a:avLst/>
              </a:prstGeom>
              <a:blipFill rotWithShape="0">
                <a:blip r:embed="rId8"/>
                <a:stretch>
                  <a:fillRect l="-2439"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3" name="Text Box 9"/>
              <p:cNvSpPr txBox="1">
                <a:spLocks noChangeArrowheads="1"/>
              </p:cNvSpPr>
              <p:nvPr/>
            </p:nvSpPr>
            <p:spPr bwMode="auto">
              <a:xfrm>
                <a:off x="2903538" y="18097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1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3538" y="1809750"/>
                <a:ext cx="587020" cy="461665"/>
              </a:xfrm>
              <a:prstGeom prst="rect">
                <a:avLst/>
              </a:prstGeom>
              <a:blipFill rotWithShape="0">
                <a:blip r:embed="rId9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4" name="Rectangle 10"/>
              <p:cNvSpPr>
                <a:spLocks noChangeArrowheads="1"/>
              </p:cNvSpPr>
              <p:nvPr/>
            </p:nvSpPr>
            <p:spPr bwMode="auto">
              <a:xfrm>
                <a:off x="5043488" y="24384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14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3488" y="2438400"/>
                <a:ext cx="914400" cy="457200"/>
              </a:xfrm>
              <a:prstGeom prst="rect">
                <a:avLst/>
              </a:prstGeom>
              <a:blipFill rotWithShape="0">
                <a:blip r:embed="rId10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5" name="Rectangle 11"/>
              <p:cNvSpPr>
                <a:spLocks noChangeArrowheads="1"/>
              </p:cNvSpPr>
              <p:nvPr/>
            </p:nvSpPr>
            <p:spPr bwMode="auto">
              <a:xfrm>
                <a:off x="635000" y="24384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15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000" y="2438400"/>
                <a:ext cx="914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6" name="Rectangle 12"/>
              <p:cNvSpPr>
                <a:spLocks noChangeArrowheads="1"/>
              </p:cNvSpPr>
              <p:nvPr/>
            </p:nvSpPr>
            <p:spPr bwMode="auto">
              <a:xfrm>
                <a:off x="2743200" y="25146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16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3200" y="2514600"/>
                <a:ext cx="914400" cy="457200"/>
              </a:xfrm>
              <a:prstGeom prst="rect">
                <a:avLst/>
              </a:prstGeom>
              <a:blipFill rotWithShape="0">
                <a:blip r:embed="rId12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517" name="AutoShape 13"/>
          <p:cNvCxnSpPr>
            <a:cxnSpLocks noChangeShapeType="1"/>
          </p:cNvCxnSpPr>
          <p:nvPr/>
        </p:nvCxnSpPr>
        <p:spPr bwMode="auto">
          <a:xfrm rot="5400000" flipV="1">
            <a:off x="4954588" y="833437"/>
            <a:ext cx="1588" cy="2144713"/>
          </a:xfrm>
          <a:prstGeom prst="curvedConnector3">
            <a:avLst>
              <a:gd name="adj1" fmla="val -32600000"/>
            </a:avLst>
          </a:prstGeom>
          <a:ln>
            <a:headEnd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1518" name="AutoShape 14"/>
          <p:cNvCxnSpPr>
            <a:cxnSpLocks noChangeShapeType="1"/>
          </p:cNvCxnSpPr>
          <p:nvPr/>
        </p:nvCxnSpPr>
        <p:spPr bwMode="auto">
          <a:xfrm rot="5400000" flipV="1">
            <a:off x="2823369" y="846931"/>
            <a:ext cx="1588" cy="2117725"/>
          </a:xfrm>
          <a:prstGeom prst="curvedConnector3">
            <a:avLst>
              <a:gd name="adj1" fmla="val -30300000"/>
            </a:avLst>
          </a:prstGeom>
          <a:ln>
            <a:headEnd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21519" name="AutoShape 15"/>
          <p:cNvCxnSpPr>
            <a:cxnSpLocks noChangeShapeType="1"/>
          </p:cNvCxnSpPr>
          <p:nvPr/>
        </p:nvCxnSpPr>
        <p:spPr bwMode="auto">
          <a:xfrm rot="5400000" flipH="1" flipV="1">
            <a:off x="2767806" y="1759744"/>
            <a:ext cx="112713" cy="2117725"/>
          </a:xfrm>
          <a:prstGeom prst="curvedConnector3">
            <a:avLst>
              <a:gd name="adj1" fmla="val -401412"/>
            </a:avLst>
          </a:prstGeom>
          <a:ln>
            <a:solidFill>
              <a:schemeClr val="tx1"/>
            </a:solidFill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520" name="Text Box 16"/>
              <p:cNvSpPr txBox="1">
                <a:spLocks noChangeArrowheads="1"/>
              </p:cNvSpPr>
              <p:nvPr/>
            </p:nvSpPr>
            <p:spPr bwMode="auto">
              <a:xfrm>
                <a:off x="2057400" y="12192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20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7400" y="1219200"/>
                <a:ext cx="1249363" cy="369888"/>
              </a:xfrm>
              <a:prstGeom prst="rect">
                <a:avLst/>
              </a:prstGeom>
              <a:blipFill rotWithShape="0">
                <a:blip r:embed="rId13"/>
                <a:stretch>
                  <a:fillRect l="-3865" t="-7813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21" name="Text Box 17"/>
              <p:cNvSpPr txBox="1">
                <a:spLocks noChangeArrowheads="1"/>
              </p:cNvSpPr>
              <p:nvPr/>
            </p:nvSpPr>
            <p:spPr bwMode="auto">
              <a:xfrm>
                <a:off x="4343400" y="12192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2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400" y="1219200"/>
                <a:ext cx="1249363" cy="369888"/>
              </a:xfrm>
              <a:prstGeom prst="rect">
                <a:avLst/>
              </a:prstGeom>
              <a:blipFill rotWithShape="0">
                <a:blip r:embed="rId14"/>
                <a:stretch>
                  <a:fillRect l="-3865" t="-7813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22" name="Text Box 18"/>
              <p:cNvSpPr txBox="1">
                <a:spLocks noChangeArrowheads="1"/>
              </p:cNvSpPr>
              <p:nvPr/>
            </p:nvSpPr>
            <p:spPr bwMode="auto">
              <a:xfrm>
                <a:off x="2133600" y="30480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2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3048000"/>
                <a:ext cx="1239442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3398" t="-7813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523" name="Picture 19" descr="PL412a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543800" y="1752600"/>
            <a:ext cx="990600" cy="9429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524" name="Text Box 20"/>
              <p:cNvSpPr txBox="1">
                <a:spLocks noChangeArrowheads="1"/>
              </p:cNvSpPr>
              <p:nvPr/>
            </p:nvSpPr>
            <p:spPr bwMode="auto">
              <a:xfrm>
                <a:off x="7010400" y="18288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24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1828800"/>
                <a:ext cx="587020" cy="461665"/>
              </a:xfrm>
              <a:prstGeom prst="rect">
                <a:avLst/>
              </a:prstGeom>
              <a:blipFill rotWithShape="0">
                <a:blip r:embed="rId17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25" name="Rectangle 21"/>
              <p:cNvSpPr>
                <a:spLocks noChangeArrowheads="1"/>
              </p:cNvSpPr>
              <p:nvPr/>
            </p:nvSpPr>
            <p:spPr bwMode="auto">
              <a:xfrm>
                <a:off x="7010400" y="24384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25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0400" y="2438400"/>
                <a:ext cx="914400" cy="457200"/>
              </a:xfrm>
              <a:prstGeom prst="rect">
                <a:avLst/>
              </a:prstGeom>
              <a:blipFill rotWithShape="0">
                <a:blip r:embed="rId18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530" name="AutoShape 26"/>
          <p:cNvCxnSpPr>
            <a:cxnSpLocks noChangeShapeType="1"/>
          </p:cNvCxnSpPr>
          <p:nvPr/>
        </p:nvCxnSpPr>
        <p:spPr bwMode="auto">
          <a:xfrm rot="5400000" flipH="1" flipV="1">
            <a:off x="3875087" y="722313"/>
            <a:ext cx="42863" cy="4262438"/>
          </a:xfrm>
          <a:prstGeom prst="curvedConnector3">
            <a:avLst>
              <a:gd name="adj1" fmla="val -2670370"/>
            </a:avLst>
          </a:prstGeom>
          <a:ln>
            <a:solidFill>
              <a:schemeClr val="tx1"/>
            </a:solidFill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529" name="Text Box 25"/>
              <p:cNvSpPr txBox="1">
                <a:spLocks noChangeArrowheads="1"/>
              </p:cNvSpPr>
              <p:nvPr/>
            </p:nvSpPr>
            <p:spPr bwMode="auto">
              <a:xfrm>
                <a:off x="3352800" y="38862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29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3886200"/>
                <a:ext cx="1239442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3398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531" name="AutoShape 27"/>
          <p:cNvCxnSpPr>
            <a:cxnSpLocks noChangeShapeType="1"/>
          </p:cNvCxnSpPr>
          <p:nvPr/>
        </p:nvCxnSpPr>
        <p:spPr bwMode="auto">
          <a:xfrm rot="16200000">
            <a:off x="6957219" y="823119"/>
            <a:ext cx="152400" cy="2011362"/>
          </a:xfrm>
          <a:prstGeom prst="curvedConnector3">
            <a:avLst>
              <a:gd name="adj1" fmla="val 336454"/>
            </a:avLst>
          </a:prstGeom>
          <a:ln>
            <a:headEnd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527" name="Text Box 23"/>
              <p:cNvSpPr txBox="1">
                <a:spLocks noChangeArrowheads="1"/>
              </p:cNvSpPr>
              <p:nvPr/>
            </p:nvSpPr>
            <p:spPr bwMode="auto">
              <a:xfrm>
                <a:off x="6477000" y="1219200"/>
                <a:ext cx="1249363" cy="369888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knows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𝒑𝒌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527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7000" y="1219200"/>
                <a:ext cx="1249363" cy="369888"/>
              </a:xfrm>
              <a:prstGeom prst="rect">
                <a:avLst/>
              </a:prstGeom>
              <a:blipFill rotWithShape="0">
                <a:blip r:embed="rId20"/>
                <a:stretch>
                  <a:fillRect l="-3865" t="-7813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14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GB"/>
              <a:t>A question: is trust transitive?</a:t>
            </a:r>
            <a:endParaRPr lang="en-US"/>
          </a:p>
        </p:txBody>
      </p:sp>
      <p:pic>
        <p:nvPicPr>
          <p:cNvPr id="23556" name="Picture 4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81513" y="2057400"/>
            <a:ext cx="1058862" cy="857250"/>
          </a:xfrm>
          <a:prstGeom prst="rect">
            <a:avLst/>
          </a:prstGeom>
          <a:noFill/>
        </p:spPr>
      </p:pic>
      <p:pic>
        <p:nvPicPr>
          <p:cNvPr id="23557" name="Picture 5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05600" y="2057400"/>
            <a:ext cx="900113" cy="927100"/>
          </a:xfrm>
          <a:prstGeom prst="rect">
            <a:avLst/>
          </a:prstGeom>
          <a:noFill/>
        </p:spPr>
      </p:pic>
      <p:pic>
        <p:nvPicPr>
          <p:cNvPr id="23558" name="Picture 6" descr="PL4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73313" y="2057400"/>
            <a:ext cx="1041400" cy="96996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559" name="Text Box 7"/>
              <p:cNvSpPr txBox="1">
                <a:spLocks noChangeArrowheads="1"/>
              </p:cNvSpPr>
              <p:nvPr/>
            </p:nvSpPr>
            <p:spPr bwMode="auto">
              <a:xfrm>
                <a:off x="1839913" y="19812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5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9913" y="1981200"/>
                <a:ext cx="58702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0" name="Text Box 8"/>
              <p:cNvSpPr txBox="1">
                <a:spLocks noChangeArrowheads="1"/>
              </p:cNvSpPr>
              <p:nvPr/>
            </p:nvSpPr>
            <p:spPr bwMode="auto">
              <a:xfrm>
                <a:off x="6172200" y="1981200"/>
                <a:ext cx="50006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60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2200" y="1981200"/>
                <a:ext cx="500063" cy="457200"/>
              </a:xfrm>
              <a:prstGeom prst="rect">
                <a:avLst/>
              </a:prstGeom>
              <a:blipFill rotWithShape="0">
                <a:blip r:embed="rId7"/>
                <a:stretch>
                  <a:fillRect l="-3659"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1" name="Text Box 9"/>
              <p:cNvSpPr txBox="1">
                <a:spLocks noChangeArrowheads="1"/>
              </p:cNvSpPr>
              <p:nvPr/>
            </p:nvSpPr>
            <p:spPr bwMode="auto">
              <a:xfrm>
                <a:off x="4032250" y="19621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61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2250" y="1962150"/>
                <a:ext cx="58702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2" name="Rectangle 10"/>
              <p:cNvSpPr>
                <a:spLocks noChangeArrowheads="1"/>
              </p:cNvSpPr>
              <p:nvPr/>
            </p:nvSpPr>
            <p:spPr bwMode="auto">
              <a:xfrm>
                <a:off x="6172200" y="25908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62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2200" y="2590800"/>
                <a:ext cx="914400" cy="457200"/>
              </a:xfrm>
              <a:prstGeom prst="rect">
                <a:avLst/>
              </a:prstGeom>
              <a:blipFill rotWithShape="0">
                <a:blip r:embed="rId9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3" name="Rectangle 11"/>
              <p:cNvSpPr>
                <a:spLocks noChangeArrowheads="1"/>
              </p:cNvSpPr>
              <p:nvPr/>
            </p:nvSpPr>
            <p:spPr bwMode="auto">
              <a:xfrm>
                <a:off x="1763713" y="25908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63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713" y="2590800"/>
                <a:ext cx="914400" cy="457200"/>
              </a:xfrm>
              <a:prstGeom prst="rect">
                <a:avLst/>
              </a:prstGeom>
              <a:blipFill rotWithShape="0">
                <a:blip r:embed="rId10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4" name="Rectangle 12"/>
              <p:cNvSpPr>
                <a:spLocks noChangeArrowheads="1"/>
              </p:cNvSpPr>
              <p:nvPr/>
            </p:nvSpPr>
            <p:spPr bwMode="auto">
              <a:xfrm>
                <a:off x="3871913" y="26670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64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1913" y="2667000"/>
                <a:ext cx="914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567" name="AutoShape 15"/>
          <p:cNvCxnSpPr>
            <a:cxnSpLocks noChangeShapeType="1"/>
          </p:cNvCxnSpPr>
          <p:nvPr/>
        </p:nvCxnSpPr>
        <p:spPr bwMode="auto">
          <a:xfrm rot="5400000" flipH="1" flipV="1">
            <a:off x="3896519" y="1912144"/>
            <a:ext cx="112713" cy="2117725"/>
          </a:xfrm>
          <a:prstGeom prst="curvedConnector3">
            <a:avLst>
              <a:gd name="adj1" fmla="val -473241"/>
            </a:avLst>
          </a:prstGeom>
          <a:ln>
            <a:solidFill>
              <a:schemeClr val="tx1"/>
            </a:solidFill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70" name="Text Box 18"/>
              <p:cNvSpPr txBox="1">
                <a:spLocks noChangeArrowheads="1"/>
              </p:cNvSpPr>
              <p:nvPr/>
            </p:nvSpPr>
            <p:spPr bwMode="auto">
              <a:xfrm>
                <a:off x="3262313" y="32766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70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2313" y="3276600"/>
                <a:ext cx="1239442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3398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574" name="AutoShape 22"/>
          <p:cNvCxnSpPr>
            <a:cxnSpLocks noChangeShapeType="1"/>
          </p:cNvCxnSpPr>
          <p:nvPr/>
        </p:nvCxnSpPr>
        <p:spPr bwMode="auto">
          <a:xfrm rot="16200000" flipH="1">
            <a:off x="6052344" y="1858169"/>
            <a:ext cx="69850" cy="2144712"/>
          </a:xfrm>
          <a:prstGeom prst="curvedConnector3">
            <a:avLst>
              <a:gd name="adj1" fmla="val 881815"/>
            </a:avLst>
          </a:prstGeom>
          <a:ln>
            <a:solidFill>
              <a:schemeClr val="tx1"/>
            </a:solidFill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75" name="Text Box 23"/>
              <p:cNvSpPr txBox="1">
                <a:spLocks noChangeArrowheads="1"/>
              </p:cNvSpPr>
              <p:nvPr/>
            </p:nvSpPr>
            <p:spPr bwMode="auto">
              <a:xfrm>
                <a:off x="5472113" y="32766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75" name="Text 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2113" y="3276600"/>
                <a:ext cx="1239442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3883" t="-9524" b="-19048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96" name="Picture 44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70400" y="4876800"/>
            <a:ext cx="1058863" cy="857250"/>
          </a:xfrm>
          <a:prstGeom prst="rect">
            <a:avLst/>
          </a:prstGeom>
          <a:noFill/>
        </p:spPr>
      </p:pic>
      <p:pic>
        <p:nvPicPr>
          <p:cNvPr id="23597" name="Picture 45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94488" y="4876800"/>
            <a:ext cx="900112" cy="927100"/>
          </a:xfrm>
          <a:prstGeom prst="rect">
            <a:avLst/>
          </a:prstGeom>
          <a:noFill/>
        </p:spPr>
      </p:pic>
      <p:pic>
        <p:nvPicPr>
          <p:cNvPr id="23598" name="Picture 46" descr="PL4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62200" y="4876800"/>
            <a:ext cx="1041400" cy="96996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599" name="Text Box 47"/>
              <p:cNvSpPr txBox="1">
                <a:spLocks noChangeArrowheads="1"/>
              </p:cNvSpPr>
              <p:nvPr/>
            </p:nvSpPr>
            <p:spPr bwMode="auto">
              <a:xfrm>
                <a:off x="1828800" y="47815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599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8800" y="4781550"/>
                <a:ext cx="587020" cy="461665"/>
              </a:xfrm>
              <a:prstGeom prst="rect">
                <a:avLst/>
              </a:prstGeom>
              <a:blipFill rotWithShape="0">
                <a:blip r:embed="rId14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00" name="Text Box 48"/>
              <p:cNvSpPr txBox="1">
                <a:spLocks noChangeArrowheads="1"/>
              </p:cNvSpPr>
              <p:nvPr/>
            </p:nvSpPr>
            <p:spPr bwMode="auto">
              <a:xfrm>
                <a:off x="6161088" y="4781550"/>
                <a:ext cx="5000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600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1088" y="4781550"/>
                <a:ext cx="500062" cy="457200"/>
              </a:xfrm>
              <a:prstGeom prst="rect">
                <a:avLst/>
              </a:prstGeom>
              <a:blipFill rotWithShape="0">
                <a:blip r:embed="rId15"/>
                <a:stretch>
                  <a:fillRect l="-3659"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01" name="Text Box 49"/>
              <p:cNvSpPr txBox="1">
                <a:spLocks noChangeArrowheads="1"/>
              </p:cNvSpPr>
              <p:nvPr/>
            </p:nvSpPr>
            <p:spPr bwMode="auto">
              <a:xfrm>
                <a:off x="4021138" y="47815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601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21138" y="4781550"/>
                <a:ext cx="587020" cy="461665"/>
              </a:xfrm>
              <a:prstGeom prst="rect">
                <a:avLst/>
              </a:prstGeom>
              <a:blipFill rotWithShape="0">
                <a:blip r:embed="rId16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02" name="Rectangle 50"/>
          <p:cNvSpPr>
            <a:spLocks noChangeArrowheads="1"/>
          </p:cNvSpPr>
          <p:nvPr/>
        </p:nvSpPr>
        <p:spPr bwMode="auto">
          <a:xfrm>
            <a:off x="6161088" y="5410200"/>
            <a:ext cx="9144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pk</a:t>
            </a:r>
            <a:r>
              <a:rPr lang="en-US" b="1" baseline="-25000" dirty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603" name="Rectangle 51"/>
              <p:cNvSpPr>
                <a:spLocks noChangeArrowheads="1"/>
              </p:cNvSpPr>
              <p:nvPr/>
            </p:nvSpPr>
            <p:spPr bwMode="auto">
              <a:xfrm>
                <a:off x="1752600" y="54102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603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2600" y="5410200"/>
                <a:ext cx="914400" cy="457200"/>
              </a:xfrm>
              <a:prstGeom prst="rect">
                <a:avLst/>
              </a:prstGeom>
              <a:blipFill rotWithShape="0">
                <a:blip r:embed="rId17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04" name="Rectangle 52"/>
              <p:cNvSpPr>
                <a:spLocks noChangeArrowheads="1"/>
              </p:cNvSpPr>
              <p:nvPr/>
            </p:nvSpPr>
            <p:spPr bwMode="auto">
              <a:xfrm>
                <a:off x="3857448" y="54102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604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7448" y="5410200"/>
                <a:ext cx="914400" cy="457200"/>
              </a:xfrm>
              <a:prstGeom prst="rect">
                <a:avLst/>
              </a:prstGeom>
              <a:blipFill rotWithShape="0">
                <a:blip r:embed="rId18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607" name="AutoShape 55"/>
          <p:cNvCxnSpPr>
            <a:cxnSpLocks noChangeShapeType="1"/>
          </p:cNvCxnSpPr>
          <p:nvPr/>
        </p:nvCxnSpPr>
        <p:spPr bwMode="auto">
          <a:xfrm rot="5400000" flipH="1" flipV="1">
            <a:off x="4992687" y="3694113"/>
            <a:ext cx="42863" cy="4262438"/>
          </a:xfrm>
          <a:prstGeom prst="curvedConnector3">
            <a:avLst>
              <a:gd name="adj1" fmla="val -940741"/>
            </a:avLst>
          </a:prstGeom>
          <a:ln>
            <a:solidFill>
              <a:schemeClr val="tx1"/>
            </a:solidFill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610" name="Text Box 58"/>
              <p:cNvSpPr txBox="1">
                <a:spLocks noChangeArrowheads="1"/>
              </p:cNvSpPr>
              <p:nvPr/>
            </p:nvSpPr>
            <p:spPr bwMode="auto">
              <a:xfrm>
                <a:off x="4419600" y="6096000"/>
                <a:ext cx="1239442" cy="369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l"/>
                <a:r>
                  <a:rPr lang="en-GB" dirty="0"/>
                  <a:t>“trusts”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610" name="Text 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9600" y="6096000"/>
                <a:ext cx="1239442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3398" t="-7813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13" name="Text Box 61"/>
          <p:cNvSpPr txBox="1">
            <a:spLocks noChangeArrowheads="1"/>
          </p:cNvSpPr>
          <p:nvPr/>
        </p:nvSpPr>
        <p:spPr bwMode="auto">
          <a:xfrm>
            <a:off x="362148" y="1805285"/>
            <a:ext cx="10894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2400"/>
              <a:t>Does:</a:t>
            </a:r>
            <a:endParaRPr lang="en-US" sz="2400"/>
          </a:p>
        </p:txBody>
      </p:sp>
      <p:sp>
        <p:nvSpPr>
          <p:cNvPr id="23614" name="Text Box 62"/>
          <p:cNvSpPr txBox="1">
            <a:spLocks noChangeArrowheads="1"/>
          </p:cNvSpPr>
          <p:nvPr/>
        </p:nvSpPr>
        <p:spPr bwMode="auto">
          <a:xfrm>
            <a:off x="362148" y="4319885"/>
            <a:ext cx="16201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2400"/>
              <a:t>imply:</a:t>
            </a:r>
            <a:endParaRPr lang="en-US" sz="2400"/>
          </a:p>
        </p:txBody>
      </p:sp>
      <p:sp>
        <p:nvSpPr>
          <p:cNvPr id="23615" name="Text Box 63"/>
          <p:cNvSpPr txBox="1">
            <a:spLocks noChangeArrowheads="1"/>
          </p:cNvSpPr>
          <p:nvPr/>
        </p:nvSpPr>
        <p:spPr bwMode="auto">
          <a:xfrm>
            <a:off x="8305800" y="5943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62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/>
      <p:bldP spid="23560" grpId="0"/>
      <p:bldP spid="23561" grpId="0"/>
      <p:bldP spid="23562" grpId="0" animBg="1"/>
      <p:bldP spid="23563" grpId="0" animBg="1"/>
      <p:bldP spid="23564" grpId="0" animBg="1"/>
      <p:bldP spid="23570" grpId="0" animBg="1"/>
      <p:bldP spid="23575" grpId="0" animBg="1"/>
      <p:bldP spid="23599" grpId="0"/>
      <p:bldP spid="23600" grpId="0"/>
      <p:bldP spid="23601" grpId="0"/>
      <p:bldP spid="23602" grpId="0" animBg="1"/>
      <p:bldP spid="23603" grpId="0" animBg="1"/>
      <p:bldP spid="23604" grpId="0" animBg="1"/>
      <p:bldP spid="23610" grpId="0" animBg="1"/>
      <p:bldP spid="23614" grpId="0"/>
      <p:bldP spid="236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GB" sz="4000" dirty="0"/>
              <a:t>Example</a:t>
            </a:r>
            <a:endParaRPr lang="en-US" sz="4000" dirty="0"/>
          </a:p>
        </p:txBody>
      </p:sp>
      <p:pic>
        <p:nvPicPr>
          <p:cNvPr id="24580" name="Picture 4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41800" y="1600200"/>
            <a:ext cx="1058863" cy="857250"/>
          </a:xfrm>
          <a:prstGeom prst="rect">
            <a:avLst/>
          </a:prstGeom>
          <a:noFill/>
        </p:spPr>
      </p:pic>
      <p:pic>
        <p:nvPicPr>
          <p:cNvPr id="24581" name="Picture 5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65888" y="1600200"/>
            <a:ext cx="900112" cy="927100"/>
          </a:xfrm>
          <a:prstGeom prst="rect">
            <a:avLst/>
          </a:prstGeom>
          <a:noFill/>
        </p:spPr>
      </p:pic>
      <p:pic>
        <p:nvPicPr>
          <p:cNvPr id="24582" name="Picture 6" descr="PL4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33600" y="1600200"/>
            <a:ext cx="1041400" cy="96996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583" name="Text Box 7"/>
              <p:cNvSpPr txBox="1">
                <a:spLocks noChangeArrowheads="1"/>
              </p:cNvSpPr>
              <p:nvPr/>
            </p:nvSpPr>
            <p:spPr bwMode="auto">
              <a:xfrm>
                <a:off x="1600200" y="15240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583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0200" y="1524000"/>
                <a:ext cx="58702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4" name="Text Box 8"/>
              <p:cNvSpPr txBox="1">
                <a:spLocks noChangeArrowheads="1"/>
              </p:cNvSpPr>
              <p:nvPr/>
            </p:nvSpPr>
            <p:spPr bwMode="auto">
              <a:xfrm>
                <a:off x="5932488" y="1524000"/>
                <a:ext cx="5000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584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2488" y="1524000"/>
                <a:ext cx="500062" cy="457200"/>
              </a:xfrm>
              <a:prstGeom prst="rect">
                <a:avLst/>
              </a:prstGeom>
              <a:blipFill rotWithShape="0">
                <a:blip r:embed="rId7"/>
                <a:stretch>
                  <a:fillRect l="-2439"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5" name="Text Box 9"/>
              <p:cNvSpPr txBox="1">
                <a:spLocks noChangeArrowheads="1"/>
              </p:cNvSpPr>
              <p:nvPr/>
            </p:nvSpPr>
            <p:spPr bwMode="auto">
              <a:xfrm>
                <a:off x="3792538" y="15049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58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2538" y="1504950"/>
                <a:ext cx="58702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6" name="Rectangle 10"/>
              <p:cNvSpPr>
                <a:spLocks noChangeArrowheads="1"/>
              </p:cNvSpPr>
              <p:nvPr/>
            </p:nvSpPr>
            <p:spPr bwMode="auto">
              <a:xfrm>
                <a:off x="5932488" y="21336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586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2488" y="2133600"/>
                <a:ext cx="914400" cy="457200"/>
              </a:xfrm>
              <a:prstGeom prst="rect">
                <a:avLst/>
              </a:prstGeom>
              <a:blipFill rotWithShape="0">
                <a:blip r:embed="rId9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7" name="Rectangle 11"/>
              <p:cNvSpPr>
                <a:spLocks noChangeArrowheads="1"/>
              </p:cNvSpPr>
              <p:nvPr/>
            </p:nvSpPr>
            <p:spPr bwMode="auto">
              <a:xfrm>
                <a:off x="1524000" y="21336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587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2133600"/>
                <a:ext cx="914400" cy="457200"/>
              </a:xfrm>
              <a:prstGeom prst="rect">
                <a:avLst/>
              </a:prstGeom>
              <a:blipFill rotWithShape="0">
                <a:blip r:embed="rId10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8" name="Rectangle 12"/>
              <p:cNvSpPr>
                <a:spLocks noChangeArrowheads="1"/>
              </p:cNvSpPr>
              <p:nvPr/>
            </p:nvSpPr>
            <p:spPr bwMode="auto">
              <a:xfrm>
                <a:off x="3632200" y="21336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588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2200" y="2133600"/>
                <a:ext cx="914400" cy="457200"/>
              </a:xfrm>
              <a:prstGeom prst="rect">
                <a:avLst/>
              </a:prstGeom>
              <a:blipFill rotWithShape="0">
                <a:blip r:embed="rId11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89" name="AutoShape 13"/>
          <p:cNvCxnSpPr>
            <a:cxnSpLocks noChangeShapeType="1"/>
          </p:cNvCxnSpPr>
          <p:nvPr/>
        </p:nvCxnSpPr>
        <p:spPr bwMode="auto">
          <a:xfrm rot="5400000" flipH="1" flipV="1">
            <a:off x="3656806" y="1454944"/>
            <a:ext cx="112713" cy="2117725"/>
          </a:xfrm>
          <a:prstGeom prst="curvedConnector3">
            <a:avLst>
              <a:gd name="adj1" fmla="val -473241"/>
            </a:avLst>
          </a:prstGeom>
          <a:ln>
            <a:solidFill>
              <a:schemeClr val="tx1"/>
            </a:solidFill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590" name="Text Box 14"/>
              <p:cNvSpPr txBox="1">
                <a:spLocks noChangeArrowheads="1"/>
              </p:cNvSpPr>
              <p:nvPr/>
            </p:nvSpPr>
            <p:spPr bwMode="auto">
              <a:xfrm>
                <a:off x="2711450" y="2819400"/>
                <a:ext cx="1698625" cy="9191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GB" dirty="0"/>
                  <a:t>trusts that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b="1" baseline="-25000" dirty="0">
                    <a:solidFill>
                      <a:srgbClr val="993300"/>
                    </a:solidFill>
                  </a:rPr>
                  <a:t> </a:t>
                </a:r>
                <a:r>
                  <a:rPr lang="en-GB" dirty="0"/>
                  <a:t>is a very</a:t>
                </a:r>
                <a:br>
                  <a:rPr lang="en-GB" dirty="0"/>
                </a:br>
                <a:r>
                  <a:rPr lang="en-GB" b="1" dirty="0"/>
                  <a:t>honest</a:t>
                </a:r>
                <a:r>
                  <a:rPr lang="en-GB" dirty="0"/>
                  <a:t> person</a:t>
                </a:r>
                <a:endParaRPr lang="en-US" b="1" baseline="-250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24590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1450" y="2819400"/>
                <a:ext cx="1698625" cy="919163"/>
              </a:xfrm>
              <a:prstGeom prst="rect">
                <a:avLst/>
              </a:prstGeom>
              <a:blipFill rotWithShape="0">
                <a:blip r:embed="rId12"/>
                <a:stretch>
                  <a:fillRect l="-1423" t="-3922" r="-356" b="-784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91" name="AutoShape 15"/>
          <p:cNvCxnSpPr>
            <a:cxnSpLocks noChangeShapeType="1"/>
          </p:cNvCxnSpPr>
          <p:nvPr/>
        </p:nvCxnSpPr>
        <p:spPr bwMode="auto">
          <a:xfrm rot="16200000" flipH="1">
            <a:off x="5812632" y="1400968"/>
            <a:ext cx="69850" cy="2144713"/>
          </a:xfrm>
          <a:prstGeom prst="curvedConnector3">
            <a:avLst>
              <a:gd name="adj1" fmla="val 881815"/>
            </a:avLst>
          </a:prstGeom>
          <a:ln>
            <a:solidFill>
              <a:schemeClr val="tx1"/>
            </a:solidFill>
            <a:headEnd/>
            <a:tailEnd type="triangl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pic>
        <p:nvPicPr>
          <p:cNvPr id="24593" name="Picture 17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44975" y="4419600"/>
            <a:ext cx="1058863" cy="857250"/>
          </a:xfrm>
          <a:prstGeom prst="rect">
            <a:avLst/>
          </a:prstGeom>
          <a:noFill/>
        </p:spPr>
      </p:pic>
      <p:pic>
        <p:nvPicPr>
          <p:cNvPr id="24594" name="Picture 18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69063" y="4419600"/>
            <a:ext cx="900112" cy="927100"/>
          </a:xfrm>
          <a:prstGeom prst="rect">
            <a:avLst/>
          </a:prstGeom>
          <a:noFill/>
        </p:spPr>
      </p:pic>
      <p:pic>
        <p:nvPicPr>
          <p:cNvPr id="24595" name="Picture 19" descr="PL4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36775" y="4419600"/>
            <a:ext cx="1041400" cy="96996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596" name="Text Box 20"/>
              <p:cNvSpPr txBox="1">
                <a:spLocks noChangeArrowheads="1"/>
              </p:cNvSpPr>
              <p:nvPr/>
            </p:nvSpPr>
            <p:spPr bwMode="auto">
              <a:xfrm>
                <a:off x="1603375" y="43434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596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3375" y="4343400"/>
                <a:ext cx="587020" cy="461665"/>
              </a:xfrm>
              <a:prstGeom prst="rect">
                <a:avLst/>
              </a:prstGeom>
              <a:blipFill rotWithShape="0">
                <a:blip r:embed="rId13"/>
                <a:stretch>
                  <a:fillRect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97" name="Text Box 21"/>
              <p:cNvSpPr txBox="1">
                <a:spLocks noChangeArrowheads="1"/>
              </p:cNvSpPr>
              <p:nvPr/>
            </p:nvSpPr>
            <p:spPr bwMode="auto">
              <a:xfrm>
                <a:off x="5935663" y="4343400"/>
                <a:ext cx="5000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597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5663" y="4343400"/>
                <a:ext cx="500062" cy="457200"/>
              </a:xfrm>
              <a:prstGeom prst="rect">
                <a:avLst/>
              </a:prstGeom>
              <a:blipFill rotWithShape="0">
                <a:blip r:embed="rId14"/>
                <a:stretch>
                  <a:fillRect l="-3659"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98" name="Text Box 22"/>
              <p:cNvSpPr txBox="1">
                <a:spLocks noChangeArrowheads="1"/>
              </p:cNvSpPr>
              <p:nvPr/>
            </p:nvSpPr>
            <p:spPr bwMode="auto">
              <a:xfrm>
                <a:off x="3795713" y="43243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598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5713" y="4324350"/>
                <a:ext cx="587020" cy="461665"/>
              </a:xfrm>
              <a:prstGeom prst="rect">
                <a:avLst/>
              </a:prstGeom>
              <a:blipFill rotWithShape="0">
                <a:blip r:embed="rId15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99" name="Rectangle 23"/>
              <p:cNvSpPr>
                <a:spLocks noChangeArrowheads="1"/>
              </p:cNvSpPr>
              <p:nvPr/>
            </p:nvSpPr>
            <p:spPr bwMode="auto">
              <a:xfrm>
                <a:off x="5935663" y="49530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599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5663" y="4953000"/>
                <a:ext cx="914400" cy="457200"/>
              </a:xfrm>
              <a:prstGeom prst="rect">
                <a:avLst/>
              </a:prstGeom>
              <a:blipFill rotWithShape="0">
                <a:blip r:embed="rId16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00" name="Rectangle 24"/>
              <p:cNvSpPr>
                <a:spLocks noChangeArrowheads="1"/>
              </p:cNvSpPr>
              <p:nvPr/>
            </p:nvSpPr>
            <p:spPr bwMode="auto">
              <a:xfrm>
                <a:off x="1527175" y="49530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600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7175" y="4953000"/>
                <a:ext cx="914400" cy="457200"/>
              </a:xfrm>
              <a:prstGeom prst="rect">
                <a:avLst/>
              </a:prstGeom>
              <a:blipFill rotWithShape="0">
                <a:blip r:embed="rId17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01" name="Rectangle 25"/>
              <p:cNvSpPr>
                <a:spLocks noChangeArrowheads="1"/>
              </p:cNvSpPr>
              <p:nvPr/>
            </p:nvSpPr>
            <p:spPr bwMode="auto">
              <a:xfrm>
                <a:off x="3635375" y="4953000"/>
                <a:ext cx="914400" cy="457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𝒑𝒌</m:t>
                      </m:r>
                      <m:r>
                        <a:rPr lang="en-US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601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375" y="4953000"/>
                <a:ext cx="914400" cy="457200"/>
              </a:xfrm>
              <a:prstGeom prst="rect">
                <a:avLst/>
              </a:prstGeom>
              <a:blipFill rotWithShape="0">
                <a:blip r:embed="rId18"/>
                <a:stretch>
                  <a:fillRect b="-1299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602" name="AutoShape 26"/>
          <p:cNvCxnSpPr>
            <a:cxnSpLocks noChangeShapeType="1"/>
          </p:cNvCxnSpPr>
          <p:nvPr/>
        </p:nvCxnSpPr>
        <p:spPr bwMode="auto">
          <a:xfrm rot="5400000" flipH="1" flipV="1">
            <a:off x="4767262" y="3236913"/>
            <a:ext cx="42863" cy="4262438"/>
          </a:xfrm>
          <a:prstGeom prst="curvedConnector3">
            <a:avLst>
              <a:gd name="adj1" fmla="val -940741"/>
            </a:avLst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603" name="Text Box 27"/>
              <p:cNvSpPr txBox="1">
                <a:spLocks noChangeArrowheads="1"/>
              </p:cNvSpPr>
              <p:nvPr/>
            </p:nvSpPr>
            <p:spPr bwMode="auto">
              <a:xfrm>
                <a:off x="3022934" y="5649913"/>
                <a:ext cx="3366754" cy="92333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GB" dirty="0"/>
                  <a:t>doesn’t trust that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b="1" baseline="-25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GB" dirty="0"/>
                  <a:t>is honest, because he thinks that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</a:t>
                </a:r>
                <a:r>
                  <a:rPr lang="en-GB" b="1" dirty="0"/>
                  <a:t>honest but naive</a:t>
                </a:r>
                <a:endParaRPr lang="en-US" b="1" dirty="0"/>
              </a:p>
            </p:txBody>
          </p:sp>
        </mc:Choice>
        <mc:Fallback xmlns="">
          <p:sp>
            <p:nvSpPr>
              <p:cNvPr id="24603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2934" y="5649913"/>
                <a:ext cx="3366754" cy="923330"/>
              </a:xfrm>
              <a:prstGeom prst="rect">
                <a:avLst/>
              </a:prstGeom>
              <a:blipFill rotWithShape="0">
                <a:blip r:embed="rId19"/>
                <a:stretch>
                  <a:fillRect l="-1261" t="-3896" r="-721" b="-77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04" name="Text Box 28"/>
              <p:cNvSpPr txBox="1">
                <a:spLocks noChangeArrowheads="1"/>
              </p:cNvSpPr>
              <p:nvPr/>
            </p:nvSpPr>
            <p:spPr bwMode="auto">
              <a:xfrm>
                <a:off x="5073650" y="2819400"/>
                <a:ext cx="1698625" cy="919163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GB" dirty="0"/>
                  <a:t>trusts that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 very</a:t>
                </a:r>
                <a:br>
                  <a:rPr lang="en-GB" dirty="0"/>
                </a:br>
                <a:r>
                  <a:rPr lang="en-GB" b="1" dirty="0"/>
                  <a:t>honest</a:t>
                </a:r>
                <a:r>
                  <a:rPr lang="en-GB" dirty="0"/>
                  <a:t> person</a:t>
                </a:r>
                <a:endParaRPr lang="en-US" b="1" baseline="-25000" dirty="0">
                  <a:solidFill>
                    <a:srgbClr val="993300"/>
                  </a:solidFill>
                </a:endParaRPr>
              </a:p>
            </p:txBody>
          </p:sp>
        </mc:Choice>
        <mc:Fallback xmlns="">
          <p:sp>
            <p:nvSpPr>
              <p:cNvPr id="24604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3650" y="2819400"/>
                <a:ext cx="1698625" cy="919163"/>
              </a:xfrm>
              <a:prstGeom prst="rect">
                <a:avLst/>
              </a:prstGeom>
              <a:blipFill rotWithShape="0">
                <a:blip r:embed="rId20"/>
                <a:stretch>
                  <a:fillRect l="-1064" t="-3922" r="-355" b="-7843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05" name="AutoShape 29"/>
              <p:cNvSpPr>
                <a:spLocks noChangeArrowheads="1"/>
              </p:cNvSpPr>
              <p:nvPr/>
            </p:nvSpPr>
            <p:spPr bwMode="auto">
              <a:xfrm>
                <a:off x="5474043" y="444843"/>
                <a:ext cx="3455675" cy="621957"/>
              </a:xfrm>
              <a:prstGeom prst="wedgeEllipseCallout">
                <a:avLst>
                  <a:gd name="adj1" fmla="val -67499"/>
                  <a:gd name="adj2" fmla="val 210509"/>
                </a:avLst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GB" sz="2000" dirty="0"/>
                  <a:t>I can recommend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20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605" name="AutoShap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4043" y="444843"/>
                <a:ext cx="3455675" cy="621957"/>
              </a:xfrm>
              <a:prstGeom prst="wedgeEllipseCallout">
                <a:avLst>
                  <a:gd name="adj1" fmla="val -67499"/>
                  <a:gd name="adj2" fmla="val 210509"/>
                </a:avLst>
              </a:prstGeom>
              <a:blipFill rotWithShape="0">
                <a:blip r:embed="rId2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39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6" grpId="0"/>
      <p:bldP spid="24597" grpId="0"/>
      <p:bldP spid="24598" grpId="0"/>
      <p:bldP spid="24599" grpId="0" animBg="1"/>
      <p:bldP spid="24600" grpId="0" animBg="1"/>
      <p:bldP spid="24601" grpId="0" animBg="1"/>
      <p:bldP spid="24603" grpId="0" animBg="1"/>
      <p:bldP spid="2460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537" name="Rectangle 9"/>
              <p:cNvSpPr>
                <a:spLocks noChangeArrowheads="1"/>
              </p:cNvSpPr>
              <p:nvPr/>
            </p:nvSpPr>
            <p:spPr bwMode="auto">
              <a:xfrm>
                <a:off x="0" y="3886201"/>
                <a:ext cx="9144000" cy="23622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365760" rIns="365760" anchor="ctr"/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GB" sz="2800" dirty="0"/>
                  <a:t>“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28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800" dirty="0"/>
                  <a:t>trusts that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sz="2800" b="1" dirty="0">
                    <a:solidFill>
                      <a:srgbClr val="7030A0"/>
                    </a:solidFill>
                  </a:rPr>
                  <a:t>if</a:t>
                </a:r>
                <a:endParaRPr lang="en-GB" sz="2800" dirty="0">
                  <a:solidFill>
                    <a:srgbClr val="7030A0"/>
                  </a:solidFill>
                </a:endParaRPr>
              </a:p>
              <a:p>
                <a:pPr lvl="2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2800" dirty="0"/>
                  <a:t> says</a:t>
                </a:r>
                <a:r>
                  <a:rPr lang="pl-PL" sz="2800" dirty="0"/>
                  <a:t>:</a:t>
                </a:r>
                <a:r>
                  <a:rPr lang="en-GB" sz="2800" dirty="0"/>
                  <a:t> </a:t>
                </a:r>
                <a:r>
                  <a:rPr lang="en-US" sz="2800" dirty="0"/>
                  <a:t>“</a:t>
                </a:r>
                <a:r>
                  <a:rPr lang="en-GB" sz="2800" dirty="0"/>
                  <a:t>you can trust the certificates issued by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”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GB" sz="2800" b="1" dirty="0">
                    <a:solidFill>
                      <a:srgbClr val="7030A0"/>
                    </a:solidFill>
                  </a:rPr>
                  <a:t>then</a:t>
                </a:r>
                <a:endParaRPr lang="pl-PL" sz="2800" b="1" dirty="0">
                  <a:solidFill>
                    <a:srgbClr val="7030A0"/>
                  </a:solidFill>
                </a:endParaRPr>
              </a:p>
              <a:p>
                <a:pPr lvl="2">
                  <a:lnSpc>
                    <a:spcPct val="90000"/>
                  </a:lnSpc>
                </a:pPr>
                <a:r>
                  <a:rPr lang="en-GB" sz="2800" dirty="0"/>
                  <a:t>one can trust the certificates issued by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sz="2800" dirty="0"/>
                  <a:t>”</a:t>
                </a:r>
              </a:p>
            </p:txBody>
          </p:sp>
        </mc:Choice>
        <mc:Fallback xmlns="">
          <p:sp>
            <p:nvSpPr>
              <p:cNvPr id="22537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3886201"/>
                <a:ext cx="9144000" cy="2362200"/>
              </a:xfrm>
              <a:prstGeom prst="rect">
                <a:avLst/>
              </a:prstGeom>
              <a:blipFill rotWithShape="0">
                <a:blip r:embed="rId3"/>
                <a:stretch>
                  <a:fillRect r="-166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6" name="Rectangle 8"/>
              <p:cNvSpPr>
                <a:spLocks noChangeArrowheads="1"/>
              </p:cNvSpPr>
              <p:nvPr/>
            </p:nvSpPr>
            <p:spPr bwMode="auto">
              <a:xfrm>
                <a:off x="-50777" y="2115844"/>
                <a:ext cx="9144000" cy="609600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 lIns="365760" rIns="365760" anchor="ctr"/>
              <a:lstStyle/>
              <a:p>
                <a:pPr algn="ctr">
                  <a:lnSpc>
                    <a:spcPct val="90000"/>
                  </a:lnSpc>
                  <a:buFontTx/>
                  <a:buNone/>
                </a:pPr>
                <a:r>
                  <a:rPr lang="en-GB" sz="2800" dirty="0"/>
                  <a:t>“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2800" b="1" dirty="0">
                    <a:solidFill>
                      <a:srgbClr val="993300"/>
                    </a:solidFill>
                  </a:rPr>
                  <a:t> </a:t>
                </a:r>
                <a:r>
                  <a:rPr lang="en-GB" sz="2800" dirty="0"/>
                  <a:t>trusts in the certificates issued by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8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2800" dirty="0"/>
                  <a:t>” </a:t>
                </a:r>
              </a:p>
            </p:txBody>
          </p:sp>
        </mc:Choice>
        <mc:Fallback xmlns="">
          <p:sp>
            <p:nvSpPr>
              <p:cNvPr id="22536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50777" y="2115844"/>
                <a:ext cx="9144000" cy="609600"/>
              </a:xfrm>
              <a:prstGeom prst="rect">
                <a:avLst/>
              </a:prstGeom>
              <a:blipFill rotWithShape="0">
                <a:blip r:embed="rId4"/>
                <a:stretch>
                  <a:fillRect t="-4902" b="-1568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GB"/>
              <a:t>Moral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-50777" y="1295400"/>
            <a:ext cx="4381071" cy="480131"/>
          </a:xfrm>
          <a:prstGeom prst="rect">
            <a:avLst/>
          </a:prstGeom>
        </p:spPr>
        <p:txBody>
          <a:bodyPr wrap="none" lIns="365760" rIns="365760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GB" sz="2800" b="1" dirty="0"/>
              <a:t>Trust is not transitive:</a:t>
            </a:r>
          </a:p>
        </p:txBody>
      </p:sp>
      <p:sp>
        <p:nvSpPr>
          <p:cNvPr id="3" name="Rectangle 2"/>
          <p:cNvSpPr/>
          <p:nvPr/>
        </p:nvSpPr>
        <p:spPr>
          <a:xfrm>
            <a:off x="-50777" y="3065757"/>
            <a:ext cx="3824445" cy="480131"/>
          </a:xfrm>
          <a:prstGeom prst="rect">
            <a:avLst/>
          </a:prstGeom>
        </p:spPr>
        <p:txBody>
          <a:bodyPr wrap="none" lIns="365760" rIns="365760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GB" sz="2800" b="1" dirty="0">
                <a:solidFill>
                  <a:srgbClr val="0070C0"/>
                </a:solidFill>
              </a:rPr>
              <a:t>is </a:t>
            </a:r>
            <a:r>
              <a:rPr lang="en-GB" sz="2800" b="1" dirty="0">
                <a:solidFill>
                  <a:srgbClr val="FF0000"/>
                </a:solidFill>
              </a:rPr>
              <a:t>not</a:t>
            </a:r>
            <a:r>
              <a:rPr lang="en-GB" sz="2800" b="1" dirty="0">
                <a:solidFill>
                  <a:srgbClr val="0070C0"/>
                </a:solidFill>
              </a:rPr>
              <a:t> the same as: </a:t>
            </a:r>
          </a:p>
        </p:txBody>
      </p:sp>
    </p:spTree>
    <p:extLst>
      <p:ext uri="{BB962C8B-B14F-4D97-AF65-F5344CB8AC3E}">
        <p14:creationId xmlns:p14="http://schemas.microsoft.com/office/powerpoint/2010/main" val="46212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7" grpId="0" animBg="1"/>
      <p:bldP spid="2253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606" name="Rectangle 6"/>
              <p:cNvSpPr>
                <a:spLocks noChangeArrowheads="1"/>
              </p:cNvSpPr>
              <p:nvPr/>
            </p:nvSpPr>
            <p:spPr bwMode="auto">
              <a:xfrm>
                <a:off x="457200" y="1066800"/>
                <a:ext cx="8382000" cy="3991922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252000" anchor="ctr"/>
              <a:lstStyle/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GB" sz="2400" dirty="0"/>
                  <a:t>level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recommendation:</a:t>
                </a:r>
              </a:p>
              <a:p>
                <a:pPr lvl="1">
                  <a:spcBef>
                    <a:spcPct val="0"/>
                  </a:spcBef>
                </a:pPr>
                <a:r>
                  <a:rPr lang="en-GB" sz="2400" b="1" dirty="0">
                    <a:solidFill>
                      <a:srgbClr val="0070C0"/>
                    </a:solidFill>
                  </a:rPr>
                  <a:t>A: </a:t>
                </a:r>
                <a:r>
                  <a:rPr lang="en-GB" sz="2400" dirty="0"/>
                  <a:t>”</a:t>
                </a:r>
                <a:r>
                  <a:rPr lang="en-GB" sz="2400" i="1" dirty="0"/>
                  <a:t>you can trusts in all the certificates issued by </a:t>
                </a:r>
                <a:r>
                  <a:rPr lang="en-GB" sz="2400" b="1" i="1" dirty="0">
                    <a:solidFill>
                      <a:srgbClr val="0070C0"/>
                    </a:solidFill>
                  </a:rPr>
                  <a:t>B</a:t>
                </a:r>
                <a:r>
                  <a:rPr lang="en-GB" sz="2400" dirty="0"/>
                  <a:t>” 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GB" sz="2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400" dirty="0"/>
                  <a:t>level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2400" dirty="0"/>
                  <a:t> recommendation: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en-GB" sz="2400" b="1" dirty="0">
                    <a:solidFill>
                      <a:srgbClr val="0070C0"/>
                    </a:solidFill>
                  </a:rPr>
                  <a:t>A : </a:t>
                </a:r>
                <a:r>
                  <a:rPr lang="en-GB" sz="2400" dirty="0"/>
                  <a:t>“</a:t>
                </a:r>
                <a:r>
                  <a:rPr lang="en-GB" sz="2400" i="1" dirty="0"/>
                  <a:t>you can trust that </a:t>
                </a:r>
                <a:r>
                  <a:rPr lang="en-GB" sz="2400" b="1" i="1" dirty="0"/>
                  <a:t>all the level</a:t>
                </a:r>
                <a:r>
                  <a:rPr lang="en-GB" sz="2400" i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2400" i="1" dirty="0"/>
                  <a:t> recommendations issued by </a:t>
                </a:r>
                <a:r>
                  <a:rPr lang="en-GB" sz="2400" b="1" i="1" dirty="0">
                    <a:solidFill>
                      <a:srgbClr val="0070C0"/>
                    </a:solidFill>
                  </a:rPr>
                  <a:t>B</a:t>
                </a:r>
                <a:r>
                  <a:rPr lang="en-GB" sz="2400" dirty="0"/>
                  <a:t>” 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400" dirty="0"/>
                  <a:t>level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sz="2400" dirty="0"/>
                  <a:t> recommendation:</a:t>
                </a:r>
              </a:p>
              <a:p>
                <a:pPr lvl="1">
                  <a:lnSpc>
                    <a:spcPct val="80000"/>
                  </a:lnSpc>
                </a:pPr>
                <a:r>
                  <a:rPr lang="pl-PL" sz="2400" b="1" dirty="0">
                    <a:solidFill>
                      <a:srgbClr val="0070C0"/>
                    </a:solidFill>
                  </a:rPr>
                  <a:t>A</a:t>
                </a:r>
                <a:r>
                  <a:rPr lang="en-GB" sz="2400" b="1" dirty="0">
                    <a:solidFill>
                      <a:srgbClr val="0070C0"/>
                    </a:solidFill>
                  </a:rPr>
                  <a:t> : </a:t>
                </a:r>
                <a:r>
                  <a:rPr lang="en-GB" sz="2400" dirty="0"/>
                  <a:t>“</a:t>
                </a:r>
                <a:r>
                  <a:rPr lang="en-GB" sz="2400" i="1" dirty="0"/>
                  <a:t>you can trust that </a:t>
                </a:r>
                <a:r>
                  <a:rPr lang="en-GB" sz="2400" b="1" i="1" dirty="0"/>
                  <a:t>all the level</a:t>
                </a:r>
                <a:r>
                  <a:rPr lang="en-GB" sz="2400" i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2400" i="1" dirty="0"/>
                  <a:t> recommendations issued by </a:t>
                </a:r>
                <a:r>
                  <a:rPr lang="en-GB" sz="2400" b="1" i="1" dirty="0">
                    <a:solidFill>
                      <a:srgbClr val="0070C0"/>
                    </a:solidFill>
                  </a:rPr>
                  <a:t>B</a:t>
                </a:r>
                <a:r>
                  <a:rPr lang="en-GB" sz="2400" dirty="0"/>
                  <a:t>” </a:t>
                </a: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endParaRPr lang="en-GB" sz="2400" dirty="0"/>
              </a:p>
              <a:p>
                <a:pPr algn="r">
                  <a:lnSpc>
                    <a:spcPct val="80000"/>
                  </a:lnSpc>
                  <a:buFontTx/>
                  <a:buNone/>
                </a:pPr>
                <a:r>
                  <a:rPr lang="en-GB" sz="2400" b="1" dirty="0"/>
                  <a:t>and so on. . .</a:t>
                </a:r>
              </a:p>
            </p:txBody>
          </p:sp>
        </mc:Choice>
        <mc:Fallback xmlns="">
          <p:sp>
            <p:nvSpPr>
              <p:cNvPr id="25606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066800"/>
                <a:ext cx="8382000" cy="3991922"/>
              </a:xfrm>
              <a:prstGeom prst="roundRect">
                <a:avLst/>
              </a:prstGeom>
              <a:blipFill rotWithShape="0">
                <a:blip r:embed="rId3"/>
                <a:stretch>
                  <a:fillRect b="-60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" y="0"/>
            <a:ext cx="8229600" cy="1143000"/>
          </a:xfrm>
        </p:spPr>
        <p:txBody>
          <a:bodyPr/>
          <a:lstStyle/>
          <a:p>
            <a:r>
              <a:rPr lang="en-GB" dirty="0"/>
              <a:t>Recommendation levels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3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5214950"/>
                <a:ext cx="8686800" cy="149065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400" b="1" u="sng" dirty="0">
                    <a:solidFill>
                      <a:srgbClr val="7030A0"/>
                    </a:solidFill>
                  </a:rPr>
                  <a:t>Recursively</a:t>
                </a:r>
                <a:r>
                  <a:rPr lang="en-GB" sz="2400" b="1" dirty="0"/>
                  <a:t>: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r>
                  <a:rPr lang="en-GB" sz="2400" dirty="0"/>
                  <a:t>level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recommendation:</a:t>
                </a:r>
              </a:p>
              <a:p>
                <a:pPr algn="ctr">
                  <a:lnSpc>
                    <a:spcPct val="80000"/>
                  </a:lnSpc>
                  <a:buFontTx/>
                  <a:buNone/>
                </a:pPr>
                <a:r>
                  <a:rPr lang="en-GB" sz="2400" b="1" dirty="0">
                    <a:solidFill>
                      <a:srgbClr val="0070C0"/>
                    </a:solidFill>
                  </a:rPr>
                  <a:t>A : </a:t>
                </a:r>
                <a:r>
                  <a:rPr lang="en-GB" sz="2400" i="1" dirty="0"/>
                  <a:t>“you can trust that all </a:t>
                </a:r>
                <a:r>
                  <a:rPr lang="en-GB" sz="2400" b="1" i="1" dirty="0"/>
                  <a:t>the level</a:t>
                </a:r>
                <a:r>
                  <a:rPr lang="en-GB" sz="2400" i="1" dirty="0"/>
                  <a:t>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sz="2400" i="1" dirty="0"/>
                  <a:t> recommendations issued by </a:t>
                </a:r>
                <a:r>
                  <a:rPr lang="en-GB" sz="2400" b="1" i="1" dirty="0">
                    <a:solidFill>
                      <a:srgbClr val="0070C0"/>
                    </a:solidFill>
                  </a:rPr>
                  <a:t>B</a:t>
                </a:r>
                <a:r>
                  <a:rPr lang="en-GB" sz="2400" i="1" dirty="0"/>
                  <a:t>” </a:t>
                </a:r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GB" sz="2400" b="1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  <a:p>
                <a:pPr>
                  <a:lnSpc>
                    <a:spcPct val="80000"/>
                  </a:lnSpc>
                  <a:buFontTx/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256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5214950"/>
                <a:ext cx="8686800" cy="1490650"/>
              </a:xfrm>
              <a:blipFill rotWithShape="0">
                <a:blip r:embed="rId4"/>
                <a:stretch>
                  <a:fillRect l="-1053" t="-8163" r="-161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30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41" name="Picture 17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609600"/>
            <a:ext cx="1058863" cy="857250"/>
          </a:xfrm>
          <a:prstGeom prst="rect">
            <a:avLst/>
          </a:prstGeom>
          <a:noFill/>
        </p:spPr>
      </p:pic>
      <p:pic>
        <p:nvPicPr>
          <p:cNvPr id="26642" name="Picture 18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457200"/>
            <a:ext cx="900113" cy="927100"/>
          </a:xfrm>
          <a:prstGeom prst="rect">
            <a:avLst/>
          </a:prstGeom>
          <a:noFill/>
        </p:spPr>
      </p:pic>
      <p:pic>
        <p:nvPicPr>
          <p:cNvPr id="26643" name="Picture 19" descr="PL4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16000" y="609600"/>
            <a:ext cx="1041400" cy="96996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644" name="Text Box 20"/>
              <p:cNvSpPr txBox="1">
                <a:spLocks noChangeArrowheads="1"/>
              </p:cNvSpPr>
              <p:nvPr/>
            </p:nvSpPr>
            <p:spPr bwMode="auto">
              <a:xfrm>
                <a:off x="482600" y="53340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44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600" y="533400"/>
                <a:ext cx="587020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45" name="Text Box 21"/>
              <p:cNvSpPr txBox="1">
                <a:spLocks noChangeArrowheads="1"/>
              </p:cNvSpPr>
              <p:nvPr/>
            </p:nvSpPr>
            <p:spPr bwMode="auto">
              <a:xfrm>
                <a:off x="4814888" y="533400"/>
                <a:ext cx="5000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45" name="Text 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4888" y="533400"/>
                <a:ext cx="500062" cy="457200"/>
              </a:xfrm>
              <a:prstGeom prst="rect">
                <a:avLst/>
              </a:prstGeom>
              <a:blipFill rotWithShape="0">
                <a:blip r:embed="rId7"/>
                <a:stretch>
                  <a:fillRect l="-3659"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46" name="Text Box 22"/>
              <p:cNvSpPr txBox="1">
                <a:spLocks noChangeArrowheads="1"/>
              </p:cNvSpPr>
              <p:nvPr/>
            </p:nvSpPr>
            <p:spPr bwMode="auto">
              <a:xfrm>
                <a:off x="2674938" y="514350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46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4938" y="514350"/>
                <a:ext cx="587020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60" name="Text Box 36"/>
              <p:cNvSpPr txBox="1">
                <a:spLocks noChangeArrowheads="1"/>
              </p:cNvSpPr>
              <p:nvPr/>
            </p:nvSpPr>
            <p:spPr bwMode="auto">
              <a:xfrm>
                <a:off x="7086600" y="533400"/>
                <a:ext cx="50006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60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6600" y="533400"/>
                <a:ext cx="500063" cy="457200"/>
              </a:xfrm>
              <a:prstGeom prst="rect">
                <a:avLst/>
              </a:prstGeom>
              <a:blipFill rotWithShape="0">
                <a:blip r:embed="rId9"/>
                <a:stretch>
                  <a:fillRect l="-3659" b="-533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664" name="Picture 40" descr="PL412a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772400" y="457200"/>
            <a:ext cx="990600" cy="942975"/>
          </a:xfrm>
          <a:prstGeom prst="rect">
            <a:avLst/>
          </a:prstGeom>
          <a:noFill/>
        </p:spPr>
      </p:pic>
      <p:pic>
        <p:nvPicPr>
          <p:cNvPr id="26665" name="Picture 41" descr="PL416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3668713"/>
            <a:ext cx="1058863" cy="857250"/>
          </a:xfrm>
          <a:prstGeom prst="rect">
            <a:avLst/>
          </a:prstGeom>
          <a:noFill/>
        </p:spPr>
      </p:pic>
      <p:pic>
        <p:nvPicPr>
          <p:cNvPr id="26666" name="Picture 42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3581400"/>
            <a:ext cx="900113" cy="927100"/>
          </a:xfrm>
          <a:prstGeom prst="rect">
            <a:avLst/>
          </a:prstGeom>
          <a:noFill/>
        </p:spPr>
      </p:pic>
      <p:pic>
        <p:nvPicPr>
          <p:cNvPr id="26667" name="Picture 43" descr="PL4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92200" y="3668713"/>
            <a:ext cx="1041400" cy="96996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668" name="Text Box 44"/>
              <p:cNvSpPr txBox="1">
                <a:spLocks noChangeArrowheads="1"/>
              </p:cNvSpPr>
              <p:nvPr/>
            </p:nvSpPr>
            <p:spPr bwMode="auto">
              <a:xfrm>
                <a:off x="558800" y="359251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68" name="Text 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800" y="3592513"/>
                <a:ext cx="587020" cy="461665"/>
              </a:xfrm>
              <a:prstGeom prst="rect">
                <a:avLst/>
              </a:prstGeom>
              <a:blipFill rotWithShape="0">
                <a:blip r:embed="rId11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69" name="Text Box 45"/>
              <p:cNvSpPr txBox="1">
                <a:spLocks noChangeArrowheads="1"/>
              </p:cNvSpPr>
              <p:nvPr/>
            </p:nvSpPr>
            <p:spPr bwMode="auto">
              <a:xfrm>
                <a:off x="4891088" y="3592513"/>
                <a:ext cx="500062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69" name="Text 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1088" y="3592513"/>
                <a:ext cx="500062" cy="457200"/>
              </a:xfrm>
              <a:prstGeom prst="rect">
                <a:avLst/>
              </a:prstGeom>
              <a:blipFill rotWithShape="0">
                <a:blip r:embed="rId12"/>
                <a:stretch>
                  <a:fillRect l="-2439"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70" name="Text Box 46"/>
              <p:cNvSpPr txBox="1">
                <a:spLocks noChangeArrowheads="1"/>
              </p:cNvSpPr>
              <p:nvPr/>
            </p:nvSpPr>
            <p:spPr bwMode="auto">
              <a:xfrm>
                <a:off x="2751138" y="3573463"/>
                <a:ext cx="58702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l-PL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70" name="Text 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1138" y="3573463"/>
                <a:ext cx="587020" cy="461665"/>
              </a:xfrm>
              <a:prstGeom prst="rect">
                <a:avLst/>
              </a:prstGeom>
              <a:blipFill rotWithShape="0">
                <a:blip r:embed="rId13"/>
                <a:stretch>
                  <a:fillRect b="-526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75" name="Text Box 51"/>
              <p:cNvSpPr txBox="1">
                <a:spLocks noChangeArrowheads="1"/>
              </p:cNvSpPr>
              <p:nvPr/>
            </p:nvSpPr>
            <p:spPr bwMode="auto">
              <a:xfrm>
                <a:off x="7340600" y="3592513"/>
                <a:ext cx="500063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2400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75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40600" y="3592513"/>
                <a:ext cx="500063" cy="457200"/>
              </a:xfrm>
              <a:prstGeom prst="rect">
                <a:avLst/>
              </a:prstGeom>
              <a:blipFill rotWithShape="0">
                <a:blip r:embed="rId14"/>
                <a:stretch>
                  <a:fillRect l="-2439" b="-66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677" name="Picture 53" descr="PL412a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797800" y="3592513"/>
            <a:ext cx="990600" cy="942975"/>
          </a:xfrm>
          <a:prstGeom prst="rect">
            <a:avLst/>
          </a:prstGeom>
          <a:noFill/>
        </p:spPr>
      </p:pic>
      <p:cxnSp>
        <p:nvCxnSpPr>
          <p:cNvPr id="26679" name="AutoShape 55"/>
          <p:cNvCxnSpPr>
            <a:cxnSpLocks noChangeShapeType="1"/>
          </p:cNvCxnSpPr>
          <p:nvPr/>
        </p:nvCxnSpPr>
        <p:spPr bwMode="auto">
          <a:xfrm rot="5400000" flipH="1" flipV="1">
            <a:off x="4901406" y="1246982"/>
            <a:ext cx="103187" cy="6680200"/>
          </a:xfrm>
          <a:prstGeom prst="curvedConnector3">
            <a:avLst>
              <a:gd name="adj1" fmla="val -646157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680" name="Text Box 56"/>
              <p:cNvSpPr txBox="1">
                <a:spLocks noChangeArrowheads="1"/>
              </p:cNvSpPr>
              <p:nvPr/>
            </p:nvSpPr>
            <p:spPr bwMode="auto">
              <a:xfrm>
                <a:off x="3079750" y="5116513"/>
                <a:ext cx="3611563" cy="36988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GB" dirty="0"/>
                  <a:t>trusts the certificates issued by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80" name="Text 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9750" y="5116513"/>
                <a:ext cx="3611563" cy="369887"/>
              </a:xfrm>
              <a:prstGeom prst="rect">
                <a:avLst/>
              </a:prstGeom>
              <a:blipFill rotWithShape="0">
                <a:blip r:embed="rId15"/>
                <a:stretch>
                  <a:fillRect l="-1174" t="-7813" b="-18750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81" name="Text Box 57"/>
          <p:cNvSpPr txBox="1">
            <a:spLocks noChangeArrowheads="1"/>
          </p:cNvSpPr>
          <p:nvPr/>
        </p:nvSpPr>
        <p:spPr bwMode="auto">
          <a:xfrm>
            <a:off x="176213" y="147638"/>
            <a:ext cx="946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/>
              <a:t>Now, if:</a:t>
            </a:r>
            <a:endParaRPr lang="en-US"/>
          </a:p>
        </p:txBody>
      </p:sp>
      <p:sp>
        <p:nvSpPr>
          <p:cNvPr id="26682" name="Text Box 58"/>
          <p:cNvSpPr txBox="1">
            <a:spLocks noChangeArrowheads="1"/>
          </p:cNvSpPr>
          <p:nvPr/>
        </p:nvSpPr>
        <p:spPr bwMode="auto">
          <a:xfrm>
            <a:off x="228600" y="31242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/>
              <a:t>then</a:t>
            </a:r>
            <a:endParaRPr lang="en-US" b="1" baseline="-25000">
              <a:solidFill>
                <a:srgbClr val="993300"/>
              </a:solidFill>
            </a:endParaRPr>
          </a:p>
        </p:txBody>
      </p:sp>
      <p:sp>
        <p:nvSpPr>
          <p:cNvPr id="26683" name="Text Box 59"/>
          <p:cNvSpPr txBox="1">
            <a:spLocks noChangeArrowheads="1"/>
          </p:cNvSpPr>
          <p:nvPr/>
        </p:nvSpPr>
        <p:spPr bwMode="auto">
          <a:xfrm>
            <a:off x="533400" y="5715000"/>
            <a:ext cx="79248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GB"/>
              <a:t>Of course the recommendations also need to be signed.</a:t>
            </a:r>
          </a:p>
          <a:p>
            <a:pPr algn="r"/>
            <a:endParaRPr lang="en-GB"/>
          </a:p>
          <a:p>
            <a:pPr algn="r"/>
            <a:r>
              <a:rPr lang="en-GB"/>
              <a:t>Starts to look complicated...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84" name="Text Box 60"/>
              <p:cNvSpPr txBox="1">
                <a:spLocks noChangeArrowheads="1"/>
              </p:cNvSpPr>
              <p:nvPr/>
            </p:nvSpPr>
            <p:spPr bwMode="auto">
              <a:xfrm>
                <a:off x="3810000" y="1752601"/>
                <a:ext cx="2034339" cy="123110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issues </a:t>
                </a:r>
              </a:p>
              <a:p>
                <a:r>
                  <a:rPr lang="en-GB" dirty="0"/>
                  <a:t>a recommendation</a:t>
                </a:r>
              </a:p>
              <a:p>
                <a:r>
                  <a:rPr lang="en-GB" dirty="0"/>
                  <a:t>of level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b="1" dirty="0">
                    <a:solidFill>
                      <a:srgbClr val="993300"/>
                    </a:solidFill>
                  </a:rPr>
                  <a:t> </a:t>
                </a:r>
                <a:r>
                  <a:rPr lang="en-GB" dirty="0"/>
                  <a:t>for</a:t>
                </a:r>
                <a:r>
                  <a:rPr lang="en-GB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GB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84" name="Text 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1752601"/>
                <a:ext cx="2034339" cy="1231105"/>
              </a:xfrm>
              <a:prstGeom prst="rect">
                <a:avLst/>
              </a:prstGeom>
              <a:blipFill rotWithShape="0">
                <a:blip r:embed="rId16"/>
                <a:stretch>
                  <a:fillRect l="-2077" r="-148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85" name="Text Box 61"/>
              <p:cNvSpPr txBox="1">
                <a:spLocks noChangeArrowheads="1"/>
              </p:cNvSpPr>
              <p:nvPr/>
            </p:nvSpPr>
            <p:spPr bwMode="auto">
              <a:xfrm>
                <a:off x="6172200" y="1752600"/>
                <a:ext cx="2079625" cy="125333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issues </a:t>
                </a:r>
              </a:p>
              <a:p>
                <a:r>
                  <a:rPr lang="en-GB" dirty="0"/>
                  <a:t>a recommendation</a:t>
                </a:r>
              </a:p>
              <a:p>
                <a:r>
                  <a:rPr lang="en-GB" dirty="0"/>
                  <a:t>of level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b="1" dirty="0">
                    <a:solidFill>
                      <a:srgbClr val="993300"/>
                    </a:solidFill>
                  </a:rPr>
                  <a:t> </a:t>
                </a:r>
                <a:r>
                  <a:rPr lang="en-GB" dirty="0"/>
                  <a:t>for</a:t>
                </a:r>
                <a:r>
                  <a:rPr lang="en-GB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85" name="Text 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2200" y="1752600"/>
                <a:ext cx="2079625" cy="1253332"/>
              </a:xfrm>
              <a:prstGeom prst="rect">
                <a:avLst/>
              </a:prstGeom>
              <a:blipFill rotWithShape="0">
                <a:blip r:embed="rId17"/>
                <a:stretch>
                  <a:fillRect l="-232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90" name="AutoShape 66"/>
          <p:cNvCxnSpPr>
            <a:cxnSpLocks noChangeShapeType="1"/>
          </p:cNvCxnSpPr>
          <p:nvPr/>
        </p:nvCxnSpPr>
        <p:spPr bwMode="auto">
          <a:xfrm rot="5400000" flipH="1" flipV="1">
            <a:off x="4678363" y="360362"/>
            <a:ext cx="82550" cy="2130425"/>
          </a:xfrm>
          <a:prstGeom prst="curvedConnector3">
            <a:avLst>
              <a:gd name="adj1" fmla="val -276921"/>
            </a:avLst>
          </a:prstGeom>
          <a:noFill/>
          <a:ln w="57150">
            <a:solidFill>
              <a:srgbClr val="0070C0"/>
            </a:solidFill>
            <a:round/>
            <a:headEnd/>
            <a:tailEnd type="triangle" w="med" len="med"/>
          </a:ln>
          <a:effectLst/>
        </p:spPr>
      </p:cxnSp>
      <p:cxnSp>
        <p:nvCxnSpPr>
          <p:cNvPr id="26691" name="AutoShape 67"/>
          <p:cNvCxnSpPr>
            <a:cxnSpLocks noChangeShapeType="1"/>
          </p:cNvCxnSpPr>
          <p:nvPr/>
        </p:nvCxnSpPr>
        <p:spPr bwMode="auto">
          <a:xfrm rot="5400000" flipH="1" flipV="1">
            <a:off x="6967538" y="347662"/>
            <a:ext cx="82550" cy="2130425"/>
          </a:xfrm>
          <a:prstGeom prst="curvedConnector3">
            <a:avLst>
              <a:gd name="adj1" fmla="val -276921"/>
            </a:avLst>
          </a:prstGeom>
          <a:noFill/>
          <a:ln w="57150">
            <a:solidFill>
              <a:srgbClr val="0070C0"/>
            </a:solidFill>
            <a:round/>
            <a:headEnd/>
            <a:tailEnd type="triangle" w="med" len="med"/>
          </a:ln>
          <a:effectLst/>
        </p:spPr>
      </p:cxnSp>
      <p:cxnSp>
        <p:nvCxnSpPr>
          <p:cNvPr id="26693" name="AutoShape 69"/>
          <p:cNvCxnSpPr>
            <a:cxnSpLocks noChangeShapeType="1"/>
          </p:cNvCxnSpPr>
          <p:nvPr/>
        </p:nvCxnSpPr>
        <p:spPr bwMode="auto">
          <a:xfrm rot="5400000" flipH="1" flipV="1">
            <a:off x="2395538" y="347662"/>
            <a:ext cx="82550" cy="2130425"/>
          </a:xfrm>
          <a:prstGeom prst="curvedConnector3">
            <a:avLst>
              <a:gd name="adj1" fmla="val -276921"/>
            </a:avLst>
          </a:prstGeom>
          <a:noFill/>
          <a:ln w="57150">
            <a:solidFill>
              <a:srgbClr val="0070C0"/>
            </a:solidFill>
            <a:round/>
            <a:headEnd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692" name="Text Box 68"/>
              <p:cNvSpPr txBox="1">
                <a:spLocks noChangeArrowheads="1"/>
              </p:cNvSpPr>
              <p:nvPr/>
            </p:nvSpPr>
            <p:spPr bwMode="auto">
              <a:xfrm>
                <a:off x="1196139" y="1769605"/>
                <a:ext cx="2286000" cy="1248867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pl-PL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20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trusts in all </a:t>
                </a:r>
                <a:r>
                  <a:rPr lang="en-US" dirty="0"/>
                  <a:t>the recommendations of level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dirty="0"/>
                  <a:t> issued by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692" name="Text 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6139" y="1769605"/>
                <a:ext cx="2286000" cy="1248867"/>
              </a:xfrm>
              <a:prstGeom prst="rect">
                <a:avLst/>
              </a:prstGeom>
              <a:blipFill rotWithShape="0">
                <a:blip r:embed="rId18"/>
                <a:stretch>
                  <a:fillRect l="-185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13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68" grpId="0"/>
      <p:bldP spid="26669" grpId="0"/>
      <p:bldP spid="26670" grpId="0"/>
      <p:bldP spid="26675" grpId="0"/>
      <p:bldP spid="26680" grpId="0" animBg="1"/>
      <p:bldP spid="26682" grpId="0"/>
      <p:bldP spid="26684" grpId="0" animBg="1"/>
      <p:bldP spid="26685" grpId="0" animBg="1"/>
      <p:bldP spid="2669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0" y="3890008"/>
            <a:ext cx="9148317" cy="296799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365760" rIns="365760" anchor="t">
            <a:no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GB" sz="3000" b="1" dirty="0">
                <a:solidFill>
                  <a:srgbClr val="7030A0"/>
                </a:solidFill>
              </a:rPr>
              <a:t>SSL</a:t>
            </a:r>
            <a:r>
              <a:rPr lang="en-GB" sz="3000" dirty="0">
                <a:solidFill>
                  <a:srgbClr val="7030A0"/>
                </a:solidFill>
              </a:rPr>
              <a:t> </a:t>
            </a:r>
            <a:r>
              <a:rPr lang="en-GB" sz="3000" dirty="0"/>
              <a:t>is implemented is implemented in every popular web-browser.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3145524"/>
            <a:ext cx="9148317" cy="56695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365760" rIns="365760" anchor="ctr">
            <a:no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GB" sz="3000" b="1" dirty="0">
                <a:solidFill>
                  <a:srgbClr val="FF0000"/>
                </a:solidFill>
              </a:rPr>
              <a:t>X.509</a:t>
            </a:r>
            <a:r>
              <a:rPr lang="en-GB" sz="3000" dirty="0"/>
              <a:t> is used for example in </a:t>
            </a:r>
            <a:r>
              <a:rPr lang="en-GB" sz="3000" b="1" dirty="0">
                <a:solidFill>
                  <a:srgbClr val="7030A0"/>
                </a:solidFill>
              </a:rPr>
              <a:t>SSL</a:t>
            </a:r>
            <a:r>
              <a:rPr lang="en-GB" sz="3000" dirty="0"/>
              <a:t>.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2029549"/>
            <a:ext cx="9148317" cy="89744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365760" rIns="365760" anchor="ctr">
            <a:no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GB" sz="3000" dirty="0"/>
              <a:t>Here the level of recommendations is bounded using a field called </a:t>
            </a:r>
            <a:r>
              <a:rPr lang="en-GB" sz="3000" b="1" i="1" dirty="0">
                <a:solidFill>
                  <a:srgbClr val="FF0000"/>
                </a:solidFill>
              </a:rPr>
              <a:t>basic constraints</a:t>
            </a:r>
            <a:r>
              <a:rPr lang="en-GB" sz="3000" i="1" dirty="0"/>
              <a:t>.</a:t>
            </a:r>
            <a:endParaRPr lang="en-GB" sz="3000" dirty="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3830" y="-36394"/>
            <a:ext cx="7886700" cy="1034559"/>
          </a:xfrm>
        </p:spPr>
        <p:txBody>
          <a:bodyPr/>
          <a:lstStyle/>
          <a:p>
            <a:r>
              <a:rPr lang="en-GB" dirty="0"/>
              <a:t>How is it solved in practice?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1057365"/>
            <a:ext cx="9075421" cy="990600"/>
          </a:xfrm>
          <a:prstGeom prst="rect">
            <a:avLst/>
          </a:prstGeom>
        </p:spPr>
        <p:txBody>
          <a:bodyPr wrap="square" lIns="365760" rIns="365760">
            <a:no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GB" sz="3000" dirty="0"/>
              <a:t>In popular standard is </a:t>
            </a:r>
            <a:r>
              <a:rPr lang="en-GB" sz="3000" b="1" dirty="0">
                <a:solidFill>
                  <a:srgbClr val="FF0000"/>
                </a:solidFill>
              </a:rPr>
              <a:t>X.509</a:t>
            </a:r>
            <a:r>
              <a:rPr lang="en-GB" sz="3000" dirty="0"/>
              <a:t> the recommendation is included into a certificate.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64CEE-86EF-41F3-B196-6F5B95DF5A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46"/>
          <a:stretch/>
        </p:blipFill>
        <p:spPr>
          <a:xfrm>
            <a:off x="5195248" y="4320316"/>
            <a:ext cx="3070746" cy="2416504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EDD10ECD-1368-4683-8411-D3FD668BF4A9}"/>
              </a:ext>
            </a:extLst>
          </p:cNvPr>
          <p:cNvSpPr/>
          <p:nvPr/>
        </p:nvSpPr>
        <p:spPr>
          <a:xfrm rot="20181162">
            <a:off x="4008581" y="4606393"/>
            <a:ext cx="1508346" cy="391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first click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03205A9-9521-4D4C-A5A5-5503F241C7CD}"/>
              </a:ext>
            </a:extLst>
          </p:cNvPr>
          <p:cNvSpPr/>
          <p:nvPr/>
        </p:nvSpPr>
        <p:spPr>
          <a:xfrm>
            <a:off x="3864589" y="6122756"/>
            <a:ext cx="1471686" cy="3912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then here</a:t>
            </a:r>
          </a:p>
        </p:txBody>
      </p:sp>
    </p:spTree>
    <p:extLst>
      <p:ext uri="{BB962C8B-B14F-4D97-AF65-F5344CB8AC3E}">
        <p14:creationId xmlns:p14="http://schemas.microsoft.com/office/powerpoint/2010/main" val="78712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animBg="1"/>
      <p:bldP spid="27653" grpId="0" animBg="1"/>
      <p:bldP spid="27652" grpId="0" animBg="1"/>
      <p:bldP spid="6" grpId="0" animBg="1"/>
      <p:bldP spid="1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60" name="Rectangle 24"/>
          <p:cNvSpPr>
            <a:spLocks noChangeArrowheads="1"/>
          </p:cNvSpPr>
          <p:nvPr/>
        </p:nvSpPr>
        <p:spPr bwMode="auto">
          <a:xfrm>
            <a:off x="0" y="1120140"/>
            <a:ext cx="9144000" cy="1752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83821"/>
            <a:ext cx="8229600" cy="868363"/>
          </a:xfrm>
        </p:spPr>
        <p:txBody>
          <a:bodyPr/>
          <a:lstStyle/>
          <a:p>
            <a:r>
              <a:rPr lang="en-GB" dirty="0"/>
              <a:t>The simplified picture</a:t>
            </a:r>
            <a:endParaRPr lang="en-US" dirty="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514600" y="1196340"/>
            <a:ext cx="4737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000" b="1"/>
              <a:t>web browser knows these certificates</a:t>
            </a:r>
            <a:endParaRPr lang="en-US" sz="2000" b="1"/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 flipH="1">
            <a:off x="1371600" y="1577340"/>
            <a:ext cx="2895600" cy="762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685800" y="2339340"/>
            <a:ext cx="1009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/>
              <a:t>Verisign</a:t>
            </a:r>
            <a:endParaRPr lang="en-US"/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 flipH="1">
            <a:off x="3352800" y="157734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2743200" y="2339340"/>
            <a:ext cx="1009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/>
              <a:t>DigiCert</a:t>
            </a:r>
            <a:endParaRPr lang="en-US"/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4724400" y="2415540"/>
            <a:ext cx="908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/>
              <a:t>Entrust</a:t>
            </a:r>
            <a:endParaRPr lang="en-US"/>
          </a:p>
        </p:txBody>
      </p:sp>
      <p:sp>
        <p:nvSpPr>
          <p:cNvPr id="39946" name="Line 10"/>
          <p:cNvSpPr>
            <a:spLocks noChangeShapeType="1"/>
          </p:cNvSpPr>
          <p:nvPr/>
        </p:nvSpPr>
        <p:spPr bwMode="auto">
          <a:xfrm>
            <a:off x="4953000" y="157734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>
            <a:off x="5410200" y="165354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6689725" y="2299653"/>
            <a:ext cx="565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b="1"/>
              <a:t>. . . </a:t>
            </a:r>
            <a:endParaRPr lang="en-US" b="1"/>
          </a:p>
        </p:txBody>
      </p:sp>
      <p:sp>
        <p:nvSpPr>
          <p:cNvPr id="39949" name="Line 13"/>
          <p:cNvSpPr>
            <a:spLocks noChangeShapeType="1"/>
          </p:cNvSpPr>
          <p:nvPr/>
        </p:nvSpPr>
        <p:spPr bwMode="auto">
          <a:xfrm flipH="1">
            <a:off x="914400" y="2720340"/>
            <a:ext cx="228600" cy="838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50" name="Text Box 14"/>
          <p:cNvSpPr txBox="1">
            <a:spLocks noChangeArrowheads="1"/>
          </p:cNvSpPr>
          <p:nvPr/>
        </p:nvSpPr>
        <p:spPr bwMode="auto">
          <a:xfrm>
            <a:off x="304800" y="3634740"/>
            <a:ext cx="10096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/>
              <a:t>Verisign</a:t>
            </a:r>
            <a:br>
              <a:rPr lang="en-GB"/>
            </a:br>
            <a:r>
              <a:rPr lang="en-GB"/>
              <a:t>Europe</a:t>
            </a:r>
            <a:endParaRPr lang="en-US"/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>
            <a:off x="1295400" y="272034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52" name="Text Box 16"/>
          <p:cNvSpPr txBox="1">
            <a:spLocks noChangeArrowheads="1"/>
          </p:cNvSpPr>
          <p:nvPr/>
        </p:nvSpPr>
        <p:spPr bwMode="auto">
          <a:xfrm>
            <a:off x="1371600" y="3634740"/>
            <a:ext cx="10096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/>
              <a:t>Verisign</a:t>
            </a:r>
            <a:br>
              <a:rPr lang="en-GB"/>
            </a:br>
            <a:r>
              <a:rPr lang="en-GB"/>
              <a:t>USA</a:t>
            </a:r>
            <a:endParaRPr lang="en-US"/>
          </a:p>
        </p:txBody>
      </p:sp>
      <p:sp>
        <p:nvSpPr>
          <p:cNvPr id="39953" name="Line 17"/>
          <p:cNvSpPr>
            <a:spLocks noChangeShapeType="1"/>
          </p:cNvSpPr>
          <p:nvPr/>
        </p:nvSpPr>
        <p:spPr bwMode="auto">
          <a:xfrm flipH="1">
            <a:off x="762000" y="4320540"/>
            <a:ext cx="152400" cy="6858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54" name="Text Box 18"/>
          <p:cNvSpPr txBox="1">
            <a:spLocks noChangeArrowheads="1"/>
          </p:cNvSpPr>
          <p:nvPr/>
        </p:nvSpPr>
        <p:spPr bwMode="auto">
          <a:xfrm>
            <a:off x="228600" y="5082540"/>
            <a:ext cx="10096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/>
              <a:t>Verisign</a:t>
            </a:r>
            <a:br>
              <a:rPr lang="en-GB"/>
            </a:br>
            <a:r>
              <a:rPr lang="en-GB"/>
              <a:t>Italy</a:t>
            </a:r>
            <a:endParaRPr lang="en-US"/>
          </a:p>
        </p:txBody>
      </p:sp>
      <p:sp>
        <p:nvSpPr>
          <p:cNvPr id="39955" name="Line 19"/>
          <p:cNvSpPr>
            <a:spLocks noChangeShapeType="1"/>
          </p:cNvSpPr>
          <p:nvPr/>
        </p:nvSpPr>
        <p:spPr bwMode="auto">
          <a:xfrm>
            <a:off x="838200" y="5692140"/>
            <a:ext cx="228600" cy="6096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956" name="Text Box 20"/>
          <p:cNvSpPr txBox="1">
            <a:spLocks noChangeArrowheads="1"/>
          </p:cNvSpPr>
          <p:nvPr/>
        </p:nvSpPr>
        <p:spPr bwMode="auto">
          <a:xfrm>
            <a:off x="381000" y="6377940"/>
            <a:ext cx="174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/>
              <a:t>Banca di Roma</a:t>
            </a:r>
            <a:endParaRPr lang="en-US"/>
          </a:p>
        </p:txBody>
      </p:sp>
      <p:sp>
        <p:nvSpPr>
          <p:cNvPr id="39957" name="Text Box 21"/>
          <p:cNvSpPr txBox="1">
            <a:spLocks noChangeArrowheads="1"/>
          </p:cNvSpPr>
          <p:nvPr/>
        </p:nvSpPr>
        <p:spPr bwMode="auto">
          <a:xfrm>
            <a:off x="3733800" y="5311140"/>
            <a:ext cx="27971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sz="2800" dirty="0"/>
              <a:t>a certificate path</a:t>
            </a:r>
            <a:endParaRPr lang="en-US" sz="2800" dirty="0"/>
          </a:p>
        </p:txBody>
      </p:sp>
      <p:sp>
        <p:nvSpPr>
          <p:cNvPr id="39958" name="AutoShape 22"/>
          <p:cNvSpPr>
            <a:spLocks noChangeArrowheads="1"/>
          </p:cNvSpPr>
          <p:nvPr/>
        </p:nvSpPr>
        <p:spPr bwMode="auto">
          <a:xfrm rot="1412294">
            <a:off x="1039813" y="4457065"/>
            <a:ext cx="2559050" cy="762000"/>
          </a:xfrm>
          <a:prstGeom prst="leftArrow">
            <a:avLst>
              <a:gd name="adj1" fmla="val 50000"/>
              <a:gd name="adj2" fmla="val 83958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9959" name="Text Box 23"/>
          <p:cNvSpPr txBox="1">
            <a:spLocks noChangeArrowheads="1"/>
          </p:cNvSpPr>
          <p:nvPr/>
        </p:nvSpPr>
        <p:spPr bwMode="auto">
          <a:xfrm>
            <a:off x="2438400" y="2971800"/>
            <a:ext cx="48768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GB" sz="1900" dirty="0"/>
              <a:t>Implicit assumptions:</a:t>
            </a:r>
            <a:br>
              <a:rPr lang="en-GB" sz="1900" dirty="0"/>
            </a:br>
            <a:endParaRPr lang="en-GB" sz="1900" dirty="0"/>
          </a:p>
          <a:p>
            <a:pPr marL="457200" indent="-457200" algn="l">
              <a:buFont typeface="Arial" pitchFamily="34" charset="0"/>
              <a:buChar char="•"/>
            </a:pPr>
            <a:r>
              <a:rPr lang="en-GB" sz="1900" dirty="0"/>
              <a:t> the author of the browser is honest,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GB" sz="1900" dirty="0"/>
              <a:t> the author of the browser is competent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en-GB" sz="1900" dirty="0"/>
              <a:t> nobody manipulated the browser</a:t>
            </a:r>
            <a:br>
              <a:rPr lang="en-GB" sz="1900" dirty="0"/>
            </a:br>
            <a:r>
              <a:rPr lang="en-GB" sz="1900" dirty="0"/>
              <a:t> </a:t>
            </a:r>
            <a:endParaRPr lang="en-US" sz="1900" dirty="0"/>
          </a:p>
        </p:txBody>
      </p:sp>
      <p:sp>
        <p:nvSpPr>
          <p:cNvPr id="25" name="Right Arrow Callout 24"/>
          <p:cNvSpPr/>
          <p:nvPr/>
        </p:nvSpPr>
        <p:spPr>
          <a:xfrm flipH="1">
            <a:off x="7086600" y="3377556"/>
            <a:ext cx="1785950" cy="1285884"/>
          </a:xfrm>
          <a:prstGeom prst="rightArrow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is it always true?</a:t>
            </a:r>
          </a:p>
        </p:txBody>
      </p:sp>
    </p:spTree>
    <p:extLst>
      <p:ext uri="{BB962C8B-B14F-4D97-AF65-F5344CB8AC3E}">
        <p14:creationId xmlns:p14="http://schemas.microsoft.com/office/powerpoint/2010/main" val="207217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7" grpId="0"/>
      <p:bldP spid="39958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371600" y="152566"/>
            <a:ext cx="5597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</a:rPr>
              <a:t>CA</a:t>
            </a:r>
            <a:r>
              <a:rPr lang="en-GB" b="1" baseline="-25000" dirty="0">
                <a:solidFill>
                  <a:srgbClr val="FF0000"/>
                </a:solidFill>
              </a:rPr>
              <a:t>1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40965" name="Line 5"/>
          <p:cNvSpPr>
            <a:spLocks noChangeShapeType="1"/>
          </p:cNvSpPr>
          <p:nvPr/>
        </p:nvSpPr>
        <p:spPr bwMode="auto">
          <a:xfrm flipH="1">
            <a:off x="1676400" y="533400"/>
            <a:ext cx="0" cy="762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 flipH="1">
            <a:off x="1676400" y="1676400"/>
            <a:ext cx="0" cy="762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1676400" y="2667000"/>
            <a:ext cx="0" cy="762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auto">
          <a:xfrm>
            <a:off x="1371600" y="1295400"/>
            <a:ext cx="5597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</a:rPr>
              <a:t>CA</a:t>
            </a:r>
            <a:r>
              <a:rPr lang="en-GB" b="1" baseline="-25000" dirty="0">
                <a:solidFill>
                  <a:srgbClr val="FF0000"/>
                </a:solidFill>
              </a:rPr>
              <a:t>2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40974" name="Text Box 14"/>
          <p:cNvSpPr txBox="1">
            <a:spLocks noChangeArrowheads="1"/>
          </p:cNvSpPr>
          <p:nvPr/>
        </p:nvSpPr>
        <p:spPr bwMode="auto">
          <a:xfrm>
            <a:off x="1371600" y="2362200"/>
            <a:ext cx="5597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</a:rPr>
              <a:t>CA</a:t>
            </a:r>
            <a:r>
              <a:rPr lang="en-GB" b="1" baseline="-25000" dirty="0">
                <a:solidFill>
                  <a:srgbClr val="FF0000"/>
                </a:solidFill>
              </a:rPr>
              <a:t>3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40975" name="Line 15"/>
          <p:cNvSpPr>
            <a:spLocks noChangeShapeType="1"/>
          </p:cNvSpPr>
          <p:nvPr/>
        </p:nvSpPr>
        <p:spPr bwMode="auto">
          <a:xfrm>
            <a:off x="1676400" y="5257800"/>
            <a:ext cx="0" cy="6858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b="1"/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>
            <a:off x="1371600" y="4876800"/>
            <a:ext cx="5613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b="1" dirty="0" err="1">
                <a:solidFill>
                  <a:srgbClr val="FF0000"/>
                </a:solidFill>
              </a:rPr>
              <a:t>CA</a:t>
            </a:r>
            <a:r>
              <a:rPr lang="en-GB" b="1" baseline="-25000" dirty="0" err="1">
                <a:solidFill>
                  <a:srgbClr val="FF0000"/>
                </a:solidFill>
              </a:rPr>
              <a:t>n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40977" name="Text Box 17"/>
          <p:cNvSpPr txBox="1">
            <a:spLocks noChangeArrowheads="1"/>
          </p:cNvSpPr>
          <p:nvPr/>
        </p:nvSpPr>
        <p:spPr bwMode="auto">
          <a:xfrm>
            <a:off x="1295400" y="6019800"/>
            <a:ext cx="781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</a:rPr>
              <a:t>client</a:t>
            </a: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1214414" y="631372"/>
            <a:ext cx="809649" cy="3698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b="1" dirty="0"/>
              <a:t>cert</a:t>
            </a:r>
            <a:r>
              <a:rPr lang="en-GB" b="1" baseline="-25000" dirty="0"/>
              <a:t>1</a:t>
            </a:r>
            <a:endParaRPr lang="en-US" b="1" baseline="-25000" dirty="0"/>
          </a:p>
        </p:txBody>
      </p:sp>
      <p:sp>
        <p:nvSpPr>
          <p:cNvPr id="40979" name="Text Box 19"/>
          <p:cNvSpPr txBox="1">
            <a:spLocks noChangeArrowheads="1"/>
          </p:cNvSpPr>
          <p:nvPr/>
        </p:nvSpPr>
        <p:spPr bwMode="auto">
          <a:xfrm>
            <a:off x="1214414" y="1752600"/>
            <a:ext cx="809649" cy="3698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b="1" dirty="0"/>
              <a:t>cert</a:t>
            </a:r>
            <a:r>
              <a:rPr lang="en-GB" b="1" baseline="-25000" dirty="0"/>
              <a:t>2</a:t>
            </a:r>
            <a:endParaRPr lang="en-US" b="1" baseline="-25000" dirty="0"/>
          </a:p>
        </p:txBody>
      </p:sp>
      <p:sp>
        <p:nvSpPr>
          <p:cNvPr id="40980" name="Text Box 20"/>
          <p:cNvSpPr txBox="1">
            <a:spLocks noChangeArrowheads="1"/>
          </p:cNvSpPr>
          <p:nvPr/>
        </p:nvSpPr>
        <p:spPr bwMode="auto">
          <a:xfrm>
            <a:off x="1214414" y="2743200"/>
            <a:ext cx="809649" cy="3698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b="1" dirty="0"/>
              <a:t>cert</a:t>
            </a:r>
            <a:r>
              <a:rPr lang="en-GB" b="1" baseline="-25000" dirty="0"/>
              <a:t>3</a:t>
            </a:r>
            <a:endParaRPr lang="en-US" b="1" baseline="-25000" dirty="0"/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>
            <a:off x="1676400" y="4114800"/>
            <a:ext cx="0" cy="762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982" name="Text Box 22"/>
          <p:cNvSpPr txBox="1">
            <a:spLocks noChangeArrowheads="1"/>
          </p:cNvSpPr>
          <p:nvPr/>
        </p:nvSpPr>
        <p:spPr bwMode="auto">
          <a:xfrm>
            <a:off x="1219200" y="4191000"/>
            <a:ext cx="838200" cy="3698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GB" b="1" dirty="0"/>
              <a:t>cert</a:t>
            </a:r>
            <a:r>
              <a:rPr lang="en-GB" b="1" baseline="-25000" dirty="0"/>
              <a:t>n-1</a:t>
            </a:r>
            <a:endParaRPr lang="en-US" b="1" baseline="-25000" dirty="0"/>
          </a:p>
        </p:txBody>
      </p:sp>
      <p:sp>
        <p:nvSpPr>
          <p:cNvPr id="40983" name="Text Box 23"/>
          <p:cNvSpPr txBox="1">
            <a:spLocks noChangeArrowheads="1"/>
          </p:cNvSpPr>
          <p:nvPr/>
        </p:nvSpPr>
        <p:spPr bwMode="auto">
          <a:xfrm>
            <a:off x="1219200" y="5334000"/>
            <a:ext cx="838200" cy="3698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GB" b="1" dirty="0" err="1"/>
              <a:t>cert</a:t>
            </a:r>
            <a:r>
              <a:rPr lang="en-GB" b="1" baseline="-25000" dirty="0" err="1"/>
              <a:t>n</a:t>
            </a:r>
            <a:endParaRPr lang="en-US" b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84" name="Text Box 24"/>
              <p:cNvSpPr txBox="1">
                <a:spLocks noChangeArrowheads="1"/>
              </p:cNvSpPr>
              <p:nvPr/>
            </p:nvSpPr>
            <p:spPr bwMode="auto">
              <a:xfrm>
                <a:off x="2777109" y="1570344"/>
                <a:ext cx="6072230" cy="352949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l"/>
                <a:r>
                  <a:rPr lang="en-GB" sz="2800" dirty="0"/>
                  <a:t>Each </a:t>
                </a:r>
                <a:r>
                  <a:rPr lang="en-GB" sz="2800" b="1" dirty="0" err="1">
                    <a:solidFill>
                      <a:srgbClr val="FF0000"/>
                    </a:solidFill>
                  </a:rPr>
                  <a:t>cert</a:t>
                </a:r>
                <a:r>
                  <a:rPr lang="en-GB" sz="2800" b="1" baseline="-25000" dirty="0" err="1">
                    <a:solidFill>
                      <a:srgbClr val="FF0000"/>
                    </a:solidFill>
                  </a:rPr>
                  <a:t>i</a:t>
                </a:r>
                <a:r>
                  <a:rPr lang="en-GB" sz="2800" baseline="-25000" dirty="0"/>
                  <a:t> </a:t>
                </a:r>
                <a:r>
                  <a:rPr lang="en-GB" sz="2800" dirty="0"/>
                  <a:t>has a number </a:t>
                </a:r>
                <a14:m>
                  <m:oMath xmlns:m="http://schemas.openxmlformats.org/officeDocument/2006/math">
                    <m:r>
                      <a:rPr lang="en-GB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sz="2800" b="1" i="1" baseline="-25000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sz="2800" b="1" baseline="-25000" dirty="0"/>
                  <a:t> </a:t>
                </a:r>
                <a:r>
                  <a:rPr lang="en-GB" sz="2800" dirty="0"/>
                  <a:t>denoting a maximal depth of certificate chain from this point </a:t>
                </a:r>
              </a:p>
              <a:p>
                <a:pPr algn="l"/>
                <a:r>
                  <a:rPr lang="en-GB" sz="2800" dirty="0"/>
                  <a:t>(this limits the recommendation depth)</a:t>
                </a:r>
              </a:p>
              <a:p>
                <a:pPr algn="l"/>
                <a:endParaRPr lang="en-GB" sz="2800" dirty="0"/>
              </a:p>
              <a:p>
                <a:pPr algn="l"/>
                <a:r>
                  <a:rPr lang="en-GB" sz="2800" dirty="0"/>
                  <a:t>That is, we need to have: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sz="2800" b="1" i="1" baseline="-25000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GB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charset="0"/>
                        </a:rPr>
                        <m:t>≥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GB" sz="28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GB" sz="2800" b="1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endParaRPr lang="en-US" sz="2800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84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7109" y="1570344"/>
                <a:ext cx="6072230" cy="35294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87" name="Text Box 27"/>
              <p:cNvSpPr txBox="1">
                <a:spLocks noChangeArrowheads="1"/>
              </p:cNvSpPr>
              <p:nvPr/>
            </p:nvSpPr>
            <p:spPr bwMode="auto">
              <a:xfrm>
                <a:off x="533400" y="304800"/>
                <a:ext cx="5905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87" name="Text 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304800"/>
                <a:ext cx="590550" cy="36671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88" name="Text Box 28"/>
              <p:cNvSpPr txBox="1">
                <a:spLocks noChangeArrowheads="1"/>
              </p:cNvSpPr>
              <p:nvPr/>
            </p:nvSpPr>
            <p:spPr bwMode="auto">
              <a:xfrm>
                <a:off x="533400" y="1295400"/>
                <a:ext cx="5905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88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1295400"/>
                <a:ext cx="590550" cy="36671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89" name="Text Box 29"/>
              <p:cNvSpPr txBox="1">
                <a:spLocks noChangeArrowheads="1"/>
              </p:cNvSpPr>
              <p:nvPr/>
            </p:nvSpPr>
            <p:spPr bwMode="auto">
              <a:xfrm>
                <a:off x="533400" y="2286000"/>
                <a:ext cx="5905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b="1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89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2286000"/>
                <a:ext cx="590550" cy="36671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90" name="Text Box 30"/>
              <p:cNvSpPr txBox="1">
                <a:spLocks noChangeArrowheads="1"/>
              </p:cNvSpPr>
              <p:nvPr/>
            </p:nvSpPr>
            <p:spPr bwMode="auto">
              <a:xfrm>
                <a:off x="533400" y="4876800"/>
                <a:ext cx="590550" cy="366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GB" b="1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90" name="Text 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4876800"/>
                <a:ext cx="590550" cy="36671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1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4" grpId="0" build="p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31E7-22FD-4301-871B-0BC4ED9DD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popular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31D54-DD58-43E1-BFA9-99C1EEC6C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In the past: </a:t>
            </a:r>
            <a:r>
              <a:rPr lang="en-US" b="1" dirty="0">
                <a:solidFill>
                  <a:srgbClr val="0070C0"/>
                </a:solidFill>
              </a:rPr>
              <a:t>Pretty Good Privacy </a:t>
            </a:r>
            <a:r>
              <a:rPr lang="en-US" dirty="0"/>
              <a:t>(PGP) – every user can act as a certification authority (hence the name: </a:t>
            </a:r>
            <a:r>
              <a:rPr lang="en-US" b="1" dirty="0">
                <a:solidFill>
                  <a:srgbClr val="7030A0"/>
                </a:solidFill>
              </a:rPr>
              <a:t>Web of Trust</a:t>
            </a:r>
            <a:r>
              <a:rPr lang="en-US" dirty="0"/>
              <a:t>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More recently: </a:t>
            </a:r>
            <a:r>
              <a:rPr lang="en-US" b="1" dirty="0" err="1">
                <a:solidFill>
                  <a:srgbClr val="FF0000"/>
                </a:solidFill>
              </a:rPr>
              <a:t>Namecoin</a:t>
            </a:r>
            <a:r>
              <a:rPr lang="en-US" dirty="0"/>
              <a:t>– use blockchain as a distributed register.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52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56" y="2000240"/>
            <a:ext cx="6929486" cy="292895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Public key cryptography – an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key management problem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qualified signatures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public key infrastructure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Identity-based cryptography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500034" y="3764753"/>
            <a:ext cx="1214446" cy="500066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091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Identity based cryptography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971676"/>
              </a:xfrm>
            </p:spPr>
            <p:txBody>
              <a:bodyPr/>
              <a:lstStyle/>
              <a:p>
                <a:pPr>
                  <a:buNone/>
                </a:pPr>
                <a:r>
                  <a:rPr lang="it-IT" b="1" u="sng" dirty="0"/>
                  <a:t>Main idea</a:t>
                </a:r>
                <a:r>
                  <a:rPr lang="it-IT" dirty="0"/>
                  <a:t>:</a:t>
                </a:r>
              </a:p>
              <a:p>
                <a:pPr>
                  <a:buNone/>
                </a:pPr>
                <a:r>
                  <a:rPr lang="it-IT" dirty="0"/>
                  <a:t>the identifier </a:t>
                </a:r>
                <a14:m>
                  <m:oMath xmlns:m="http://schemas.openxmlformats.org/officeDocument/2006/math">
                    <m:r>
                      <a:rPr lang="it-IT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𝐈𝐃</m:t>
                    </m:r>
                  </m:oMath>
                </a14:m>
                <a:r>
                  <a:rPr lang="it-IT" b="1" dirty="0"/>
                  <a:t> </a:t>
                </a:r>
                <a:r>
                  <a:rPr lang="it-IT" dirty="0"/>
                  <a:t>of the user is its public key.</a:t>
                </a:r>
              </a:p>
              <a:p>
                <a:pPr>
                  <a:buNone/>
                </a:pPr>
                <a:r>
                  <a:rPr lang="it-IT" dirty="0"/>
                  <a:t>(e.g. </a:t>
                </a:r>
                <a:r>
                  <a:rPr lang="it-IT" b="1" dirty="0">
                    <a:solidFill>
                      <a:srgbClr val="FF0000"/>
                    </a:solidFill>
                  </a:rPr>
                  <a:t>ID</a:t>
                </a:r>
                <a:r>
                  <a:rPr lang="it-IT" dirty="0">
                    <a:solidFill>
                      <a:srgbClr val="FF0000"/>
                    </a:solidFill>
                  </a:rPr>
                  <a:t> </a:t>
                </a:r>
                <a:r>
                  <a:rPr lang="it-IT" dirty="0"/>
                  <a:t>= user’s email address).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971676"/>
              </a:xfrm>
              <a:blipFill rotWithShape="0">
                <a:blip r:embed="rId3"/>
                <a:stretch>
                  <a:fillRect l="-1481" t="-5573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PL416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6578" y="3571876"/>
            <a:ext cx="1588298" cy="1285878"/>
          </a:xfrm>
          <a:prstGeom prst="rect">
            <a:avLst/>
          </a:prstGeom>
          <a:noFill/>
        </p:spPr>
      </p:pic>
      <p:pic>
        <p:nvPicPr>
          <p:cNvPr id="6" name="Picture 6" descr="PL4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85852" y="4143380"/>
            <a:ext cx="1578295" cy="1470029"/>
          </a:xfrm>
          <a:prstGeom prst="rect">
            <a:avLst/>
          </a:prstGeom>
          <a:noFill/>
        </p:spPr>
      </p:pic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6286512" y="4929198"/>
            <a:ext cx="2428892" cy="50006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ID: </a:t>
            </a:r>
            <a:r>
              <a:rPr lang="en-US" b="1" dirty="0">
                <a:solidFill>
                  <a:srgbClr val="FF0000"/>
                </a:solidFill>
              </a:rPr>
              <a:t>alice@gmail.com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ight Arrow 20"/>
              <p:cNvSpPr/>
              <p:nvPr/>
            </p:nvSpPr>
            <p:spPr>
              <a:xfrm>
                <a:off x="3071802" y="3857628"/>
                <a:ext cx="3286148" cy="1928826"/>
              </a:xfrm>
              <a:prstGeom prst="rightArrow">
                <a:avLst>
                  <a:gd name="adj1" fmla="val 32656"/>
                  <a:gd name="adj2" fmla="val 50000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it-IT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𝐄𝐧𝐜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𝐈𝐃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it-IT" sz="2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ight Arrow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802" y="3857628"/>
                <a:ext cx="3286148" cy="1928826"/>
              </a:xfrm>
              <a:prstGeom prst="rightArrow">
                <a:avLst>
                  <a:gd name="adj1" fmla="val 32656"/>
                  <a:gd name="adj2" fmla="val 50000"/>
                </a:avLst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28596" y="4429132"/>
                <a:ext cx="1287532" cy="3693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it-IT" dirty="0"/>
                  <a:t>message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96" y="4429132"/>
                <a:ext cx="1287532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3271" t="-9677" b="-225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820333" y="5929324"/>
            <a:ext cx="3323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u="sng" dirty="0"/>
              <a:t>question</a:t>
            </a:r>
            <a:r>
              <a:rPr lang="it-IT" sz="2400" dirty="0"/>
              <a:t>:</a:t>
            </a:r>
          </a:p>
          <a:p>
            <a:r>
              <a:rPr lang="it-IT" sz="2400" dirty="0"/>
              <a:t>What is the private key?</a:t>
            </a:r>
          </a:p>
        </p:txBody>
      </p:sp>
    </p:spTree>
    <p:extLst>
      <p:ext uri="{BB962C8B-B14F-4D97-AF65-F5344CB8AC3E}">
        <p14:creationId xmlns:p14="http://schemas.microsoft.com/office/powerpoint/2010/main" val="70580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1" grpId="0" animBg="1"/>
      <p:bldP spid="23" grpId="0" animBg="1"/>
      <p:bldP spid="2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14290"/>
            <a:ext cx="8229600" cy="1000108"/>
          </a:xfrm>
        </p:spPr>
        <p:txBody>
          <a:bodyPr/>
          <a:lstStyle/>
          <a:p>
            <a:r>
              <a:rPr lang="it-IT" dirty="0"/>
              <a:t>Solution</a:t>
            </a:r>
          </a:p>
        </p:txBody>
      </p:sp>
      <p:pic>
        <p:nvPicPr>
          <p:cNvPr id="4" name="Picture 8" descr="MCj0234477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1428736"/>
            <a:ext cx="1500198" cy="4000528"/>
          </a:xfrm>
          <a:prstGeom prst="rect">
            <a:avLst/>
          </a:prstGeom>
          <a:noFill/>
        </p:spPr>
      </p:pic>
      <p:pic>
        <p:nvPicPr>
          <p:cNvPr id="6" name="Picture 5" descr="PL413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29520" y="2919410"/>
            <a:ext cx="900112" cy="927100"/>
          </a:xfrm>
          <a:prstGeom prst="rect">
            <a:avLst/>
          </a:prstGeom>
          <a:noFill/>
        </p:spPr>
      </p:pic>
      <p:pic>
        <p:nvPicPr>
          <p:cNvPr id="7" name="Picture 6" descr="PL415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93022" y="1571612"/>
            <a:ext cx="1041400" cy="969963"/>
          </a:xfrm>
          <a:prstGeom prst="rect">
            <a:avLst/>
          </a:prstGeom>
          <a:noFill/>
        </p:spPr>
      </p:pic>
      <p:pic>
        <p:nvPicPr>
          <p:cNvPr id="14" name="Picture 22" descr="PL412a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358082" y="4276732"/>
            <a:ext cx="990600" cy="942975"/>
          </a:xfrm>
          <a:prstGeom prst="rect">
            <a:avLst/>
          </a:prstGeom>
          <a:noFill/>
        </p:spPr>
      </p:pic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6881858" y="5000636"/>
            <a:ext cx="1857388" cy="50006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carol@gmail.com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6786578" y="3562352"/>
            <a:ext cx="2000264" cy="50006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bob@gmail.com</a:t>
            </a: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6858016" y="2143116"/>
            <a:ext cx="2000264" cy="50006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alice@gmail.com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361" y="3630401"/>
            <a:ext cx="185738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/>
              <a:t>holds a </a:t>
            </a:r>
            <a:r>
              <a:rPr lang="it-IT" b="1" dirty="0"/>
              <a:t>master secret key </a:t>
            </a:r>
            <a:r>
              <a:rPr lang="it-IT" b="1" dirty="0">
                <a:solidFill>
                  <a:srgbClr val="FF0000"/>
                </a:solidFill>
              </a:rPr>
              <a:t>SK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4370" y="1866387"/>
            <a:ext cx="203709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b="1" dirty="0"/>
              <a:t>central authority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357422" y="1643050"/>
            <a:ext cx="4429156" cy="1143008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secret key </a:t>
            </a:r>
            <a:r>
              <a:rPr lang="it-IT" b="1" dirty="0">
                <a:solidFill>
                  <a:srgbClr val="FF0000"/>
                </a:solidFill>
              </a:rPr>
              <a:t>SK</a:t>
            </a:r>
            <a:r>
              <a:rPr lang="en-US" b="1" baseline="-25000" dirty="0">
                <a:solidFill>
                  <a:srgbClr val="FF0000"/>
                </a:solidFill>
              </a:rPr>
              <a:t>alice@gmail.com 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Extract(SK, </a:t>
            </a:r>
            <a:r>
              <a:rPr lang="en-US" b="1" u="sng" dirty="0">
                <a:solidFill>
                  <a:srgbClr val="FF0000"/>
                </a:solidFill>
              </a:rPr>
              <a:t>alice@gmail.com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2357422" y="2919410"/>
            <a:ext cx="4429156" cy="1143008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secret key of </a:t>
            </a:r>
            <a:r>
              <a:rPr lang="it-IT" b="1" dirty="0">
                <a:solidFill>
                  <a:srgbClr val="FF0000"/>
                </a:solidFill>
              </a:rPr>
              <a:t>SK</a:t>
            </a:r>
            <a:r>
              <a:rPr lang="en-US" b="1" baseline="-25000" dirty="0">
                <a:solidFill>
                  <a:srgbClr val="FF0000"/>
                </a:solidFill>
              </a:rPr>
              <a:t>bob@gmail.com 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Extract(SK, </a:t>
            </a:r>
            <a:r>
              <a:rPr lang="en-US" b="1" u="sng" dirty="0">
                <a:solidFill>
                  <a:srgbClr val="FF0000"/>
                </a:solidFill>
              </a:rPr>
              <a:t>bob@gmail.com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2357422" y="4205294"/>
            <a:ext cx="4429156" cy="1143008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secret key of </a:t>
            </a:r>
            <a:r>
              <a:rPr lang="it-IT" b="1" dirty="0">
                <a:solidFill>
                  <a:srgbClr val="FF0000"/>
                </a:solidFill>
              </a:rPr>
              <a:t>SK</a:t>
            </a:r>
            <a:r>
              <a:rPr lang="en-US" b="1" baseline="-25000" dirty="0">
                <a:solidFill>
                  <a:srgbClr val="FF0000"/>
                </a:solidFill>
              </a:rPr>
              <a:t>carol@gmail.com 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Extract(SK, </a:t>
            </a:r>
            <a:r>
              <a:rPr lang="en-US" b="1" u="sng" dirty="0">
                <a:solidFill>
                  <a:srgbClr val="FF0000"/>
                </a:solidFill>
              </a:rPr>
              <a:t>carol@gmail.com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7" name="Left Brace 26"/>
          <p:cNvSpPr/>
          <p:nvPr/>
        </p:nvSpPr>
        <p:spPr>
          <a:xfrm rot="16200000">
            <a:off x="4286248" y="3429000"/>
            <a:ext cx="428628" cy="4429156"/>
          </a:xfrm>
          <a:prstGeom prst="leftBrace">
            <a:avLst>
              <a:gd name="adj1" fmla="val 5298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TextBox 27"/>
          <p:cNvSpPr txBox="1"/>
          <p:nvPr/>
        </p:nvSpPr>
        <p:spPr>
          <a:xfrm>
            <a:off x="3500430" y="6000768"/>
            <a:ext cx="2276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sent over a secure link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E898CC-E52E-43C9-86EC-FF538BD8BFC3}"/>
              </a:ext>
            </a:extLst>
          </p:cNvPr>
          <p:cNvSpPr txBox="1"/>
          <p:nvPr/>
        </p:nvSpPr>
        <p:spPr>
          <a:xfrm>
            <a:off x="366360" y="5803439"/>
            <a:ext cx="2499669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publishes a corresponding </a:t>
            </a:r>
            <a:r>
              <a:rPr lang="it-IT" b="1" dirty="0"/>
              <a:t>master public key </a:t>
            </a:r>
            <a:r>
              <a:rPr lang="pl-PL" b="1" dirty="0">
                <a:solidFill>
                  <a:srgbClr val="FF0000"/>
                </a:solidFill>
              </a:rPr>
              <a:t>PK</a:t>
            </a:r>
            <a:endParaRPr lang="it-IT" dirty="0">
              <a:solidFill>
                <a:srgbClr val="FF0000"/>
              </a:solidFill>
            </a:endParaRP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55E0DD8B-B925-4F80-A387-A3945DD433ED}"/>
              </a:ext>
            </a:extLst>
          </p:cNvPr>
          <p:cNvCxnSpPr>
            <a:cxnSpLocks/>
            <a:stCxn id="22" idx="1"/>
            <a:endCxn id="21" idx="0"/>
          </p:cNvCxnSpPr>
          <p:nvPr/>
        </p:nvCxnSpPr>
        <p:spPr>
          <a:xfrm rot="10800000" flipH="1" flipV="1">
            <a:off x="366361" y="3953567"/>
            <a:ext cx="1249834" cy="1849872"/>
          </a:xfrm>
          <a:prstGeom prst="curvedConnector4">
            <a:avLst>
              <a:gd name="adj1" fmla="val -18290"/>
              <a:gd name="adj2" fmla="val 5873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66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27" grpId="0" animBg="1"/>
      <p:bldP spid="28" grpId="0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L415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9942" y="2398965"/>
            <a:ext cx="1578295" cy="1470029"/>
          </a:xfrm>
          <a:prstGeom prst="rect">
            <a:avLst/>
          </a:prstGeom>
          <a:noFill/>
        </p:spPr>
      </p:pic>
      <p:sp>
        <p:nvSpPr>
          <p:cNvPr id="7" name="Right Arrow 6"/>
          <p:cNvSpPr/>
          <p:nvPr/>
        </p:nvSpPr>
        <p:spPr>
          <a:xfrm>
            <a:off x="1364776" y="2262415"/>
            <a:ext cx="5177519" cy="1928826"/>
          </a:xfrm>
          <a:prstGeom prst="rightArrow">
            <a:avLst>
              <a:gd name="adj1" fmla="val 32656"/>
              <a:gd name="adj2" fmla="val 5000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b="1" dirty="0">
                <a:solidFill>
                  <a:srgbClr val="FF0000"/>
                </a:solidFill>
              </a:rPr>
              <a:t> = Enc(PK,</a:t>
            </a:r>
            <a:r>
              <a:rPr lang="en-US" sz="2400" b="1" u="sng" dirty="0">
                <a:solidFill>
                  <a:srgbClr val="FF0000"/>
                </a:solidFill>
              </a:rPr>
              <a:t>alice@gmail.com</a:t>
            </a:r>
            <a:r>
              <a:rPr lang="it-IT" sz="2400" b="1" dirty="0">
                <a:solidFill>
                  <a:srgbClr val="FF0000"/>
                </a:solidFill>
              </a:rPr>
              <a:t>, </a:t>
            </a:r>
            <a:r>
              <a:rPr lang="it-IT" sz="2400" b="1" i="1" dirty="0">
                <a:solidFill>
                  <a:srgbClr val="FF0000"/>
                </a:solidFill>
              </a:rPr>
              <a:t>M</a:t>
            </a:r>
            <a:r>
              <a:rPr lang="it-IT" sz="24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to decrypt</a:t>
            </a:r>
          </a:p>
        </p:txBody>
      </p:sp>
      <p:pic>
        <p:nvPicPr>
          <p:cNvPr id="4" name="Picture 4" descr="PL416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06516" y="1939249"/>
            <a:ext cx="1588298" cy="1285878"/>
          </a:xfrm>
          <a:prstGeom prst="rect">
            <a:avLst/>
          </a:prstGeom>
          <a:noFill/>
        </p:spPr>
      </p:pic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6192202" y="3170596"/>
            <a:ext cx="2723198" cy="50006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b="1" u="sng" dirty="0">
                <a:solidFill>
                  <a:srgbClr val="FF0000"/>
                </a:solidFill>
              </a:rPr>
              <a:t>alice@gmail.com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76196" y="2138739"/>
                <a:ext cx="1287532" cy="3693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it-IT" dirty="0"/>
                  <a:t>message </a:t>
                </a:r>
                <a14:m>
                  <m:oMath xmlns:m="http://schemas.openxmlformats.org/officeDocument/2006/math">
                    <m:r>
                      <a:rPr lang="it-IT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endParaRPr lang="it-IT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96" y="2138739"/>
                <a:ext cx="1287532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3271" t="-9677" b="-2258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157912" y="983972"/>
            <a:ext cx="2723198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knows </a:t>
            </a:r>
            <a:r>
              <a:rPr lang="it-IT" sz="2400" b="1" dirty="0">
                <a:solidFill>
                  <a:srgbClr val="FF0000"/>
                </a:solidFill>
              </a:rPr>
              <a:t>SK</a:t>
            </a:r>
            <a:r>
              <a:rPr lang="it-IT" sz="2400" b="1" baseline="-25000" dirty="0">
                <a:solidFill>
                  <a:srgbClr val="FF0000"/>
                </a:solidFill>
              </a:rPr>
              <a:t>alice</a:t>
            </a:r>
            <a:r>
              <a:rPr lang="en-US" sz="2400" b="1" baseline="-25000" dirty="0">
                <a:solidFill>
                  <a:srgbClr val="FF0000"/>
                </a:solidFill>
              </a:rPr>
              <a:t>@gmail.com</a:t>
            </a:r>
            <a:endParaRPr lang="it-IT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92202" y="4301844"/>
            <a:ext cx="2688908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calculates</a:t>
            </a:r>
          </a:p>
          <a:p>
            <a:pPr algn="ctr"/>
            <a:r>
              <a:rPr lang="it-IT" sz="2400" b="1" i="1" dirty="0">
                <a:solidFill>
                  <a:srgbClr val="FF0000"/>
                </a:solidFill>
              </a:rPr>
              <a:t>M</a:t>
            </a:r>
            <a:r>
              <a:rPr lang="it-IT" sz="2400" b="1" dirty="0">
                <a:solidFill>
                  <a:srgbClr val="FF0000"/>
                </a:solidFill>
              </a:rPr>
              <a:t>=Dec(SK</a:t>
            </a:r>
            <a:r>
              <a:rPr lang="it-IT" sz="2400" b="1" baseline="-25000" dirty="0">
                <a:solidFill>
                  <a:srgbClr val="FF0000"/>
                </a:solidFill>
              </a:rPr>
              <a:t>alice </a:t>
            </a:r>
            <a:r>
              <a:rPr lang="it-IT" sz="2400" b="1" dirty="0">
                <a:solidFill>
                  <a:srgbClr val="FF0000"/>
                </a:solidFill>
              </a:rPr>
              <a:t>,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b="1" dirty="0">
                <a:solidFill>
                  <a:srgbClr val="FF0000"/>
                </a:solidFill>
              </a:rPr>
              <a:t>)</a:t>
            </a:r>
            <a:endParaRPr lang="it-IT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96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ID-based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it-IT" dirty="0"/>
              <a:t>Main </a:t>
            </a:r>
            <a:r>
              <a:rPr lang="it-IT" b="1" dirty="0">
                <a:solidFill>
                  <a:srgbClr val="0070C0"/>
                </a:solidFill>
              </a:rPr>
              <a:t>advantage</a:t>
            </a:r>
            <a:r>
              <a:rPr lang="it-IT" dirty="0"/>
              <a:t>:</a:t>
            </a:r>
          </a:p>
          <a:p>
            <a:r>
              <a:rPr lang="it-IT" dirty="0"/>
              <a:t>no need for an </a:t>
            </a:r>
            <a:r>
              <a:rPr lang="en-US" dirty="0"/>
              <a:t>“infrastructure”</a:t>
            </a:r>
            <a:endParaRPr lang="it-IT" b="1" dirty="0">
              <a:solidFill>
                <a:srgbClr val="FF0000"/>
              </a:solidFill>
            </a:endParaRP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b="1" dirty="0">
                <a:solidFill>
                  <a:srgbClr val="0070C0"/>
                </a:solidFill>
              </a:rPr>
              <a:t>Drawbacks</a:t>
            </a:r>
            <a:r>
              <a:rPr lang="it-IT" dirty="0"/>
              <a:t>:</a:t>
            </a:r>
          </a:p>
          <a:p>
            <a:r>
              <a:rPr lang="it-IT" dirty="0"/>
              <a:t>users need to </a:t>
            </a:r>
            <a:r>
              <a:rPr lang="it-IT" b="1" dirty="0">
                <a:solidFill>
                  <a:srgbClr val="FF0000"/>
                </a:solidFill>
              </a:rPr>
              <a:t>trust an authority,</a:t>
            </a:r>
          </a:p>
          <a:p>
            <a:r>
              <a:rPr lang="it-IT" dirty="0"/>
              <a:t>and they need to have a </a:t>
            </a:r>
            <a:r>
              <a:rPr lang="it-IT" b="1" dirty="0">
                <a:solidFill>
                  <a:srgbClr val="7030A0"/>
                </a:solidFill>
              </a:rPr>
              <a:t>secure link </a:t>
            </a:r>
            <a:r>
              <a:rPr lang="it-IT" dirty="0"/>
              <a:t>to it,</a:t>
            </a:r>
          </a:p>
          <a:p>
            <a:r>
              <a:rPr lang="it-IT" dirty="0"/>
              <a:t>what about the </a:t>
            </a:r>
            <a:r>
              <a:rPr lang="it-IT" b="1" dirty="0">
                <a:solidFill>
                  <a:srgbClr val="002060"/>
                </a:solidFill>
              </a:rPr>
              <a:t>key revocation</a:t>
            </a:r>
            <a:r>
              <a:rPr lang="it-IT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8633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ID-based encrypion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Proposed by </a:t>
            </a:r>
            <a:r>
              <a:rPr lang="en-US" b="1" dirty="0" err="1">
                <a:solidFill>
                  <a:srgbClr val="00B050"/>
                </a:solidFill>
              </a:rPr>
              <a:t>Adi</a:t>
            </a:r>
            <a:r>
              <a:rPr lang="en-US" b="1" dirty="0">
                <a:solidFill>
                  <a:srgbClr val="00B050"/>
                </a:solidFill>
              </a:rPr>
              <a:t> Shamir</a:t>
            </a:r>
            <a:r>
              <a:rPr lang="en-US" dirty="0"/>
              <a:t> in </a:t>
            </a:r>
            <a:r>
              <a:rPr lang="en-US" b="1" dirty="0">
                <a:solidFill>
                  <a:srgbClr val="00B050"/>
                </a:solidFill>
              </a:rPr>
              <a:t>1984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(he only implemented the  identity-based </a:t>
            </a:r>
            <a:r>
              <a:rPr lang="en-US" b="1" u="sng" dirty="0">
                <a:solidFill>
                  <a:srgbClr val="FF0000"/>
                </a:solidFill>
              </a:rPr>
              <a:t>signatures</a:t>
            </a:r>
            <a:r>
              <a:rPr lang="en-US" dirty="0"/>
              <a:t>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First schemes were proposed by </a:t>
            </a:r>
            <a:r>
              <a:rPr lang="en-US" b="1" dirty="0" err="1">
                <a:solidFill>
                  <a:srgbClr val="00B050"/>
                </a:solidFill>
              </a:rPr>
              <a:t>Boneh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00B050"/>
                </a:solidFill>
              </a:rPr>
              <a:t>Franklin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(2001) and, independently </a:t>
            </a:r>
            <a:r>
              <a:rPr lang="en-US" b="1" dirty="0">
                <a:solidFill>
                  <a:srgbClr val="00B050"/>
                </a:solidFill>
              </a:rPr>
              <a:t>Cocks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(2001).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it-IT" dirty="0"/>
              <a:t>In </a:t>
            </a:r>
            <a:r>
              <a:rPr lang="it-IT" b="1" dirty="0">
                <a:solidFill>
                  <a:srgbClr val="00B050"/>
                </a:solidFill>
              </a:rPr>
              <a:t>2002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b="1" dirty="0">
                <a:solidFill>
                  <a:srgbClr val="00B050"/>
                </a:solidFill>
              </a:rPr>
              <a:t>Boneh</a:t>
            </a:r>
            <a:r>
              <a:rPr lang="it-IT" dirty="0">
                <a:solidFill>
                  <a:srgbClr val="00B050"/>
                </a:solidFill>
              </a:rPr>
              <a:t> </a:t>
            </a:r>
            <a:r>
              <a:rPr lang="it-IT" dirty="0"/>
              <a:t>started a company </a:t>
            </a:r>
          </a:p>
          <a:p>
            <a:pPr algn="ctr">
              <a:buNone/>
            </a:pPr>
            <a:r>
              <a:rPr lang="it-IT" b="1" dirty="0">
                <a:solidFill>
                  <a:srgbClr val="7030A0"/>
                </a:solidFill>
              </a:rPr>
              <a:t>Voltage Security</a:t>
            </a:r>
          </a:p>
          <a:p>
            <a:pPr>
              <a:buNone/>
            </a:pPr>
            <a:r>
              <a:rPr lang="it-IT" dirty="0"/>
              <a:t>that produces solutions based on his ID-based scheme.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4688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cs typeface="Arial"/>
              </a:rPr>
              <a:t>©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20</a:t>
            </a:r>
            <a:r>
              <a:rPr lang="pl-PL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2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5</a:t>
            </a:r>
            <a:r>
              <a:rPr lang="en-US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by Stefan Dziembowski. Permission to make digital or hard copies of part or all of this material is currently granted without fee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19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3416</Words>
  <Application>Microsoft Macintosh PowerPoint</Application>
  <PresentationFormat>On-screen Show (4:3)</PresentationFormat>
  <Paragraphs>729</Paragraphs>
  <Slides>61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ＭＳ Ｐゴシック</vt:lpstr>
      <vt:lpstr>Arial</vt:lpstr>
      <vt:lpstr>Calibri</vt:lpstr>
      <vt:lpstr>Cambria</vt:lpstr>
      <vt:lpstr>Cambria Math</vt:lpstr>
      <vt:lpstr>Office Theme</vt:lpstr>
      <vt:lpstr>Chapter 5 Introduction to Public Key Cryptography</vt:lpstr>
      <vt:lpstr>Plan</vt:lpstr>
      <vt:lpstr>Public-Key Cryptography</vt:lpstr>
      <vt:lpstr>A little bit of history</vt:lpstr>
      <vt:lpstr>The idea</vt:lpstr>
      <vt:lpstr>The same thing works for authentication</vt:lpstr>
      <vt:lpstr>Anyone can send encrypted messages to anyone else</vt:lpstr>
      <vt:lpstr>Anyone can verify the signatures</vt:lpstr>
      <vt:lpstr>Advantages of the signature schemes</vt:lpstr>
      <vt:lpstr>Look at the MACs...</vt:lpstr>
      <vt:lpstr>Signatures are publicly-verifiable!</vt:lpstr>
      <vt:lpstr>So, the signatures are transferable</vt:lpstr>
      <vt:lpstr>Non-repudiation</vt:lpstr>
      <vt:lpstr>Things that need to be discussed</vt:lpstr>
      <vt:lpstr>But is it possible?</vt:lpstr>
      <vt:lpstr>Diffie and Hellman (1976)</vt:lpstr>
      <vt:lpstr>The observation of Diffie and Hellman:</vt:lpstr>
      <vt:lpstr>Trapdoor permutations (informal definition)</vt:lpstr>
      <vt:lpstr>How to encrypt a message m</vt:lpstr>
      <vt:lpstr>How to sign a message m</vt:lpstr>
      <vt:lpstr>Do such functions exist? </vt:lpstr>
      <vt:lpstr>The RSA function</vt:lpstr>
      <vt:lpstr>Questions and doubts</vt:lpstr>
      <vt:lpstr>“Handbook” RSA</vt:lpstr>
      <vt:lpstr>Is RSA secure?</vt:lpstr>
      <vt:lpstr>Symmetric vs asymmetric crypto</vt:lpstr>
      <vt:lpstr>Practical solutions</vt:lpstr>
      <vt:lpstr>Plan</vt:lpstr>
      <vt:lpstr>Remember this slide?</vt:lpstr>
      <vt:lpstr>Question: How to maintain the public register?</vt:lpstr>
      <vt:lpstr>A problem</vt:lpstr>
      <vt:lpstr>Solution: certification authorities</vt:lpstr>
      <vt:lpstr>What is needed to verify the certificate</vt:lpstr>
      <vt:lpstr>How does it look from the legal point of view?</vt:lpstr>
      <vt:lpstr>PowerPoint Presentation</vt:lpstr>
      <vt:lpstr>Polish Certificate Authorities:</vt:lpstr>
      <vt:lpstr>So, what to do if you want to issue the qualified signatures?</vt:lpstr>
      <vt:lpstr>What if the secret key is lost?</vt:lpstr>
      <vt:lpstr>In many case one doesn’t want to use the qualified signatures</vt:lpstr>
      <vt:lpstr>Plan</vt:lpstr>
      <vt:lpstr>Practical solution</vt:lpstr>
      <vt:lpstr>Users can certify keys of the other users</vt:lpstr>
      <vt:lpstr>PowerPoint Presentation</vt:lpstr>
      <vt:lpstr>PowerPoint Presentation</vt:lpstr>
      <vt:lpstr>A problem</vt:lpstr>
      <vt:lpstr>A question: is trust transitive?</vt:lpstr>
      <vt:lpstr>Example</vt:lpstr>
      <vt:lpstr>Moral</vt:lpstr>
      <vt:lpstr>Recommendation levels</vt:lpstr>
      <vt:lpstr>PowerPoint Presentation</vt:lpstr>
      <vt:lpstr>How is it solved in practice?</vt:lpstr>
      <vt:lpstr>The simplified picture</vt:lpstr>
      <vt:lpstr>PowerPoint Presentation</vt:lpstr>
      <vt:lpstr>Other popular approaches</vt:lpstr>
      <vt:lpstr>Plan</vt:lpstr>
      <vt:lpstr>Identity based cryptography</vt:lpstr>
      <vt:lpstr>Solution</vt:lpstr>
      <vt:lpstr>How to decrypt</vt:lpstr>
      <vt:lpstr>ID-based encryption</vt:lpstr>
      <vt:lpstr>ID-based encrypion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679</cp:revision>
  <cp:lastPrinted>2018-11-07T14:56:11Z</cp:lastPrinted>
  <dcterms:created xsi:type="dcterms:W3CDTF">2015-07-03T16:44:25Z</dcterms:created>
  <dcterms:modified xsi:type="dcterms:W3CDTF">2025-11-13T14:59:48Z</dcterms:modified>
</cp:coreProperties>
</file>