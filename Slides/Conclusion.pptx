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469" r:id="rId2"/>
    <p:sldId id="557" r:id="rId3"/>
    <p:sldId id="558" r:id="rId4"/>
    <p:sldId id="556" r:id="rId5"/>
  </p:sldIdLst>
  <p:sldSz cx="9144000" cy="6858000" type="screen4x3"/>
  <p:notesSz cx="6792913" cy="9925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3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343" cy="497254"/>
          </a:xfrm>
          <a:prstGeom prst="rect">
            <a:avLst/>
          </a:prstGeom>
        </p:spPr>
        <p:txBody>
          <a:bodyPr vert="horz" lIns="88166" tIns="44083" rIns="88166" bIns="44083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053" y="0"/>
            <a:ext cx="2943342" cy="497254"/>
          </a:xfrm>
          <a:prstGeom prst="rect">
            <a:avLst/>
          </a:prstGeom>
        </p:spPr>
        <p:txBody>
          <a:bodyPr vert="horz" lIns="88166" tIns="44083" rIns="88166" bIns="44083" rtlCol="0"/>
          <a:lstStyle>
            <a:lvl1pPr algn="r">
              <a:defRPr sz="1200"/>
            </a:lvl1pPr>
          </a:lstStyle>
          <a:p>
            <a:fld id="{CB412FE4-3145-4EF6-B42A-FBC5BC8CBB71}" type="datetimeFigureOut">
              <a:rPr lang="pl-PL" smtClean="0"/>
              <a:t>19.01.2026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7797"/>
            <a:ext cx="2943343" cy="497254"/>
          </a:xfrm>
          <a:prstGeom prst="rect">
            <a:avLst/>
          </a:prstGeom>
        </p:spPr>
        <p:txBody>
          <a:bodyPr vert="horz" lIns="88166" tIns="44083" rIns="88166" bIns="44083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053" y="9427797"/>
            <a:ext cx="2943342" cy="497254"/>
          </a:xfrm>
          <a:prstGeom prst="rect">
            <a:avLst/>
          </a:prstGeom>
        </p:spPr>
        <p:txBody>
          <a:bodyPr vert="horz" lIns="88166" tIns="44083" rIns="88166" bIns="44083" rtlCol="0" anchor="b"/>
          <a:lstStyle>
            <a:lvl1pPr algn="r">
              <a:defRPr sz="1200"/>
            </a:lvl1pPr>
          </a:lstStyle>
          <a:p>
            <a:fld id="{4F5195C7-A3A9-49A7-828D-175002B257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4911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7976"/>
          </a:xfrm>
          <a:prstGeom prst="rect">
            <a:avLst/>
          </a:prstGeom>
        </p:spPr>
        <p:txBody>
          <a:bodyPr vert="horz" lIns="95528" tIns="47765" rIns="95528" bIns="47765" rtlCol="0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6" y="0"/>
            <a:ext cx="2943595" cy="497976"/>
          </a:xfrm>
          <a:prstGeom prst="rect">
            <a:avLst/>
          </a:prstGeom>
        </p:spPr>
        <p:txBody>
          <a:bodyPr vert="horz" lIns="95528" tIns="47765" rIns="95528" bIns="47765" rtlCol="0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9A9543F3-0831-4635-AD48-8E4410E96487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28" tIns="47765" rIns="95528" bIns="4776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76430"/>
            <a:ext cx="5434330" cy="3907989"/>
          </a:xfrm>
          <a:prstGeom prst="rect">
            <a:avLst/>
          </a:prstGeom>
        </p:spPr>
        <p:txBody>
          <a:bodyPr vert="horz" lIns="95528" tIns="47765" rIns="95528" bIns="47765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7076"/>
            <a:ext cx="2943595" cy="497975"/>
          </a:xfrm>
          <a:prstGeom prst="rect">
            <a:avLst/>
          </a:prstGeom>
        </p:spPr>
        <p:txBody>
          <a:bodyPr vert="horz" lIns="95528" tIns="47765" rIns="95528" bIns="47765" rtlCol="0" anchor="b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6" y="9427076"/>
            <a:ext cx="2943595" cy="497975"/>
          </a:xfrm>
          <a:prstGeom prst="rect">
            <a:avLst/>
          </a:prstGeom>
        </p:spPr>
        <p:txBody>
          <a:bodyPr vert="horz" lIns="95528" tIns="47765" rIns="95528" bIns="47765" rtlCol="0" anchor="b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8BBDC37B-729A-4393-B484-407F8F0BFA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93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>
                <a:latin typeface="Cambria" panose="020405030504060302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rypto.edu.pl/Dziembowski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print.iacr.org/" TargetMode="External"/><Relationship Id="rId2" Type="http://schemas.openxmlformats.org/officeDocument/2006/relationships/hyperlink" Target="https://www.iacr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00553" y="406572"/>
            <a:ext cx="8216362" cy="2088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pPr algn="ctr"/>
            <a:br>
              <a:rPr lang="pl-PL" sz="1000" dirty="0"/>
            </a:br>
            <a:r>
              <a:rPr lang="pl-PL" sz="4800" b="1" dirty="0">
                <a:solidFill>
                  <a:srgbClr val="0070C0"/>
                </a:solidFill>
              </a:rPr>
              <a:t>Conclusion</a:t>
            </a:r>
            <a:endParaRPr lang="en-US" sz="46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40352" y="6286520"/>
            <a:ext cx="135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</a:rPr>
              <a:t>version 1.</a:t>
            </a:r>
            <a:r>
              <a:rPr lang="pl-PL" b="1" dirty="0">
                <a:latin typeface="Cambria" panose="02040503050406030204" pitchFamily="18" charset="0"/>
              </a:rPr>
              <a:t>0</a:t>
            </a:r>
            <a:endParaRPr lang="it-IT" b="1" dirty="0">
              <a:latin typeface="Cambria" panose="020405030504060302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327534" y="2382035"/>
            <a:ext cx="3962400" cy="177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Stefan</a:t>
            </a:r>
            <a:r>
              <a:rPr lang="en-US" sz="30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  <a:hlinkClick r:id="rId2"/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b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2600" b="1" dirty="0">
                <a:solidFill>
                  <a:schemeClr val="tx1"/>
                </a:solidFill>
                <a:latin typeface="Cambria" panose="02040503050406030204" pitchFamily="18" charset="0"/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517560" y="4601636"/>
            <a:ext cx="1418989" cy="152674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5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298866"/>
            <a:ext cx="8293100" cy="522770"/>
          </a:xfrm>
        </p:spPr>
        <p:txBody>
          <a:bodyPr>
            <a:normAutofit fontScale="90000"/>
          </a:bodyPr>
          <a:lstStyle/>
          <a:p>
            <a:r>
              <a:rPr lang="pl-PL" dirty="0"/>
              <a:t>Main 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" y="1366216"/>
            <a:ext cx="8121650" cy="45751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Cryptography is a </a:t>
            </a:r>
            <a:r>
              <a:rPr lang="pl-PL" b="1" dirty="0">
                <a:solidFill>
                  <a:srgbClr val="FF0000"/>
                </a:solidFill>
              </a:rPr>
              <a:t>mature</a:t>
            </a:r>
            <a:r>
              <a:rPr lang="pl-PL" dirty="0"/>
              <a:t> (yet still qu</a:t>
            </a:r>
            <a:r>
              <a:rPr lang="en-US" dirty="0" err="1"/>
              <a:t>ic</a:t>
            </a:r>
            <a:r>
              <a:rPr lang="pl-PL" dirty="0"/>
              <a:t>kly deveopling</a:t>
            </a:r>
            <a:r>
              <a:rPr lang="en-US" dirty="0"/>
              <a:t>)</a:t>
            </a:r>
            <a:r>
              <a:rPr lang="pl-PL" dirty="0"/>
              <a:t> </a:t>
            </a:r>
            <a:r>
              <a:rPr lang="pl-PL" b="1" dirty="0">
                <a:solidFill>
                  <a:srgbClr val="FF0000"/>
                </a:solidFill>
              </a:rPr>
              <a:t>field</a:t>
            </a:r>
            <a:r>
              <a:rPr lang="pl-PL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Seurity of all popular constructions is </a:t>
            </a:r>
            <a:r>
              <a:rPr lang="pl-PL" b="1" dirty="0">
                <a:solidFill>
                  <a:srgbClr val="7030A0"/>
                </a:solidFill>
              </a:rPr>
              <a:t>well-defined</a:t>
            </a:r>
            <a:r>
              <a:rPr lang="pl-PL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Popular schemes have been </a:t>
            </a:r>
            <a:r>
              <a:rPr lang="pl-PL" b="1" dirty="0">
                <a:solidFill>
                  <a:srgbClr val="0070C0"/>
                </a:solidFill>
              </a:rPr>
              <a:t>analyzed for a long time</a:t>
            </a:r>
            <a:r>
              <a:rPr lang="pl-PL" dirty="0"/>
              <a:t> by lots of smart people.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Do </a:t>
            </a:r>
            <a:r>
              <a:rPr lang="pl-PL" b="1" u="sng" dirty="0"/>
              <a:t>not</a:t>
            </a:r>
            <a:r>
              <a:rPr lang="pl-PL" dirty="0"/>
              <a:t> invent your own crypto.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If you have your own idea for a new crypto promitive </a:t>
            </a:r>
            <a:r>
              <a:rPr lang="en-US" dirty="0"/>
              <a:t>“do your homework” by </a:t>
            </a:r>
            <a:r>
              <a:rPr lang="en-US" b="1" dirty="0">
                <a:solidFill>
                  <a:srgbClr val="00B050"/>
                </a:solidFill>
              </a:rPr>
              <a:t>checking if it hasn’t been invented before</a:t>
            </a:r>
            <a:r>
              <a:rPr lang="en-US" dirty="0"/>
              <a:t>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692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557" y="365127"/>
            <a:ext cx="8170793" cy="695048"/>
          </a:xfrm>
        </p:spPr>
        <p:txBody>
          <a:bodyPr>
            <a:normAutofit fontScale="90000"/>
          </a:bodyPr>
          <a:lstStyle/>
          <a:p>
            <a:r>
              <a:rPr lang="en-US" dirty="0"/>
              <a:t>Where is crypto research published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57" y="1214783"/>
            <a:ext cx="8326782" cy="51065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Crypto conferences </a:t>
            </a:r>
            <a:r>
              <a:rPr lang="en-US" dirty="0"/>
              <a:t>(most of them organized by </a:t>
            </a:r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International Association for Cryptologic Research</a:t>
            </a:r>
            <a:r>
              <a:rPr lang="en-GB" dirty="0"/>
              <a:t>, </a:t>
            </a:r>
            <a:r>
              <a:rPr lang="en-GB" dirty="0">
                <a:hlinkClick r:id="rId2"/>
              </a:rPr>
              <a:t>ww.iacr.org</a:t>
            </a:r>
            <a:r>
              <a:rPr lang="en-GB" dirty="0"/>
              <a:t>)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CRYPTO, </a:t>
            </a:r>
            <a:r>
              <a:rPr lang="en-US" dirty="0" err="1"/>
              <a:t>Eurocrypt</a:t>
            </a:r>
            <a:r>
              <a:rPr lang="en-US" dirty="0"/>
              <a:t>,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Asiacrypt</a:t>
            </a:r>
            <a:r>
              <a:rPr lang="en-US" dirty="0"/>
              <a:t>, Theory of Cryptography Conference (TCC), Public-Key Cryptography (PKC), Fast Software Encryption (FSE), </a:t>
            </a:r>
            <a:r>
              <a:rPr lang="en-GB" dirty="0"/>
              <a:t>Cryptographic Hardware and Embedded Systems (CHES),…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Security conferences</a:t>
            </a:r>
            <a:r>
              <a:rPr lang="en-GB" dirty="0"/>
              <a:t>: IEEE Symposium on Security and Privacy (IEEE S&amp;P)</a:t>
            </a:r>
            <a:r>
              <a:rPr lang="en-US" dirty="0"/>
              <a:t>, </a:t>
            </a:r>
            <a:r>
              <a:rPr lang="en-GB" dirty="0"/>
              <a:t>ACM Conference on Computer and Communications Security (ACM CCS), </a:t>
            </a:r>
            <a:r>
              <a:rPr lang="en-GB" dirty="0" err="1"/>
              <a:t>Usenix</a:t>
            </a:r>
            <a:r>
              <a:rPr lang="en-GB" dirty="0"/>
              <a:t> Security, Network and Distributed System Security (NDSS),…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Journals are less important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Non-reviewed</a:t>
            </a:r>
            <a:r>
              <a:rPr lang="en-GB" dirty="0"/>
              <a:t> internet repository: </a:t>
            </a:r>
            <a:r>
              <a:rPr lang="en-GB" dirty="0">
                <a:hlinkClick r:id="rId3"/>
              </a:rPr>
              <a:t>eprint.iacr.org</a:t>
            </a:r>
            <a:r>
              <a:rPr lang="pl-PL" dirty="0"/>
              <a:t>.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58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Arial"/>
              </a:rPr>
              <a:t>©</a:t>
            </a:r>
            <a:r>
              <a:rPr lang="en-US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2026</a:t>
            </a:r>
            <a:r>
              <a:rPr lang="pl-PL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7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57070</TotalTime>
  <Words>265</Words>
  <Application>Microsoft Macintosh PowerPoint</Application>
  <PresentationFormat>On-screen Show (4:3)</PresentationFormat>
  <Paragraphs>21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Main take-home messages</vt:lpstr>
      <vt:lpstr>Where is crypto research published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1380</cp:revision>
  <cp:lastPrinted>2016-12-14T14:56:01Z</cp:lastPrinted>
  <dcterms:created xsi:type="dcterms:W3CDTF">2015-07-03T16:44:25Z</dcterms:created>
  <dcterms:modified xsi:type="dcterms:W3CDTF">2026-01-19T10:23:23Z</dcterms:modified>
</cp:coreProperties>
</file>