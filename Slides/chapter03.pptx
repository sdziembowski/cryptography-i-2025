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0"/>
  </p:notesMasterIdLst>
  <p:handoutMasterIdLst>
    <p:handoutMasterId r:id="rId81"/>
  </p:handoutMasterIdLst>
  <p:sldIdLst>
    <p:sldId id="256" r:id="rId2"/>
    <p:sldId id="407" r:id="rId3"/>
    <p:sldId id="458" r:id="rId4"/>
    <p:sldId id="336" r:id="rId5"/>
    <p:sldId id="408" r:id="rId6"/>
    <p:sldId id="410" r:id="rId7"/>
    <p:sldId id="411" r:id="rId8"/>
    <p:sldId id="409" r:id="rId9"/>
    <p:sldId id="337" r:id="rId10"/>
    <p:sldId id="338" r:id="rId11"/>
    <p:sldId id="340" r:id="rId12"/>
    <p:sldId id="341" r:id="rId13"/>
    <p:sldId id="342" r:id="rId14"/>
    <p:sldId id="343" r:id="rId15"/>
    <p:sldId id="344" r:id="rId16"/>
    <p:sldId id="345" r:id="rId17"/>
    <p:sldId id="346" r:id="rId18"/>
    <p:sldId id="347" r:id="rId19"/>
    <p:sldId id="472" r:id="rId20"/>
    <p:sldId id="349" r:id="rId21"/>
    <p:sldId id="352" r:id="rId22"/>
    <p:sldId id="495" r:id="rId23"/>
    <p:sldId id="353" r:id="rId24"/>
    <p:sldId id="354" r:id="rId25"/>
    <p:sldId id="355" r:id="rId26"/>
    <p:sldId id="356" r:id="rId27"/>
    <p:sldId id="357" r:id="rId28"/>
    <p:sldId id="358" r:id="rId29"/>
    <p:sldId id="359" r:id="rId30"/>
    <p:sldId id="360" r:id="rId31"/>
    <p:sldId id="361" r:id="rId32"/>
    <p:sldId id="362" r:id="rId33"/>
    <p:sldId id="363" r:id="rId34"/>
    <p:sldId id="364" r:id="rId35"/>
    <p:sldId id="417" r:id="rId36"/>
    <p:sldId id="366" r:id="rId37"/>
    <p:sldId id="367" r:id="rId38"/>
    <p:sldId id="496" r:id="rId39"/>
    <p:sldId id="467" r:id="rId40"/>
    <p:sldId id="468" r:id="rId41"/>
    <p:sldId id="497" r:id="rId42"/>
    <p:sldId id="418" r:id="rId43"/>
    <p:sldId id="380" r:id="rId44"/>
    <p:sldId id="381" r:id="rId45"/>
    <p:sldId id="382" r:id="rId46"/>
    <p:sldId id="498" r:id="rId47"/>
    <p:sldId id="440" r:id="rId48"/>
    <p:sldId id="443" r:id="rId49"/>
    <p:sldId id="441" r:id="rId50"/>
    <p:sldId id="423" r:id="rId51"/>
    <p:sldId id="424" r:id="rId52"/>
    <p:sldId id="425" r:id="rId53"/>
    <p:sldId id="426" r:id="rId54"/>
    <p:sldId id="427" r:id="rId55"/>
    <p:sldId id="428" r:id="rId56"/>
    <p:sldId id="499" r:id="rId57"/>
    <p:sldId id="383" r:id="rId58"/>
    <p:sldId id="384" r:id="rId59"/>
    <p:sldId id="385" r:id="rId60"/>
    <p:sldId id="442" r:id="rId61"/>
    <p:sldId id="444" r:id="rId62"/>
    <p:sldId id="446" r:id="rId63"/>
    <p:sldId id="500" r:id="rId64"/>
    <p:sldId id="491" r:id="rId65"/>
    <p:sldId id="473" r:id="rId66"/>
    <p:sldId id="474" r:id="rId67"/>
    <p:sldId id="475" r:id="rId68"/>
    <p:sldId id="492" r:id="rId69"/>
    <p:sldId id="493" r:id="rId70"/>
    <p:sldId id="494" r:id="rId71"/>
    <p:sldId id="479" r:id="rId72"/>
    <p:sldId id="481" r:id="rId73"/>
    <p:sldId id="482" r:id="rId74"/>
    <p:sldId id="483" r:id="rId75"/>
    <p:sldId id="484" r:id="rId76"/>
    <p:sldId id="485" r:id="rId77"/>
    <p:sldId id="501" r:id="rId78"/>
    <p:sldId id="332" r:id="rId79"/>
  </p:sldIdLst>
  <p:sldSz cx="9144000" cy="6858000" type="screen4x3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40" autoAdjust="0"/>
    <p:restoredTop sz="97754" autoAdjust="0"/>
  </p:normalViewPr>
  <p:slideViewPr>
    <p:cSldViewPr snapToGrid="0">
      <p:cViewPr varScale="1">
        <p:scale>
          <a:sx n="128" d="100"/>
          <a:sy n="128" d="100"/>
        </p:scale>
        <p:origin x="11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3" d="100"/>
        <a:sy n="5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A0AE38-BCD1-4E39-B1EF-DFFDD5B8CB8A}" type="datetimeFigureOut">
              <a:rPr lang="pl-PL" smtClean="0"/>
              <a:t>3.11.2025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02725-3AB2-41E8-A99B-F0BCCA06D5D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9234444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9A9543F3-0831-4635-AD48-8E4410E96487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8BBDC37B-729A-4393-B484-407F8F0BF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836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30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511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393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91D6E-D8F5-4BCA-A25C-85AEA9F1651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29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3E71AE-72D7-4F48-8808-C52CFA8C555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35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91D6E-D8F5-4BCA-A25C-85AEA9F1651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8698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1557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930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91D6E-D8F5-4BCA-A25C-85AEA9F1651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609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623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1731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91D6E-D8F5-4BCA-A25C-85AEA9F1651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4571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91D6E-D8F5-4BCA-A25C-85AEA9F1651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5640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64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91D6E-D8F5-4BCA-A25C-85AEA9F1651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866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3E71AE-72D7-4F48-8808-C52CFA8C5557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915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0135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1516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10F74-8256-4340-946D-6442E670C9B6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2967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10F74-8256-4340-946D-6442E670C9B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4543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51FFE-71C2-45B8-9648-BEE3CE3993A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5702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10F74-8256-4340-946D-6442E670C9B6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978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51FFE-71C2-45B8-9648-BEE3CE3993A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2067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D9B7FC-4AB1-4C61-9099-898602F92774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838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10F74-8256-4340-946D-6442E670C9B6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401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10F74-8256-4340-946D-6442E670C9B6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9102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10F74-8256-4340-946D-6442E670C9B6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79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10F74-8256-4340-946D-6442E670C9B6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3316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10F74-8256-4340-946D-6442E670C9B6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076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10F74-8256-4340-946D-6442E670C9B6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7377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10F74-8256-4340-946D-6442E670C9B6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3935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10F74-8256-4340-946D-6442E670C9B6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0722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10F74-8256-4340-946D-6442E670C9B6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081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757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9150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3E71AE-72D7-4F48-8808-C52CFA8C5557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0087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3030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D9B7FC-4AB1-4C61-9099-898602F92774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822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71595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B938E-39AD-4F55-8E50-5B5F2D776594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39570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93752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77933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17404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80642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02558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See: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+mn-ea"/>
                <a:cs typeface="+mn-cs"/>
              </a:rPr>
              <a:t>Joel Alwen and Vladimir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Cambria" panose="02040503050406030204" pitchFamily="18" charset="0"/>
                <a:ea typeface="+mn-ea"/>
                <a:cs typeface="+mn-cs"/>
              </a:rPr>
              <a:t>Serbinenko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+mn-ea"/>
                <a:cs typeface="+mn-cs"/>
              </a:rPr>
              <a:t>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+mn-ea"/>
                <a:cs typeface="+mn-cs"/>
              </a:rPr>
              <a:t>High Parallel Complexity Graphs and Memory-Hard Functions</a:t>
            </a:r>
            <a:endParaRPr lang="en-US" sz="1200" b="0" i="0" kern="1200" dirty="0">
              <a:solidFill>
                <a:schemeClr val="tx1"/>
              </a:solidFill>
              <a:effectLst/>
              <a:latin typeface="Cambria" panose="02040503050406030204" pitchFamily="18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4BD314-8D36-B84A-8400-0C92E89012BE}" type="slidenum">
              <a:rPr lang="pl-PL" smtClean="0"/>
              <a:pPr/>
              <a:t>60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75734155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See: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+mn-ea"/>
                <a:cs typeface="+mn-cs"/>
              </a:rPr>
              <a:t>Joel Alwen and Vladimir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Cambria" panose="02040503050406030204" pitchFamily="18" charset="0"/>
                <a:ea typeface="+mn-ea"/>
                <a:cs typeface="+mn-cs"/>
              </a:rPr>
              <a:t>Serbinenko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+mn-ea"/>
                <a:cs typeface="+mn-cs"/>
              </a:rPr>
              <a:t>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+mn-ea"/>
                <a:cs typeface="+mn-cs"/>
              </a:rPr>
              <a:t>High Parallel Complexity Graphs and Memory-Hard Functions</a:t>
            </a:r>
            <a:endParaRPr lang="en-US" sz="1200" b="0" i="0" kern="1200" dirty="0">
              <a:solidFill>
                <a:schemeClr val="tx1"/>
              </a:solidFill>
              <a:effectLst/>
              <a:latin typeface="Cambria" panose="02040503050406030204" pitchFamily="18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4BD314-8D36-B84A-8400-0C92E89012BE}" type="slidenum">
              <a:rPr lang="pl-PL" smtClean="0"/>
              <a:pPr/>
              <a:t>61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6471129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47873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10F74-8256-4340-946D-6442E670C9B6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06348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10F74-8256-4340-946D-6442E670C9B6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97890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4632A10-DCC6-4A20-9C12-577EF1D03665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177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415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681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37859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843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750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237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5558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3959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0168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66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622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928FA-367C-46CC-8DAF-A0DA9386B4A3}" type="datetime1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44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3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image" Target="../media/image55.png"/><Relationship Id="rId2" Type="http://schemas.openxmlformats.org/officeDocument/2006/relationships/image" Target="../media/image1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9" Type="http://schemas.openxmlformats.org/officeDocument/2006/relationships/image" Target="../media/image5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0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8.wmf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9.wmf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10.wmf"/><Relationship Id="rId9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2.png"/><Relationship Id="rId12" Type="http://schemas.openxmlformats.org/officeDocument/2006/relationships/image" Target="../media/image27.png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.wmf"/><Relationship Id="rId15" Type="http://schemas.openxmlformats.org/officeDocument/2006/relationships/image" Target="../media/image74.png"/><Relationship Id="rId10" Type="http://schemas.openxmlformats.org/officeDocument/2006/relationships/image" Target="../media/image9.wmf"/><Relationship Id="rId9" Type="http://schemas.openxmlformats.org/officeDocument/2006/relationships/image" Target="../media/image71.png"/><Relationship Id="rId14" Type="http://schemas.openxmlformats.org/officeDocument/2006/relationships/image" Target="../media/image7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4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0.wmf"/><Relationship Id="rId10" Type="http://schemas.openxmlformats.org/officeDocument/2006/relationships/image" Target="../media/image57.png"/><Relationship Id="rId4" Type="http://schemas.openxmlformats.org/officeDocument/2006/relationships/image" Target="../media/image9.wmf"/><Relationship Id="rId9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8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11" Type="http://schemas.openxmlformats.org/officeDocument/2006/relationships/image" Target="../media/image37.png"/><Relationship Id="rId5" Type="http://schemas.openxmlformats.org/officeDocument/2006/relationships/image" Target="../media/image91.png"/><Relationship Id="rId10" Type="http://schemas.openxmlformats.org/officeDocument/2006/relationships/image" Target="../media/image96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40.pn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11" Type="http://schemas.openxmlformats.org/officeDocument/2006/relationships/image" Target="../media/image38.png"/><Relationship Id="rId5" Type="http://schemas.openxmlformats.org/officeDocument/2006/relationships/image" Target="../media/image103.png"/><Relationship Id="rId15" Type="http://schemas.openxmlformats.org/officeDocument/2006/relationships/image" Target="../media/image42.png"/><Relationship Id="rId10" Type="http://schemas.openxmlformats.org/officeDocument/2006/relationships/image" Target="../media/image22.png"/><Relationship Id="rId4" Type="http://schemas.openxmlformats.org/officeDocument/2006/relationships/image" Target="../media/image102.png"/><Relationship Id="rId9" Type="http://schemas.openxmlformats.org/officeDocument/2006/relationships/image" Target="../media/image19.png"/><Relationship Id="rId1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12" Type="http://schemas.openxmlformats.org/officeDocument/2006/relationships/image" Target="../media/image125.png"/><Relationship Id="rId17" Type="http://schemas.openxmlformats.org/officeDocument/2006/relationships/image" Target="../media/image131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11" Type="http://schemas.openxmlformats.org/officeDocument/2006/relationships/image" Target="../media/image124.png"/><Relationship Id="rId5" Type="http://schemas.openxmlformats.org/officeDocument/2006/relationships/image" Target="../media/image117.png"/><Relationship Id="rId15" Type="http://schemas.openxmlformats.org/officeDocument/2006/relationships/image" Target="../media/image128.png"/><Relationship Id="rId10" Type="http://schemas.openxmlformats.org/officeDocument/2006/relationships/image" Target="../media/image123.png"/><Relationship Id="rId4" Type="http://schemas.openxmlformats.org/officeDocument/2006/relationships/image" Target="../media/image116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3" Type="http://schemas.openxmlformats.org/officeDocument/2006/relationships/image" Target="../media/image8.wmf"/><Relationship Id="rId7" Type="http://schemas.openxmlformats.org/officeDocument/2006/relationships/image" Target="../media/image1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6.png"/></Relationships>
</file>

<file path=ppt/slides/_rels/slide31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37.png"/><Relationship Id="rId8" Type="http://schemas.openxmlformats.org/officeDocument/2006/relationships/image" Target="../media/image147.png"/><Relationship Id="rId13" Type="http://schemas.openxmlformats.org/officeDocument/2006/relationships/image" Target="../media/image153.png"/><Relationship Id="rId7" Type="http://schemas.openxmlformats.org/officeDocument/2006/relationships/image" Target="../media/image146.png"/><Relationship Id="rId12" Type="http://schemas.openxmlformats.org/officeDocument/2006/relationships/image" Target="../media/image152.png"/><Relationship Id="rId17" Type="http://schemas.openxmlformats.org/officeDocument/2006/relationships/image" Target="../media/image157.png"/><Relationship Id="rId2" Type="http://schemas.openxmlformats.org/officeDocument/2006/relationships/notesSlide" Target="../notesSlides/notesSlide27.xml"/><Relationship Id="rId20" Type="http://schemas.openxmlformats.org/officeDocument/2006/relationships/image" Target="../media/image4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11" Type="http://schemas.openxmlformats.org/officeDocument/2006/relationships/image" Target="../media/image151.png"/><Relationship Id="rId5" Type="http://schemas.openxmlformats.org/officeDocument/2006/relationships/image" Target="../media/image144.png"/><Relationship Id="rId15" Type="http://schemas.openxmlformats.org/officeDocument/2006/relationships/image" Target="../media/image155.png"/><Relationship Id="rId19" Type="http://schemas.openxmlformats.org/officeDocument/2006/relationships/image" Target="../media/image390.png"/><Relationship Id="rId10" Type="http://schemas.openxmlformats.org/officeDocument/2006/relationships/image" Target="../media/image149.png"/><Relationship Id="rId4" Type="http://schemas.openxmlformats.org/officeDocument/2006/relationships/image" Target="../media/image143.png"/><Relationship Id="rId14" Type="http://schemas.openxmlformats.org/officeDocument/2006/relationships/image" Target="../media/image15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13" Type="http://schemas.openxmlformats.org/officeDocument/2006/relationships/image" Target="../media/image169.png"/><Relationship Id="rId18" Type="http://schemas.openxmlformats.org/officeDocument/2006/relationships/image" Target="../media/image176.png"/><Relationship Id="rId3" Type="http://schemas.openxmlformats.org/officeDocument/2006/relationships/image" Target="../media/image410.png"/><Relationship Id="rId7" Type="http://schemas.openxmlformats.org/officeDocument/2006/relationships/image" Target="../media/image163.png"/><Relationship Id="rId12" Type="http://schemas.openxmlformats.org/officeDocument/2006/relationships/image" Target="../media/image168.png"/><Relationship Id="rId17" Type="http://schemas.openxmlformats.org/officeDocument/2006/relationships/image" Target="../media/image175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174.png"/><Relationship Id="rId20" Type="http://schemas.openxmlformats.org/officeDocument/2006/relationships/image" Target="../media/image1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2.png"/><Relationship Id="rId11" Type="http://schemas.openxmlformats.org/officeDocument/2006/relationships/image" Target="../media/image167.png"/><Relationship Id="rId5" Type="http://schemas.openxmlformats.org/officeDocument/2006/relationships/image" Target="../media/image161.png"/><Relationship Id="rId15" Type="http://schemas.openxmlformats.org/officeDocument/2006/relationships/image" Target="../media/image390.png"/><Relationship Id="rId10" Type="http://schemas.openxmlformats.org/officeDocument/2006/relationships/image" Target="../media/image166.png"/><Relationship Id="rId19" Type="http://schemas.openxmlformats.org/officeDocument/2006/relationships/image" Target="../media/image177.png"/><Relationship Id="rId4" Type="http://schemas.openxmlformats.org/officeDocument/2006/relationships/image" Target="../media/image159.png"/><Relationship Id="rId9" Type="http://schemas.openxmlformats.org/officeDocument/2006/relationships/image" Target="../media/image165.png"/><Relationship Id="rId14" Type="http://schemas.openxmlformats.org/officeDocument/2006/relationships/image" Target="../media/image17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13" Type="http://schemas.openxmlformats.org/officeDocument/2006/relationships/image" Target="../media/image193.png"/><Relationship Id="rId18" Type="http://schemas.openxmlformats.org/officeDocument/2006/relationships/image" Target="../media/image197.png"/><Relationship Id="rId21" Type="http://schemas.openxmlformats.org/officeDocument/2006/relationships/image" Target="../media/image420.png"/><Relationship Id="rId7" Type="http://schemas.openxmlformats.org/officeDocument/2006/relationships/image" Target="../media/image185.png"/><Relationship Id="rId12" Type="http://schemas.openxmlformats.org/officeDocument/2006/relationships/image" Target="../media/image192.png"/><Relationship Id="rId17" Type="http://schemas.openxmlformats.org/officeDocument/2006/relationships/image" Target="../media/image196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195.png"/><Relationship Id="rId20" Type="http://schemas.openxmlformats.org/officeDocument/2006/relationships/image" Target="../media/image1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4.png"/><Relationship Id="rId11" Type="http://schemas.openxmlformats.org/officeDocument/2006/relationships/image" Target="../media/image189.png"/><Relationship Id="rId5" Type="http://schemas.openxmlformats.org/officeDocument/2006/relationships/image" Target="../media/image183.png"/><Relationship Id="rId15" Type="http://schemas.openxmlformats.org/officeDocument/2006/relationships/image" Target="../media/image194.png"/><Relationship Id="rId10" Type="http://schemas.openxmlformats.org/officeDocument/2006/relationships/image" Target="../media/image188.png"/><Relationship Id="rId19" Type="http://schemas.openxmlformats.org/officeDocument/2006/relationships/image" Target="../media/image198.png"/><Relationship Id="rId4" Type="http://schemas.openxmlformats.org/officeDocument/2006/relationships/image" Target="../media/image182.png"/><Relationship Id="rId9" Type="http://schemas.openxmlformats.org/officeDocument/2006/relationships/image" Target="../media/image187.png"/><Relationship Id="rId14" Type="http://schemas.openxmlformats.org/officeDocument/2006/relationships/image" Target="../media/image172.png"/><Relationship Id="rId22" Type="http://schemas.openxmlformats.org/officeDocument/2006/relationships/image" Target="../media/image410.png"/></Relationships>
</file>

<file path=ppt/slides/_rels/slide3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39.png"/><Relationship Id="rId8" Type="http://schemas.openxmlformats.org/officeDocument/2006/relationships/image" Target="../media/image208.png"/><Relationship Id="rId34" Type="http://schemas.openxmlformats.org/officeDocument/2006/relationships/image" Target="../media/image248.png"/><Relationship Id="rId21" Type="http://schemas.openxmlformats.org/officeDocument/2006/relationships/image" Target="../media/image229.png"/><Relationship Id="rId25" Type="http://schemas.openxmlformats.org/officeDocument/2006/relationships/image" Target="../media/image238.png"/><Relationship Id="rId7" Type="http://schemas.openxmlformats.org/officeDocument/2006/relationships/image" Target="../media/image207.png"/><Relationship Id="rId33" Type="http://schemas.openxmlformats.org/officeDocument/2006/relationships/image" Target="../media/image247.png"/><Relationship Id="rId38" Type="http://schemas.openxmlformats.org/officeDocument/2006/relationships/image" Target="../media/image252.png"/><Relationship Id="rId2" Type="http://schemas.openxmlformats.org/officeDocument/2006/relationships/notesSlide" Target="../notesSlides/notesSlide30.xml"/><Relationship Id="rId29" Type="http://schemas.openxmlformats.org/officeDocument/2006/relationships/image" Target="../media/image2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6.png"/><Relationship Id="rId11" Type="http://schemas.openxmlformats.org/officeDocument/2006/relationships/image" Target="../media/image213.png"/><Relationship Id="rId32" Type="http://schemas.openxmlformats.org/officeDocument/2006/relationships/image" Target="../media/image246.png"/><Relationship Id="rId37" Type="http://schemas.openxmlformats.org/officeDocument/2006/relationships/image" Target="../media/image251.png"/><Relationship Id="rId28" Type="http://schemas.openxmlformats.org/officeDocument/2006/relationships/image" Target="../media/image242.png"/><Relationship Id="rId36" Type="http://schemas.openxmlformats.org/officeDocument/2006/relationships/image" Target="../media/image250.png"/><Relationship Id="rId23" Type="http://schemas.openxmlformats.org/officeDocument/2006/relationships/image" Target="../media/image233.png"/><Relationship Id="rId10" Type="http://schemas.openxmlformats.org/officeDocument/2006/relationships/image" Target="../media/image212.png"/><Relationship Id="rId31" Type="http://schemas.openxmlformats.org/officeDocument/2006/relationships/image" Target="../media/image245.png"/><Relationship Id="rId27" Type="http://schemas.openxmlformats.org/officeDocument/2006/relationships/image" Target="../media/image241.png"/><Relationship Id="rId9" Type="http://schemas.openxmlformats.org/officeDocument/2006/relationships/image" Target="../media/image209.png"/><Relationship Id="rId30" Type="http://schemas.openxmlformats.org/officeDocument/2006/relationships/image" Target="../media/image244.png"/><Relationship Id="rId35" Type="http://schemas.openxmlformats.org/officeDocument/2006/relationships/image" Target="../media/image24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13" Type="http://schemas.openxmlformats.org/officeDocument/2006/relationships/image" Target="../media/image243.png"/><Relationship Id="rId18" Type="http://schemas.openxmlformats.org/officeDocument/2006/relationships/image" Target="../media/image248.png"/><Relationship Id="rId3" Type="http://schemas.openxmlformats.org/officeDocument/2006/relationships/image" Target="../media/image238.png"/><Relationship Id="rId21" Type="http://schemas.openxmlformats.org/officeDocument/2006/relationships/image" Target="../media/image229.png"/><Relationship Id="rId7" Type="http://schemas.openxmlformats.org/officeDocument/2006/relationships/image" Target="../media/image207.png"/><Relationship Id="rId12" Type="http://schemas.openxmlformats.org/officeDocument/2006/relationships/image" Target="../media/image242.png"/><Relationship Id="rId17" Type="http://schemas.openxmlformats.org/officeDocument/2006/relationships/image" Target="../media/image247.png"/><Relationship Id="rId25" Type="http://schemas.openxmlformats.org/officeDocument/2006/relationships/image" Target="../media/image430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246.png"/><Relationship Id="rId20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6.png"/><Relationship Id="rId11" Type="http://schemas.openxmlformats.org/officeDocument/2006/relationships/image" Target="../media/image213.png"/><Relationship Id="rId24" Type="http://schemas.openxmlformats.org/officeDocument/2006/relationships/image" Target="../media/image252.png"/><Relationship Id="rId5" Type="http://schemas.openxmlformats.org/officeDocument/2006/relationships/image" Target="../media/image241.png"/><Relationship Id="rId15" Type="http://schemas.openxmlformats.org/officeDocument/2006/relationships/image" Target="../media/image245.png"/><Relationship Id="rId23" Type="http://schemas.openxmlformats.org/officeDocument/2006/relationships/image" Target="../media/image233.png"/><Relationship Id="rId10" Type="http://schemas.openxmlformats.org/officeDocument/2006/relationships/image" Target="../media/image212.png"/><Relationship Id="rId19" Type="http://schemas.openxmlformats.org/officeDocument/2006/relationships/image" Target="../media/image249.png"/><Relationship Id="rId4" Type="http://schemas.openxmlformats.org/officeDocument/2006/relationships/image" Target="../media/image239.png"/><Relationship Id="rId9" Type="http://schemas.openxmlformats.org/officeDocument/2006/relationships/image" Target="../media/image209.png"/><Relationship Id="rId14" Type="http://schemas.openxmlformats.org/officeDocument/2006/relationships/image" Target="../media/image244.png"/><Relationship Id="rId22" Type="http://schemas.openxmlformats.org/officeDocument/2006/relationships/image" Target="../media/image25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png"/><Relationship Id="rId3" Type="http://schemas.openxmlformats.org/officeDocument/2006/relationships/image" Target="../media/image254.png"/><Relationship Id="rId7" Type="http://schemas.openxmlformats.org/officeDocument/2006/relationships/image" Target="../media/image25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7.png"/><Relationship Id="rId5" Type="http://schemas.openxmlformats.org/officeDocument/2006/relationships/image" Target="../media/image256.png"/><Relationship Id="rId10" Type="http://schemas.openxmlformats.org/officeDocument/2006/relationships/image" Target="../media/image261.png"/><Relationship Id="rId4" Type="http://schemas.openxmlformats.org/officeDocument/2006/relationships/image" Target="../media/image255.png"/><Relationship Id="rId9" Type="http://schemas.openxmlformats.org/officeDocument/2006/relationships/image" Target="../media/image26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png"/><Relationship Id="rId3" Type="http://schemas.openxmlformats.org/officeDocument/2006/relationships/image" Target="../media/image262.png"/><Relationship Id="rId7" Type="http://schemas.openxmlformats.org/officeDocument/2006/relationships/image" Target="../media/image26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5.png"/><Relationship Id="rId5" Type="http://schemas.openxmlformats.org/officeDocument/2006/relationships/image" Target="../media/image264.png"/><Relationship Id="rId4" Type="http://schemas.openxmlformats.org/officeDocument/2006/relationships/image" Target="../media/image263.png"/><Relationship Id="rId9" Type="http://schemas.openxmlformats.org/officeDocument/2006/relationships/image" Target="../media/image26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66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6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9.png"/><Relationship Id="rId5" Type="http://schemas.openxmlformats.org/officeDocument/2006/relationships/image" Target="../media/image47.png"/><Relationship Id="rId15" Type="http://schemas.openxmlformats.org/officeDocument/2006/relationships/image" Target="../media/image7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76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image" Target="../media/image142.png"/><Relationship Id="rId18" Type="http://schemas.openxmlformats.org/officeDocument/2006/relationships/image" Target="../media/image160.png"/><Relationship Id="rId3" Type="http://schemas.openxmlformats.org/officeDocument/2006/relationships/image" Target="../media/image79.png"/><Relationship Id="rId21" Type="http://schemas.openxmlformats.org/officeDocument/2006/relationships/image" Target="../media/image173.png"/><Relationship Id="rId7" Type="http://schemas.openxmlformats.org/officeDocument/2006/relationships/image" Target="../media/image110.png"/><Relationship Id="rId12" Type="http://schemas.openxmlformats.org/officeDocument/2006/relationships/image" Target="../media/image141.png"/><Relationship Id="rId17" Type="http://schemas.openxmlformats.org/officeDocument/2006/relationships/image" Target="../media/image158.png"/><Relationship Id="rId2" Type="http://schemas.openxmlformats.org/officeDocument/2006/relationships/image" Target="../media/image78.png"/><Relationship Id="rId16" Type="http://schemas.openxmlformats.org/officeDocument/2006/relationships/image" Target="../media/image156.png"/><Relationship Id="rId20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11" Type="http://schemas.openxmlformats.org/officeDocument/2006/relationships/image" Target="../media/image140.png"/><Relationship Id="rId5" Type="http://schemas.openxmlformats.org/officeDocument/2006/relationships/image" Target="../media/image82.png"/><Relationship Id="rId15" Type="http://schemas.openxmlformats.org/officeDocument/2006/relationships/image" Target="../media/image150.png"/><Relationship Id="rId10" Type="http://schemas.openxmlformats.org/officeDocument/2006/relationships/image" Target="../media/image130.png"/><Relationship Id="rId19" Type="http://schemas.openxmlformats.org/officeDocument/2006/relationships/image" Target="../media/image170.png"/><Relationship Id="rId4" Type="http://schemas.openxmlformats.org/officeDocument/2006/relationships/image" Target="../media/image80.png"/><Relationship Id="rId9" Type="http://schemas.openxmlformats.org/officeDocument/2006/relationships/image" Target="../media/image120.png"/><Relationship Id="rId14" Type="http://schemas.openxmlformats.org/officeDocument/2006/relationships/image" Target="../media/image148.png"/><Relationship Id="rId22" Type="http://schemas.openxmlformats.org/officeDocument/2006/relationships/image" Target="../media/image17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1.png"/><Relationship Id="rId5" Type="http://schemas.openxmlformats.org/officeDocument/2006/relationships/image" Target="../media/image270.png"/><Relationship Id="rId4" Type="http://schemas.openxmlformats.org/officeDocument/2006/relationships/image" Target="../media/image269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13" Type="http://schemas.openxmlformats.org/officeDocument/2006/relationships/image" Target="../media/image300.png"/><Relationship Id="rId3" Type="http://schemas.openxmlformats.org/officeDocument/2006/relationships/image" Target="../media/image1700.png"/><Relationship Id="rId7" Type="http://schemas.openxmlformats.org/officeDocument/2006/relationships/image" Target="../media/image2100.png"/><Relationship Id="rId12" Type="http://schemas.openxmlformats.org/officeDocument/2006/relationships/image" Target="../media/image29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0.png"/><Relationship Id="rId11" Type="http://schemas.openxmlformats.org/officeDocument/2006/relationships/image" Target="../media/image280.png"/><Relationship Id="rId5" Type="http://schemas.openxmlformats.org/officeDocument/2006/relationships/image" Target="../media/image1900.png"/><Relationship Id="rId10" Type="http://schemas.openxmlformats.org/officeDocument/2006/relationships/image" Target="../media/image240.png"/><Relationship Id="rId4" Type="http://schemas.openxmlformats.org/officeDocument/2006/relationships/image" Target="../media/image1800.png"/><Relationship Id="rId9" Type="http://schemas.openxmlformats.org/officeDocument/2006/relationships/image" Target="../media/image23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0.png"/><Relationship Id="rId13" Type="http://schemas.openxmlformats.org/officeDocument/2006/relationships/image" Target="../media/image1020.png"/><Relationship Id="rId3" Type="http://schemas.openxmlformats.org/officeDocument/2006/relationships/image" Target="../media/image920.png"/><Relationship Id="rId7" Type="http://schemas.openxmlformats.org/officeDocument/2006/relationships/image" Target="../media/image960.png"/><Relationship Id="rId12" Type="http://schemas.openxmlformats.org/officeDocument/2006/relationships/image" Target="../media/image1010.png"/><Relationship Id="rId17" Type="http://schemas.openxmlformats.org/officeDocument/2006/relationships/image" Target="../media/image1060.png"/><Relationship Id="rId16" Type="http://schemas.openxmlformats.org/officeDocument/2006/relationships/image" Target="../media/image10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0.png"/><Relationship Id="rId11" Type="http://schemas.openxmlformats.org/officeDocument/2006/relationships/image" Target="../media/image1000.png"/><Relationship Id="rId5" Type="http://schemas.openxmlformats.org/officeDocument/2006/relationships/image" Target="../media/image940.png"/><Relationship Id="rId15" Type="http://schemas.openxmlformats.org/officeDocument/2006/relationships/image" Target="../media/image2020.png"/><Relationship Id="rId10" Type="http://schemas.openxmlformats.org/officeDocument/2006/relationships/image" Target="../media/image990.png"/><Relationship Id="rId4" Type="http://schemas.openxmlformats.org/officeDocument/2006/relationships/image" Target="../media/image930.png"/><Relationship Id="rId9" Type="http://schemas.openxmlformats.org/officeDocument/2006/relationships/image" Target="../media/image980.png"/><Relationship Id="rId14" Type="http://schemas.openxmlformats.org/officeDocument/2006/relationships/image" Target="../media/image103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9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3.png"/><Relationship Id="rId3" Type="http://schemas.openxmlformats.org/officeDocument/2006/relationships/image" Target="../media/image11.wmf"/><Relationship Id="rId7" Type="http://schemas.openxmlformats.org/officeDocument/2006/relationships/image" Target="../media/image28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1.png"/><Relationship Id="rId11" Type="http://schemas.openxmlformats.org/officeDocument/2006/relationships/image" Target="../media/image286.png"/><Relationship Id="rId5" Type="http://schemas.openxmlformats.org/officeDocument/2006/relationships/image" Target="../media/image12.wmf"/><Relationship Id="rId10" Type="http://schemas.openxmlformats.org/officeDocument/2006/relationships/image" Target="../media/image285.png"/><Relationship Id="rId4" Type="http://schemas.openxmlformats.org/officeDocument/2006/relationships/image" Target="../media/image8.wmf"/><Relationship Id="rId9" Type="http://schemas.openxmlformats.org/officeDocument/2006/relationships/image" Target="../media/image28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9.png"/><Relationship Id="rId5" Type="http://schemas.openxmlformats.org/officeDocument/2006/relationships/image" Target="../media/image288.png"/><Relationship Id="rId4" Type="http://schemas.openxmlformats.org/officeDocument/2006/relationships/image" Target="../media/image215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image" Target="../media/image295.png"/><Relationship Id="rId3" Type="http://schemas.openxmlformats.org/officeDocument/2006/relationships/image" Target="../media/image54.wmf"/><Relationship Id="rId7" Type="http://schemas.openxmlformats.org/officeDocument/2006/relationships/image" Target="../media/image291.png"/><Relationship Id="rId12" Type="http://schemas.openxmlformats.org/officeDocument/2006/relationships/image" Target="../media/image294.png"/><Relationship Id="rId2" Type="http://schemas.openxmlformats.org/officeDocument/2006/relationships/notesSlide" Target="../notesSlides/notesSlide40.xml"/><Relationship Id="rId16" Type="http://schemas.openxmlformats.org/officeDocument/2006/relationships/image" Target="../media/image29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93.png"/><Relationship Id="rId15" Type="http://schemas.openxmlformats.org/officeDocument/2006/relationships/image" Target="../media/image296.png"/><Relationship Id="rId10" Type="http://schemas.openxmlformats.org/officeDocument/2006/relationships/image" Target="../media/image292.png"/><Relationship Id="rId9" Type="http://schemas.openxmlformats.org/officeDocument/2006/relationships/image" Target="../media/image12.wmf"/><Relationship Id="rId14" Type="http://schemas.openxmlformats.org/officeDocument/2006/relationships/image" Target="../media/image8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0.png"/><Relationship Id="rId3" Type="http://schemas.openxmlformats.org/officeDocument/2006/relationships/image" Target="../media/image8.wmf"/><Relationship Id="rId7" Type="http://schemas.openxmlformats.org/officeDocument/2006/relationships/image" Target="../media/image55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7.png"/><Relationship Id="rId5" Type="http://schemas.openxmlformats.org/officeDocument/2006/relationships/image" Target="../media/image298.png"/><Relationship Id="rId9" Type="http://schemas.openxmlformats.org/officeDocument/2006/relationships/image" Target="../media/image30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png"/><Relationship Id="rId7" Type="http://schemas.openxmlformats.org/officeDocument/2006/relationships/image" Target="../media/image8.w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3.png"/><Relationship Id="rId5" Type="http://schemas.openxmlformats.org/officeDocument/2006/relationships/image" Target="../media/image222.png"/><Relationship Id="rId4" Type="http://schemas.openxmlformats.org/officeDocument/2006/relationships/image" Target="../media/image221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7" Type="http://schemas.openxmlformats.org/officeDocument/2006/relationships/image" Target="../media/image276.png"/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5.png"/><Relationship Id="rId5" Type="http://schemas.openxmlformats.org/officeDocument/2006/relationships/image" Target="../media/image274.png"/><Relationship Id="rId4" Type="http://schemas.openxmlformats.org/officeDocument/2006/relationships/image" Target="../media/image273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png"/><Relationship Id="rId7" Type="http://schemas.openxmlformats.org/officeDocument/2006/relationships/image" Target="../media/image108.png"/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22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2910" y="214290"/>
            <a:ext cx="7901650" cy="2398719"/>
          </a:xfrm>
        </p:spPr>
        <p:txBody>
          <a:bodyPr>
            <a:normAutofit/>
          </a:bodyPr>
          <a:lstStyle/>
          <a:p>
            <a:r>
              <a:rPr lang="pl-PL" b="1" dirty="0"/>
              <a:t>Chapter 3</a:t>
            </a:r>
            <a:br>
              <a:rPr lang="en-GB" dirty="0"/>
            </a:br>
            <a:r>
              <a:rPr lang="pl-PL" b="1" dirty="0">
                <a:solidFill>
                  <a:srgbClr val="0070C0"/>
                </a:solidFill>
              </a:rPr>
              <a:t>Hash </a:t>
            </a:r>
            <a:r>
              <a:rPr lang="en-US" b="1" dirty="0">
                <a:solidFill>
                  <a:srgbClr val="0070C0"/>
                </a:solidFill>
              </a:rPr>
              <a:t>Functions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428768" y="2613009"/>
            <a:ext cx="4428123" cy="10150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b="1">
                <a:solidFill>
                  <a:srgbClr val="FF0000"/>
                </a:solidFill>
              </a:rPr>
              <a:t>Stefan</a:t>
            </a:r>
            <a:r>
              <a:rPr lang="en-US" sz="3000">
                <a:solidFill>
                  <a:srgbClr val="FF0000"/>
                </a:solidFill>
              </a:rPr>
              <a:t> </a:t>
            </a:r>
            <a:r>
              <a:rPr lang="en-US" sz="3000" b="1" dirty="0">
                <a:solidFill>
                  <a:srgbClr val="FF0000"/>
                </a:solidFill>
              </a:rPr>
              <a:t>Dziembowski</a:t>
            </a:r>
            <a:br>
              <a:rPr lang="en-US" sz="3000" b="1" dirty="0">
                <a:solidFill>
                  <a:srgbClr val="FF0000"/>
                </a:solidFill>
              </a:rPr>
            </a:br>
            <a:r>
              <a:rPr lang="en-US" sz="1800" dirty="0">
                <a:solidFill>
                  <a:srgbClr val="FF0000"/>
                </a:solidFill>
              </a:rPr>
              <a:t>www.crypto.edu.pl/Dziembowski</a:t>
            </a:r>
            <a:br>
              <a:rPr lang="en-US" sz="1800" dirty="0">
                <a:solidFill>
                  <a:srgbClr val="FF0000"/>
                </a:solidFill>
              </a:rPr>
            </a:br>
            <a:br>
              <a:rPr lang="en-US" sz="3000" dirty="0">
                <a:solidFill>
                  <a:srgbClr val="FF0000"/>
                </a:solidFill>
              </a:rPr>
            </a:br>
            <a:r>
              <a:rPr lang="en-US" sz="2600" b="1" dirty="0">
                <a:solidFill>
                  <a:schemeClr val="tx1"/>
                </a:solidFill>
              </a:rPr>
              <a:t>University of Warsaw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r="58267"/>
          <a:stretch/>
        </p:blipFill>
        <p:spPr>
          <a:xfrm>
            <a:off x="3743091" y="4889610"/>
            <a:ext cx="1418989" cy="152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127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785794"/>
            <a:ext cx="8229600" cy="725470"/>
          </a:xfrm>
        </p:spPr>
        <p:txBody>
          <a:bodyPr>
            <a:normAutofit/>
          </a:bodyPr>
          <a:lstStyle/>
          <a:p>
            <a:r>
              <a:rPr lang="en-US" dirty="0"/>
              <a:t>Secure communication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85918" y="2714620"/>
          <a:ext cx="6643734" cy="1925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4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45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45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269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encryption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authentication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85">
                <a:tc>
                  <a:txBody>
                    <a:bodyPr/>
                    <a:lstStyle/>
                    <a:p>
                      <a:r>
                        <a:rPr lang="en-US" b="1" dirty="0"/>
                        <a:t>private</a:t>
                      </a:r>
                      <a:r>
                        <a:rPr lang="en-US" b="1" baseline="0" dirty="0"/>
                        <a:t> key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private</a:t>
                      </a:r>
                      <a:r>
                        <a:rPr lang="en-US" baseline="0" dirty="0"/>
                        <a:t> key encryption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private</a:t>
                      </a:r>
                      <a:r>
                        <a:rPr lang="en-US" baseline="0" dirty="0"/>
                        <a:t> key authentication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699">
                <a:tc>
                  <a:txBody>
                    <a:bodyPr/>
                    <a:lstStyle/>
                    <a:p>
                      <a:r>
                        <a:rPr lang="en-US" b="1" dirty="0"/>
                        <a:t>public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public key</a:t>
                      </a:r>
                      <a:br>
                        <a:rPr lang="en-US" dirty="0"/>
                      </a:br>
                      <a:r>
                        <a:rPr lang="en-US" dirty="0"/>
                        <a:t>encryption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signatures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4071934" y="3500438"/>
            <a:ext cx="301686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71934" y="4143380"/>
            <a:ext cx="301686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6512" y="3500438"/>
            <a:ext cx="301686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86512" y="4143380"/>
            <a:ext cx="301686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4</a:t>
            </a:r>
          </a:p>
        </p:txBody>
      </p:sp>
      <p:pic>
        <p:nvPicPr>
          <p:cNvPr id="12" name="Picture 2" descr="C:\Users\Stefan\AppData\Local\Microsoft\Windows\Temporary Internet Files\Content.IE5\VFSGDNK1\MCj0434663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86446" y="3143248"/>
            <a:ext cx="563561" cy="744131"/>
          </a:xfrm>
          <a:prstGeom prst="rect">
            <a:avLst/>
          </a:prstGeom>
          <a:noFill/>
        </p:spPr>
      </p:pic>
      <p:sp>
        <p:nvSpPr>
          <p:cNvPr id="6" name="Rounded Rectangular Callout 5"/>
          <p:cNvSpPr/>
          <p:nvPr/>
        </p:nvSpPr>
        <p:spPr>
          <a:xfrm>
            <a:off x="2511911" y="5185186"/>
            <a:ext cx="4620409" cy="1145689"/>
          </a:xfrm>
          <a:prstGeom prst="wedgeRoundRectCallout">
            <a:avLst>
              <a:gd name="adj1" fmla="val 31765"/>
              <a:gd name="adj2" fmla="val -167310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we will discus this on the next lecture, but first, we talk about the hash functions</a:t>
            </a:r>
            <a:endParaRPr lang="pl-PL" sz="2000" dirty="0"/>
          </a:p>
        </p:txBody>
      </p:sp>
    </p:spTree>
    <p:extLst>
      <p:ext uri="{BB962C8B-B14F-4D97-AF65-F5344CB8AC3E}">
        <p14:creationId xmlns:p14="http://schemas.microsoft.com/office/powerpoint/2010/main" val="309119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0148" y="1642219"/>
            <a:ext cx="6929486" cy="368776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Introduction and definitions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Hash function design paradigms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Other </a:t>
            </a:r>
            <a:r>
              <a:rPr lang="pl-PL" dirty="0"/>
              <a:t>uses of hash functions</a:t>
            </a:r>
            <a:endParaRPr lang="it-IT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Real-life constructions</a:t>
            </a:r>
            <a:endParaRPr lang="it-IT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500034" y="1495348"/>
            <a:ext cx="1214446" cy="71438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45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360381" y="152400"/>
            <a:ext cx="8021619" cy="1143000"/>
          </a:xfrm>
        </p:spPr>
        <p:txBody>
          <a:bodyPr/>
          <a:lstStyle/>
          <a:p>
            <a:r>
              <a:rPr lang="pl-PL" sz="4000" dirty="0"/>
              <a:t>H</a:t>
            </a:r>
            <a:r>
              <a:rPr lang="it-IT" sz="4000" dirty="0"/>
              <a:t>ash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548" name="AutoShape 4"/>
              <p:cNvSpPr>
                <a:spLocks noChangeArrowheads="1"/>
              </p:cNvSpPr>
              <p:nvPr/>
            </p:nvSpPr>
            <p:spPr bwMode="auto">
              <a:xfrm rot="10800000">
                <a:off x="914400" y="2685825"/>
                <a:ext cx="7467600" cy="1981200"/>
              </a:xfrm>
              <a:custGeom>
                <a:avLst/>
                <a:gdLst>
                  <a:gd name="G0" fmla="+- 8860 0 0"/>
                  <a:gd name="G1" fmla="+- 21600 0 8860"/>
                  <a:gd name="G2" fmla="*/ 8860 1 2"/>
                  <a:gd name="G3" fmla="+- 21600 0 G2"/>
                  <a:gd name="G4" fmla="+/ 8860 21600 2"/>
                  <a:gd name="G5" fmla="+/ G1 0 2"/>
                  <a:gd name="G6" fmla="*/ 21600 21600 8860"/>
                  <a:gd name="G7" fmla="*/ G6 1 2"/>
                  <a:gd name="G8" fmla="+- 21600 0 G7"/>
                  <a:gd name="G9" fmla="*/ 21600 1 2"/>
                  <a:gd name="G10" fmla="+- 8860 0 G9"/>
                  <a:gd name="G11" fmla="?: G10 G8 0"/>
                  <a:gd name="G12" fmla="?: G10 G7 21600"/>
                  <a:gd name="T0" fmla="*/ 17170 w 21600"/>
                  <a:gd name="T1" fmla="*/ 10800 h 21600"/>
                  <a:gd name="T2" fmla="*/ 10800 w 21600"/>
                  <a:gd name="T3" fmla="*/ 21600 h 21600"/>
                  <a:gd name="T4" fmla="*/ 4430 w 21600"/>
                  <a:gd name="T5" fmla="*/ 10800 h 21600"/>
                  <a:gd name="T6" fmla="*/ 10800 w 21600"/>
                  <a:gd name="T7" fmla="*/ 0 h 21600"/>
                  <a:gd name="T8" fmla="*/ 6230 w 21600"/>
                  <a:gd name="T9" fmla="*/ 6230 h 21600"/>
                  <a:gd name="T10" fmla="*/ 15370 w 21600"/>
                  <a:gd name="T11" fmla="*/ 1537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8860" y="21600"/>
                    </a:lnTo>
                    <a:lnTo>
                      <a:pt x="1274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10800000" wrap="none" anchor="ctr"/>
              <a:lstStyle/>
              <a:p>
                <a:pPr algn="ctr"/>
                <a:r>
                  <a:rPr lang="it-IT" sz="3200" dirty="0"/>
                  <a:t>a hash function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it-IT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pl-PL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it-IT" sz="32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32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it-IT" sz="32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l-PL" sz="32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pl-PL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it-IT" sz="3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→ {</m:t>
                      </m:r>
                      <m:r>
                        <a:rPr lang="it-IT" sz="3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𝟎</m:t>
                      </m:r>
                      <m:r>
                        <a:rPr lang="it-IT" sz="3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,</m:t>
                      </m:r>
                      <m:r>
                        <a:rPr lang="it-IT" sz="3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𝟏</m:t>
                      </m:r>
                      <m:r>
                        <a:rPr lang="it-IT" sz="3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}</m:t>
                      </m:r>
                      <m:r>
                        <a:rPr lang="it-IT" sz="32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𝑳</m:t>
                      </m:r>
                    </m:oMath>
                  </m:oMathPara>
                </a14:m>
                <a:endParaRPr lang="it-IT" sz="3200" b="1" dirty="0">
                  <a:solidFill>
                    <a:srgbClr val="FF0000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08548" name="AutoShap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10800000">
                <a:off x="914400" y="2685825"/>
                <a:ext cx="7467600" cy="1981200"/>
              </a:xfrm>
              <a:custGeom>
                <a:avLst/>
                <a:gdLst>
                  <a:gd name="G0" fmla="+- 8860 0 0"/>
                  <a:gd name="G1" fmla="+- 21600 0 8860"/>
                  <a:gd name="G2" fmla="*/ 8860 1 2"/>
                  <a:gd name="G3" fmla="+- 21600 0 G2"/>
                  <a:gd name="G4" fmla="+/ 8860 21600 2"/>
                  <a:gd name="G5" fmla="+/ G1 0 2"/>
                  <a:gd name="G6" fmla="*/ 21600 21600 8860"/>
                  <a:gd name="G7" fmla="*/ G6 1 2"/>
                  <a:gd name="G8" fmla="+- 21600 0 G7"/>
                  <a:gd name="G9" fmla="*/ 21600 1 2"/>
                  <a:gd name="G10" fmla="+- 8860 0 G9"/>
                  <a:gd name="G11" fmla="?: G10 G8 0"/>
                  <a:gd name="G12" fmla="?: G10 G7 21600"/>
                  <a:gd name="T0" fmla="*/ 17170 w 21600"/>
                  <a:gd name="T1" fmla="*/ 10800 h 21600"/>
                  <a:gd name="T2" fmla="*/ 10800 w 21600"/>
                  <a:gd name="T3" fmla="*/ 21600 h 21600"/>
                  <a:gd name="T4" fmla="*/ 4430 w 21600"/>
                  <a:gd name="T5" fmla="*/ 10800 h 21600"/>
                  <a:gd name="T6" fmla="*/ 10800 w 21600"/>
                  <a:gd name="T7" fmla="*/ 0 h 21600"/>
                  <a:gd name="T8" fmla="*/ 6230 w 21600"/>
                  <a:gd name="T9" fmla="*/ 6230 h 21600"/>
                  <a:gd name="T10" fmla="*/ 15370 w 21600"/>
                  <a:gd name="T11" fmla="*/ 1537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8860" y="21600"/>
                    </a:lnTo>
                    <a:lnTo>
                      <a:pt x="1274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549" name="Rectangle 5"/>
              <p:cNvSpPr>
                <a:spLocks noChangeArrowheads="1"/>
              </p:cNvSpPr>
              <p:nvPr/>
            </p:nvSpPr>
            <p:spPr bwMode="auto">
              <a:xfrm>
                <a:off x="3962400" y="2076225"/>
                <a:ext cx="13716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it-IT" sz="2000" dirty="0"/>
                  <a:t>short </a:t>
                </a:r>
                <a14:m>
                  <m:oMath xmlns:m="http://schemas.openxmlformats.org/officeDocument/2006/math">
                    <m:r>
                      <a:rPr lang="it-IT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it-IT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it-IT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8549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62400" y="2076225"/>
                <a:ext cx="1371600" cy="457200"/>
              </a:xfrm>
              <a:prstGeom prst="rect">
                <a:avLst/>
              </a:prstGeom>
              <a:blipFill rotWithShape="0">
                <a:blip r:embed="rId4"/>
                <a:stretch>
                  <a:fillRect l="-7048" r="-4846" b="-15584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550" name="Rectangle 6"/>
              <p:cNvSpPr>
                <a:spLocks noChangeArrowheads="1"/>
              </p:cNvSpPr>
              <p:nvPr/>
            </p:nvSpPr>
            <p:spPr bwMode="auto">
              <a:xfrm>
                <a:off x="914400" y="4895625"/>
                <a:ext cx="74676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it-IT" sz="2000" dirty="0"/>
                  <a:t>long</a:t>
                </a:r>
                <a:r>
                  <a:rPr lang="it-IT" sz="2000" b="1" dirty="0"/>
                  <a:t> </a:t>
                </a:r>
                <a14:m>
                  <m:oMath xmlns:m="http://schemas.openxmlformats.org/officeDocument/2006/math">
                    <m:r>
                      <a:rPr lang="it-IT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it-IT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8550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4895625"/>
                <a:ext cx="7467600" cy="457200"/>
              </a:xfrm>
              <a:prstGeom prst="rect">
                <a:avLst/>
              </a:prstGeom>
              <a:blipFill rotWithShape="0">
                <a:blip r:embed="rId5"/>
                <a:stretch>
                  <a:fillRect b="-15584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23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8" grpId="0" animBg="1"/>
      <p:bldP spid="108549" grpId="0" animBg="1"/>
      <p:bldP spid="10855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618" y="224463"/>
            <a:ext cx="8904427" cy="715066"/>
          </a:xfrm>
        </p:spPr>
        <p:txBody>
          <a:bodyPr>
            <a:noAutofit/>
          </a:bodyPr>
          <a:lstStyle/>
          <a:p>
            <a:r>
              <a:rPr lang="en-US" sz="3600" dirty="0"/>
              <a:t>Example of an application: file fingerprinting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0" r="23893" b="50386"/>
          <a:stretch/>
        </p:blipFill>
        <p:spPr>
          <a:xfrm>
            <a:off x="2339752" y="4509747"/>
            <a:ext cx="6552728" cy="158354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" name="Picture 2" descr="http://images.clipartpanda.com/server-clipart-RTGK5rgTL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557" y="1264555"/>
            <a:ext cx="1728192" cy="267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46141" y="2955579"/>
                <a:ext cx="2952328" cy="472407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large file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41" y="2955579"/>
                <a:ext cx="2952328" cy="472407"/>
              </a:xfrm>
              <a:prstGeom prst="rect">
                <a:avLst/>
              </a:prstGeom>
              <a:blipFill rotWithShape="0">
                <a:blip r:embed="rId5"/>
                <a:stretch>
                  <a:fillRect t="-7595" b="-2658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Flowchart: Manual Operation 6"/>
              <p:cNvSpPr/>
              <p:nvPr/>
            </p:nvSpPr>
            <p:spPr>
              <a:xfrm>
                <a:off x="260333" y="2294077"/>
                <a:ext cx="2943515" cy="612648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5460 w 15460"/>
                  <a:gd name="connsiteY0" fmla="*/ 0 h 10000"/>
                  <a:gd name="connsiteX1" fmla="*/ 15460 w 15460"/>
                  <a:gd name="connsiteY1" fmla="*/ 0 h 10000"/>
                  <a:gd name="connsiteX2" fmla="*/ 13460 w 15460"/>
                  <a:gd name="connsiteY2" fmla="*/ 10000 h 10000"/>
                  <a:gd name="connsiteX3" fmla="*/ 0 w 15460"/>
                  <a:gd name="connsiteY3" fmla="*/ 10000 h 10000"/>
                  <a:gd name="connsiteX4" fmla="*/ 5460 w 15460"/>
                  <a:gd name="connsiteY4" fmla="*/ 0 h 10000"/>
                  <a:gd name="connsiteX0" fmla="*/ 5460 w 24492"/>
                  <a:gd name="connsiteY0" fmla="*/ 0 h 10000"/>
                  <a:gd name="connsiteX1" fmla="*/ 15460 w 24492"/>
                  <a:gd name="connsiteY1" fmla="*/ 0 h 10000"/>
                  <a:gd name="connsiteX2" fmla="*/ 24492 w 24492"/>
                  <a:gd name="connsiteY2" fmla="*/ 9645 h 10000"/>
                  <a:gd name="connsiteX3" fmla="*/ 0 w 24492"/>
                  <a:gd name="connsiteY3" fmla="*/ 10000 h 10000"/>
                  <a:gd name="connsiteX4" fmla="*/ 5460 w 24492"/>
                  <a:gd name="connsiteY4" fmla="*/ 0 h 10000"/>
                  <a:gd name="connsiteX0" fmla="*/ 5460 w 21794"/>
                  <a:gd name="connsiteY0" fmla="*/ 0 h 10000"/>
                  <a:gd name="connsiteX1" fmla="*/ 15460 w 21794"/>
                  <a:gd name="connsiteY1" fmla="*/ 0 h 10000"/>
                  <a:gd name="connsiteX2" fmla="*/ 21794 w 21794"/>
                  <a:gd name="connsiteY2" fmla="*/ 9645 h 10000"/>
                  <a:gd name="connsiteX3" fmla="*/ 0 w 21794"/>
                  <a:gd name="connsiteY3" fmla="*/ 10000 h 10000"/>
                  <a:gd name="connsiteX4" fmla="*/ 5460 w 21794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794" h="10000">
                    <a:moveTo>
                      <a:pt x="5460" y="0"/>
                    </a:moveTo>
                    <a:lnTo>
                      <a:pt x="15460" y="0"/>
                    </a:lnTo>
                    <a:lnTo>
                      <a:pt x="21794" y="9645"/>
                    </a:lnTo>
                    <a:lnTo>
                      <a:pt x="0" y="10000"/>
                    </a:lnTo>
                    <a:lnTo>
                      <a:pt x="5460" y="0"/>
                    </a:lnTo>
                    <a:close/>
                  </a:path>
                </a:pathLst>
              </a:cu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Flowchart: Manual Operation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33" y="2294077"/>
                <a:ext cx="2943515" cy="612648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5460 w 15460"/>
                  <a:gd name="connsiteY0" fmla="*/ 0 h 10000"/>
                  <a:gd name="connsiteX1" fmla="*/ 15460 w 15460"/>
                  <a:gd name="connsiteY1" fmla="*/ 0 h 10000"/>
                  <a:gd name="connsiteX2" fmla="*/ 13460 w 15460"/>
                  <a:gd name="connsiteY2" fmla="*/ 10000 h 10000"/>
                  <a:gd name="connsiteX3" fmla="*/ 0 w 15460"/>
                  <a:gd name="connsiteY3" fmla="*/ 10000 h 10000"/>
                  <a:gd name="connsiteX4" fmla="*/ 5460 w 15460"/>
                  <a:gd name="connsiteY4" fmla="*/ 0 h 10000"/>
                  <a:gd name="connsiteX0" fmla="*/ 5460 w 24492"/>
                  <a:gd name="connsiteY0" fmla="*/ 0 h 10000"/>
                  <a:gd name="connsiteX1" fmla="*/ 15460 w 24492"/>
                  <a:gd name="connsiteY1" fmla="*/ 0 h 10000"/>
                  <a:gd name="connsiteX2" fmla="*/ 24492 w 24492"/>
                  <a:gd name="connsiteY2" fmla="*/ 9645 h 10000"/>
                  <a:gd name="connsiteX3" fmla="*/ 0 w 24492"/>
                  <a:gd name="connsiteY3" fmla="*/ 10000 h 10000"/>
                  <a:gd name="connsiteX4" fmla="*/ 5460 w 24492"/>
                  <a:gd name="connsiteY4" fmla="*/ 0 h 10000"/>
                  <a:gd name="connsiteX0" fmla="*/ 5460 w 21794"/>
                  <a:gd name="connsiteY0" fmla="*/ 0 h 10000"/>
                  <a:gd name="connsiteX1" fmla="*/ 15460 w 21794"/>
                  <a:gd name="connsiteY1" fmla="*/ 0 h 10000"/>
                  <a:gd name="connsiteX2" fmla="*/ 21794 w 21794"/>
                  <a:gd name="connsiteY2" fmla="*/ 9645 h 10000"/>
                  <a:gd name="connsiteX3" fmla="*/ 0 w 21794"/>
                  <a:gd name="connsiteY3" fmla="*/ 10000 h 10000"/>
                  <a:gd name="connsiteX4" fmla="*/ 5460 w 21794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794" h="10000">
                    <a:moveTo>
                      <a:pt x="5460" y="0"/>
                    </a:moveTo>
                    <a:lnTo>
                      <a:pt x="15460" y="0"/>
                    </a:lnTo>
                    <a:lnTo>
                      <a:pt x="21794" y="9645"/>
                    </a:lnTo>
                    <a:lnTo>
                      <a:pt x="0" y="10000"/>
                    </a:lnTo>
                    <a:lnTo>
                      <a:pt x="5460" y="0"/>
                    </a:lnTo>
                    <a:close/>
                  </a:path>
                </a:pathLst>
              </a:cu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971600" y="1837942"/>
                <a:ext cx="1452036" cy="36930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837942"/>
                <a:ext cx="1452036" cy="369305"/>
              </a:xfrm>
              <a:prstGeom prst="rect">
                <a:avLst/>
              </a:prstGeom>
              <a:blipFill rotWithShape="0">
                <a:blip r:embed="rId7"/>
                <a:stretch>
                  <a:fillRect b="-2222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ular Callout 9"/>
          <p:cNvSpPr/>
          <p:nvPr/>
        </p:nvSpPr>
        <p:spPr>
          <a:xfrm>
            <a:off x="3012141" y="1449619"/>
            <a:ext cx="5658387" cy="947463"/>
          </a:xfrm>
          <a:prstGeom prst="wedgeRoundRectCallout">
            <a:avLst>
              <a:gd name="adj1" fmla="val -69511"/>
              <a:gd name="adj2" fmla="val -5291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“</a:t>
            </a:r>
            <a:r>
              <a:rPr lang="en-US" sz="2400" b="1" dirty="0"/>
              <a:t>fingerprint</a:t>
            </a:r>
            <a:r>
              <a:rPr lang="en-US" sz="2400" dirty="0"/>
              <a:t>”</a:t>
            </a:r>
          </a:p>
          <a:p>
            <a:pPr algn="ctr"/>
            <a:r>
              <a:rPr lang="en-US" sz="2400" dirty="0"/>
              <a:t>(publish this through a </a:t>
            </a:r>
            <a:r>
              <a:rPr lang="en-US" sz="2400" b="1" u="sng" dirty="0">
                <a:solidFill>
                  <a:srgbClr val="FF0000"/>
                </a:solidFill>
              </a:rPr>
              <a:t>secure channel</a:t>
            </a:r>
            <a:r>
              <a:rPr lang="en-US" sz="24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ular Callout 10"/>
              <p:cNvSpPr/>
              <p:nvPr/>
            </p:nvSpPr>
            <p:spPr>
              <a:xfrm>
                <a:off x="3488916" y="2617372"/>
                <a:ext cx="4896544" cy="1526851"/>
              </a:xfrm>
              <a:prstGeom prst="wedgeRoundRectCallout">
                <a:avLst>
                  <a:gd name="adj1" fmla="val -62127"/>
                  <a:gd name="adj2" fmla="val -9270"/>
                  <a:gd name="adj3" fmla="val 16667"/>
                </a:avLst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everybody who downloads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sz="2400" b="1" dirty="0">
                    <a:solidFill>
                      <a:schemeClr val="accent2"/>
                    </a:solidFill>
                  </a:rPr>
                  <a:t> </a:t>
                </a:r>
                <a:r>
                  <a:rPr lang="en-US" sz="2400" dirty="0"/>
                  <a:t>can verify its correctness by computing</a:t>
                </a:r>
                <a:r>
                  <a:rPr lang="en-US" sz="2400" b="1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and comparing with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.</a:t>
                </a:r>
                <a:endParaRPr lang="en-US" sz="2400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1" name="Rounded Rectangular Callou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916" y="2617372"/>
                <a:ext cx="4896544" cy="1526851"/>
              </a:xfrm>
              <a:prstGeom prst="wedgeRoundRectCallout">
                <a:avLst>
                  <a:gd name="adj1" fmla="val -62127"/>
                  <a:gd name="adj2" fmla="val -9270"/>
                  <a:gd name="adj3" fmla="val 16667"/>
                </a:avLst>
              </a:prstGeom>
              <a:blipFill rotWithShape="0">
                <a:blip r:embed="rId9"/>
                <a:stretch>
                  <a:fillRect t="-3557" b="-948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175027" y="4411032"/>
            <a:ext cx="19729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Example</a:t>
            </a:r>
            <a:br>
              <a:rPr lang="en-US" sz="2400" dirty="0"/>
            </a:br>
            <a:r>
              <a:rPr lang="en-US" sz="2400" dirty="0"/>
              <a:t>(ubuntu.com):</a:t>
            </a:r>
          </a:p>
        </p:txBody>
      </p:sp>
    </p:spTree>
    <p:extLst>
      <p:ext uri="{BB962C8B-B14F-4D97-AF65-F5344CB8AC3E}">
        <p14:creationId xmlns:p14="http://schemas.microsoft.com/office/powerpoint/2010/main" val="3492001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What properties should a hash function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have?</a:t>
                </a:r>
                <a:endParaRPr lang="pl-PL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3091" t="-13364" b="-2119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963271"/>
                <a:ext cx="7886700" cy="421369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u="sng" dirty="0">
                    <a:solidFill>
                      <a:srgbClr val="0070C0"/>
                    </a:solidFill>
                  </a:rPr>
                  <a:t>Minimal requirement</a:t>
                </a:r>
                <a:r>
                  <a:rPr lang="en-US" dirty="0"/>
                  <a:t>: second preimage-resistance</a:t>
                </a:r>
                <a:r>
                  <a:rPr lang="pl-PL" dirty="0"/>
                  <a:t>.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More precisely, the following problem should be </a:t>
                </a:r>
                <a:r>
                  <a:rPr lang="en-US" b="1" dirty="0">
                    <a:solidFill>
                      <a:srgbClr val="00B050"/>
                    </a:solidFill>
                  </a:rPr>
                  <a:t>hard for any efficient adversary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/>
                  <a:t>:</a:t>
                </a:r>
              </a:p>
              <a:p>
                <a:r>
                  <a:rPr lang="en-US" b="1" dirty="0">
                    <a:solidFill>
                      <a:srgbClr val="7030A0"/>
                    </a:solidFill>
                  </a:rPr>
                  <a:t>given</a:t>
                </a:r>
                <a:r>
                  <a:rPr lang="en-US" dirty="0"/>
                  <a:t>: “random”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</a:p>
              <a:p>
                <a:r>
                  <a:rPr lang="en-US" b="1" dirty="0">
                    <a:solidFill>
                      <a:srgbClr val="002060"/>
                    </a:solidFill>
                  </a:rPr>
                  <a:t>find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such that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70C0"/>
                    </a:solidFill>
                  </a:rPr>
                  <a:t>Q</a:t>
                </a:r>
                <a:r>
                  <a:rPr lang="en-US" dirty="0"/>
                  <a:t>: Is it enough?</a:t>
                </a:r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963271"/>
                <a:ext cx="7886700" cy="4213692"/>
              </a:xfrm>
              <a:blipFill>
                <a:blip r:embed="rId3"/>
                <a:stretch>
                  <a:fillRect l="-1546" t="-2460" b="-3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8953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878" y="343891"/>
            <a:ext cx="8260707" cy="1325563"/>
          </a:xfrm>
        </p:spPr>
        <p:txBody>
          <a:bodyPr>
            <a:normAutofit/>
          </a:bodyPr>
          <a:lstStyle/>
          <a:p>
            <a:r>
              <a:rPr lang="en-US" dirty="0"/>
              <a:t>Second preimage resistance may be in many cases be too weak 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1391" y="1854377"/>
                <a:ext cx="8301218" cy="31336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What if the adversary can somehow influence the choice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sz="2400" dirty="0"/>
                  <a:t>?</a:t>
                </a:r>
              </a:p>
              <a:p>
                <a:pPr marL="0" indent="0">
                  <a:buNone/>
                </a:pPr>
                <a:r>
                  <a:rPr lang="en-US" sz="2400" b="1" u="sng" dirty="0"/>
                  <a:t>For example</a:t>
                </a:r>
                <a:r>
                  <a:rPr lang="en-US" sz="2400" dirty="0"/>
                  <a:t>: Ubuntu has many contributors. What if one of them is malicious?</a:t>
                </a: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00B050"/>
                    </a:solidFill>
                  </a:rPr>
                  <a:t>Idea</a:t>
                </a:r>
                <a:r>
                  <a:rPr lang="en-US" sz="2400" dirty="0"/>
                  <a:t>: modify the definition by allowing the adversary to choose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himself.</a:t>
                </a:r>
                <a:endParaRPr lang="pl-PL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New game for the adversary:</a:t>
                </a:r>
              </a:p>
              <a:p>
                <a:pPr marL="0" indent="0">
                  <a:buNone/>
                </a:pPr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1391" y="1854377"/>
                <a:ext cx="8301218" cy="3133650"/>
              </a:xfrm>
              <a:blipFill rotWithShape="0">
                <a:blip r:embed="rId2"/>
                <a:stretch>
                  <a:fillRect l="-1101" t="-2724" r="-88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28650" y="5253632"/>
                <a:ext cx="3518423" cy="1200329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7030A0"/>
                    </a:solidFill>
                  </a:rPr>
                  <a:t>find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r>
                  <a:rPr lang="en-US" sz="2400" b="1" dirty="0">
                    <a:solidFill>
                      <a:srgbClr val="002060"/>
                    </a:solidFill>
                  </a:rPr>
                  <a:t>find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sz="2400" dirty="0"/>
                  <a:t> such that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5253632"/>
                <a:ext cx="3518423" cy="1200329"/>
              </a:xfrm>
              <a:prstGeom prst="rect">
                <a:avLst/>
              </a:prstGeom>
              <a:blipFill rotWithShape="0">
                <a:blip r:embed="rId6"/>
                <a:stretch>
                  <a:fillRect l="-2418" t="-3518" b="-653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132307" y="5469075"/>
                <a:ext cx="3383043" cy="830997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7030A0"/>
                    </a:solidFill>
                  </a:rPr>
                  <a:t>find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dirty="0"/>
                  <a:t> such that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2307" y="5469075"/>
                <a:ext cx="3383043" cy="830997"/>
              </a:xfrm>
              <a:prstGeom prst="rect">
                <a:avLst/>
              </a:prstGeom>
              <a:blipFill rotWithShape="0">
                <a:blip r:embed="rId7"/>
                <a:stretch>
                  <a:fillRect l="-2693" t="-5072" b="-1014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04713" y="5480470"/>
                <a:ext cx="82747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</m:oMath>
                  </m:oMathPara>
                </a14:m>
                <a:endParaRPr lang="pl-PL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713" y="5480470"/>
                <a:ext cx="827470" cy="70788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ular Callout 6"/>
          <p:cNvSpPr/>
          <p:nvPr/>
        </p:nvSpPr>
        <p:spPr>
          <a:xfrm>
            <a:off x="4857078" y="3797450"/>
            <a:ext cx="3658272" cy="1375500"/>
          </a:xfrm>
          <a:prstGeom prst="wedgeRoundRectCallou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if this problem is hard then a function is called </a:t>
            </a:r>
            <a:br>
              <a:rPr lang="en-US" sz="2000" dirty="0"/>
            </a:br>
            <a:r>
              <a:rPr lang="en-US" sz="2000" dirty="0"/>
              <a:t>“</a:t>
            </a:r>
            <a:r>
              <a:rPr lang="en-US" sz="2000" b="1" dirty="0"/>
              <a:t>collision-resistant</a:t>
            </a:r>
            <a:r>
              <a:rPr lang="en-US" sz="2000" dirty="0"/>
              <a:t>”</a:t>
            </a:r>
            <a:endParaRPr lang="pl-PL" sz="2000" dirty="0"/>
          </a:p>
        </p:txBody>
      </p:sp>
    </p:spTree>
    <p:extLst>
      <p:ext uri="{BB962C8B-B14F-4D97-AF65-F5344CB8AC3E}">
        <p14:creationId xmlns:p14="http://schemas.microsoft.com/office/powerpoint/2010/main" val="1682256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72400" cy="1143000"/>
          </a:xfrm>
        </p:spPr>
        <p:txBody>
          <a:bodyPr/>
          <a:lstStyle/>
          <a:p>
            <a:r>
              <a:rPr lang="it-IT" sz="4000"/>
              <a:t>Col</a:t>
            </a:r>
            <a:r>
              <a:rPr lang="pl-PL" sz="4000"/>
              <a:t>l</a:t>
            </a:r>
            <a:r>
              <a:rPr lang="it-IT" sz="4000"/>
              <a:t>ision-res</a:t>
            </a:r>
            <a:r>
              <a:rPr lang="pl-PL" sz="4000"/>
              <a:t>is</a:t>
            </a:r>
            <a:r>
              <a:rPr lang="it-IT" sz="4000"/>
              <a:t>tant hash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548" name="AutoShape 4"/>
              <p:cNvSpPr>
                <a:spLocks noChangeArrowheads="1"/>
              </p:cNvSpPr>
              <p:nvPr/>
            </p:nvSpPr>
            <p:spPr bwMode="auto">
              <a:xfrm rot="10800000">
                <a:off x="1066800" y="1981200"/>
                <a:ext cx="7467600" cy="1981200"/>
              </a:xfrm>
              <a:custGeom>
                <a:avLst/>
                <a:gdLst>
                  <a:gd name="G0" fmla="+- 8860 0 0"/>
                  <a:gd name="G1" fmla="+- 21600 0 8860"/>
                  <a:gd name="G2" fmla="*/ 8860 1 2"/>
                  <a:gd name="G3" fmla="+- 21600 0 G2"/>
                  <a:gd name="G4" fmla="+/ 8860 21600 2"/>
                  <a:gd name="G5" fmla="+/ G1 0 2"/>
                  <a:gd name="G6" fmla="*/ 21600 21600 8860"/>
                  <a:gd name="G7" fmla="*/ G6 1 2"/>
                  <a:gd name="G8" fmla="+- 21600 0 G7"/>
                  <a:gd name="G9" fmla="*/ 21600 1 2"/>
                  <a:gd name="G10" fmla="+- 8860 0 G9"/>
                  <a:gd name="G11" fmla="?: G10 G8 0"/>
                  <a:gd name="G12" fmla="?: G10 G7 21600"/>
                  <a:gd name="T0" fmla="*/ 17170 w 21600"/>
                  <a:gd name="T1" fmla="*/ 10800 h 21600"/>
                  <a:gd name="T2" fmla="*/ 10800 w 21600"/>
                  <a:gd name="T3" fmla="*/ 21600 h 21600"/>
                  <a:gd name="T4" fmla="*/ 4430 w 21600"/>
                  <a:gd name="T5" fmla="*/ 10800 h 21600"/>
                  <a:gd name="T6" fmla="*/ 10800 w 21600"/>
                  <a:gd name="T7" fmla="*/ 0 h 21600"/>
                  <a:gd name="T8" fmla="*/ 6230 w 21600"/>
                  <a:gd name="T9" fmla="*/ 6230 h 21600"/>
                  <a:gd name="T10" fmla="*/ 15370 w 21600"/>
                  <a:gd name="T11" fmla="*/ 1537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8860" y="21600"/>
                    </a:lnTo>
                    <a:lnTo>
                      <a:pt x="1274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10800000" wrap="none" anchor="ctr"/>
              <a:lstStyle/>
              <a:p>
                <a:pPr algn="ctr"/>
                <a:r>
                  <a:rPr lang="it-IT" sz="3200" dirty="0"/>
                  <a:t>a hash function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it-IT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it-IT" sz="32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32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it-IT" sz="32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sz="32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it-IT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3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→ {</m:t>
                      </m:r>
                      <m:r>
                        <a:rPr lang="it-IT" sz="3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𝟎</m:t>
                      </m:r>
                      <m:r>
                        <a:rPr lang="it-IT" sz="3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,</m:t>
                      </m:r>
                      <m:r>
                        <a:rPr lang="it-IT" sz="3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𝟏</m:t>
                      </m:r>
                      <m:r>
                        <a:rPr lang="it-IT" sz="3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}</m:t>
                      </m:r>
                      <m:r>
                        <a:rPr lang="it-IT" sz="32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𝑳</m:t>
                      </m:r>
                    </m:oMath>
                  </m:oMathPara>
                </a14:m>
                <a:endParaRPr lang="it-IT" sz="3200" b="1" dirty="0">
                  <a:solidFill>
                    <a:srgbClr val="FF0000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08548" name="AutoShap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10800000">
                <a:off x="1066800" y="1981200"/>
                <a:ext cx="7467600" cy="1981200"/>
              </a:xfrm>
              <a:custGeom>
                <a:avLst/>
                <a:gdLst>
                  <a:gd name="G0" fmla="+- 8860 0 0"/>
                  <a:gd name="G1" fmla="+- 21600 0 8860"/>
                  <a:gd name="G2" fmla="*/ 8860 1 2"/>
                  <a:gd name="G3" fmla="+- 21600 0 G2"/>
                  <a:gd name="G4" fmla="+/ 8860 21600 2"/>
                  <a:gd name="G5" fmla="+/ G1 0 2"/>
                  <a:gd name="G6" fmla="*/ 21600 21600 8860"/>
                  <a:gd name="G7" fmla="*/ G6 1 2"/>
                  <a:gd name="G8" fmla="+- 21600 0 G7"/>
                  <a:gd name="G9" fmla="*/ 21600 1 2"/>
                  <a:gd name="G10" fmla="+- 8860 0 G9"/>
                  <a:gd name="G11" fmla="?: G10 G8 0"/>
                  <a:gd name="G12" fmla="?: G10 G7 21600"/>
                  <a:gd name="T0" fmla="*/ 17170 w 21600"/>
                  <a:gd name="T1" fmla="*/ 10800 h 21600"/>
                  <a:gd name="T2" fmla="*/ 10800 w 21600"/>
                  <a:gd name="T3" fmla="*/ 21600 h 21600"/>
                  <a:gd name="T4" fmla="*/ 4430 w 21600"/>
                  <a:gd name="T5" fmla="*/ 10800 h 21600"/>
                  <a:gd name="T6" fmla="*/ 10800 w 21600"/>
                  <a:gd name="T7" fmla="*/ 0 h 21600"/>
                  <a:gd name="T8" fmla="*/ 6230 w 21600"/>
                  <a:gd name="T9" fmla="*/ 6230 h 21600"/>
                  <a:gd name="T10" fmla="*/ 15370 w 21600"/>
                  <a:gd name="T11" fmla="*/ 1537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8860" y="21600"/>
                    </a:lnTo>
                    <a:lnTo>
                      <a:pt x="1274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rotWithShape="0"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549" name="Rectangle 5"/>
              <p:cNvSpPr>
                <a:spLocks noChangeArrowheads="1"/>
              </p:cNvSpPr>
              <p:nvPr/>
            </p:nvSpPr>
            <p:spPr bwMode="auto">
              <a:xfrm>
                <a:off x="4114800" y="1371600"/>
                <a:ext cx="13716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it-IT" sz="2000" dirty="0"/>
                  <a:t>short </a:t>
                </a:r>
                <a14:m>
                  <m:oMath xmlns:m="http://schemas.openxmlformats.org/officeDocument/2006/math">
                    <m:r>
                      <a:rPr lang="it-IT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it-IT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it-IT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8549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14800" y="1371600"/>
                <a:ext cx="1371600" cy="457200"/>
              </a:xfrm>
              <a:prstGeom prst="rect">
                <a:avLst/>
              </a:prstGeom>
              <a:blipFill rotWithShape="0">
                <a:blip r:embed="rId8"/>
                <a:stretch>
                  <a:fillRect l="-7048" r="-4846" b="-15584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550" name="Rectangle 6"/>
              <p:cNvSpPr>
                <a:spLocks noChangeArrowheads="1"/>
              </p:cNvSpPr>
              <p:nvPr/>
            </p:nvSpPr>
            <p:spPr bwMode="auto">
              <a:xfrm>
                <a:off x="1066800" y="4191000"/>
                <a:ext cx="74676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it-IT" sz="2000" dirty="0"/>
                  <a:t>long</a:t>
                </a:r>
                <a:r>
                  <a:rPr lang="it-IT" sz="2000" b="1" dirty="0"/>
                  <a:t> </a:t>
                </a:r>
                <a14:m>
                  <m:oMath xmlns:m="http://schemas.openxmlformats.org/officeDocument/2006/math">
                    <m:r>
                      <a:rPr lang="it-IT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it-IT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8550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66800" y="4191000"/>
                <a:ext cx="7467600" cy="457200"/>
              </a:xfrm>
              <a:prstGeom prst="rect">
                <a:avLst/>
              </a:prstGeom>
              <a:blipFill rotWithShape="0">
                <a:blip r:embed="rId9"/>
                <a:stretch>
                  <a:fillRect b="-14286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551" name="Text Box 7"/>
              <p:cNvSpPr txBox="1">
                <a:spLocks noChangeArrowheads="1"/>
              </p:cNvSpPr>
              <p:nvPr/>
            </p:nvSpPr>
            <p:spPr bwMode="auto">
              <a:xfrm>
                <a:off x="304800" y="5638800"/>
                <a:ext cx="8659813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50"/>
                    </a:solidFill>
                  </a:rPr>
                  <a:t>Requirement</a:t>
                </a:r>
                <a:r>
                  <a:rPr lang="en-US" sz="2400" dirty="0"/>
                  <a:t>: it should be hard to find a pair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’)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such that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’)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8551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5638800"/>
                <a:ext cx="8659813" cy="830997"/>
              </a:xfrm>
              <a:prstGeom prst="rect">
                <a:avLst/>
              </a:prstGeom>
              <a:blipFill rotWithShape="0">
                <a:blip r:embed="rId6"/>
                <a:stretch>
                  <a:fillRect t="-5882" r="-422" b="-1102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552" name="AutoShape 8"/>
          <p:cNvSpPr>
            <a:spLocks noChangeArrowheads="1"/>
          </p:cNvSpPr>
          <p:nvPr/>
        </p:nvSpPr>
        <p:spPr bwMode="auto">
          <a:xfrm>
            <a:off x="5410200" y="4953000"/>
            <a:ext cx="2590800" cy="533400"/>
          </a:xfrm>
          <a:prstGeom prst="wedgeRoundRectCallout">
            <a:avLst>
              <a:gd name="adj1" fmla="val 11644"/>
              <a:gd name="adj2" fmla="val 91370"/>
              <a:gd name="adj3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it-IT" sz="2400" b="1" dirty="0"/>
              <a:t>a “col</a:t>
            </a:r>
            <a:r>
              <a:rPr lang="pl-PL" sz="2400" b="1" dirty="0"/>
              <a:t>l</a:t>
            </a:r>
            <a:r>
              <a:rPr lang="it-IT" sz="2400" b="1" dirty="0"/>
              <a:t>ision”</a:t>
            </a:r>
          </a:p>
        </p:txBody>
      </p:sp>
    </p:spTree>
    <p:extLst>
      <p:ext uri="{BB962C8B-B14F-4D97-AF65-F5344CB8AC3E}">
        <p14:creationId xmlns:p14="http://schemas.microsoft.com/office/powerpoint/2010/main" val="3711708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8" grpId="0" animBg="1"/>
      <p:bldP spid="108549" grpId="0" animBg="1"/>
      <p:bldP spid="108550" grpId="0" animBg="1"/>
      <p:bldP spid="108551" grpId="0"/>
      <p:bldP spid="10855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it-IT"/>
              <a:t>Collisions always exist</a:t>
            </a:r>
          </a:p>
        </p:txBody>
      </p:sp>
      <p:sp>
        <p:nvSpPr>
          <p:cNvPr id="109572" name="Oval 4"/>
          <p:cNvSpPr>
            <a:spLocks noChangeArrowheads="1"/>
          </p:cNvSpPr>
          <p:nvPr/>
        </p:nvSpPr>
        <p:spPr bwMode="auto">
          <a:xfrm>
            <a:off x="685800" y="1447800"/>
            <a:ext cx="3810000" cy="4191000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it-IT" sz="3600" dirty="0"/>
              <a:t>domain</a:t>
            </a:r>
          </a:p>
        </p:txBody>
      </p:sp>
      <p:sp>
        <p:nvSpPr>
          <p:cNvPr id="109573" name="Oval 5"/>
          <p:cNvSpPr>
            <a:spLocks noChangeArrowheads="1"/>
          </p:cNvSpPr>
          <p:nvPr/>
        </p:nvSpPr>
        <p:spPr bwMode="auto">
          <a:xfrm>
            <a:off x="6629400" y="2971800"/>
            <a:ext cx="1447800" cy="1752600"/>
          </a:xfrm>
          <a:prstGeom prst="ellipse">
            <a:avLst/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 anchorCtr="1"/>
          <a:lstStyle/>
          <a:p>
            <a:pPr algn="ctr"/>
            <a:r>
              <a:rPr lang="it-IT" sz="3200"/>
              <a:t>range</a:t>
            </a:r>
          </a:p>
        </p:txBody>
      </p:sp>
      <p:sp>
        <p:nvSpPr>
          <p:cNvPr id="109574" name="Line 6"/>
          <p:cNvSpPr>
            <a:spLocks noChangeShapeType="1"/>
          </p:cNvSpPr>
          <p:nvPr/>
        </p:nvSpPr>
        <p:spPr bwMode="auto">
          <a:xfrm>
            <a:off x="2971800" y="2514600"/>
            <a:ext cx="4267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9575" name="Line 7"/>
          <p:cNvSpPr>
            <a:spLocks noChangeShapeType="1"/>
          </p:cNvSpPr>
          <p:nvPr/>
        </p:nvSpPr>
        <p:spPr bwMode="auto">
          <a:xfrm flipV="1">
            <a:off x="2971800" y="3505200"/>
            <a:ext cx="42672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6" name="Text Box 8"/>
              <p:cNvSpPr txBox="1">
                <a:spLocks noChangeArrowheads="1"/>
              </p:cNvSpPr>
              <p:nvPr/>
            </p:nvSpPr>
            <p:spPr bwMode="auto">
              <a:xfrm>
                <a:off x="2819400" y="2209800"/>
                <a:ext cx="600075" cy="369332"/>
              </a:xfrm>
              <a:prstGeom prst="rect">
                <a:avLst/>
              </a:prstGeom>
              <a:solidFill>
                <a:srgbClr val="F8FDD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9576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9400" y="2209800"/>
                <a:ext cx="600075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577" name="Text Box 9"/>
              <p:cNvSpPr txBox="1">
                <a:spLocks noChangeArrowheads="1"/>
              </p:cNvSpPr>
              <p:nvPr/>
            </p:nvSpPr>
            <p:spPr bwMode="auto">
              <a:xfrm>
                <a:off x="2743200" y="4343400"/>
                <a:ext cx="604838" cy="369332"/>
              </a:xfrm>
              <a:prstGeom prst="rect">
                <a:avLst/>
              </a:prstGeom>
              <a:solidFill>
                <a:srgbClr val="F8FDD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9577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3200" y="4343400"/>
                <a:ext cx="604838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578" name="Oval 10"/>
          <p:cNvSpPr>
            <a:spLocks noChangeArrowheads="1"/>
          </p:cNvSpPr>
          <p:nvPr/>
        </p:nvSpPr>
        <p:spPr bwMode="auto">
          <a:xfrm>
            <a:off x="7239000" y="3429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9" name="Text Box 11"/>
          <p:cNvSpPr txBox="1">
            <a:spLocks noChangeArrowheads="1"/>
          </p:cNvSpPr>
          <p:nvPr/>
        </p:nvSpPr>
        <p:spPr bwMode="auto">
          <a:xfrm>
            <a:off x="3993266" y="5029200"/>
            <a:ext cx="4404609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en-US" sz="2800" dirty="0"/>
              <a:t>Since the domain is larger than the range the collisions must exist.</a:t>
            </a:r>
          </a:p>
        </p:txBody>
      </p:sp>
    </p:spTree>
    <p:extLst>
      <p:ext uri="{BB962C8B-B14F-4D97-AF65-F5344CB8AC3E}">
        <p14:creationId xmlns:p14="http://schemas.microsoft.com/office/powerpoint/2010/main" val="822447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78350"/>
            <a:ext cx="7772400" cy="1143000"/>
          </a:xfrm>
        </p:spPr>
        <p:txBody>
          <a:bodyPr/>
          <a:lstStyle/>
          <a:p>
            <a:r>
              <a:rPr lang="it-IT" dirty="0"/>
              <a:t>“Practical definition”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85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05570" y="1221350"/>
                <a:ext cx="8682168" cy="4800600"/>
              </a:xfrm>
              <a:ln/>
            </p:spPr>
            <p:txBody>
              <a:bodyPr>
                <a:noAutofit/>
              </a:bodyPr>
              <a:lstStyle/>
              <a:p>
                <a:pPr>
                  <a:buFontTx/>
                  <a:buNone/>
                </a:pP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800" b="1" dirty="0">
                    <a:solidFill>
                      <a:srgbClr val="993300"/>
                    </a:solidFill>
                  </a:rPr>
                  <a:t> </a:t>
                </a:r>
                <a:r>
                  <a:rPr lang="en-US" sz="2800" dirty="0"/>
                  <a:t>is a </a:t>
                </a:r>
                <a:r>
                  <a:rPr lang="en-US" sz="2800" b="1" dirty="0"/>
                  <a:t>collision-resistant hash function</a:t>
                </a:r>
                <a:r>
                  <a:rPr lang="en-US" sz="2800" dirty="0"/>
                  <a:t> if it is “</a:t>
                </a:r>
                <a:r>
                  <a:rPr lang="en-US" sz="2800" i="1" dirty="0"/>
                  <a:t>practically impossible to find collisions in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800" dirty="0"/>
                  <a:t>”.</a:t>
                </a:r>
              </a:p>
              <a:p>
                <a:pPr>
                  <a:buFontTx/>
                  <a:buNone/>
                </a:pPr>
                <a:endParaRPr lang="en-US" sz="2400" dirty="0"/>
              </a:p>
              <a:p>
                <a:pPr>
                  <a:buFontTx/>
                  <a:buNone/>
                </a:pPr>
                <a:r>
                  <a:rPr lang="en-US" sz="2800" b="1" dirty="0"/>
                  <a:t>Popular hash functions </a:t>
                </a:r>
                <a:r>
                  <a:rPr lang="en-US" sz="2800" dirty="0"/>
                  <a:t>(we will present them in more detail on the next lecture):</a:t>
                </a:r>
              </a:p>
              <a:p>
                <a:pPr>
                  <a:buFont typeface="Times" pitchFamily="18" charset="0"/>
                  <a:buChar char="•"/>
                </a:pPr>
                <a:r>
                  <a:rPr lang="en-US" sz="2400" b="1" dirty="0">
                    <a:solidFill>
                      <a:srgbClr val="0070C0"/>
                    </a:solidFill>
                  </a:rPr>
                  <a:t>MD5</a:t>
                </a:r>
                <a:r>
                  <a:rPr lang="en-US" sz="2400" dirty="0"/>
                  <a:t> (broken</a:t>
                </a:r>
                <a:r>
                  <a:rPr lang="pl-PL" sz="2400" dirty="0"/>
                  <a:t>)</a:t>
                </a:r>
                <a:endParaRPr lang="en-US" sz="2400" dirty="0"/>
              </a:p>
              <a:p>
                <a:pPr>
                  <a:buFont typeface="Times" pitchFamily="18" charset="0"/>
                  <a:buChar char="•"/>
                </a:pPr>
                <a:r>
                  <a:rPr lang="en-US" sz="2400" b="1" dirty="0">
                    <a:solidFill>
                      <a:srgbClr val="0070C0"/>
                    </a:solidFill>
                  </a:rPr>
                  <a:t>SHA1 </a:t>
                </a:r>
                <a:r>
                  <a:rPr lang="en-US" sz="2400" dirty="0"/>
                  <a:t>(also </a:t>
                </a:r>
                <a:r>
                  <a:rPr lang="pl-PL" sz="2400" dirty="0"/>
                  <a:t>broken</a:t>
                </a:r>
                <a:r>
                  <a:rPr lang="en-US" sz="2400" dirty="0"/>
                  <a:t>)</a:t>
                </a:r>
                <a:r>
                  <a:rPr lang="pl-PL" sz="24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SHA256</a:t>
                </a:r>
                <a:br>
                  <a:rPr lang="en-US" sz="2400" b="1" dirty="0">
                    <a:solidFill>
                      <a:srgbClr val="0070C0"/>
                    </a:solidFill>
                  </a:rPr>
                </a:br>
                <a:endParaRPr lang="en-US" sz="2400" b="1" dirty="0">
                  <a:solidFill>
                    <a:srgbClr val="0070C0"/>
                  </a:solidFill>
                </a:endParaRPr>
              </a:p>
              <a:p>
                <a:pPr>
                  <a:buFont typeface="Times" pitchFamily="18" charset="0"/>
                  <a:buChar char="•"/>
                </a:pPr>
                <a:r>
                  <a:rPr lang="en-US" sz="2400" b="1" dirty="0">
                    <a:solidFill>
                      <a:srgbClr val="0070C0"/>
                    </a:solidFill>
                  </a:rPr>
                  <a:t>Keccak</a:t>
                </a:r>
                <a:r>
                  <a:rPr lang="pl-PL" sz="2400" b="1" dirty="0">
                    <a:solidFill>
                      <a:srgbClr val="0070C0"/>
                    </a:solidFill>
                  </a:rPr>
                  <a:t> (SHA3)</a:t>
                </a:r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/>
                  <a:t>Hash functions can also be constructed using mathematical tools like number theory.</a:t>
                </a:r>
                <a:endParaRPr lang="en-US" sz="2400" b="1" dirty="0">
                  <a:solidFill>
                    <a:schemeClr val="accent2"/>
                  </a:solidFill>
                </a:endParaRPr>
              </a:p>
              <a:p>
                <a:pPr>
                  <a:buFontTx/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12185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05570" y="1221350"/>
                <a:ext cx="8682168" cy="4800600"/>
              </a:xfrm>
              <a:blipFill>
                <a:blip r:embed="rId3"/>
                <a:stretch>
                  <a:fillRect l="-1475" t="-2157" r="-1404" b="-1002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ight Brace 1"/>
          <p:cNvSpPr/>
          <p:nvPr/>
        </p:nvSpPr>
        <p:spPr>
          <a:xfrm>
            <a:off x="4312742" y="3552873"/>
            <a:ext cx="432048" cy="1027277"/>
          </a:xfrm>
          <a:prstGeom prst="rightBrace">
            <a:avLst>
              <a:gd name="adj1" fmla="val 21822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200">
              <a:solidFill>
                <a:srgbClr val="7030A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760738" y="3472155"/>
            <a:ext cx="324036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200" dirty="0"/>
              <a:t>based on </a:t>
            </a:r>
            <a:r>
              <a:rPr lang="it-IT" sz="2200" b="1" dirty="0">
                <a:solidFill>
                  <a:srgbClr val="7030A0"/>
                </a:solidFill>
              </a:rPr>
              <a:t>the</a:t>
            </a:r>
            <a:r>
              <a:rPr lang="it-IT" sz="2200" dirty="0">
                <a:solidFill>
                  <a:srgbClr val="7030A0"/>
                </a:solidFill>
              </a:rPr>
              <a:t> </a:t>
            </a:r>
            <a:r>
              <a:rPr lang="it-IT" sz="2200" b="1" dirty="0">
                <a:solidFill>
                  <a:srgbClr val="7030A0"/>
                </a:solidFill>
              </a:rPr>
              <a:t>Merkle-Damg</a:t>
            </a:r>
            <a:r>
              <a:rPr lang="en-US" sz="2200" b="1" dirty="0">
                <a:solidFill>
                  <a:srgbClr val="7030A0"/>
                </a:solidFill>
              </a:rPr>
              <a:t>å</a:t>
            </a:r>
            <a:r>
              <a:rPr lang="it-IT" sz="2200" b="1" dirty="0">
                <a:solidFill>
                  <a:srgbClr val="7030A0"/>
                </a:solidFill>
              </a:rPr>
              <a:t>rd transformation</a:t>
            </a:r>
            <a:endParaRPr lang="en-US" sz="2200" b="1" dirty="0">
              <a:solidFill>
                <a:srgbClr val="7030A0"/>
              </a:solidFill>
            </a:endParaRPr>
          </a:p>
        </p:txBody>
      </p:sp>
      <p:sp>
        <p:nvSpPr>
          <p:cNvPr id="7" name="Left Arrow 6"/>
          <p:cNvSpPr/>
          <p:nvPr/>
        </p:nvSpPr>
        <p:spPr>
          <a:xfrm>
            <a:off x="2695827" y="4740221"/>
            <a:ext cx="507510" cy="438500"/>
          </a:xfrm>
          <a:prstGeom prst="leftArrow">
            <a:avLst>
              <a:gd name="adj1" fmla="val 31523"/>
              <a:gd name="adj2" fmla="val 36802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200"/>
          </a:p>
        </p:txBody>
      </p:sp>
      <p:sp>
        <p:nvSpPr>
          <p:cNvPr id="8" name="Rectangle 7"/>
          <p:cNvSpPr/>
          <p:nvPr/>
        </p:nvSpPr>
        <p:spPr>
          <a:xfrm>
            <a:off x="3333120" y="4653786"/>
            <a:ext cx="324036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200" dirty="0"/>
              <a:t>based on the </a:t>
            </a:r>
            <a:r>
              <a:rPr lang="en-US" sz="2200" b="1" dirty="0">
                <a:solidFill>
                  <a:srgbClr val="FF0000"/>
                </a:solidFill>
              </a:rPr>
              <a:t>sponge construction</a:t>
            </a:r>
          </a:p>
        </p:txBody>
      </p:sp>
    </p:spTree>
    <p:extLst>
      <p:ext uri="{BB962C8B-B14F-4D97-AF65-F5344CB8AC3E}">
        <p14:creationId xmlns:p14="http://schemas.microsoft.com/office/powerpoint/2010/main" val="4004072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7" grpId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0600" name="Rectangle 8"/>
              <p:cNvSpPr>
                <a:spLocks noChangeArrowheads="1"/>
              </p:cNvSpPr>
              <p:nvPr/>
            </p:nvSpPr>
            <p:spPr bwMode="auto">
              <a:xfrm>
                <a:off x="0" y="4464882"/>
                <a:ext cx="9144000" cy="2205037"/>
              </a:xfrm>
              <a:prstGeom prst="rect">
                <a:avLst/>
              </a:prstGeom>
              <a:solidFill>
                <a:schemeClr val="bg2"/>
              </a:solidFill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anchor="ctr"/>
              <a:lstStyle/>
              <a:p>
                <a:pPr marL="342900" indent="-342900" algn="ctr">
                  <a:spcBef>
                    <a:spcPct val="20000"/>
                  </a:spcBef>
                </a:pPr>
                <a:r>
                  <a:rPr lang="it-IT" sz="2600" b="1" u="sng" dirty="0"/>
                  <a:t>Problem</a:t>
                </a: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it-IT" sz="2600" dirty="0"/>
                  <a:t>For a fixed </a:t>
                </a:r>
                <a14:m>
                  <m:oMath xmlns:m="http://schemas.openxmlformats.org/officeDocument/2006/math">
                    <m:r>
                      <a:rPr lang="it-IT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it-IT" sz="2600" dirty="0"/>
                  <a:t> there </a:t>
                </a:r>
                <a:r>
                  <a:rPr lang="it-IT" sz="2600" b="1" dirty="0">
                    <a:solidFill>
                      <a:srgbClr val="00B050"/>
                    </a:solidFill>
                  </a:rPr>
                  <a:t>always exist</a:t>
                </a:r>
                <a:r>
                  <a:rPr lang="it-IT" sz="2600" dirty="0"/>
                  <a:t> a constant-time algorithm that “finds a collision in </a:t>
                </a:r>
                <a14:m>
                  <m:oMath xmlns:m="http://schemas.openxmlformats.org/officeDocument/2006/math">
                    <m:r>
                      <a:rPr lang="it-IT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it-IT" sz="2600" b="1" dirty="0">
                    <a:solidFill>
                      <a:schemeClr val="tx1"/>
                    </a:solidFill>
                  </a:rPr>
                  <a:t>”</a:t>
                </a:r>
                <a:r>
                  <a:rPr lang="it-IT" sz="2600" dirty="0"/>
                  <a:t> in </a:t>
                </a:r>
                <a:r>
                  <a:rPr lang="it-IT" sz="2600" b="1" dirty="0"/>
                  <a:t>constant time</a:t>
                </a:r>
                <a:r>
                  <a:rPr lang="it-IT" sz="2600" dirty="0"/>
                  <a:t>.</a:t>
                </a: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it-IT" sz="2600" dirty="0"/>
                  <a:t>It may be hard to </a:t>
                </a:r>
                <a:r>
                  <a:rPr lang="it-IT" sz="2600" b="1" u="sng" dirty="0"/>
                  <a:t>find</a:t>
                </a:r>
                <a:r>
                  <a:rPr lang="it-IT" sz="2600" dirty="0"/>
                  <a:t> such an algorithm, but it always exists!</a:t>
                </a:r>
              </a:p>
            </p:txBody>
          </p:sp>
        </mc:Choice>
        <mc:Fallback xmlns="">
          <p:sp>
            <p:nvSpPr>
              <p:cNvPr id="110600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4464882"/>
                <a:ext cx="9144000" cy="2205037"/>
              </a:xfrm>
              <a:prstGeom prst="rect">
                <a:avLst/>
              </a:prstGeom>
              <a:blipFill rotWithShape="0">
                <a:blip r:embed="rId3"/>
                <a:stretch>
                  <a:fillRect l="-1132" r="-93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71450"/>
            <a:ext cx="9144000" cy="1143000"/>
          </a:xfrm>
        </p:spPr>
        <p:txBody>
          <a:bodyPr/>
          <a:lstStyle/>
          <a:p>
            <a:r>
              <a:rPr lang="it-IT" sz="3600" dirty="0"/>
              <a:t>How to formally define “collision resi</a:t>
            </a:r>
            <a:r>
              <a:rPr lang="pl-PL" sz="3600" dirty="0"/>
              <a:t>s</a:t>
            </a:r>
            <a:r>
              <a:rPr lang="it-IT" sz="3600" dirty="0"/>
              <a:t>tance”?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59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50825" y="908050"/>
                <a:ext cx="7772400" cy="1037204"/>
              </a:xfrm>
            </p:spPr>
            <p:txBody>
              <a:bodyPr/>
              <a:lstStyle/>
              <a:p>
                <a:pPr>
                  <a:buFontTx/>
                  <a:buNone/>
                </a:pPr>
                <a:r>
                  <a:rPr lang="en-US" sz="2800" b="1" u="sng" dirty="0">
                    <a:solidFill>
                      <a:srgbClr val="00B050"/>
                    </a:solidFill>
                  </a:rPr>
                  <a:t>Idea</a:t>
                </a:r>
                <a:r>
                  <a:rPr lang="en-US" dirty="0"/>
                  <a:t>:</a:t>
                </a:r>
                <a:r>
                  <a:rPr lang="en-US" sz="2800" dirty="0"/>
                  <a:t> Say something like: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800" dirty="0"/>
                  <a:t> is a </a:t>
                </a:r>
                <a:r>
                  <a:rPr lang="en-US" sz="2800" b="1" dirty="0">
                    <a:solidFill>
                      <a:srgbClr val="0070C0"/>
                    </a:solidFill>
                  </a:rPr>
                  <a:t>collision-resistant hash function</a:t>
                </a:r>
                <a:r>
                  <a:rPr lang="en-US" sz="2800" dirty="0"/>
                  <a:t> if</a:t>
                </a:r>
              </a:p>
            </p:txBody>
          </p:sp>
        </mc:Choice>
        <mc:Fallback xmlns="">
          <p:sp>
            <p:nvSpPr>
              <p:cNvPr id="11059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50825" y="908050"/>
                <a:ext cx="7772400" cy="1037204"/>
              </a:xfrm>
              <a:blipFill rotWithShape="0">
                <a:blip r:embed="rId4"/>
                <a:stretch>
                  <a:fillRect l="-1569" t="-1058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596" name="Text Box 4"/>
              <p:cNvSpPr txBox="1">
                <a:spLocks noChangeArrowheads="1"/>
              </p:cNvSpPr>
              <p:nvPr/>
            </p:nvSpPr>
            <p:spPr bwMode="auto">
              <a:xfrm>
                <a:off x="980133" y="2042092"/>
                <a:ext cx="1229824" cy="15696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</m:oMath>
                  </m:oMathPara>
                </a14:m>
                <a:endParaRPr lang="it-IT" sz="239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059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80133" y="2042092"/>
                <a:ext cx="1229824" cy="156966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597" name="Text Box 5"/>
              <p:cNvSpPr txBox="1">
                <a:spLocks noChangeArrowheads="1"/>
              </p:cNvSpPr>
              <p:nvPr/>
            </p:nvSpPr>
            <p:spPr bwMode="auto">
              <a:xfrm>
                <a:off x="910947" y="3525838"/>
                <a:ext cx="1368195" cy="6463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efficient</a:t>
                </a:r>
                <a:br>
                  <a:rPr lang="en-US" dirty="0"/>
                </a:br>
                <a:r>
                  <a:rPr lang="en-US" dirty="0"/>
                  <a:t>adversary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it-IT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0597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0947" y="3525838"/>
                <a:ext cx="1368195" cy="646331"/>
              </a:xfrm>
              <a:prstGeom prst="rect">
                <a:avLst/>
              </a:prstGeom>
              <a:blipFill rotWithShape="0">
                <a:blip r:embed="rId6"/>
                <a:stretch>
                  <a:fillRect l="-3556" t="-5660" b="-1320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598" name="Text Box 6"/>
              <p:cNvSpPr txBox="1">
                <a:spLocks noChangeArrowheads="1"/>
              </p:cNvSpPr>
              <p:nvPr/>
            </p:nvSpPr>
            <p:spPr bwMode="auto">
              <a:xfrm>
                <a:off x="2341581" y="2600325"/>
                <a:ext cx="6019800" cy="519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𝐟𝐢𝐧𝐝𝐬</m:t>
                    </m:r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𝐜𝐨𝐥𝐥𝐢𝐬𝐢𝐨𝐧</m:t>
                    </m:r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𝐢𝐧</m:t>
                    </m:r>
                    <m:r>
                      <a:rPr lang="en-US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is small</a:t>
                </a:r>
                <a:endParaRPr lang="it-IT" dirty="0"/>
              </a:p>
            </p:txBody>
          </p:sp>
        </mc:Choice>
        <mc:Fallback xmlns="">
          <p:sp>
            <p:nvSpPr>
              <p:cNvPr id="110598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41581" y="2600325"/>
                <a:ext cx="6019800" cy="519113"/>
              </a:xfrm>
              <a:prstGeom prst="rect">
                <a:avLst/>
              </a:prstGeom>
              <a:blipFill rotWithShape="0">
                <a:blip r:embed="rId7"/>
                <a:stretch>
                  <a:fillRect t="-12941" b="-3294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599" name="Rectangle 7"/>
          <p:cNvSpPr>
            <a:spLocks noChangeArrowheads="1"/>
          </p:cNvSpPr>
          <p:nvPr/>
        </p:nvSpPr>
        <p:spPr bwMode="auto">
          <a:xfrm>
            <a:off x="304800" y="4800600"/>
            <a:ext cx="83820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 eaLnBrk="1" hangingPunct="1">
              <a:spcBef>
                <a:spcPct val="20000"/>
              </a:spcBef>
            </a:pP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3971968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00" grpId="0" animBg="1"/>
      <p:bldP spid="110595" grpId="0" build="p"/>
      <p:bldP spid="110596" grpId="0"/>
      <p:bldP spid="110597" grpId="0"/>
      <p:bldP spid="11059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1621" name="Rectangle 5"/>
              <p:cNvSpPr>
                <a:spLocks noChangeArrowheads="1"/>
              </p:cNvSpPr>
              <p:nvPr/>
            </p:nvSpPr>
            <p:spPr bwMode="auto">
              <a:xfrm>
                <a:off x="0" y="2857496"/>
                <a:ext cx="9144000" cy="323850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marL="365760" lvl="0" indent="-283464" algn="ctr">
                  <a:lnSpc>
                    <a:spcPct val="90000"/>
                  </a:lnSpc>
                  <a:spcBef>
                    <a:spcPts val="600"/>
                  </a:spcBef>
                  <a:buClr>
                    <a:srgbClr val="3891A7"/>
                  </a:buClr>
                  <a:buSzPct val="80000"/>
                </a:pPr>
                <a:r>
                  <a:rPr lang="en-US" sz="3200" b="1" u="sng" dirty="0">
                    <a:solidFill>
                      <a:srgbClr val="0070C0"/>
                    </a:solidFill>
                  </a:rPr>
                  <a:t>families</a:t>
                </a:r>
                <a:r>
                  <a:rPr lang="en-US" sz="3200" b="1" dirty="0">
                    <a:solidFill>
                      <a:srgbClr val="0070C0"/>
                    </a:solidFill>
                  </a:rPr>
                  <a:t> of hash functions</a:t>
                </a:r>
              </a:p>
              <a:p>
                <a:pPr marL="365760" lvl="0" indent="-283464" algn="ctr">
                  <a:lnSpc>
                    <a:spcPct val="90000"/>
                  </a:lnSpc>
                  <a:spcBef>
                    <a:spcPts val="600"/>
                  </a:spcBef>
                  <a:buClr>
                    <a:srgbClr val="3891A7"/>
                  </a:buClr>
                  <a:buSzPct val="80000"/>
                </a:pPr>
                <a:r>
                  <a:rPr lang="en-US" sz="3200" b="1" dirty="0">
                    <a:solidFill>
                      <a:srgbClr val="0070C0"/>
                    </a:solidFill>
                  </a:rPr>
                  <a:t>indexed by a key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sz="3200" dirty="0">
                    <a:solidFill>
                      <a:srgbClr val="0070C0"/>
                    </a:solidFill>
                  </a:rPr>
                  <a:t>:</a:t>
                </a:r>
                <a:br>
                  <a:rPr lang="en-US" sz="3200" dirty="0">
                    <a:solidFill>
                      <a:srgbClr val="0070C0"/>
                    </a:solidFill>
                  </a:rPr>
                </a:br>
                <a:endParaRPr lang="en-US" sz="3200" dirty="0">
                  <a:solidFill>
                    <a:srgbClr val="0070C0"/>
                  </a:solidFill>
                </a:endParaRPr>
              </a:p>
              <a:p>
                <a:pPr marL="365760" lvl="0" indent="-283464" algn="ctr">
                  <a:lnSpc>
                    <a:spcPct val="90000"/>
                  </a:lnSpc>
                  <a:spcBef>
                    <a:spcPts val="600"/>
                  </a:spcBef>
                  <a:buClr>
                    <a:srgbClr val="3891A7"/>
                  </a:buClr>
                  <a:buSzPct val="8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32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l-PL" sz="32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l-PL" sz="32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  <m:sup>
                                  <m:r>
                                    <a:rPr lang="pl-PL" sz="32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keys</m:t>
                          </m:r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3200" b="1" baseline="-25000" dirty="0">
                  <a:solidFill>
                    <a:srgbClr val="FF0000"/>
                  </a:solidFill>
                  <a:cs typeface="Arial" pitchFamily="34" charset="0"/>
                </a:endParaRPr>
              </a:p>
              <a:p>
                <a:pPr marL="365760" lvl="0" indent="-283464" algn="ctr">
                  <a:lnSpc>
                    <a:spcPct val="90000"/>
                  </a:lnSpc>
                  <a:spcBef>
                    <a:spcPts val="600"/>
                  </a:spcBef>
                  <a:buClr>
                    <a:srgbClr val="3891A7"/>
                  </a:buClr>
                  <a:buSzPct val="80000"/>
                </a:pPr>
                <a:endParaRPr lang="en-US" sz="3200" b="1" baseline="-25000" dirty="0">
                  <a:solidFill>
                    <a:srgbClr val="A50021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11621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2857496"/>
                <a:ext cx="9144000" cy="323850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20" y="214290"/>
            <a:ext cx="7772400" cy="1143000"/>
          </a:xfrm>
        </p:spPr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6170" y="1473199"/>
            <a:ext cx="8299721" cy="1123944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When we prove theorems we will always consider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dirty="0"/>
          </a:p>
          <a:p>
            <a:pPr algn="ctr">
              <a:lnSpc>
                <a:spcPct val="90000"/>
              </a:lnSpc>
              <a:buFontTx/>
              <a:buNone/>
            </a:pPr>
            <a:endParaRPr lang="en-US" baseline="-25000" dirty="0"/>
          </a:p>
          <a:p>
            <a:pPr algn="ctr">
              <a:lnSpc>
                <a:spcPct val="90000"/>
              </a:lnSpc>
              <a:buFontTx/>
              <a:buNone/>
            </a:pP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2794760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4" name="Rectangle 4"/>
          <p:cNvSpPr>
            <a:spLocks noChangeArrowheads="1"/>
          </p:cNvSpPr>
          <p:nvPr/>
        </p:nvSpPr>
        <p:spPr bwMode="auto">
          <a:xfrm>
            <a:off x="3429000" y="838200"/>
            <a:ext cx="4953000" cy="2057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pic>
        <p:nvPicPr>
          <p:cNvPr id="112645" name="Picture 5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295400"/>
            <a:ext cx="1841500" cy="127317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2646" name="Rectangle 6"/>
              <p:cNvSpPr>
                <a:spLocks noChangeArrowheads="1"/>
              </p:cNvSpPr>
              <p:nvPr/>
            </p:nvSpPr>
            <p:spPr bwMode="auto">
              <a:xfrm>
                <a:off x="3886200" y="1371600"/>
                <a:ext cx="533400" cy="609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2646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86200" y="1371600"/>
                <a:ext cx="533400" cy="60960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647" name="Rectangle 7"/>
              <p:cNvSpPr>
                <a:spLocks noChangeArrowheads="1"/>
              </p:cNvSpPr>
              <p:nvPr/>
            </p:nvSpPr>
            <p:spPr bwMode="auto">
              <a:xfrm>
                <a:off x="5334000" y="1905000"/>
                <a:ext cx="533400" cy="609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2647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0" y="1905000"/>
                <a:ext cx="533400" cy="60960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648" name="Rectangle 8"/>
              <p:cNvSpPr>
                <a:spLocks noChangeArrowheads="1"/>
              </p:cNvSpPr>
              <p:nvPr/>
            </p:nvSpPr>
            <p:spPr bwMode="auto">
              <a:xfrm>
                <a:off x="7010400" y="1447800"/>
                <a:ext cx="533400" cy="609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2648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10400" y="1447800"/>
                <a:ext cx="533400" cy="60960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649" name="Rectangle 9"/>
          <p:cNvSpPr>
            <a:spLocks noChangeArrowheads="1"/>
          </p:cNvSpPr>
          <p:nvPr/>
        </p:nvSpPr>
        <p:spPr bwMode="auto">
          <a:xfrm>
            <a:off x="3429000" y="4419600"/>
            <a:ext cx="4953000" cy="2057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112650" name="Picture 10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5257800"/>
            <a:ext cx="1841500" cy="127317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2651" name="Rectangle 11"/>
              <p:cNvSpPr>
                <a:spLocks noChangeArrowheads="1"/>
              </p:cNvSpPr>
              <p:nvPr/>
            </p:nvSpPr>
            <p:spPr bwMode="auto">
              <a:xfrm>
                <a:off x="3886200" y="4953000"/>
                <a:ext cx="533400" cy="609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it-IT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2651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86200" y="4953000"/>
                <a:ext cx="533400" cy="60960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655" name="Rectangle 15"/>
              <p:cNvSpPr>
                <a:spLocks noChangeArrowheads="1"/>
              </p:cNvSpPr>
              <p:nvPr/>
            </p:nvSpPr>
            <p:spPr bwMode="auto">
              <a:xfrm>
                <a:off x="5410200" y="5562600"/>
                <a:ext cx="533400" cy="609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it-IT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2655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10200" y="5562600"/>
                <a:ext cx="533400" cy="60960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656" name="Rectangle 16"/>
              <p:cNvSpPr>
                <a:spLocks noChangeArrowheads="1"/>
              </p:cNvSpPr>
              <p:nvPr/>
            </p:nvSpPr>
            <p:spPr bwMode="auto">
              <a:xfrm>
                <a:off x="7010400" y="4953000"/>
                <a:ext cx="533400" cy="609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it-IT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2656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10400" y="4953000"/>
                <a:ext cx="533400" cy="60960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657" name="Line 17"/>
          <p:cNvSpPr>
            <a:spLocks noChangeShapeType="1"/>
          </p:cNvSpPr>
          <p:nvPr/>
        </p:nvSpPr>
        <p:spPr bwMode="auto">
          <a:xfrm>
            <a:off x="990600" y="44196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59" name="Rectangle 19"/>
              <p:cNvSpPr>
                <a:spLocks noChangeArrowheads="1"/>
              </p:cNvSpPr>
              <p:nvPr/>
            </p:nvSpPr>
            <p:spPr bwMode="auto">
              <a:xfrm>
                <a:off x="838200" y="4648200"/>
                <a:ext cx="381000" cy="3810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it-IT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2659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4648200"/>
                <a:ext cx="381000" cy="38100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661" name="Line 21"/>
          <p:cNvSpPr>
            <a:spLocks noChangeShapeType="1"/>
          </p:cNvSpPr>
          <p:nvPr/>
        </p:nvSpPr>
        <p:spPr bwMode="auto">
          <a:xfrm>
            <a:off x="2133600" y="3962400"/>
            <a:ext cx="35052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662" name="Line 22"/>
          <p:cNvSpPr>
            <a:spLocks noChangeShapeType="1"/>
          </p:cNvSpPr>
          <p:nvPr/>
        </p:nvSpPr>
        <p:spPr bwMode="auto">
          <a:xfrm>
            <a:off x="1828800" y="4191000"/>
            <a:ext cx="2438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663" name="Line 23"/>
          <p:cNvSpPr>
            <a:spLocks noChangeShapeType="1"/>
          </p:cNvSpPr>
          <p:nvPr/>
        </p:nvSpPr>
        <p:spPr bwMode="auto">
          <a:xfrm>
            <a:off x="2133600" y="3733800"/>
            <a:ext cx="52578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665" name="Text Box 25"/>
          <p:cNvSpPr txBox="1">
            <a:spLocks noChangeArrowheads="1"/>
          </p:cNvSpPr>
          <p:nvPr/>
        </p:nvSpPr>
        <p:spPr bwMode="auto">
          <a:xfrm>
            <a:off x="3352800" y="3303588"/>
            <a:ext cx="287178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formal model:</a:t>
            </a:r>
            <a:endParaRPr lang="it-IT" sz="3200" b="1" dirty="0">
              <a:solidFill>
                <a:srgbClr val="FF0000"/>
              </a:solidFill>
            </a:endParaRPr>
          </a:p>
        </p:txBody>
      </p:sp>
      <p:sp>
        <p:nvSpPr>
          <p:cNvPr id="112666" name="Text Box 26"/>
          <p:cNvSpPr txBox="1">
            <a:spLocks noChangeArrowheads="1"/>
          </p:cNvSpPr>
          <p:nvPr/>
        </p:nvSpPr>
        <p:spPr bwMode="auto">
          <a:xfrm>
            <a:off x="2819400" y="0"/>
            <a:ext cx="42259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informal description:</a:t>
            </a:r>
            <a:endParaRPr lang="it-IT" sz="3200" b="1" dirty="0">
              <a:solidFill>
                <a:srgbClr val="FF0000"/>
              </a:solidFill>
            </a:endParaRPr>
          </a:p>
        </p:txBody>
      </p:sp>
      <p:sp>
        <p:nvSpPr>
          <p:cNvPr id="112667" name="Line 27"/>
          <p:cNvSpPr>
            <a:spLocks noChangeShapeType="1"/>
          </p:cNvSpPr>
          <p:nvPr/>
        </p:nvSpPr>
        <p:spPr bwMode="auto">
          <a:xfrm>
            <a:off x="0" y="3200400"/>
            <a:ext cx="91440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68" name="Rectangle 28"/>
              <p:cNvSpPr>
                <a:spLocks noChangeArrowheads="1"/>
              </p:cNvSpPr>
              <p:nvPr/>
            </p:nvSpPr>
            <p:spPr bwMode="auto">
              <a:xfrm>
                <a:off x="457200" y="457200"/>
                <a:ext cx="1600200" cy="6096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en-US" b="1" dirty="0"/>
                  <a:t>“knows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 dirty="0"/>
                  <a:t>”</a:t>
                </a:r>
                <a:endParaRPr lang="it-IT" b="1" dirty="0"/>
              </a:p>
            </p:txBody>
          </p:sp>
        </mc:Choice>
        <mc:Fallback xmlns="">
          <p:sp>
            <p:nvSpPr>
              <p:cNvPr id="112668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457200"/>
                <a:ext cx="1600200" cy="60960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654" name="Text Box 14"/>
              <p:cNvSpPr txBox="1">
                <a:spLocks noChangeArrowheads="1"/>
              </p:cNvSpPr>
              <p:nvPr/>
            </p:nvSpPr>
            <p:spPr bwMode="auto">
              <a:xfrm>
                <a:off x="356138" y="3581400"/>
                <a:ext cx="1245855" cy="646331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chosen</a:t>
                </a:r>
              </a:p>
              <a:p>
                <a:pPr algn="ctr"/>
                <a:r>
                  <a:rPr lang="en-US" dirty="0"/>
                  <a:t>randomly</a:t>
                </a:r>
                <a:endParaRPr lang="it-IT" b="1" dirty="0"/>
              </a:p>
            </p:txBody>
          </p:sp>
        </mc:Choice>
        <mc:Fallback xmlns="">
          <p:sp>
            <p:nvSpPr>
              <p:cNvPr id="112654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138" y="3581400"/>
                <a:ext cx="1245855" cy="646331"/>
              </a:xfrm>
              <a:prstGeom prst="rect">
                <a:avLst/>
              </a:prstGeom>
              <a:blipFill rotWithShape="0">
                <a:blip r:embed="rId10"/>
                <a:stretch>
                  <a:fillRect t="-5556" r="-3865" b="-1111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670" name="Line 30"/>
          <p:cNvSpPr>
            <a:spLocks noChangeShapeType="1"/>
          </p:cNvSpPr>
          <p:nvPr/>
        </p:nvSpPr>
        <p:spPr bwMode="auto">
          <a:xfrm>
            <a:off x="1066800" y="1066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671" name="Line 31"/>
          <p:cNvSpPr>
            <a:spLocks noChangeShapeType="1"/>
          </p:cNvSpPr>
          <p:nvPr/>
        </p:nvSpPr>
        <p:spPr bwMode="auto">
          <a:xfrm flipH="1">
            <a:off x="2286000" y="1143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672" name="Line 32"/>
          <p:cNvSpPr>
            <a:spLocks noChangeShapeType="1"/>
          </p:cNvSpPr>
          <p:nvPr/>
        </p:nvSpPr>
        <p:spPr bwMode="auto">
          <a:xfrm flipH="1">
            <a:off x="2286000" y="16002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673" name="Line 33"/>
          <p:cNvSpPr>
            <a:spLocks noChangeShapeType="1"/>
          </p:cNvSpPr>
          <p:nvPr/>
        </p:nvSpPr>
        <p:spPr bwMode="auto">
          <a:xfrm flipH="1">
            <a:off x="2286000" y="2057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674" name="Line 34"/>
          <p:cNvSpPr>
            <a:spLocks noChangeShapeType="1"/>
          </p:cNvSpPr>
          <p:nvPr/>
        </p:nvSpPr>
        <p:spPr bwMode="auto">
          <a:xfrm flipH="1">
            <a:off x="2286000" y="2514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675" name="Line 35"/>
          <p:cNvSpPr>
            <a:spLocks noChangeShapeType="1"/>
          </p:cNvSpPr>
          <p:nvPr/>
        </p:nvSpPr>
        <p:spPr bwMode="auto">
          <a:xfrm flipV="1">
            <a:off x="2286000" y="1371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676" name="Line 36"/>
          <p:cNvSpPr>
            <a:spLocks noChangeShapeType="1"/>
          </p:cNvSpPr>
          <p:nvPr/>
        </p:nvSpPr>
        <p:spPr bwMode="auto">
          <a:xfrm flipV="1">
            <a:off x="2286000" y="18288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677" name="Line 37"/>
          <p:cNvSpPr>
            <a:spLocks noChangeShapeType="1"/>
          </p:cNvSpPr>
          <p:nvPr/>
        </p:nvSpPr>
        <p:spPr bwMode="auto">
          <a:xfrm flipV="1">
            <a:off x="2286000" y="2286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678" name="Line 38"/>
          <p:cNvSpPr>
            <a:spLocks noChangeShapeType="1"/>
          </p:cNvSpPr>
          <p:nvPr/>
        </p:nvSpPr>
        <p:spPr bwMode="auto">
          <a:xfrm flipH="1">
            <a:off x="2209800" y="46482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679" name="Line 39"/>
          <p:cNvSpPr>
            <a:spLocks noChangeShapeType="1"/>
          </p:cNvSpPr>
          <p:nvPr/>
        </p:nvSpPr>
        <p:spPr bwMode="auto">
          <a:xfrm flipH="1">
            <a:off x="2209800" y="5105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680" name="Line 40"/>
          <p:cNvSpPr>
            <a:spLocks noChangeShapeType="1"/>
          </p:cNvSpPr>
          <p:nvPr/>
        </p:nvSpPr>
        <p:spPr bwMode="auto">
          <a:xfrm flipH="1">
            <a:off x="2209800" y="5562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681" name="Line 41"/>
          <p:cNvSpPr>
            <a:spLocks noChangeShapeType="1"/>
          </p:cNvSpPr>
          <p:nvPr/>
        </p:nvSpPr>
        <p:spPr bwMode="auto">
          <a:xfrm flipH="1">
            <a:off x="2209800" y="60198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682" name="Line 42"/>
          <p:cNvSpPr>
            <a:spLocks noChangeShapeType="1"/>
          </p:cNvSpPr>
          <p:nvPr/>
        </p:nvSpPr>
        <p:spPr bwMode="auto">
          <a:xfrm flipV="1">
            <a:off x="2209800" y="48768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683" name="Line 43"/>
          <p:cNvSpPr>
            <a:spLocks noChangeShapeType="1"/>
          </p:cNvSpPr>
          <p:nvPr/>
        </p:nvSpPr>
        <p:spPr bwMode="auto">
          <a:xfrm flipV="1">
            <a:off x="2209800" y="5334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684" name="Line 44"/>
          <p:cNvSpPr>
            <a:spLocks noChangeShapeType="1"/>
          </p:cNvSpPr>
          <p:nvPr/>
        </p:nvSpPr>
        <p:spPr bwMode="auto">
          <a:xfrm flipV="1">
            <a:off x="2209800" y="57912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685" name="Text Box 45"/>
          <p:cNvSpPr txBox="1">
            <a:spLocks noChangeArrowheads="1"/>
          </p:cNvSpPr>
          <p:nvPr/>
        </p:nvSpPr>
        <p:spPr bwMode="auto">
          <a:xfrm>
            <a:off x="5148263" y="620713"/>
            <a:ext cx="1414462" cy="400050"/>
          </a:xfrm>
          <a:prstGeom prst="rect">
            <a:avLst/>
          </a:prstGeom>
          <a:solidFill>
            <a:srgbClr val="F4FAFA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/>
              <a:t>a protocol</a:t>
            </a:r>
          </a:p>
        </p:txBody>
      </p:sp>
      <p:sp>
        <p:nvSpPr>
          <p:cNvPr id="112686" name="Text Box 46"/>
          <p:cNvSpPr txBox="1">
            <a:spLocks noChangeArrowheads="1"/>
          </p:cNvSpPr>
          <p:nvPr/>
        </p:nvSpPr>
        <p:spPr bwMode="auto">
          <a:xfrm>
            <a:off x="5148263" y="4221163"/>
            <a:ext cx="1414462" cy="400050"/>
          </a:xfrm>
          <a:prstGeom prst="rect">
            <a:avLst/>
          </a:prstGeom>
          <a:solidFill>
            <a:srgbClr val="F4FAFA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/>
              <a:t>a protocol</a:t>
            </a:r>
          </a:p>
        </p:txBody>
      </p:sp>
    </p:spTree>
    <p:extLst>
      <p:ext uri="{BB962C8B-B14F-4D97-AF65-F5344CB8AC3E}">
        <p14:creationId xmlns:p14="http://schemas.microsoft.com/office/powerpoint/2010/main" val="1479823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4" grpId="0" animBg="1"/>
      <p:bldP spid="112646" grpId="0" animBg="1"/>
      <p:bldP spid="112647" grpId="0" animBg="1"/>
      <p:bldP spid="112648" grpId="0" animBg="1"/>
      <p:bldP spid="112649" grpId="0" animBg="1"/>
      <p:bldP spid="112651" grpId="0" animBg="1"/>
      <p:bldP spid="112655" grpId="0" animBg="1"/>
      <p:bldP spid="112656" grpId="0" animBg="1"/>
      <p:bldP spid="112657" grpId="0" animBg="1"/>
      <p:bldP spid="112659" grpId="0" animBg="1"/>
      <p:bldP spid="112661" grpId="0" animBg="1"/>
      <p:bldP spid="112662" grpId="0" animBg="1"/>
      <p:bldP spid="112663" grpId="0" animBg="1"/>
      <p:bldP spid="112665" grpId="0"/>
      <p:bldP spid="112667" grpId="0" animBg="1"/>
      <p:bldP spid="112668" grpId="0" animBg="1"/>
      <p:bldP spid="112654" grpId="0" animBg="1"/>
      <p:bldP spid="112670" grpId="0" animBg="1"/>
      <p:bldP spid="112671" grpId="0" animBg="1"/>
      <p:bldP spid="112672" grpId="0" animBg="1"/>
      <p:bldP spid="112673" grpId="0" animBg="1"/>
      <p:bldP spid="112674" grpId="0" animBg="1"/>
      <p:bldP spid="112675" grpId="0" animBg="1"/>
      <p:bldP spid="112676" grpId="0" animBg="1"/>
      <p:bldP spid="112677" grpId="0" animBg="1"/>
      <p:bldP spid="112678" grpId="0" animBg="1"/>
      <p:bldP spid="112678" grpId="1" animBg="1"/>
      <p:bldP spid="112679" grpId="0" animBg="1"/>
      <p:bldP spid="112679" grpId="1" animBg="1"/>
      <p:bldP spid="112680" grpId="0" animBg="1"/>
      <p:bldP spid="112680" grpId="1" animBg="1"/>
      <p:bldP spid="112681" grpId="0" animBg="1"/>
      <p:bldP spid="112681" grpId="1" animBg="1"/>
      <p:bldP spid="112682" grpId="0" animBg="1"/>
      <p:bldP spid="112682" grpId="1" animBg="1"/>
      <p:bldP spid="112683" grpId="0" animBg="1"/>
      <p:bldP spid="112683" grpId="1" animBg="1"/>
      <p:bldP spid="112684" grpId="0" animBg="1"/>
      <p:bldP spid="112684" grpId="1" animBg="1"/>
      <p:bldP spid="112685" grpId="0" animBg="1"/>
      <p:bldP spid="11268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ChangeArrowheads="1"/>
          </p:cNvSpPr>
          <p:nvPr/>
        </p:nvSpPr>
        <p:spPr bwMode="auto">
          <a:xfrm>
            <a:off x="3429000" y="838200"/>
            <a:ext cx="4953000" cy="2057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113667" name="Picture 3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295400"/>
            <a:ext cx="1841500" cy="127317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3668" name="Rectangle 4"/>
              <p:cNvSpPr>
                <a:spLocks noChangeArrowheads="1"/>
              </p:cNvSpPr>
              <p:nvPr/>
            </p:nvSpPr>
            <p:spPr bwMode="auto">
              <a:xfrm>
                <a:off x="3886200" y="1371600"/>
                <a:ext cx="533400" cy="609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3668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86200" y="1371600"/>
                <a:ext cx="533400" cy="60960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669" name="Rectangle 5"/>
          <p:cNvSpPr>
            <a:spLocks noChangeArrowheads="1"/>
          </p:cNvSpPr>
          <p:nvPr/>
        </p:nvSpPr>
        <p:spPr bwMode="auto">
          <a:xfrm>
            <a:off x="5334000" y="1905000"/>
            <a:ext cx="533400" cy="609600"/>
          </a:xfrm>
          <a:prstGeom prst="rect">
            <a:avLst/>
          </a:prstGeom>
          <a:solidFill>
            <a:srgbClr val="FFF9D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H</a:t>
            </a:r>
            <a:endParaRPr lang="it-IT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670" name="Rectangle 6"/>
              <p:cNvSpPr>
                <a:spLocks noChangeArrowheads="1"/>
              </p:cNvSpPr>
              <p:nvPr/>
            </p:nvSpPr>
            <p:spPr bwMode="auto">
              <a:xfrm>
                <a:off x="7010400" y="1447800"/>
                <a:ext cx="533400" cy="609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3670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10400" y="1447800"/>
                <a:ext cx="533400" cy="60960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671" name="Rectangle 7"/>
          <p:cNvSpPr>
            <a:spLocks noChangeArrowheads="1"/>
          </p:cNvSpPr>
          <p:nvPr/>
        </p:nvSpPr>
        <p:spPr bwMode="auto">
          <a:xfrm>
            <a:off x="3429000" y="4419600"/>
            <a:ext cx="4953000" cy="2057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113672" name="Picture 8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5257800"/>
            <a:ext cx="1841500" cy="1273175"/>
          </a:xfrm>
          <a:prstGeom prst="rect">
            <a:avLst/>
          </a:prstGeom>
          <a:noFill/>
        </p:spPr>
      </p:pic>
      <p:sp>
        <p:nvSpPr>
          <p:cNvPr id="113673" name="Rectangle 9"/>
          <p:cNvSpPr>
            <a:spLocks noChangeArrowheads="1"/>
          </p:cNvSpPr>
          <p:nvPr/>
        </p:nvSpPr>
        <p:spPr bwMode="auto">
          <a:xfrm>
            <a:off x="3886200" y="4953000"/>
            <a:ext cx="914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none" anchor="ctr"/>
          <a:lstStyle/>
          <a:p>
            <a:pPr algn="ctr"/>
            <a:r>
              <a:rPr lang="en-US" b="1"/>
              <a:t>SHA1</a:t>
            </a:r>
            <a:endParaRPr lang="it-IT" b="1" baseline="30000"/>
          </a:p>
        </p:txBody>
      </p:sp>
      <p:sp>
        <p:nvSpPr>
          <p:cNvPr id="113675" name="Rectangle 11"/>
          <p:cNvSpPr>
            <a:spLocks noChangeArrowheads="1"/>
          </p:cNvSpPr>
          <p:nvPr/>
        </p:nvSpPr>
        <p:spPr bwMode="auto">
          <a:xfrm>
            <a:off x="5410200" y="5562600"/>
            <a:ext cx="914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none" anchor="ctr"/>
          <a:lstStyle/>
          <a:p>
            <a:pPr algn="ctr"/>
            <a:r>
              <a:rPr lang="en-US" b="1"/>
              <a:t>SHA1</a:t>
            </a:r>
            <a:endParaRPr lang="it-IT" b="1" baseline="30000"/>
          </a:p>
        </p:txBody>
      </p:sp>
      <p:sp>
        <p:nvSpPr>
          <p:cNvPr id="113676" name="Rectangle 12"/>
          <p:cNvSpPr>
            <a:spLocks noChangeArrowheads="1"/>
          </p:cNvSpPr>
          <p:nvPr/>
        </p:nvSpPr>
        <p:spPr bwMode="auto">
          <a:xfrm>
            <a:off x="7010400" y="4953000"/>
            <a:ext cx="914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none" anchor="ctr"/>
          <a:lstStyle/>
          <a:p>
            <a:pPr algn="ctr"/>
            <a:r>
              <a:rPr lang="en-US" b="1"/>
              <a:t>SHA1</a:t>
            </a:r>
            <a:endParaRPr lang="it-IT" b="1" baseline="30000"/>
          </a:p>
        </p:txBody>
      </p:sp>
      <p:sp>
        <p:nvSpPr>
          <p:cNvPr id="113682" name="Text Box 18"/>
          <p:cNvSpPr txBox="1">
            <a:spLocks noChangeArrowheads="1"/>
          </p:cNvSpPr>
          <p:nvPr/>
        </p:nvSpPr>
        <p:spPr bwMode="auto">
          <a:xfrm>
            <a:off x="1752600" y="3186114"/>
            <a:ext cx="68913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real-life implementation (example):</a:t>
            </a:r>
            <a:endParaRPr lang="it-IT" sz="3200" b="1" dirty="0">
              <a:solidFill>
                <a:srgbClr val="FF0000"/>
              </a:solidFill>
            </a:endParaRPr>
          </a:p>
        </p:txBody>
      </p:sp>
      <p:sp>
        <p:nvSpPr>
          <p:cNvPr id="113683" name="Text Box 19"/>
          <p:cNvSpPr txBox="1">
            <a:spLocks noChangeArrowheads="1"/>
          </p:cNvSpPr>
          <p:nvPr/>
        </p:nvSpPr>
        <p:spPr bwMode="auto">
          <a:xfrm>
            <a:off x="2819400" y="0"/>
            <a:ext cx="42259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informal description:</a:t>
            </a:r>
            <a:endParaRPr lang="it-IT" sz="3200" b="1" dirty="0">
              <a:solidFill>
                <a:srgbClr val="FF0000"/>
              </a:solidFill>
            </a:endParaRPr>
          </a:p>
        </p:txBody>
      </p:sp>
      <p:sp>
        <p:nvSpPr>
          <p:cNvPr id="113684" name="Line 20"/>
          <p:cNvSpPr>
            <a:spLocks noChangeShapeType="1"/>
          </p:cNvSpPr>
          <p:nvPr/>
        </p:nvSpPr>
        <p:spPr bwMode="auto">
          <a:xfrm>
            <a:off x="0" y="3200400"/>
            <a:ext cx="91440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686" name="Rectangle 22"/>
              <p:cNvSpPr>
                <a:spLocks noChangeArrowheads="1"/>
              </p:cNvSpPr>
              <p:nvPr/>
            </p:nvSpPr>
            <p:spPr bwMode="auto">
              <a:xfrm>
                <a:off x="457200" y="457200"/>
                <a:ext cx="1600200" cy="6096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en-US" b="1" dirty="0"/>
                  <a:t>“knows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 dirty="0"/>
                  <a:t>”</a:t>
                </a:r>
                <a:endParaRPr lang="it-IT" b="1" dirty="0"/>
              </a:p>
            </p:txBody>
          </p:sp>
        </mc:Choice>
        <mc:Fallback xmlns="">
          <p:sp>
            <p:nvSpPr>
              <p:cNvPr id="113686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457200"/>
                <a:ext cx="1600200" cy="60960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687" name="Line 23"/>
          <p:cNvSpPr>
            <a:spLocks noChangeShapeType="1"/>
          </p:cNvSpPr>
          <p:nvPr/>
        </p:nvSpPr>
        <p:spPr bwMode="auto">
          <a:xfrm>
            <a:off x="1066800" y="1066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3688" name="Rectangle 24"/>
          <p:cNvSpPr>
            <a:spLocks noChangeArrowheads="1"/>
          </p:cNvSpPr>
          <p:nvPr/>
        </p:nvSpPr>
        <p:spPr bwMode="auto">
          <a:xfrm>
            <a:off x="304800" y="3886200"/>
            <a:ext cx="2286000" cy="533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1"/>
              <a:t>“knows SHA1”</a:t>
            </a:r>
            <a:endParaRPr lang="it-IT" b="1"/>
          </a:p>
        </p:txBody>
      </p:sp>
      <p:sp>
        <p:nvSpPr>
          <p:cNvPr id="113689" name="Line 25"/>
          <p:cNvSpPr>
            <a:spLocks noChangeShapeType="1"/>
          </p:cNvSpPr>
          <p:nvPr/>
        </p:nvSpPr>
        <p:spPr bwMode="auto">
          <a:xfrm>
            <a:off x="990600" y="44196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3690" name="Line 26"/>
          <p:cNvSpPr>
            <a:spLocks noChangeShapeType="1"/>
          </p:cNvSpPr>
          <p:nvPr/>
        </p:nvSpPr>
        <p:spPr bwMode="auto">
          <a:xfrm flipH="1">
            <a:off x="2286000" y="1143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3691" name="Line 27"/>
          <p:cNvSpPr>
            <a:spLocks noChangeShapeType="1"/>
          </p:cNvSpPr>
          <p:nvPr/>
        </p:nvSpPr>
        <p:spPr bwMode="auto">
          <a:xfrm flipH="1">
            <a:off x="2286000" y="16002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3692" name="Line 28"/>
          <p:cNvSpPr>
            <a:spLocks noChangeShapeType="1"/>
          </p:cNvSpPr>
          <p:nvPr/>
        </p:nvSpPr>
        <p:spPr bwMode="auto">
          <a:xfrm flipH="1">
            <a:off x="2286000" y="2057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3693" name="Line 29"/>
          <p:cNvSpPr>
            <a:spLocks noChangeShapeType="1"/>
          </p:cNvSpPr>
          <p:nvPr/>
        </p:nvSpPr>
        <p:spPr bwMode="auto">
          <a:xfrm flipH="1">
            <a:off x="2286000" y="2514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3694" name="Line 30"/>
          <p:cNvSpPr>
            <a:spLocks noChangeShapeType="1"/>
          </p:cNvSpPr>
          <p:nvPr/>
        </p:nvSpPr>
        <p:spPr bwMode="auto">
          <a:xfrm flipV="1">
            <a:off x="2286000" y="1371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3695" name="Line 31"/>
          <p:cNvSpPr>
            <a:spLocks noChangeShapeType="1"/>
          </p:cNvSpPr>
          <p:nvPr/>
        </p:nvSpPr>
        <p:spPr bwMode="auto">
          <a:xfrm flipV="1">
            <a:off x="2286000" y="18288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3696" name="Line 32"/>
          <p:cNvSpPr>
            <a:spLocks noChangeShapeType="1"/>
          </p:cNvSpPr>
          <p:nvPr/>
        </p:nvSpPr>
        <p:spPr bwMode="auto">
          <a:xfrm flipV="1">
            <a:off x="2286000" y="2286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3704" name="Line 40"/>
          <p:cNvSpPr>
            <a:spLocks noChangeShapeType="1"/>
          </p:cNvSpPr>
          <p:nvPr/>
        </p:nvSpPr>
        <p:spPr bwMode="auto">
          <a:xfrm flipH="1">
            <a:off x="2209800" y="46482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3705" name="Line 41"/>
          <p:cNvSpPr>
            <a:spLocks noChangeShapeType="1"/>
          </p:cNvSpPr>
          <p:nvPr/>
        </p:nvSpPr>
        <p:spPr bwMode="auto">
          <a:xfrm flipH="1">
            <a:off x="2209800" y="5105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3706" name="Line 42"/>
          <p:cNvSpPr>
            <a:spLocks noChangeShapeType="1"/>
          </p:cNvSpPr>
          <p:nvPr/>
        </p:nvSpPr>
        <p:spPr bwMode="auto">
          <a:xfrm flipH="1">
            <a:off x="2209800" y="5562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3707" name="Line 43"/>
          <p:cNvSpPr>
            <a:spLocks noChangeShapeType="1"/>
          </p:cNvSpPr>
          <p:nvPr/>
        </p:nvSpPr>
        <p:spPr bwMode="auto">
          <a:xfrm flipH="1">
            <a:off x="2209800" y="60198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3708" name="Line 44"/>
          <p:cNvSpPr>
            <a:spLocks noChangeShapeType="1"/>
          </p:cNvSpPr>
          <p:nvPr/>
        </p:nvSpPr>
        <p:spPr bwMode="auto">
          <a:xfrm flipV="1">
            <a:off x="2209800" y="48768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3709" name="Line 45"/>
          <p:cNvSpPr>
            <a:spLocks noChangeShapeType="1"/>
          </p:cNvSpPr>
          <p:nvPr/>
        </p:nvSpPr>
        <p:spPr bwMode="auto">
          <a:xfrm flipV="1">
            <a:off x="2209800" y="5334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3710" name="Line 46"/>
          <p:cNvSpPr>
            <a:spLocks noChangeShapeType="1"/>
          </p:cNvSpPr>
          <p:nvPr/>
        </p:nvSpPr>
        <p:spPr bwMode="auto">
          <a:xfrm flipV="1">
            <a:off x="2209800" y="57912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711" name="Rectangle 47"/>
              <p:cNvSpPr>
                <a:spLocks noChangeArrowheads="1"/>
              </p:cNvSpPr>
              <p:nvPr/>
            </p:nvSpPr>
            <p:spPr bwMode="auto">
              <a:xfrm>
                <a:off x="5334000" y="1905000"/>
                <a:ext cx="533400" cy="609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3711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0" y="1905000"/>
                <a:ext cx="533400" cy="60960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712" name="Text Box 48"/>
          <p:cNvSpPr txBox="1">
            <a:spLocks noChangeArrowheads="1"/>
          </p:cNvSpPr>
          <p:nvPr/>
        </p:nvSpPr>
        <p:spPr bwMode="auto">
          <a:xfrm>
            <a:off x="5148263" y="620713"/>
            <a:ext cx="1414462" cy="400050"/>
          </a:xfrm>
          <a:prstGeom prst="rect">
            <a:avLst/>
          </a:prstGeom>
          <a:solidFill>
            <a:srgbClr val="F4FAFA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/>
              <a:t>a protocol</a:t>
            </a:r>
          </a:p>
        </p:txBody>
      </p:sp>
      <p:sp>
        <p:nvSpPr>
          <p:cNvPr id="113713" name="Text Box 49"/>
          <p:cNvSpPr txBox="1">
            <a:spLocks noChangeArrowheads="1"/>
          </p:cNvSpPr>
          <p:nvPr/>
        </p:nvSpPr>
        <p:spPr bwMode="auto">
          <a:xfrm>
            <a:off x="5148263" y="4221163"/>
            <a:ext cx="1414462" cy="400050"/>
          </a:xfrm>
          <a:prstGeom prst="rect">
            <a:avLst/>
          </a:prstGeom>
          <a:solidFill>
            <a:srgbClr val="F4FAFA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/>
              <a:t>a protocol</a:t>
            </a:r>
          </a:p>
        </p:txBody>
      </p:sp>
    </p:spTree>
    <p:extLst>
      <p:ext uri="{BB962C8B-B14F-4D97-AF65-F5344CB8AC3E}">
        <p14:creationId xmlns:p14="http://schemas.microsoft.com/office/powerpoint/2010/main" val="152121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71" grpId="0" animBg="1"/>
      <p:bldP spid="113673" grpId="0" animBg="1"/>
      <p:bldP spid="113675" grpId="0" animBg="1"/>
      <p:bldP spid="113676" grpId="0" animBg="1"/>
      <p:bldP spid="113682" grpId="0"/>
      <p:bldP spid="113684" grpId="0" animBg="1"/>
      <p:bldP spid="113688" grpId="0" animBg="1"/>
      <p:bldP spid="113689" grpId="0" animBg="1"/>
      <p:bldP spid="113704" grpId="0" animBg="1"/>
      <p:bldP spid="113705" grpId="0" animBg="1"/>
      <p:bldP spid="113706" grpId="0" animBg="1"/>
      <p:bldP spid="113707" grpId="0" animBg="1"/>
      <p:bldP spid="113708" grpId="0" animBg="1"/>
      <p:bldP spid="113709" grpId="0" animBg="1"/>
      <p:bldP spid="113710" grpId="0" animBg="1"/>
      <p:bldP spid="1137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5716" name="Rectangle 4"/>
              <p:cNvSpPr>
                <a:spLocks noChangeArrowheads="1"/>
              </p:cNvSpPr>
              <p:nvPr/>
            </p:nvSpPr>
            <p:spPr bwMode="auto">
              <a:xfrm>
                <a:off x="0" y="2997200"/>
                <a:ext cx="9144000" cy="286069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360000" anchor="ctr"/>
              <a:lstStyle/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3200" dirty="0"/>
                  <a:t> takes as input a key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∈{</m:t>
                    </m:r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𝟎</m:t>
                    </m:r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,</m:t>
                    </m:r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𝟏</m:t>
                    </m:r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}</m:t>
                    </m:r>
                    <m:r>
                      <a:rPr lang="en-US" sz="32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𝒏</m:t>
                    </m:r>
                    <m:r>
                      <a:rPr lang="en-US" sz="3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US" sz="3200" dirty="0"/>
                  <a:t>and a message </a:t>
                </a:r>
                <a:br>
                  <a:rPr lang="en-US" sz="3200" dirty="0"/>
                </a:br>
                <a14:m>
                  <m:oMath xmlns:m="http://schemas.openxmlformats.org/officeDocument/2006/math"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32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dPr>
                          <m:e>
                            <m:r>
                              <a:rPr lang="en-US" sz="32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𝟎</m:t>
                            </m:r>
                            <m:r>
                              <a:rPr lang="en-US" sz="32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,</m:t>
                            </m:r>
                            <m:r>
                              <a:rPr lang="en-US" sz="32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∗</m:t>
                        </m:r>
                      </m:sup>
                    </m:sSup>
                    <m:r>
                      <a:rPr lang="en-US" sz="3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US" sz="3200" dirty="0">
                    <a:cs typeface="Arial" pitchFamily="34" charset="0"/>
                  </a:rPr>
                  <a:t>and outputs a string</a:t>
                </a:r>
              </a:p>
              <a:p>
                <a:pPr algn="ctr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𝑯</m:t>
                      </m:r>
                      <m:r>
                        <a:rPr lang="en-US" sz="32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𝒔</m:t>
                      </m:r>
                      <m:d>
                        <m:dPr>
                          <m:ctrlP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32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dPr>
                            <m:e>
                              <m:r>
                                <a:rPr lang="en-US" sz="32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𝟎</m:t>
                              </m:r>
                              <m:r>
                                <a:rPr lang="en-US" sz="32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,</m:t>
                              </m:r>
                              <m:r>
                                <a:rPr lang="en-US" sz="32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𝑳</m:t>
                          </m:r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(</m:t>
                          </m:r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𝒏</m:t>
                          </m:r>
                          <m:r>
                            <a:rPr lang="en-US" sz="32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  <a:cs typeface="Arial" pitchFamily="34" charset="0"/>
                </a:endParaRPr>
              </a:p>
              <a:p>
                <a:pPr>
                  <a:buFontTx/>
                  <a:buNone/>
                </a:pPr>
                <a:r>
                  <a:rPr lang="en-US" sz="3200" dirty="0">
                    <a:cs typeface="Arial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𝑳</m:t>
                    </m:r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(</m:t>
                    </m:r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𝒏</m:t>
                    </m:r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)</m:t>
                    </m:r>
                    <m:r>
                      <a:rPr lang="en-US" sz="3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US" sz="3200" dirty="0">
                    <a:cs typeface="Arial" pitchFamily="34" charset="0"/>
                  </a:rPr>
                  <a:t>is some fixed function.</a:t>
                </a:r>
                <a:endParaRPr lang="ru-RU" sz="3200" dirty="0">
                  <a:cs typeface="Arial" pitchFamily="34" charset="0"/>
                </a:endParaRPr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115716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2997200"/>
                <a:ext cx="9144000" cy="286069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290811" y="162019"/>
            <a:ext cx="8675687" cy="1037459"/>
          </a:xfrm>
        </p:spPr>
        <p:txBody>
          <a:bodyPr>
            <a:normAutofit/>
          </a:bodyPr>
          <a:lstStyle/>
          <a:p>
            <a:r>
              <a:rPr lang="it-IT" sz="3600" dirty="0"/>
              <a:t>Hash functions – the functional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57158" y="1500174"/>
                <a:ext cx="8286808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A </a:t>
                </a:r>
                <a:r>
                  <a:rPr lang="en-US" sz="2800" b="1" dirty="0">
                    <a:solidFill>
                      <a:srgbClr val="0070C0"/>
                    </a:solidFill>
                  </a:rPr>
                  <a:t>hash function </a:t>
                </a:r>
                <a:r>
                  <a:rPr lang="en-US" sz="2800" dirty="0"/>
                  <a:t>is a probabilistic polynomial-time algorithm</a:t>
                </a:r>
                <a:r>
                  <a:rPr lang="en-US" sz="2800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800" dirty="0"/>
                  <a:t> such that: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58" y="1500174"/>
                <a:ext cx="8286808" cy="954107"/>
              </a:xfrm>
              <a:prstGeom prst="rect">
                <a:avLst/>
              </a:prstGeom>
              <a:blipFill rotWithShape="0">
                <a:blip r:embed="rId4"/>
                <a:stretch>
                  <a:fillRect l="-1545" t="-6369" b="-1656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1421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00760" y="2214554"/>
            <a:ext cx="2412764" cy="2214578"/>
          </a:xfrm>
          <a:prstGeom prst="rect">
            <a:avLst/>
          </a:prstGeom>
          <a:noFill/>
        </p:spPr>
      </p:pic>
      <p:sp>
        <p:nvSpPr>
          <p:cNvPr id="119812" name="Rectangle 4"/>
          <p:cNvSpPr>
            <a:spLocks noGrp="1" noChangeArrowheads="1"/>
          </p:cNvSpPr>
          <p:nvPr>
            <p:ph type="title"/>
          </p:nvPr>
        </p:nvSpPr>
        <p:spPr>
          <a:xfrm>
            <a:off x="172122" y="152400"/>
            <a:ext cx="8869680" cy="1143000"/>
          </a:xfrm>
          <a:noFill/>
          <a:ln/>
        </p:spPr>
        <p:txBody>
          <a:bodyPr>
            <a:normAutofit/>
          </a:bodyPr>
          <a:lstStyle/>
          <a:p>
            <a:r>
              <a:rPr lang="en-US" sz="3300" dirty="0"/>
              <a:t>Hash functions – the security definition [1/2]</a:t>
            </a:r>
          </a:p>
        </p:txBody>
      </p:sp>
      <p:pic>
        <p:nvPicPr>
          <p:cNvPr id="119814" name="Picture 6" descr="MCj0423848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" y="2514600"/>
            <a:ext cx="1457325" cy="1600200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9815" name="Text Box 7"/>
              <p:cNvSpPr txBox="1">
                <a:spLocks noChangeArrowheads="1"/>
              </p:cNvSpPr>
              <p:nvPr/>
            </p:nvSpPr>
            <p:spPr bwMode="auto">
              <a:xfrm>
                <a:off x="7177107" y="1196975"/>
                <a:ext cx="455574" cy="362984"/>
              </a:xfrm>
              <a:prstGeom prst="rect">
                <a:avLst/>
              </a:prstGeom>
              <a:solidFill>
                <a:srgbClr val="F4FAFA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it-IT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it-IT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9815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77107" y="1196975"/>
                <a:ext cx="455574" cy="36298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817" name="Text Box 9"/>
              <p:cNvSpPr txBox="1">
                <a:spLocks noChangeArrowheads="1"/>
              </p:cNvSpPr>
              <p:nvPr/>
            </p:nvSpPr>
            <p:spPr bwMode="auto">
              <a:xfrm>
                <a:off x="6429388" y="2214554"/>
                <a:ext cx="1579680" cy="92333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 anchor="ctr" anchorCtr="1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70C0"/>
                    </a:solidFill>
                  </a:rPr>
                  <a:t>selects a random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є {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𝟏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}</m:t>
                      </m:r>
                      <m:r>
                        <a:rPr lang="en-US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𝒏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 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9817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29388" y="2214554"/>
                <a:ext cx="1579680" cy="923330"/>
              </a:xfrm>
              <a:prstGeom prst="rect">
                <a:avLst/>
              </a:prstGeom>
              <a:blipFill rotWithShape="0">
                <a:blip r:embed="rId6"/>
                <a:stretch>
                  <a:fillRect t="-3268" b="-5882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818" name="Line 10"/>
          <p:cNvSpPr>
            <a:spLocks noChangeShapeType="1"/>
          </p:cNvSpPr>
          <p:nvPr/>
        </p:nvSpPr>
        <p:spPr bwMode="auto">
          <a:xfrm flipH="1">
            <a:off x="3124200" y="2743200"/>
            <a:ext cx="2743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819" name="Text Box 11"/>
              <p:cNvSpPr txBox="1">
                <a:spLocks noChangeArrowheads="1"/>
              </p:cNvSpPr>
              <p:nvPr/>
            </p:nvSpPr>
            <p:spPr bwMode="auto">
              <a:xfrm>
                <a:off x="4419600" y="2514600"/>
                <a:ext cx="339725" cy="369332"/>
              </a:xfrm>
              <a:prstGeom prst="rect">
                <a:avLst/>
              </a:prstGeom>
              <a:solidFill>
                <a:srgbClr val="F4FAFA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9819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19600" y="2514600"/>
                <a:ext cx="339725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821" name="Text Box 13"/>
              <p:cNvSpPr txBox="1">
                <a:spLocks noChangeArrowheads="1"/>
              </p:cNvSpPr>
              <p:nvPr/>
            </p:nvSpPr>
            <p:spPr bwMode="auto">
              <a:xfrm>
                <a:off x="831576" y="3857628"/>
                <a:ext cx="1758816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:r>
                  <a:rPr lang="it-IT" dirty="0"/>
                  <a:t>outputs </a:t>
                </a:r>
                <a14:m>
                  <m:oMath xmlns:m="http://schemas.openxmlformats.org/officeDocument/2006/math"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’)</m:t>
                    </m:r>
                  </m:oMath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9821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1576" y="3857628"/>
                <a:ext cx="1758816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2062" t="-9677" r="-344" b="-2258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822" name="Text Box 14"/>
              <p:cNvSpPr txBox="1">
                <a:spLocks noChangeArrowheads="1"/>
              </p:cNvSpPr>
              <p:nvPr/>
            </p:nvSpPr>
            <p:spPr bwMode="auto">
              <a:xfrm>
                <a:off x="609600" y="5105400"/>
                <a:ext cx="7864475" cy="954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sz="2800" dirty="0"/>
                  <a:t>We say that adversary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breaks the function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800" dirty="0"/>
                  <a:t> if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8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sSup>
                      <m:sSupPr>
                        <m:ctrlP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p>
                    </m:sSup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’)</m:t>
                    </m:r>
                  </m:oMath>
                </a14:m>
                <a:r>
                  <a:rPr lang="en-US" dirty="0"/>
                  <a:t>.</a:t>
                </a:r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9822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5105400"/>
                <a:ext cx="7864475" cy="954107"/>
              </a:xfrm>
              <a:prstGeom prst="rect">
                <a:avLst/>
              </a:prstGeom>
              <a:blipFill rotWithShape="0">
                <a:blip r:embed="rId9"/>
                <a:stretch>
                  <a:fillRect t="-7051" r="-78" b="-448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9823" name="AutoShape 15"/>
          <p:cNvCxnSpPr>
            <a:cxnSpLocks noChangeShapeType="1"/>
            <a:stCxn id="119815" idx="2"/>
          </p:cNvCxnSpPr>
          <p:nvPr/>
        </p:nvCxnSpPr>
        <p:spPr bwMode="auto">
          <a:xfrm flipH="1">
            <a:off x="7391400" y="1559959"/>
            <a:ext cx="13494" cy="64984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7746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5" grpId="0" animBg="1"/>
      <p:bldP spid="119817" grpId="0" animBg="1"/>
      <p:bldP spid="119818" grpId="0" animBg="1"/>
      <p:bldP spid="119819" grpId="0" animBg="1"/>
      <p:bldP spid="119821" grpId="0" animBg="1"/>
      <p:bldP spid="1198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083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62000" y="2209800"/>
                <a:ext cx="7772400" cy="762000"/>
              </a:xfrm>
            </p:spPr>
            <p:txBody>
              <a:bodyPr/>
              <a:lstStyle/>
              <a:p>
                <a:pPr>
                  <a:lnSpc>
                    <a:spcPct val="9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dirty="0"/>
                  <a:t> is a </a:t>
                </a:r>
                <a:r>
                  <a:rPr lang="en-US" b="1" dirty="0">
                    <a:solidFill>
                      <a:srgbClr val="008000"/>
                    </a:solidFill>
                  </a:rPr>
                  <a:t>collision-resistant hash function</a:t>
                </a:r>
                <a:r>
                  <a:rPr lang="en-US" dirty="0"/>
                  <a:t> if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endParaRPr lang="en-US" sz="3200" dirty="0"/>
              </a:p>
            </p:txBody>
          </p:sp>
        </mc:Choice>
        <mc:Fallback xmlns="">
          <p:sp>
            <p:nvSpPr>
              <p:cNvPr id="12083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2000" y="2209800"/>
                <a:ext cx="7772400" cy="762000"/>
              </a:xfrm>
              <a:blipFill rotWithShape="0">
                <a:blip r:embed="rId3"/>
                <a:stretch>
                  <a:fillRect t="-144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836" name="Rectangle 4"/>
          <p:cNvSpPr>
            <a:spLocks noGrp="1" noChangeArrowheads="1"/>
          </p:cNvSpPr>
          <p:nvPr>
            <p:ph type="title"/>
          </p:nvPr>
        </p:nvSpPr>
        <p:spPr>
          <a:xfrm>
            <a:off x="264235" y="190500"/>
            <a:ext cx="8946777" cy="1143000"/>
          </a:xfrm>
          <a:noFill/>
          <a:ln/>
        </p:spPr>
        <p:txBody>
          <a:bodyPr>
            <a:normAutofit/>
          </a:bodyPr>
          <a:lstStyle/>
          <a:p>
            <a:r>
              <a:rPr lang="it-IT" sz="3300" dirty="0"/>
              <a:t>Hash functions – the security  definition [2/2]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837" name="Text Box 5"/>
              <p:cNvSpPr txBox="1">
                <a:spLocks noChangeArrowheads="1"/>
              </p:cNvSpPr>
              <p:nvPr/>
            </p:nvSpPr>
            <p:spPr bwMode="auto">
              <a:xfrm>
                <a:off x="1048421" y="2965281"/>
                <a:ext cx="1229824" cy="15696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</m:oMath>
                  </m:oMathPara>
                </a14:m>
                <a:endParaRPr lang="it-IT" sz="9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0837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8421" y="2965281"/>
                <a:ext cx="1229824" cy="156966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838" name="Text Box 6"/>
              <p:cNvSpPr txBox="1">
                <a:spLocks noChangeArrowheads="1"/>
              </p:cNvSpPr>
              <p:nvPr/>
            </p:nvSpPr>
            <p:spPr bwMode="auto">
              <a:xfrm>
                <a:off x="438350" y="4374379"/>
                <a:ext cx="2361801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dirty="0"/>
                  <a:t>polynomial-time</a:t>
                </a:r>
                <a:br>
                  <a:rPr lang="en-US" sz="2400" dirty="0"/>
                </a:br>
                <a:r>
                  <a:rPr lang="en-US" sz="2400" dirty="0"/>
                  <a:t>adversary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it-IT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0838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350" y="4374379"/>
                <a:ext cx="2361801" cy="830997"/>
              </a:xfrm>
              <a:prstGeom prst="rect">
                <a:avLst/>
              </a:prstGeom>
              <a:blipFill rotWithShape="0">
                <a:blip r:embed="rId5"/>
                <a:stretch>
                  <a:fillRect l="-4134" t="-5882" r="-3618" b="-1617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839" name="Text Box 7"/>
              <p:cNvSpPr txBox="1">
                <a:spLocks noChangeArrowheads="1"/>
              </p:cNvSpPr>
              <p:nvPr/>
            </p:nvSpPr>
            <p:spPr bwMode="auto">
              <a:xfrm>
                <a:off x="2277932" y="3432259"/>
                <a:ext cx="6019800" cy="5847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𝐛𝐫𝐞𝐚𝐤𝐬</m:t>
                    </m:r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3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3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/>
                  <a:t>is negligible</a:t>
                </a:r>
                <a:endParaRPr lang="it-IT" sz="2000" dirty="0"/>
              </a:p>
            </p:txBody>
          </p:sp>
        </mc:Choice>
        <mc:Fallback xmlns="">
          <p:sp>
            <p:nvSpPr>
              <p:cNvPr id="120839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77932" y="3432259"/>
                <a:ext cx="6019800" cy="584775"/>
              </a:xfrm>
              <a:prstGeom prst="rect">
                <a:avLst/>
              </a:prstGeom>
              <a:blipFill rotWithShape="0">
                <a:blip r:embed="rId6"/>
                <a:stretch>
                  <a:fillRect t="-13542" b="-333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3107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63461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A weaker requirement: </a:t>
            </a:r>
            <a:r>
              <a:rPr lang="en-US" sz="3600" b="1" dirty="0">
                <a:solidFill>
                  <a:srgbClr val="7030A0"/>
                </a:solidFill>
              </a:rPr>
              <a:t>pre-image resistance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132474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u="sng" dirty="0">
                    <a:solidFill>
                      <a:srgbClr val="0070C0"/>
                    </a:solidFill>
                  </a:rPr>
                  <a:t>Intuitively</a:t>
                </a:r>
                <a:r>
                  <a:rPr lang="en-US" dirty="0"/>
                  <a:t>: “it’s hard to find a pre-image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p>
                    </m:sSup>
                  </m:oMath>
                </a14:m>
                <a:r>
                  <a:rPr lang="en-US" dirty="0"/>
                  <a:t>”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Main difference:</a:t>
                </a: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1324743"/>
              </a:xfrm>
              <a:blipFill rotWithShape="0">
                <a:blip r:embed="rId9"/>
                <a:stretch>
                  <a:fillRect l="-1333" t="-10599" b="-921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268031" y="2984938"/>
            <a:ext cx="2412764" cy="2214578"/>
          </a:xfrm>
          <a:prstGeom prst="rect">
            <a:avLst/>
          </a:prstGeom>
          <a:noFill/>
        </p:spPr>
      </p:pic>
      <p:pic>
        <p:nvPicPr>
          <p:cNvPr id="5" name="Picture 6" descr="MCj04238480000[1]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334071" y="3284984"/>
            <a:ext cx="1457325" cy="1600200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7"/>
              <p:cNvSpPr txBox="1">
                <a:spLocks noChangeArrowheads="1"/>
              </p:cNvSpPr>
              <p:nvPr/>
            </p:nvSpPr>
            <p:spPr bwMode="auto">
              <a:xfrm>
                <a:off x="7444378" y="1967359"/>
                <a:ext cx="455574" cy="362984"/>
              </a:xfrm>
              <a:prstGeom prst="rect">
                <a:avLst/>
              </a:prstGeom>
              <a:solidFill>
                <a:srgbClr val="F4FAFA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it-IT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it-IT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44378" y="1967359"/>
                <a:ext cx="455574" cy="362984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9"/>
              <p:cNvSpPr txBox="1">
                <a:spLocks noChangeArrowheads="1"/>
              </p:cNvSpPr>
              <p:nvPr/>
            </p:nvSpPr>
            <p:spPr bwMode="auto">
              <a:xfrm>
                <a:off x="6699027" y="2984938"/>
                <a:ext cx="1919288" cy="92333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 anchorCtr="1">
                <a:spAutoFit/>
              </a:bodyPr>
              <a:lstStyle/>
              <a:p>
                <a:r>
                  <a:rPr lang="it-IT" b="1" dirty="0">
                    <a:solidFill>
                      <a:srgbClr val="00B050"/>
                    </a:solidFill>
                  </a:rPr>
                  <a:t>selects random</a:t>
                </a:r>
              </a:p>
              <a:p>
                <a:pPr algn="ctr"/>
                <a:r>
                  <a:rPr lang="it-IT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endParaRPr lang="en-US" b="1" i="1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dirty="0">
                    <a:cs typeface="Arial" pitchFamily="34" charset="0"/>
                  </a:rPr>
                  <a:t> </a:t>
                </a:r>
                <a:endParaRPr lang="it-IT" b="1" dirty="0">
                  <a:solidFill>
                    <a:srgbClr val="993300"/>
                  </a:solidFill>
                </a:endParaRPr>
              </a:p>
            </p:txBody>
          </p:sp>
        </mc:Choice>
        <mc:Fallback xmlns="">
          <p:sp>
            <p:nvSpPr>
              <p:cNvPr id="7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99027" y="2984938"/>
                <a:ext cx="1919288" cy="923330"/>
              </a:xfrm>
              <a:prstGeom prst="rect">
                <a:avLst/>
              </a:prstGeom>
              <a:blipFill rotWithShape="0">
                <a:blip r:embed="rId13"/>
                <a:stretch>
                  <a:fillRect t="-3947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ine 10"/>
          <p:cNvSpPr>
            <a:spLocks noChangeShapeType="1"/>
          </p:cNvSpPr>
          <p:nvPr/>
        </p:nvSpPr>
        <p:spPr bwMode="auto">
          <a:xfrm flipH="1">
            <a:off x="3391471" y="3513584"/>
            <a:ext cx="2743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11"/>
              <p:cNvSpPr txBox="1">
                <a:spLocks noChangeArrowheads="1"/>
              </p:cNvSpPr>
              <p:nvPr/>
            </p:nvSpPr>
            <p:spPr bwMode="auto">
              <a:xfrm>
                <a:off x="4294006" y="3284984"/>
                <a:ext cx="1152127" cy="369332"/>
              </a:xfrm>
              <a:prstGeom prst="rect">
                <a:avLst/>
              </a:prstGeom>
              <a:solidFill>
                <a:srgbClr val="F4FAFA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p>
                      </m:sSup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it-IT" b="1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94006" y="3284984"/>
                <a:ext cx="1152127" cy="369332"/>
              </a:xfrm>
              <a:prstGeom prst="rect">
                <a:avLst/>
              </a:prstGeom>
              <a:blipFill rotWithShape="0">
                <a:blip r:embed="rId14"/>
                <a:stretch>
                  <a:fillRect b="-13115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3"/>
              <p:cNvSpPr txBox="1">
                <a:spLocks noChangeArrowheads="1"/>
              </p:cNvSpPr>
              <p:nvPr/>
            </p:nvSpPr>
            <p:spPr bwMode="auto">
              <a:xfrm>
                <a:off x="1340128" y="4628012"/>
                <a:ext cx="1276247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:r>
                  <a:rPr lang="it-IT" dirty="0"/>
                  <a:t>outputs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it-IT" b="1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40128" y="4628012"/>
                <a:ext cx="1276247" cy="369332"/>
              </a:xfrm>
              <a:prstGeom prst="rect">
                <a:avLst/>
              </a:prstGeom>
              <a:blipFill rotWithShape="0">
                <a:blip r:embed="rId15"/>
                <a:stretch>
                  <a:fillRect l="-3791" t="-7937" b="-2063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AutoShape 15"/>
          <p:cNvCxnSpPr>
            <a:cxnSpLocks noChangeShapeType="1"/>
            <a:stCxn id="6" idx="2"/>
          </p:cNvCxnSpPr>
          <p:nvPr/>
        </p:nvCxnSpPr>
        <p:spPr bwMode="auto">
          <a:xfrm flipH="1">
            <a:off x="7658671" y="2330343"/>
            <a:ext cx="13494" cy="64984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4"/>
              <p:cNvSpPr txBox="1">
                <a:spLocks noChangeArrowheads="1"/>
              </p:cNvSpPr>
              <p:nvPr/>
            </p:nvSpPr>
            <p:spPr bwMode="auto">
              <a:xfrm>
                <a:off x="611560" y="5545966"/>
                <a:ext cx="7864475" cy="10156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it-IT" sz="2800" dirty="0"/>
                  <a:t>We say that adversary </a:t>
                </a:r>
                <a:r>
                  <a:rPr lang="it-IT" sz="2800" b="1" i="1" dirty="0">
                    <a:solidFill>
                      <a:srgbClr val="FF0000"/>
                    </a:solidFill>
                  </a:rPr>
                  <a:t>A</a:t>
                </a:r>
                <a:r>
                  <a:rPr lang="it-IT" sz="2800" dirty="0"/>
                  <a:t> breaks the function</a:t>
                </a:r>
                <a:r>
                  <a:rPr lang="it-IT" sz="3200" dirty="0"/>
                  <a:t>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it-IT" sz="3200" dirty="0"/>
                  <a:t> </a:t>
                </a:r>
                <a:r>
                  <a:rPr lang="it-IT" sz="2800" dirty="0"/>
                  <a:t>if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p>
                      </m:sSup>
                      <m:d>
                        <m:d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p>
                      </m:sSup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4400" b="1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5545966"/>
                <a:ext cx="7864475" cy="1015663"/>
              </a:xfrm>
              <a:prstGeom prst="rect">
                <a:avLst/>
              </a:prstGeom>
              <a:blipFill rotWithShape="0">
                <a:blip r:embed="rId16"/>
                <a:stretch>
                  <a:fillRect l="-1550" t="-180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0838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652" y="262110"/>
            <a:ext cx="7980780" cy="923153"/>
          </a:xfrm>
        </p:spPr>
        <p:txBody>
          <a:bodyPr>
            <a:noAutofit/>
          </a:bodyPr>
          <a:lstStyle/>
          <a:p>
            <a:r>
              <a:rPr lang="en-US" sz="3600" dirty="0"/>
              <a:t>Yet another requirement:</a:t>
            </a:r>
            <a:br>
              <a:rPr lang="en-US" sz="3600" dirty="0"/>
            </a:br>
            <a:r>
              <a:rPr lang="en-US" sz="3600" b="1" dirty="0">
                <a:solidFill>
                  <a:srgbClr val="7030A0"/>
                </a:solidFill>
              </a:rPr>
              <a:t>second pre-image resistance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94822"/>
                <a:ext cx="8229600" cy="132474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u="sng" dirty="0">
                    <a:solidFill>
                      <a:srgbClr val="0070C0"/>
                    </a:solidFill>
                  </a:rPr>
                  <a:t>Intuitively</a:t>
                </a:r>
                <a:r>
                  <a:rPr lang="en-US" sz="2400" dirty="0"/>
                  <a:t>: “it’s hard to find a second pre-image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p>
                    </m:sSup>
                  </m:oMath>
                </a14:m>
                <a:r>
                  <a:rPr lang="en-US" sz="2400" dirty="0"/>
                  <a:t>”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94822"/>
                <a:ext cx="8229600" cy="1324743"/>
              </a:xfrm>
              <a:blipFill rotWithShape="0">
                <a:blip r:embed="rId3"/>
                <a:stretch>
                  <a:fillRect l="-1111" t="-645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C:\Users\Stefan\AppData\Local\Microsoft\Windows\Temporary Internet Files\Content.IE5\QMMGVNV4\MCBD19647_0000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68031" y="2984938"/>
            <a:ext cx="2412764" cy="2214578"/>
          </a:xfrm>
          <a:prstGeom prst="rect">
            <a:avLst/>
          </a:prstGeom>
          <a:noFill/>
        </p:spPr>
      </p:pic>
      <p:pic>
        <p:nvPicPr>
          <p:cNvPr id="5" name="Picture 6" descr="MCj0423848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34071" y="3284984"/>
            <a:ext cx="1457325" cy="1600200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7"/>
              <p:cNvSpPr txBox="1">
                <a:spLocks noChangeArrowheads="1"/>
              </p:cNvSpPr>
              <p:nvPr/>
            </p:nvSpPr>
            <p:spPr bwMode="auto">
              <a:xfrm>
                <a:off x="7406490" y="2178113"/>
                <a:ext cx="474745" cy="362984"/>
              </a:xfrm>
              <a:prstGeom prst="rect">
                <a:avLst/>
              </a:prstGeom>
              <a:solidFill>
                <a:srgbClr val="F4FAFA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p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it-IT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06490" y="2178113"/>
                <a:ext cx="474745" cy="36298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9"/>
              <p:cNvSpPr txBox="1">
                <a:spLocks noChangeArrowheads="1"/>
              </p:cNvSpPr>
              <p:nvPr/>
            </p:nvSpPr>
            <p:spPr bwMode="auto">
              <a:xfrm>
                <a:off x="6696659" y="2984938"/>
                <a:ext cx="1919288" cy="92333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 anchorCtr="1">
                <a:spAutoFit/>
              </a:bodyPr>
              <a:lstStyle/>
              <a:p>
                <a:r>
                  <a:rPr lang="it-IT" b="1" dirty="0">
                    <a:solidFill>
                      <a:srgbClr val="00B050"/>
                    </a:solidFill>
                  </a:rPr>
                  <a:t>selects random</a:t>
                </a:r>
              </a:p>
              <a:p>
                <a:pPr algn="ctr"/>
                <a:r>
                  <a:rPr lang="it-IT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endParaRPr lang="en-US" b="1" i="1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dirty="0">
                    <a:cs typeface="Arial" pitchFamily="34" charset="0"/>
                  </a:rPr>
                  <a:t> </a:t>
                </a:r>
                <a:endParaRPr lang="it-IT" b="1" dirty="0">
                  <a:solidFill>
                    <a:srgbClr val="993300"/>
                  </a:solidFill>
                </a:endParaRPr>
              </a:p>
            </p:txBody>
          </p:sp>
        </mc:Choice>
        <mc:Fallback xmlns="">
          <p:sp>
            <p:nvSpPr>
              <p:cNvPr id="7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96659" y="2984938"/>
                <a:ext cx="1919288" cy="923330"/>
              </a:xfrm>
              <a:prstGeom prst="rect">
                <a:avLst/>
              </a:prstGeom>
              <a:blipFill rotWithShape="0">
                <a:blip r:embed="rId7"/>
                <a:stretch>
                  <a:fillRect t="-3947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ine 10"/>
          <p:cNvSpPr>
            <a:spLocks noChangeShapeType="1"/>
          </p:cNvSpPr>
          <p:nvPr/>
        </p:nvSpPr>
        <p:spPr bwMode="auto">
          <a:xfrm flipH="1">
            <a:off x="3391471" y="3513584"/>
            <a:ext cx="2743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11"/>
              <p:cNvSpPr txBox="1">
                <a:spLocks noChangeArrowheads="1"/>
              </p:cNvSpPr>
              <p:nvPr/>
            </p:nvSpPr>
            <p:spPr bwMode="auto">
              <a:xfrm>
                <a:off x="4427985" y="3284984"/>
                <a:ext cx="598612" cy="369332"/>
              </a:xfrm>
              <a:prstGeom prst="rect">
                <a:avLst/>
              </a:prstGeom>
              <a:solidFill>
                <a:srgbClr val="F4FAFA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it-IT" b="1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27985" y="3284984"/>
                <a:ext cx="598612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3"/>
              <p:cNvSpPr txBox="1">
                <a:spLocks noChangeArrowheads="1"/>
              </p:cNvSpPr>
              <p:nvPr/>
            </p:nvSpPr>
            <p:spPr bwMode="auto">
              <a:xfrm>
                <a:off x="1340128" y="4628012"/>
                <a:ext cx="1276247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:r>
                  <a:rPr lang="it-IT" dirty="0"/>
                  <a:t>outputs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it-IT" b="1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40128" y="4628012"/>
                <a:ext cx="1276247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3791" t="-7937" b="-2063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AutoShape 15"/>
          <p:cNvCxnSpPr>
            <a:cxnSpLocks noChangeShapeType="1"/>
            <a:stCxn id="6" idx="2"/>
            <a:endCxn id="7" idx="0"/>
          </p:cNvCxnSpPr>
          <p:nvPr/>
        </p:nvCxnSpPr>
        <p:spPr bwMode="auto">
          <a:xfrm>
            <a:off x="7643863" y="2541097"/>
            <a:ext cx="12440" cy="44384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4"/>
              <p:cNvSpPr txBox="1">
                <a:spLocks noChangeArrowheads="1"/>
              </p:cNvSpPr>
              <p:nvPr/>
            </p:nvSpPr>
            <p:spPr bwMode="auto">
              <a:xfrm>
                <a:off x="537804" y="5428116"/>
                <a:ext cx="7864475" cy="10156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it-IT" sz="2800" dirty="0"/>
                  <a:t>We say that adversary </a:t>
                </a:r>
                <a:r>
                  <a:rPr lang="it-IT" sz="2800" b="1" i="1" dirty="0">
                    <a:solidFill>
                      <a:srgbClr val="FF0000"/>
                    </a:solidFill>
                  </a:rPr>
                  <a:t>A</a:t>
                </a:r>
                <a:r>
                  <a:rPr lang="it-IT" sz="2800" dirty="0"/>
                  <a:t> breaks the function</a:t>
                </a:r>
                <a:r>
                  <a:rPr lang="it-IT" sz="3200" dirty="0"/>
                  <a:t>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it-IT" sz="3200" dirty="0"/>
                  <a:t> </a:t>
                </a:r>
                <a:r>
                  <a:rPr lang="it-IT" sz="2800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it-IT" sz="2800" b="1" i="1" dirty="0">
                    <a:solidFill>
                      <a:srgbClr val="FF0000"/>
                    </a:solidFill>
                  </a:rPr>
                  <a:t> </a:t>
                </a:r>
                <a:r>
                  <a:rPr lang="it-IT" sz="2800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p>
                    </m:sSup>
                    <m:d>
                      <m:d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p>
                    </m:sSup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sz="4400" b="1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7804" y="5428116"/>
                <a:ext cx="7864475" cy="1015663"/>
              </a:xfrm>
              <a:prstGeom prst="rect">
                <a:avLst/>
              </a:prstGeom>
              <a:blipFill rotWithShape="0">
                <a:blip r:embed="rId10"/>
                <a:stretch>
                  <a:fillRect l="-1550" t="-1198" b="-1556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947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089" y="190603"/>
            <a:ext cx="7886700" cy="1325563"/>
          </a:xfrm>
        </p:spPr>
        <p:txBody>
          <a:bodyPr/>
          <a:lstStyle/>
          <a:p>
            <a:r>
              <a:rPr lang="en-US" dirty="0"/>
              <a:t>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2068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following implications hold: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475431" y="2492896"/>
                <a:ext cx="4608512" cy="64807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400" dirty="0"/>
                  <a:t> is collision resistant</a:t>
                </a:r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431" y="2492896"/>
                <a:ext cx="4608512" cy="648072"/>
              </a:xfrm>
              <a:prstGeom prst="rect">
                <a:avLst/>
              </a:prstGeom>
              <a:blipFill rotWithShape="0">
                <a:blip r:embed="rId5"/>
                <a:stretch>
                  <a:fillRect b="-648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475431" y="3924720"/>
                <a:ext cx="4608512" cy="64807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400" dirty="0"/>
                  <a:t> is second preimage resistant</a:t>
                </a:r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431" y="3924720"/>
                <a:ext cx="4608512" cy="648072"/>
              </a:xfrm>
              <a:prstGeom prst="rect">
                <a:avLst/>
              </a:prstGeom>
              <a:blipFill rotWithShape="0">
                <a:blip r:embed="rId6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475431" y="5356543"/>
                <a:ext cx="4608512" cy="64807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400" dirty="0"/>
                  <a:t> is pre-image resistant</a:t>
                </a:r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431" y="5356543"/>
                <a:ext cx="4608512" cy="648072"/>
              </a:xfrm>
              <a:prstGeom prst="rect">
                <a:avLst/>
              </a:prstGeom>
              <a:blipFill rotWithShape="0">
                <a:blip r:embed="rId7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own Arrow 6"/>
          <p:cNvSpPr/>
          <p:nvPr/>
        </p:nvSpPr>
        <p:spPr>
          <a:xfrm>
            <a:off x="4537371" y="3223660"/>
            <a:ext cx="484632" cy="618368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/>
          <p:cNvSpPr/>
          <p:nvPr/>
        </p:nvSpPr>
        <p:spPr>
          <a:xfrm>
            <a:off x="4537371" y="4655484"/>
            <a:ext cx="484632" cy="618368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641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142852"/>
            <a:ext cx="8433654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Do collision-resilient hash functions belong to </a:t>
            </a:r>
            <a:r>
              <a:rPr lang="en-US" dirty="0" err="1"/>
              <a:t>minicrypt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4714884"/>
            <a:ext cx="8001056" cy="20002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[D. Simon: Finding Collisions on a One-Way Street: Can Secure Hash Functions Be Based on General Assumptions? 1998]</a:t>
            </a:r>
            <a:r>
              <a:rPr lang="en-US" dirty="0"/>
              <a:t>:</a:t>
            </a:r>
            <a:endParaRPr lang="en-US" b="1" dirty="0">
              <a:solidFill>
                <a:srgbClr val="00B050"/>
              </a:solidFill>
            </a:endParaRPr>
          </a:p>
          <a:p>
            <a:pPr algn="r">
              <a:buNone/>
            </a:pPr>
            <a:r>
              <a:rPr lang="en-US" dirty="0"/>
              <a:t>there is no “black-box reduction”.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500298" y="1643050"/>
            <a:ext cx="3429024" cy="70788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sz="2000" dirty="0"/>
              <a:t>collision-resilient hash functions exist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2500298" y="3506932"/>
            <a:ext cx="3429024" cy="70788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buFontTx/>
              <a:buNone/>
            </a:pPr>
            <a:r>
              <a:rPr lang="en-US" sz="2000" dirty="0"/>
              <a:t>one-way functions</a:t>
            </a:r>
          </a:p>
          <a:p>
            <a:pPr marL="609600" indent="-609600" algn="ctr">
              <a:buFontTx/>
              <a:buNone/>
            </a:pPr>
            <a:r>
              <a:rPr lang="en-US" sz="2000" dirty="0"/>
              <a:t>exist</a:t>
            </a:r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 rot="5400000">
            <a:off x="3630017" y="2727909"/>
            <a:ext cx="769531" cy="457200"/>
          </a:xfrm>
          <a:prstGeom prst="rightArrow">
            <a:avLst>
              <a:gd name="adj1" fmla="val 50000"/>
              <a:gd name="adj2" fmla="val 75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sz="2000"/>
          </a:p>
        </p:txBody>
      </p:sp>
      <p:sp>
        <p:nvSpPr>
          <p:cNvPr id="12" name="AutoShape 8"/>
          <p:cNvSpPr>
            <a:spLocks noChangeArrowheads="1"/>
          </p:cNvSpPr>
          <p:nvPr/>
        </p:nvSpPr>
        <p:spPr bwMode="auto">
          <a:xfrm rot="16200000">
            <a:off x="4272958" y="2727910"/>
            <a:ext cx="769531" cy="4572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bg2">
              <a:lumMod val="90000"/>
            </a:schemeClr>
          </a:solidFill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 sz="2000"/>
          </a:p>
        </p:txBody>
      </p:sp>
      <p:sp>
        <p:nvSpPr>
          <p:cNvPr id="13" name="TextBox 12"/>
          <p:cNvSpPr txBox="1"/>
          <p:nvPr/>
        </p:nvSpPr>
        <p:spPr>
          <a:xfrm>
            <a:off x="4286248" y="2214554"/>
            <a:ext cx="7858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/>
              <a:t>?</a:t>
            </a:r>
          </a:p>
        </p:txBody>
      </p:sp>
      <p:sp>
        <p:nvSpPr>
          <p:cNvPr id="14" name="Rectangular Callout 13"/>
          <p:cNvSpPr/>
          <p:nvPr/>
        </p:nvSpPr>
        <p:spPr>
          <a:xfrm>
            <a:off x="5929322" y="2571744"/>
            <a:ext cx="2071702" cy="428628"/>
          </a:xfrm>
          <a:prstGeom prst="wedgeRectCallout">
            <a:avLst>
              <a:gd name="adj1" fmla="val -103790"/>
              <a:gd name="adj2" fmla="val 8978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open problem</a:t>
            </a:r>
          </a:p>
        </p:txBody>
      </p:sp>
      <p:sp>
        <p:nvSpPr>
          <p:cNvPr id="15" name="Pentagon 14"/>
          <p:cNvSpPr/>
          <p:nvPr/>
        </p:nvSpPr>
        <p:spPr>
          <a:xfrm>
            <a:off x="571472" y="2643182"/>
            <a:ext cx="2643206" cy="642942"/>
          </a:xfrm>
          <a:prstGeom prst="homePlat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easy exercise</a:t>
            </a:r>
          </a:p>
        </p:txBody>
      </p:sp>
    </p:spTree>
    <p:extLst>
      <p:ext uri="{BB962C8B-B14F-4D97-AF65-F5344CB8AC3E}">
        <p14:creationId xmlns:p14="http://schemas.microsoft.com/office/powerpoint/2010/main" val="3949036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 animBg="1"/>
      <p:bldP spid="13" grpId="0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0148" y="1642219"/>
            <a:ext cx="6929486" cy="368776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Introduction and definitions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Hash function design paradigms</a:t>
            </a:r>
          </a:p>
          <a:p>
            <a:pPr marL="971550" lvl="1" indent="-514350">
              <a:buFont typeface="+mj-lt"/>
              <a:buAutoNum type="arabicPeriod"/>
            </a:pPr>
            <a:r>
              <a:rPr lang="it-IT" dirty="0"/>
              <a:t>Merkle-Damg</a:t>
            </a:r>
            <a:r>
              <a:rPr lang="en-US" dirty="0">
                <a:cs typeface="Arial" pitchFamily="34" charset="0"/>
              </a:rPr>
              <a:t>å</a:t>
            </a:r>
            <a:r>
              <a:rPr lang="it-IT" dirty="0"/>
              <a:t>rd transform</a:t>
            </a:r>
          </a:p>
          <a:p>
            <a:pPr marL="971550" lvl="1" indent="-514350">
              <a:buFont typeface="+mj-lt"/>
              <a:buAutoNum type="arabicPeriod"/>
            </a:pPr>
            <a:r>
              <a:rPr lang="it-IT" dirty="0"/>
              <a:t>Sponge construction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Other </a:t>
            </a:r>
            <a:r>
              <a:rPr lang="pl-PL" dirty="0"/>
              <a:t>uses of hash functions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Real-life constructions</a:t>
            </a:r>
            <a:endParaRPr lang="it-IT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764729" y="2425789"/>
            <a:ext cx="1214446" cy="71438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296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it-IT" sz="4000"/>
              <a:t>A common method for constructing hash functions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628775"/>
            <a:ext cx="8458200" cy="5562600"/>
          </a:xfrm>
        </p:spPr>
        <p:txBody>
          <a:bodyPr/>
          <a:lstStyle/>
          <a:p>
            <a:pPr marL="609600" indent="-609600">
              <a:buFontTx/>
              <a:buAutoNum type="arabicPeriod"/>
            </a:pPr>
            <a:r>
              <a:rPr lang="en-US" sz="2400" dirty="0"/>
              <a:t>Construct a “</a:t>
            </a:r>
            <a:r>
              <a:rPr lang="en-US" sz="2400" b="1" i="1" dirty="0"/>
              <a:t>fixed-input-length</a:t>
            </a:r>
            <a:r>
              <a:rPr lang="en-US" sz="2400" dirty="0"/>
              <a:t>” collision-resistant hash function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Call it: a collision-resistant </a:t>
            </a:r>
            <a:r>
              <a:rPr lang="en-US" sz="2400" b="1" dirty="0">
                <a:solidFill>
                  <a:srgbClr val="0070C0"/>
                </a:solidFill>
              </a:rPr>
              <a:t>compression function</a:t>
            </a:r>
            <a:r>
              <a:rPr lang="en-US" sz="2400" dirty="0"/>
              <a:t>.</a:t>
            </a:r>
          </a:p>
          <a:p>
            <a:pPr marL="609600" indent="-609600">
              <a:buFontTx/>
              <a:buAutoNum type="arabicPeriod"/>
            </a:pPr>
            <a:r>
              <a:rPr lang="en-US" sz="2400" dirty="0"/>
              <a:t>Use it to construct a hash function</a:t>
            </a:r>
            <a:r>
              <a:rPr lang="en-US" sz="2800" dirty="0"/>
              <a:t>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980" name="AutoShape 4"/>
              <p:cNvSpPr>
                <a:spLocks noChangeArrowheads="1"/>
              </p:cNvSpPr>
              <p:nvPr/>
            </p:nvSpPr>
            <p:spPr bwMode="auto">
              <a:xfrm rot="10800000">
                <a:off x="2516188" y="3276600"/>
                <a:ext cx="4648200" cy="944563"/>
              </a:xfrm>
              <a:custGeom>
                <a:avLst/>
                <a:gdLst>
                  <a:gd name="G0" fmla="+- 5739 0 0"/>
                  <a:gd name="G1" fmla="+- 21600 0 5739"/>
                  <a:gd name="G2" fmla="*/ 5739 1 2"/>
                  <a:gd name="G3" fmla="+- 21600 0 G2"/>
                  <a:gd name="G4" fmla="+/ 5739 21600 2"/>
                  <a:gd name="G5" fmla="+/ G1 0 2"/>
                  <a:gd name="G6" fmla="*/ 21600 21600 5739"/>
                  <a:gd name="G7" fmla="*/ G6 1 2"/>
                  <a:gd name="G8" fmla="+- 21600 0 G7"/>
                  <a:gd name="G9" fmla="*/ 21600 1 2"/>
                  <a:gd name="G10" fmla="+- 5739 0 G9"/>
                  <a:gd name="G11" fmla="?: G10 G8 0"/>
                  <a:gd name="G12" fmla="?: G10 G7 21600"/>
                  <a:gd name="T0" fmla="*/ 18730 w 21600"/>
                  <a:gd name="T1" fmla="*/ 10800 h 21600"/>
                  <a:gd name="T2" fmla="*/ 10800 w 21600"/>
                  <a:gd name="T3" fmla="*/ 21600 h 21600"/>
                  <a:gd name="T4" fmla="*/ 2870 w 21600"/>
                  <a:gd name="T5" fmla="*/ 10800 h 21600"/>
                  <a:gd name="T6" fmla="*/ 10800 w 21600"/>
                  <a:gd name="T7" fmla="*/ 0 h 21600"/>
                  <a:gd name="T8" fmla="*/ 4670 w 21600"/>
                  <a:gd name="T9" fmla="*/ 4670 h 21600"/>
                  <a:gd name="T10" fmla="*/ 16930 w 21600"/>
                  <a:gd name="T11" fmla="*/ 1693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739" y="21600"/>
                    </a:lnTo>
                    <a:lnTo>
                      <a:pt x="15861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10800000"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it-IT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it-IT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sup>
                      </m:sSup>
                      <m:r>
                        <a:rPr lang="it-IT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→ {</m:t>
                      </m:r>
                      <m:r>
                        <a:rPr lang="it-IT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𝟎</m:t>
                      </m:r>
                      <m:r>
                        <a:rPr lang="it-IT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,</m:t>
                      </m:r>
                      <m:r>
                        <a:rPr lang="it-IT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𝟏</m:t>
                      </m:r>
                      <m:r>
                        <a:rPr lang="it-IT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}</m:t>
                      </m:r>
                      <m:r>
                        <a:rPr lang="it-IT" sz="2400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𝑳</m:t>
                      </m:r>
                    </m:oMath>
                  </m:oMathPara>
                </a14:m>
                <a:endParaRPr lang="it-IT" sz="2400" b="1" baseline="30000" dirty="0">
                  <a:solidFill>
                    <a:srgbClr val="FF0000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26980" name="AutoShap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10800000">
                <a:off x="2516188" y="3276600"/>
                <a:ext cx="4648200" cy="944563"/>
              </a:xfrm>
              <a:custGeom>
                <a:avLst/>
                <a:gdLst>
                  <a:gd name="G0" fmla="+- 5739 0 0"/>
                  <a:gd name="G1" fmla="+- 21600 0 5739"/>
                  <a:gd name="G2" fmla="*/ 5739 1 2"/>
                  <a:gd name="G3" fmla="+- 21600 0 G2"/>
                  <a:gd name="G4" fmla="+/ 5739 21600 2"/>
                  <a:gd name="G5" fmla="+/ G1 0 2"/>
                  <a:gd name="G6" fmla="*/ 21600 21600 5739"/>
                  <a:gd name="G7" fmla="*/ G6 1 2"/>
                  <a:gd name="G8" fmla="+- 21600 0 G7"/>
                  <a:gd name="G9" fmla="*/ 21600 1 2"/>
                  <a:gd name="G10" fmla="+- 5739 0 G9"/>
                  <a:gd name="G11" fmla="?: G10 G8 0"/>
                  <a:gd name="G12" fmla="?: G10 G7 21600"/>
                  <a:gd name="T0" fmla="*/ 18730 w 21600"/>
                  <a:gd name="T1" fmla="*/ 10800 h 21600"/>
                  <a:gd name="T2" fmla="*/ 10800 w 21600"/>
                  <a:gd name="T3" fmla="*/ 21600 h 21600"/>
                  <a:gd name="T4" fmla="*/ 2870 w 21600"/>
                  <a:gd name="T5" fmla="*/ 10800 h 21600"/>
                  <a:gd name="T6" fmla="*/ 10800 w 21600"/>
                  <a:gd name="T7" fmla="*/ 0 h 21600"/>
                  <a:gd name="T8" fmla="*/ 4670 w 21600"/>
                  <a:gd name="T9" fmla="*/ 4670 h 21600"/>
                  <a:gd name="T10" fmla="*/ 16930 w 21600"/>
                  <a:gd name="T11" fmla="*/ 1693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739" y="21600"/>
                    </a:lnTo>
                    <a:lnTo>
                      <a:pt x="15861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981" name="Rectangle 5"/>
              <p:cNvSpPr>
                <a:spLocks noChangeArrowheads="1"/>
              </p:cNvSpPr>
              <p:nvPr/>
            </p:nvSpPr>
            <p:spPr bwMode="auto">
              <a:xfrm>
                <a:off x="3810000" y="2743200"/>
                <a:ext cx="2057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6981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0" y="2743200"/>
                <a:ext cx="2057400" cy="457200"/>
              </a:xfrm>
              <a:prstGeom prst="rect">
                <a:avLst/>
              </a:prstGeom>
              <a:blipFill rotWithShape="0">
                <a:blip r:embed="rId4"/>
                <a:stretch>
                  <a:fillRect b="-779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982" name="Rectangle 6"/>
              <p:cNvSpPr>
                <a:spLocks noChangeArrowheads="1"/>
              </p:cNvSpPr>
              <p:nvPr/>
            </p:nvSpPr>
            <p:spPr bwMode="auto">
              <a:xfrm>
                <a:off x="2514600" y="4292600"/>
                <a:ext cx="46482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it-IT" sz="2000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6982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600" y="4292600"/>
                <a:ext cx="4648200" cy="45720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983" name="Line 7"/>
          <p:cNvSpPr>
            <a:spLocks noChangeShapeType="1"/>
          </p:cNvSpPr>
          <p:nvPr/>
        </p:nvSpPr>
        <p:spPr bwMode="auto">
          <a:xfrm flipH="1">
            <a:off x="3810000" y="2514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6984" name="Line 8"/>
          <p:cNvSpPr>
            <a:spLocks noChangeShapeType="1"/>
          </p:cNvSpPr>
          <p:nvPr/>
        </p:nvSpPr>
        <p:spPr bwMode="auto">
          <a:xfrm>
            <a:off x="5257800" y="2514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6985" name="Line 9"/>
          <p:cNvSpPr>
            <a:spLocks noChangeShapeType="1"/>
          </p:cNvSpPr>
          <p:nvPr/>
        </p:nvSpPr>
        <p:spPr bwMode="auto">
          <a:xfrm>
            <a:off x="3810000" y="2438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6986" name="Line 10"/>
          <p:cNvSpPr>
            <a:spLocks noChangeShapeType="1"/>
          </p:cNvSpPr>
          <p:nvPr/>
        </p:nvSpPr>
        <p:spPr bwMode="auto">
          <a:xfrm>
            <a:off x="5867400" y="2438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987" name="Text Box 11"/>
              <p:cNvSpPr txBox="1">
                <a:spLocks noChangeArrowheads="1"/>
              </p:cNvSpPr>
              <p:nvPr/>
            </p:nvSpPr>
            <p:spPr bwMode="auto">
              <a:xfrm>
                <a:off x="4643438" y="2276475"/>
                <a:ext cx="36580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6987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3438" y="2276475"/>
                <a:ext cx="365806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988" name="Line 12"/>
          <p:cNvSpPr>
            <a:spLocks noChangeShapeType="1"/>
          </p:cNvSpPr>
          <p:nvPr/>
        </p:nvSpPr>
        <p:spPr bwMode="auto">
          <a:xfrm flipH="1">
            <a:off x="2514600" y="50546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6989" name="Line 13"/>
          <p:cNvSpPr>
            <a:spLocks noChangeShapeType="1"/>
          </p:cNvSpPr>
          <p:nvPr/>
        </p:nvSpPr>
        <p:spPr bwMode="auto">
          <a:xfrm>
            <a:off x="5486400" y="50546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6990" name="Line 14"/>
          <p:cNvSpPr>
            <a:spLocks noChangeShapeType="1"/>
          </p:cNvSpPr>
          <p:nvPr/>
        </p:nvSpPr>
        <p:spPr bwMode="auto">
          <a:xfrm>
            <a:off x="2514600" y="4978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6991" name="Line 15"/>
          <p:cNvSpPr>
            <a:spLocks noChangeShapeType="1"/>
          </p:cNvSpPr>
          <p:nvPr/>
        </p:nvSpPr>
        <p:spPr bwMode="auto">
          <a:xfrm>
            <a:off x="7162800" y="4978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992" name="Text Box 16"/>
              <p:cNvSpPr txBox="1">
                <a:spLocks noChangeArrowheads="1"/>
              </p:cNvSpPr>
              <p:nvPr/>
            </p:nvSpPr>
            <p:spPr bwMode="auto">
              <a:xfrm>
                <a:off x="4643438" y="4873625"/>
                <a:ext cx="671979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·</m:t>
                      </m:r>
                      <m:r>
                        <a:rPr lang="it-IT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6992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3438" y="4873625"/>
                <a:ext cx="671979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83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0" grpId="0" animBg="1"/>
      <p:bldP spid="126981" grpId="0" animBg="1"/>
      <p:bldP spid="126982" grpId="0" animBg="1"/>
      <p:bldP spid="126983" grpId="0" animBg="1"/>
      <p:bldP spid="126984" grpId="0" animBg="1"/>
      <p:bldP spid="126985" grpId="0" animBg="1"/>
      <p:bldP spid="126986" grpId="0" animBg="1"/>
      <p:bldP spid="126987" grpId="0"/>
      <p:bldP spid="126988" grpId="0" animBg="1"/>
      <p:bldP spid="126989" grpId="0" animBg="1"/>
      <p:bldP spid="126990" grpId="0" animBg="1"/>
      <p:bldP spid="126991" grpId="0" animBg="1"/>
      <p:bldP spid="12699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15888"/>
            <a:ext cx="7772400" cy="1143000"/>
          </a:xfrm>
        </p:spPr>
        <p:txBody>
          <a:bodyPr/>
          <a:lstStyle/>
          <a:p>
            <a:r>
              <a:rPr lang="en-GB"/>
              <a:t>An idea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412" name="Rectangle 4"/>
              <p:cNvSpPr>
                <a:spLocks noChangeArrowheads="1"/>
              </p:cNvSpPr>
              <p:nvPr/>
            </p:nvSpPr>
            <p:spPr bwMode="auto">
              <a:xfrm>
                <a:off x="1116013" y="1484313"/>
                <a:ext cx="51816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it-IT" sz="2000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5412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6013" y="1484313"/>
                <a:ext cx="5181600" cy="4572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142976" y="2714620"/>
            <a:ext cx="914400" cy="2532807"/>
            <a:chOff x="1104" y="1728"/>
            <a:chExt cx="912" cy="1174"/>
          </a:xfrm>
        </p:grpSpPr>
        <p:sp>
          <p:nvSpPr>
            <p:cNvPr id="145414" name="Freeform 6"/>
            <p:cNvSpPr>
              <a:spLocks/>
            </p:cNvSpPr>
            <p:nvPr/>
          </p:nvSpPr>
          <p:spPr bwMode="auto">
            <a:xfrm>
              <a:off x="1104" y="1728"/>
              <a:ext cx="912" cy="1174"/>
            </a:xfrm>
            <a:custGeom>
              <a:avLst/>
              <a:gdLst/>
              <a:ahLst/>
              <a:cxnLst>
                <a:cxn ang="0">
                  <a:pos x="0" y="1200"/>
                </a:cxn>
                <a:cxn ang="0">
                  <a:pos x="912" y="1200"/>
                </a:cxn>
                <a:cxn ang="0">
                  <a:pos x="912" y="624"/>
                </a:cxn>
                <a:cxn ang="0">
                  <a:pos x="0" y="0"/>
                </a:cxn>
                <a:cxn ang="0">
                  <a:pos x="0" y="1200"/>
                </a:cxn>
              </a:cxnLst>
              <a:rect l="0" t="0" r="r" b="b"/>
              <a:pathLst>
                <a:path w="912" h="1200">
                  <a:moveTo>
                    <a:pt x="0" y="1200"/>
                  </a:moveTo>
                  <a:lnTo>
                    <a:pt x="912" y="1200"/>
                  </a:lnTo>
                  <a:lnTo>
                    <a:pt x="912" y="624"/>
                  </a:lnTo>
                  <a:lnTo>
                    <a:pt x="0" y="0"/>
                  </a:lnTo>
                  <a:lnTo>
                    <a:pt x="0" y="1200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415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1381" y="2364"/>
                  <a:ext cx="320" cy="243"/>
                </a:xfrm>
                <a:prstGeom prst="rect">
                  <a:avLst/>
                </a:prstGeom>
                <a:noFill/>
                <a:ln>
                  <a:noFill/>
                  <a:headEnd/>
                  <a:tailEnd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oMath>
                    </m:oMathPara>
                  </a14:m>
                  <a:endParaRPr lang="it-IT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5415" name="Text 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81" y="2364"/>
                  <a:ext cx="320" cy="243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  <a:ln>
                  <a:noFill/>
                  <a:headEnd/>
                  <a:tailEnd/>
                </a:ln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2411413" y="2808288"/>
            <a:ext cx="890587" cy="2438400"/>
            <a:chOff x="1104" y="1728"/>
            <a:chExt cx="912" cy="1200"/>
          </a:xfrm>
        </p:grpSpPr>
        <p:sp>
          <p:nvSpPr>
            <p:cNvPr id="145417" name="Freeform 9"/>
            <p:cNvSpPr>
              <a:spLocks/>
            </p:cNvSpPr>
            <p:nvPr/>
          </p:nvSpPr>
          <p:spPr bwMode="auto">
            <a:xfrm>
              <a:off x="1104" y="1728"/>
              <a:ext cx="912" cy="1200"/>
            </a:xfrm>
            <a:custGeom>
              <a:avLst/>
              <a:gdLst/>
              <a:ahLst/>
              <a:cxnLst>
                <a:cxn ang="0">
                  <a:pos x="0" y="1200"/>
                </a:cxn>
                <a:cxn ang="0">
                  <a:pos x="912" y="1200"/>
                </a:cxn>
                <a:cxn ang="0">
                  <a:pos x="912" y="624"/>
                </a:cxn>
                <a:cxn ang="0">
                  <a:pos x="0" y="0"/>
                </a:cxn>
                <a:cxn ang="0">
                  <a:pos x="0" y="1200"/>
                </a:cxn>
              </a:cxnLst>
              <a:rect l="0" t="0" r="r" b="b"/>
              <a:pathLst>
                <a:path w="912" h="1200">
                  <a:moveTo>
                    <a:pt x="0" y="1200"/>
                  </a:moveTo>
                  <a:lnTo>
                    <a:pt x="912" y="1200"/>
                  </a:lnTo>
                  <a:lnTo>
                    <a:pt x="912" y="624"/>
                  </a:lnTo>
                  <a:lnTo>
                    <a:pt x="0" y="0"/>
                  </a:lnTo>
                  <a:lnTo>
                    <a:pt x="0" y="1200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418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1352" y="2356"/>
                  <a:ext cx="503" cy="257"/>
                </a:xfrm>
                <a:prstGeom prst="rect">
                  <a:avLst/>
                </a:prstGeom>
                <a:noFill/>
                <a:ln>
                  <a:noFill/>
                  <a:headEnd/>
                  <a:tailEnd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oMath>
                    </m:oMathPara>
                  </a14:m>
                  <a:endParaRPr lang="it-IT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5418" name="Text 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52" y="2356"/>
                  <a:ext cx="503" cy="257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  <a:ln>
                  <a:noFill/>
                  <a:headEnd/>
                  <a:tailEnd/>
                </a:ln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5422" name="Rectangle 14"/>
              <p:cNvSpPr>
                <a:spLocks noChangeArrowheads="1"/>
              </p:cNvSpPr>
              <p:nvPr/>
            </p:nvSpPr>
            <p:spPr bwMode="auto">
              <a:xfrm>
                <a:off x="1116013" y="2046288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5422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6013" y="2046288"/>
                <a:ext cx="1295400" cy="45720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5535613" y="2808288"/>
            <a:ext cx="914400" cy="2438400"/>
            <a:chOff x="1104" y="1728"/>
            <a:chExt cx="912" cy="1200"/>
          </a:xfrm>
        </p:grpSpPr>
        <p:sp>
          <p:nvSpPr>
            <p:cNvPr id="145424" name="Freeform 16"/>
            <p:cNvSpPr>
              <a:spLocks/>
            </p:cNvSpPr>
            <p:nvPr/>
          </p:nvSpPr>
          <p:spPr bwMode="auto">
            <a:xfrm>
              <a:off x="1104" y="1728"/>
              <a:ext cx="912" cy="1200"/>
            </a:xfrm>
            <a:custGeom>
              <a:avLst/>
              <a:gdLst/>
              <a:ahLst/>
              <a:cxnLst>
                <a:cxn ang="0">
                  <a:pos x="0" y="1200"/>
                </a:cxn>
                <a:cxn ang="0">
                  <a:pos x="912" y="1200"/>
                </a:cxn>
                <a:cxn ang="0">
                  <a:pos x="912" y="624"/>
                </a:cxn>
                <a:cxn ang="0">
                  <a:pos x="0" y="0"/>
                </a:cxn>
                <a:cxn ang="0">
                  <a:pos x="0" y="1200"/>
                </a:cxn>
              </a:cxnLst>
              <a:rect l="0" t="0" r="r" b="b"/>
              <a:pathLst>
                <a:path w="912" h="1200">
                  <a:moveTo>
                    <a:pt x="0" y="1200"/>
                  </a:moveTo>
                  <a:lnTo>
                    <a:pt x="912" y="1200"/>
                  </a:lnTo>
                  <a:lnTo>
                    <a:pt x="912" y="624"/>
                  </a:lnTo>
                  <a:lnTo>
                    <a:pt x="0" y="0"/>
                  </a:lnTo>
                  <a:lnTo>
                    <a:pt x="0" y="1200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425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1377" y="2358"/>
                  <a:ext cx="343" cy="255"/>
                </a:xfrm>
                <a:prstGeom prst="rect">
                  <a:avLst/>
                </a:prstGeom>
                <a:noFill/>
                <a:ln>
                  <a:noFill/>
                  <a:headEnd/>
                  <a:tailEnd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oMath>
                    </m:oMathPara>
                  </a14:m>
                  <a:endParaRPr lang="it-IT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5425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77" y="2358"/>
                  <a:ext cx="343" cy="255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  <a:ln>
                  <a:noFill/>
                  <a:headEnd/>
                  <a:tailEnd/>
                </a:ln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5426" name="Rectangle 18"/>
              <p:cNvSpPr>
                <a:spLocks noChangeArrowheads="1"/>
              </p:cNvSpPr>
              <p:nvPr/>
            </p:nvSpPr>
            <p:spPr bwMode="auto">
              <a:xfrm>
                <a:off x="2411413" y="2046288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5426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1413" y="2046288"/>
                <a:ext cx="1295400" cy="45720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427" name="Rectangle 19"/>
              <p:cNvSpPr>
                <a:spLocks noChangeArrowheads="1"/>
              </p:cNvSpPr>
              <p:nvPr/>
            </p:nvSpPr>
            <p:spPr bwMode="auto">
              <a:xfrm>
                <a:off x="5535613" y="2046288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5427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35613" y="2046288"/>
                <a:ext cx="1295400" cy="45720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429" name="AutoShape 21"/>
          <p:cNvSpPr>
            <a:spLocks noChangeArrowheads="1"/>
          </p:cNvSpPr>
          <p:nvPr/>
        </p:nvSpPr>
        <p:spPr bwMode="auto">
          <a:xfrm>
            <a:off x="2055865" y="4484688"/>
            <a:ext cx="381000" cy="4572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5430" name="AutoShape 22"/>
          <p:cNvSpPr>
            <a:spLocks noChangeArrowheads="1"/>
          </p:cNvSpPr>
          <p:nvPr/>
        </p:nvSpPr>
        <p:spPr bwMode="auto">
          <a:xfrm>
            <a:off x="3302000" y="4506913"/>
            <a:ext cx="381000" cy="4572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5431" name="AutoShape 23"/>
          <p:cNvSpPr>
            <a:spLocks noChangeArrowheads="1"/>
          </p:cNvSpPr>
          <p:nvPr/>
        </p:nvSpPr>
        <p:spPr bwMode="auto">
          <a:xfrm>
            <a:off x="5154613" y="4484688"/>
            <a:ext cx="381000" cy="4572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5432" name="AutoShape 24"/>
          <p:cNvSpPr>
            <a:spLocks noChangeArrowheads="1"/>
          </p:cNvSpPr>
          <p:nvPr/>
        </p:nvSpPr>
        <p:spPr bwMode="auto">
          <a:xfrm>
            <a:off x="6450013" y="4484688"/>
            <a:ext cx="381000" cy="4572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5433" name="AutoShape 25"/>
          <p:cNvSpPr>
            <a:spLocks noChangeArrowheads="1"/>
          </p:cNvSpPr>
          <p:nvPr/>
        </p:nvSpPr>
        <p:spPr bwMode="auto">
          <a:xfrm rot="5983297" flipV="1">
            <a:off x="255588" y="2309813"/>
            <a:ext cx="1601787" cy="1220787"/>
          </a:xfrm>
          <a:custGeom>
            <a:avLst/>
            <a:gdLst>
              <a:gd name="G0" fmla="+- -279987 0 0"/>
              <a:gd name="G1" fmla="+- -11796480 0 0"/>
              <a:gd name="G2" fmla="+- -279987 0 -11796480"/>
              <a:gd name="G3" fmla="+- 10800 0 0"/>
              <a:gd name="G4" fmla="+- 0 0 -279987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792 0 0"/>
              <a:gd name="G9" fmla="+- 0 0 -11796480"/>
              <a:gd name="G10" fmla="+- 8792 0 2700"/>
              <a:gd name="G11" fmla="cos G10 -279987"/>
              <a:gd name="G12" fmla="sin G10 -279987"/>
              <a:gd name="G13" fmla="cos 13500 -279987"/>
              <a:gd name="G14" fmla="sin 13500 -279987"/>
              <a:gd name="G15" fmla="+- G11 10800 0"/>
              <a:gd name="G16" fmla="+- G12 10800 0"/>
              <a:gd name="G17" fmla="+- G13 10800 0"/>
              <a:gd name="G18" fmla="+- G14 10800 0"/>
              <a:gd name="G19" fmla="*/ 8792 1 2"/>
              <a:gd name="G20" fmla="+- G19 5400 0"/>
              <a:gd name="G21" fmla="cos G20 -279987"/>
              <a:gd name="G22" fmla="sin G20 -279987"/>
              <a:gd name="G23" fmla="+- G21 10800 0"/>
              <a:gd name="G24" fmla="+- G12 G23 G22"/>
              <a:gd name="G25" fmla="+- G22 G23 G11"/>
              <a:gd name="G26" fmla="cos 10800 -279987"/>
              <a:gd name="G27" fmla="sin 10800 -279987"/>
              <a:gd name="G28" fmla="cos 8792 -279987"/>
              <a:gd name="G29" fmla="sin 8792 -279987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279987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792 G39"/>
              <a:gd name="G43" fmla="sin 8792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397 w 21600"/>
              <a:gd name="T5" fmla="*/ 7 h 21600"/>
              <a:gd name="T6" fmla="*/ 1004 w 21600"/>
              <a:gd name="T7" fmla="*/ 10800 h 21600"/>
              <a:gd name="T8" fmla="*/ 10472 w 21600"/>
              <a:gd name="T9" fmla="*/ 2014 h 21600"/>
              <a:gd name="T10" fmla="*/ 24262 w 21600"/>
              <a:gd name="T11" fmla="*/ 9794 h 21600"/>
              <a:gd name="T12" fmla="*/ 20844 w 21600"/>
              <a:gd name="T13" fmla="*/ 13763 h 21600"/>
              <a:gd name="T14" fmla="*/ 16875 w 21600"/>
              <a:gd name="T15" fmla="*/ 1034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9567" y="10145"/>
                </a:moveTo>
                <a:cubicBezTo>
                  <a:pt x="19224" y="5556"/>
                  <a:pt x="15401" y="2008"/>
                  <a:pt x="10800" y="2008"/>
                </a:cubicBezTo>
                <a:cubicBezTo>
                  <a:pt x="5944" y="2008"/>
                  <a:pt x="2008" y="5944"/>
                  <a:pt x="2008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452" y="0"/>
                  <a:pt x="21148" y="4358"/>
                  <a:pt x="21569" y="9995"/>
                </a:cubicBezTo>
                <a:lnTo>
                  <a:pt x="24262" y="9794"/>
                </a:lnTo>
                <a:lnTo>
                  <a:pt x="20844" y="13763"/>
                </a:lnTo>
                <a:lnTo>
                  <a:pt x="16875" y="10346"/>
                </a:lnTo>
                <a:lnTo>
                  <a:pt x="19567" y="10145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5434" name="AutoShape 26"/>
          <p:cNvSpPr>
            <a:spLocks noChangeArrowheads="1"/>
          </p:cNvSpPr>
          <p:nvPr/>
        </p:nvSpPr>
        <p:spPr bwMode="auto">
          <a:xfrm rot="5983297" flipV="1">
            <a:off x="1547813" y="2351088"/>
            <a:ext cx="1638300" cy="1257300"/>
          </a:xfrm>
          <a:custGeom>
            <a:avLst/>
            <a:gdLst>
              <a:gd name="G0" fmla="+- -279987 0 0"/>
              <a:gd name="G1" fmla="+- -11796480 0 0"/>
              <a:gd name="G2" fmla="+- -279987 0 -11796480"/>
              <a:gd name="G3" fmla="+- 10800 0 0"/>
              <a:gd name="G4" fmla="+- 0 0 -279987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792 0 0"/>
              <a:gd name="G9" fmla="+- 0 0 -11796480"/>
              <a:gd name="G10" fmla="+- 8792 0 2700"/>
              <a:gd name="G11" fmla="cos G10 -279987"/>
              <a:gd name="G12" fmla="sin G10 -279987"/>
              <a:gd name="G13" fmla="cos 13500 -279987"/>
              <a:gd name="G14" fmla="sin 13500 -279987"/>
              <a:gd name="G15" fmla="+- G11 10800 0"/>
              <a:gd name="G16" fmla="+- G12 10800 0"/>
              <a:gd name="G17" fmla="+- G13 10800 0"/>
              <a:gd name="G18" fmla="+- G14 10800 0"/>
              <a:gd name="G19" fmla="*/ 8792 1 2"/>
              <a:gd name="G20" fmla="+- G19 5400 0"/>
              <a:gd name="G21" fmla="cos G20 -279987"/>
              <a:gd name="G22" fmla="sin G20 -279987"/>
              <a:gd name="G23" fmla="+- G21 10800 0"/>
              <a:gd name="G24" fmla="+- G12 G23 G22"/>
              <a:gd name="G25" fmla="+- G22 G23 G11"/>
              <a:gd name="G26" fmla="cos 10800 -279987"/>
              <a:gd name="G27" fmla="sin 10800 -279987"/>
              <a:gd name="G28" fmla="cos 8792 -279987"/>
              <a:gd name="G29" fmla="sin 8792 -279987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279987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792 G39"/>
              <a:gd name="G43" fmla="sin 8792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397 w 21600"/>
              <a:gd name="T5" fmla="*/ 7 h 21600"/>
              <a:gd name="T6" fmla="*/ 1004 w 21600"/>
              <a:gd name="T7" fmla="*/ 10800 h 21600"/>
              <a:gd name="T8" fmla="*/ 10472 w 21600"/>
              <a:gd name="T9" fmla="*/ 2014 h 21600"/>
              <a:gd name="T10" fmla="*/ 24262 w 21600"/>
              <a:gd name="T11" fmla="*/ 9794 h 21600"/>
              <a:gd name="T12" fmla="*/ 20844 w 21600"/>
              <a:gd name="T13" fmla="*/ 13763 h 21600"/>
              <a:gd name="T14" fmla="*/ 16875 w 21600"/>
              <a:gd name="T15" fmla="*/ 1034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9567" y="10145"/>
                </a:moveTo>
                <a:cubicBezTo>
                  <a:pt x="19224" y="5556"/>
                  <a:pt x="15401" y="2008"/>
                  <a:pt x="10800" y="2008"/>
                </a:cubicBezTo>
                <a:cubicBezTo>
                  <a:pt x="5944" y="2008"/>
                  <a:pt x="2008" y="5944"/>
                  <a:pt x="2008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452" y="0"/>
                  <a:pt x="21148" y="4358"/>
                  <a:pt x="21569" y="9995"/>
                </a:cubicBezTo>
                <a:lnTo>
                  <a:pt x="24262" y="9794"/>
                </a:lnTo>
                <a:lnTo>
                  <a:pt x="20844" y="13763"/>
                </a:lnTo>
                <a:lnTo>
                  <a:pt x="16875" y="10346"/>
                </a:lnTo>
                <a:lnTo>
                  <a:pt x="19567" y="10145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5435" name="AutoShape 27"/>
          <p:cNvSpPr>
            <a:spLocks noChangeArrowheads="1"/>
          </p:cNvSpPr>
          <p:nvPr/>
        </p:nvSpPr>
        <p:spPr bwMode="auto">
          <a:xfrm rot="5983297" flipV="1">
            <a:off x="4675188" y="2309813"/>
            <a:ext cx="1600200" cy="1219200"/>
          </a:xfrm>
          <a:custGeom>
            <a:avLst/>
            <a:gdLst>
              <a:gd name="G0" fmla="+- -279987 0 0"/>
              <a:gd name="G1" fmla="+- -11796480 0 0"/>
              <a:gd name="G2" fmla="+- -279987 0 -11796480"/>
              <a:gd name="G3" fmla="+- 10800 0 0"/>
              <a:gd name="G4" fmla="+- 0 0 -279987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792 0 0"/>
              <a:gd name="G9" fmla="+- 0 0 -11796480"/>
              <a:gd name="G10" fmla="+- 8792 0 2700"/>
              <a:gd name="G11" fmla="cos G10 -279987"/>
              <a:gd name="G12" fmla="sin G10 -279987"/>
              <a:gd name="G13" fmla="cos 13500 -279987"/>
              <a:gd name="G14" fmla="sin 13500 -279987"/>
              <a:gd name="G15" fmla="+- G11 10800 0"/>
              <a:gd name="G16" fmla="+- G12 10800 0"/>
              <a:gd name="G17" fmla="+- G13 10800 0"/>
              <a:gd name="G18" fmla="+- G14 10800 0"/>
              <a:gd name="G19" fmla="*/ 8792 1 2"/>
              <a:gd name="G20" fmla="+- G19 5400 0"/>
              <a:gd name="G21" fmla="cos G20 -279987"/>
              <a:gd name="G22" fmla="sin G20 -279987"/>
              <a:gd name="G23" fmla="+- G21 10800 0"/>
              <a:gd name="G24" fmla="+- G12 G23 G22"/>
              <a:gd name="G25" fmla="+- G22 G23 G11"/>
              <a:gd name="G26" fmla="cos 10800 -279987"/>
              <a:gd name="G27" fmla="sin 10800 -279987"/>
              <a:gd name="G28" fmla="cos 8792 -279987"/>
              <a:gd name="G29" fmla="sin 8792 -279987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279987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792 G39"/>
              <a:gd name="G43" fmla="sin 8792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397 w 21600"/>
              <a:gd name="T5" fmla="*/ 7 h 21600"/>
              <a:gd name="T6" fmla="*/ 1004 w 21600"/>
              <a:gd name="T7" fmla="*/ 10800 h 21600"/>
              <a:gd name="T8" fmla="*/ 10472 w 21600"/>
              <a:gd name="T9" fmla="*/ 2014 h 21600"/>
              <a:gd name="T10" fmla="*/ 24262 w 21600"/>
              <a:gd name="T11" fmla="*/ 9794 h 21600"/>
              <a:gd name="T12" fmla="*/ 20844 w 21600"/>
              <a:gd name="T13" fmla="*/ 13763 h 21600"/>
              <a:gd name="T14" fmla="*/ 16875 w 21600"/>
              <a:gd name="T15" fmla="*/ 1034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9567" y="10145"/>
                </a:moveTo>
                <a:cubicBezTo>
                  <a:pt x="19224" y="5556"/>
                  <a:pt x="15401" y="2008"/>
                  <a:pt x="10800" y="2008"/>
                </a:cubicBezTo>
                <a:cubicBezTo>
                  <a:pt x="5944" y="2008"/>
                  <a:pt x="2008" y="5944"/>
                  <a:pt x="2008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452" y="0"/>
                  <a:pt x="21148" y="4358"/>
                  <a:pt x="21569" y="9995"/>
                </a:cubicBezTo>
                <a:lnTo>
                  <a:pt x="24262" y="9794"/>
                </a:lnTo>
                <a:lnTo>
                  <a:pt x="20844" y="13763"/>
                </a:lnTo>
                <a:lnTo>
                  <a:pt x="16875" y="10346"/>
                </a:lnTo>
                <a:lnTo>
                  <a:pt x="19567" y="10145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437" name="Rectangle 29"/>
              <p:cNvSpPr>
                <a:spLocks noChangeArrowheads="1"/>
              </p:cNvSpPr>
              <p:nvPr/>
            </p:nvSpPr>
            <p:spPr bwMode="auto">
              <a:xfrm>
                <a:off x="277813" y="4027488"/>
                <a:ext cx="457200" cy="1219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𝐈𝐕</m:t>
                      </m:r>
                    </m:oMath>
                  </m:oMathPara>
                </a14:m>
                <a:endParaRPr lang="it-IT" sz="2000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5437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813" y="4027488"/>
                <a:ext cx="457200" cy="1219200"/>
              </a:xfrm>
              <a:prstGeom prst="rect">
                <a:avLst/>
              </a:prstGeom>
              <a:blipFill rotWithShape="0">
                <a:blip r:embed="rId10"/>
                <a:stretch>
                  <a:fillRect l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438" name="AutoShape 30"/>
          <p:cNvSpPr>
            <a:spLocks noChangeArrowheads="1"/>
          </p:cNvSpPr>
          <p:nvPr/>
        </p:nvSpPr>
        <p:spPr bwMode="auto">
          <a:xfrm>
            <a:off x="735013" y="4484688"/>
            <a:ext cx="381000" cy="4572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439" name="Rectangle 31"/>
              <p:cNvSpPr>
                <a:spLocks noChangeArrowheads="1"/>
              </p:cNvSpPr>
              <p:nvPr/>
            </p:nvSpPr>
            <p:spPr bwMode="auto">
              <a:xfrm>
                <a:off x="6297613" y="1484313"/>
                <a:ext cx="533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𝟎𝟎𝟎𝟎</m:t>
                      </m:r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5439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97613" y="1484313"/>
                <a:ext cx="533400" cy="457200"/>
              </a:xfrm>
              <a:prstGeom prst="rect">
                <a:avLst/>
              </a:prstGeom>
              <a:blipFill rotWithShape="0">
                <a:blip r:embed="rId11"/>
                <a:stretch>
                  <a:fillRect l="-333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440" name="AutoShape 32"/>
          <p:cNvSpPr>
            <a:spLocks noChangeArrowheads="1"/>
          </p:cNvSpPr>
          <p:nvPr/>
        </p:nvSpPr>
        <p:spPr bwMode="auto">
          <a:xfrm>
            <a:off x="6659563" y="549275"/>
            <a:ext cx="1981200" cy="609600"/>
          </a:xfrm>
          <a:prstGeom prst="wedgeRectCallout">
            <a:avLst>
              <a:gd name="adj1" fmla="val -44231"/>
              <a:gd name="adj2" fmla="val 106509"/>
            </a:avLst>
          </a:prstGeom>
          <a:solidFill>
            <a:srgbClr val="EEF7F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sz="1800"/>
              <a:t>pad with zeroes</a:t>
            </a:r>
          </a:p>
          <a:p>
            <a:pPr algn="ctr"/>
            <a:r>
              <a:rPr lang="en-US" sz="1800"/>
              <a:t>if needed</a:t>
            </a:r>
          </a:p>
        </p:txBody>
      </p:sp>
      <p:sp>
        <p:nvSpPr>
          <p:cNvPr id="145441" name="Text Box 33"/>
          <p:cNvSpPr txBox="1">
            <a:spLocks noChangeArrowheads="1"/>
          </p:cNvSpPr>
          <p:nvPr/>
        </p:nvSpPr>
        <p:spPr bwMode="auto">
          <a:xfrm>
            <a:off x="4164013" y="3798888"/>
            <a:ext cx="604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it-IT" b="1"/>
              <a:t>. . .</a:t>
            </a:r>
          </a:p>
        </p:txBody>
      </p:sp>
      <p:sp>
        <p:nvSpPr>
          <p:cNvPr id="145442" name="Line 34"/>
          <p:cNvSpPr>
            <a:spLocks noChangeShapeType="1"/>
          </p:cNvSpPr>
          <p:nvPr/>
        </p:nvSpPr>
        <p:spPr bwMode="auto">
          <a:xfrm flipH="1">
            <a:off x="1192213" y="1255713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5443" name="Line 35"/>
          <p:cNvSpPr>
            <a:spLocks noChangeShapeType="1"/>
          </p:cNvSpPr>
          <p:nvPr/>
        </p:nvSpPr>
        <p:spPr bwMode="auto">
          <a:xfrm>
            <a:off x="3935413" y="1255713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5444" name="Line 36"/>
          <p:cNvSpPr>
            <a:spLocks noChangeShapeType="1"/>
          </p:cNvSpPr>
          <p:nvPr/>
        </p:nvSpPr>
        <p:spPr bwMode="auto">
          <a:xfrm>
            <a:off x="1192213" y="1179513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5445" name="Line 37"/>
          <p:cNvSpPr>
            <a:spLocks noChangeShapeType="1"/>
          </p:cNvSpPr>
          <p:nvPr/>
        </p:nvSpPr>
        <p:spPr bwMode="auto">
          <a:xfrm>
            <a:off x="6297613" y="1179513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446" name="Text Box 38"/>
              <p:cNvSpPr txBox="1">
                <a:spLocks noChangeArrowheads="1"/>
              </p:cNvSpPr>
              <p:nvPr/>
            </p:nvSpPr>
            <p:spPr bwMode="auto">
              <a:xfrm>
                <a:off x="3630613" y="1027113"/>
                <a:ext cx="33214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5446" name="Text 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0613" y="1027113"/>
                <a:ext cx="332142" cy="36933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447" name="Text Box 39"/>
              <p:cNvSpPr txBox="1">
                <a:spLocks noChangeArrowheads="1"/>
              </p:cNvSpPr>
              <p:nvPr/>
            </p:nvSpPr>
            <p:spPr bwMode="auto">
              <a:xfrm>
                <a:off x="2868613" y="2732088"/>
                <a:ext cx="1443023" cy="3633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{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𝟎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,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𝟏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}</m:t>
                      </m:r>
                      <m:r>
                        <a:rPr lang="en-US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𝑳</m:t>
                      </m:r>
                    </m:oMath>
                  </m:oMathPara>
                </a14:m>
                <a:endParaRPr lang="ru-RU" b="1" baseline="30000" dirty="0">
                  <a:solidFill>
                    <a:srgbClr val="FF0000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45447" name="Text 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68613" y="2732088"/>
                <a:ext cx="1443023" cy="363305"/>
              </a:xfrm>
              <a:prstGeom prst="rect">
                <a:avLst/>
              </a:prstGeom>
              <a:blipFill rotWithShape="0">
                <a:blip r:embed="rId13"/>
                <a:stretch>
                  <a:fillRect b="-183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449" name="Text Box 41"/>
              <p:cNvSpPr txBox="1">
                <a:spLocks noChangeArrowheads="1"/>
              </p:cNvSpPr>
              <p:nvPr/>
            </p:nvSpPr>
            <p:spPr bwMode="auto">
              <a:xfrm>
                <a:off x="6588125" y="4437063"/>
                <a:ext cx="121920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544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88125" y="4437063"/>
                <a:ext cx="1219200" cy="369332"/>
              </a:xfrm>
              <a:prstGeom prst="rect">
                <a:avLst/>
              </a:prstGeom>
              <a:blipFill rotWithShape="0">
                <a:blip r:embed="rId14"/>
                <a:stretch>
                  <a:fillRect b="-1500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450" name="AutoShape 42"/>
          <p:cNvSpPr>
            <a:spLocks noChangeArrowheads="1"/>
          </p:cNvSpPr>
          <p:nvPr/>
        </p:nvSpPr>
        <p:spPr bwMode="auto">
          <a:xfrm>
            <a:off x="493713" y="5503863"/>
            <a:ext cx="2232025" cy="446087"/>
          </a:xfrm>
          <a:prstGeom prst="wedgeRectCallout">
            <a:avLst>
              <a:gd name="adj1" fmla="val -52630"/>
              <a:gd name="adj2" fmla="val -113699"/>
            </a:avLst>
          </a:prstGeom>
          <a:solidFill>
            <a:srgbClr val="FDE9A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it-IT" sz="2000" b="1"/>
              <a:t>can be arbitrary</a:t>
            </a:r>
          </a:p>
        </p:txBody>
      </p:sp>
      <p:sp>
        <p:nvSpPr>
          <p:cNvPr id="145451" name="Text Box 43"/>
          <p:cNvSpPr txBox="1">
            <a:spLocks noChangeArrowheads="1"/>
          </p:cNvSpPr>
          <p:nvPr/>
        </p:nvSpPr>
        <p:spPr bwMode="auto">
          <a:xfrm>
            <a:off x="395288" y="6092825"/>
            <a:ext cx="2809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/>
              <a:t>This doesn’t work...</a:t>
            </a:r>
            <a:endParaRPr lang="en-US"/>
          </a:p>
        </p:txBody>
      </p:sp>
      <p:sp>
        <p:nvSpPr>
          <p:cNvPr id="145452" name="Text Box 44"/>
          <p:cNvSpPr txBox="1">
            <a:spLocks noChangeArrowheads="1"/>
          </p:cNvSpPr>
          <p:nvPr/>
        </p:nvSpPr>
        <p:spPr bwMode="auto">
          <a:xfrm>
            <a:off x="4356100" y="1989138"/>
            <a:ext cx="6048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it-IT" b="1"/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3019924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22" grpId="0" animBg="1"/>
      <p:bldP spid="145426" grpId="0" animBg="1"/>
      <p:bldP spid="145427" grpId="0" animBg="1"/>
      <p:bldP spid="145429" grpId="0" animBg="1"/>
      <p:bldP spid="145430" grpId="0" animBg="1"/>
      <p:bldP spid="145431" grpId="0" animBg="1"/>
      <p:bldP spid="145432" grpId="0" animBg="1"/>
      <p:bldP spid="145433" grpId="0" animBg="1"/>
      <p:bldP spid="145434" grpId="0" animBg="1"/>
      <p:bldP spid="145435" grpId="0" animBg="1"/>
      <p:bldP spid="145437" grpId="0" animBg="1"/>
      <p:bldP spid="145438" grpId="0" animBg="1"/>
      <p:bldP spid="145439" grpId="0" animBg="1"/>
      <p:bldP spid="145440" grpId="0" animBg="1"/>
      <p:bldP spid="145441" grpId="0"/>
      <p:bldP spid="145445" grpId="0" animBg="1"/>
      <p:bldP spid="145447" grpId="0"/>
      <p:bldP spid="145449" grpId="0"/>
      <p:bldP spid="145450" grpId="0" animBg="1"/>
      <p:bldP spid="145451" grpId="0"/>
      <p:bldP spid="14545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29" name="Rectangle 97"/>
          <p:cNvSpPr>
            <a:spLocks noChangeArrowheads="1"/>
          </p:cNvSpPr>
          <p:nvPr/>
        </p:nvSpPr>
        <p:spPr bwMode="auto">
          <a:xfrm>
            <a:off x="0" y="3863361"/>
            <a:ext cx="9144000" cy="3068637"/>
          </a:xfrm>
          <a:prstGeom prst="rect">
            <a:avLst/>
          </a:prstGeom>
          <a:solidFill>
            <a:srgbClr val="F4FAF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0"/>
            <a:ext cx="7772400" cy="1143000"/>
          </a:xfrm>
        </p:spPr>
        <p:txBody>
          <a:bodyPr/>
          <a:lstStyle/>
          <a:p>
            <a:r>
              <a:rPr lang="en-GB"/>
              <a:t>Why is it wrong?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504" name="Rectangle 72"/>
              <p:cNvSpPr>
                <a:spLocks noChangeArrowheads="1"/>
              </p:cNvSpPr>
              <p:nvPr/>
            </p:nvSpPr>
            <p:spPr bwMode="auto">
              <a:xfrm>
                <a:off x="1692275" y="1628775"/>
                <a:ext cx="51816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it-IT" sz="2000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6504" name="Rectangle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2275" y="1628775"/>
                <a:ext cx="5181600" cy="4572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505" name="Rectangle 73"/>
              <p:cNvSpPr>
                <a:spLocks noChangeArrowheads="1"/>
              </p:cNvSpPr>
              <p:nvPr/>
            </p:nvSpPr>
            <p:spPr bwMode="auto">
              <a:xfrm>
                <a:off x="1692275" y="2190750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6505" name="Rectangle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2275" y="2190750"/>
                <a:ext cx="1295400" cy="45720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506" name="Rectangle 74"/>
              <p:cNvSpPr>
                <a:spLocks noChangeArrowheads="1"/>
              </p:cNvSpPr>
              <p:nvPr/>
            </p:nvSpPr>
            <p:spPr bwMode="auto">
              <a:xfrm>
                <a:off x="2987675" y="2190750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6506" name="Rectangle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87675" y="2190750"/>
                <a:ext cx="1295400" cy="45720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507" name="Rectangle 75"/>
              <p:cNvSpPr>
                <a:spLocks noChangeArrowheads="1"/>
              </p:cNvSpPr>
              <p:nvPr/>
            </p:nvSpPr>
            <p:spPr bwMode="auto">
              <a:xfrm>
                <a:off x="6111875" y="2190750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6507" name="Rectangle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1875" y="2190750"/>
                <a:ext cx="1295400" cy="45720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508" name="Rectangle 76"/>
              <p:cNvSpPr>
                <a:spLocks noChangeArrowheads="1"/>
              </p:cNvSpPr>
              <p:nvPr/>
            </p:nvSpPr>
            <p:spPr bwMode="auto">
              <a:xfrm>
                <a:off x="6873875" y="1628775"/>
                <a:ext cx="533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𝟎𝟎𝟎𝟎</m:t>
                      </m:r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6508" name="Rectangle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73875" y="1628775"/>
                <a:ext cx="533400" cy="457200"/>
              </a:xfrm>
              <a:prstGeom prst="rect">
                <a:avLst/>
              </a:prstGeom>
              <a:blipFill rotWithShape="0">
                <a:blip r:embed="rId7"/>
                <a:stretch>
                  <a:fillRect l="-4494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6509" name="Line 77"/>
          <p:cNvSpPr>
            <a:spLocks noChangeShapeType="1"/>
          </p:cNvSpPr>
          <p:nvPr/>
        </p:nvSpPr>
        <p:spPr bwMode="auto">
          <a:xfrm flipH="1">
            <a:off x="1768475" y="1400175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6510" name="Line 78"/>
          <p:cNvSpPr>
            <a:spLocks noChangeShapeType="1"/>
          </p:cNvSpPr>
          <p:nvPr/>
        </p:nvSpPr>
        <p:spPr bwMode="auto">
          <a:xfrm>
            <a:off x="4641925" y="1400175"/>
            <a:ext cx="223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6511" name="Line 79"/>
          <p:cNvSpPr>
            <a:spLocks noChangeShapeType="1"/>
          </p:cNvSpPr>
          <p:nvPr/>
        </p:nvSpPr>
        <p:spPr bwMode="auto">
          <a:xfrm>
            <a:off x="1768475" y="13239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6512" name="Line 80"/>
          <p:cNvSpPr>
            <a:spLocks noChangeShapeType="1"/>
          </p:cNvSpPr>
          <p:nvPr/>
        </p:nvSpPr>
        <p:spPr bwMode="auto">
          <a:xfrm>
            <a:off x="6873875" y="13239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513" name="Text Box 81"/>
              <p:cNvSpPr txBox="1">
                <a:spLocks noChangeArrowheads="1"/>
              </p:cNvSpPr>
              <p:nvPr/>
            </p:nvSpPr>
            <p:spPr bwMode="auto">
              <a:xfrm>
                <a:off x="4206875" y="1171575"/>
                <a:ext cx="33214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6513" name="Text 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06875" y="1171575"/>
                <a:ext cx="332142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514" name="Text Box 82"/>
              <p:cNvSpPr txBox="1">
                <a:spLocks noChangeArrowheads="1"/>
              </p:cNvSpPr>
              <p:nvPr/>
            </p:nvSpPr>
            <p:spPr bwMode="auto">
              <a:xfrm>
                <a:off x="395288" y="3141663"/>
                <a:ext cx="8457559" cy="15696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GB" sz="2400" dirty="0"/>
                  <a:t>If we set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’=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|| 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𝟎𝟎𝟎𝟎</m:t>
                    </m:r>
                    <m:r>
                      <a:rPr lang="en-GB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/>
                  <a:t>then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’)=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.</a:t>
                </a:r>
              </a:p>
              <a:p>
                <a:endParaRPr lang="en-GB" sz="2400" dirty="0"/>
              </a:p>
              <a:p>
                <a:r>
                  <a:rPr lang="en-GB" sz="2400" b="1" dirty="0">
                    <a:solidFill>
                      <a:srgbClr val="0070C0"/>
                    </a:solidFill>
                  </a:rPr>
                  <a:t>Solution</a:t>
                </a:r>
                <a:r>
                  <a:rPr lang="en-GB" sz="2400" dirty="0"/>
                  <a:t>: </a:t>
                </a:r>
                <a:r>
                  <a:rPr lang="en-US" sz="2400" dirty="0"/>
                  <a:t>use some </a:t>
                </a:r>
                <a:r>
                  <a:rPr lang="en-US" sz="2400" b="1" dirty="0"/>
                  <a:t>prefix-free encoding</a:t>
                </a:r>
                <a:r>
                  <a:rPr lang="en-US" sz="2400" dirty="0"/>
                  <a:t>, e.g., </a:t>
                </a:r>
                <a:r>
                  <a:rPr lang="en-GB" sz="2400" dirty="0"/>
                  <a:t>add a block encoding “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GB" sz="2400" dirty="0"/>
                  <a:t>”.</a:t>
                </a:r>
                <a:endParaRPr lang="en-US" sz="2400" dirty="0"/>
              </a:p>
            </p:txBody>
          </p:sp>
        </mc:Choice>
        <mc:Fallback xmlns="">
          <p:sp>
            <p:nvSpPr>
              <p:cNvPr id="146514" name="Text 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288" y="3141663"/>
                <a:ext cx="8457559" cy="1569660"/>
              </a:xfrm>
              <a:prstGeom prst="rect">
                <a:avLst/>
              </a:prstGeom>
              <a:blipFill>
                <a:blip r:embed="rId9"/>
                <a:stretch>
                  <a:fillRect l="-1154" t="-3101" b="-775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515" name="Rectangle 83"/>
              <p:cNvSpPr>
                <a:spLocks noChangeArrowheads="1"/>
              </p:cNvSpPr>
              <p:nvPr/>
            </p:nvSpPr>
            <p:spPr bwMode="auto">
              <a:xfrm>
                <a:off x="1254339" y="5392264"/>
                <a:ext cx="51816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</m:oMath>
                  </m:oMathPara>
                </a14:m>
                <a:endParaRPr lang="it-IT" sz="2000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6515" name="Rectangle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4339" y="5392264"/>
                <a:ext cx="5181600" cy="457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516" name="Rectangle 84"/>
              <p:cNvSpPr>
                <a:spLocks noChangeArrowheads="1"/>
              </p:cNvSpPr>
              <p:nvPr/>
            </p:nvSpPr>
            <p:spPr bwMode="auto">
              <a:xfrm>
                <a:off x="1254339" y="5954239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6516" name="Rectangle 8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4339" y="5954239"/>
                <a:ext cx="1295400" cy="4572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517" name="Rectangle 85"/>
              <p:cNvSpPr>
                <a:spLocks noChangeArrowheads="1"/>
              </p:cNvSpPr>
              <p:nvPr/>
            </p:nvSpPr>
            <p:spPr bwMode="auto">
              <a:xfrm>
                <a:off x="2549739" y="5954239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2000" b="1" baseline="-25000" dirty="0">
                  <a:solidFill>
                    <a:srgbClr val="993300"/>
                  </a:solidFill>
                </a:endParaRPr>
              </a:p>
            </p:txBody>
          </p:sp>
        </mc:Choice>
        <mc:Fallback xmlns="">
          <p:sp>
            <p:nvSpPr>
              <p:cNvPr id="146517" name="Rectangle 8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9739" y="5954239"/>
                <a:ext cx="129540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518" name="Rectangle 86"/>
              <p:cNvSpPr>
                <a:spLocks noChangeArrowheads="1"/>
              </p:cNvSpPr>
              <p:nvPr/>
            </p:nvSpPr>
            <p:spPr bwMode="auto">
              <a:xfrm>
                <a:off x="5673939" y="5954239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  <m:sup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2000" b="1" baseline="-25000" dirty="0">
                  <a:solidFill>
                    <a:srgbClr val="993300"/>
                  </a:solidFill>
                </a:endParaRPr>
              </a:p>
            </p:txBody>
          </p:sp>
        </mc:Choice>
        <mc:Fallback xmlns="">
          <p:sp>
            <p:nvSpPr>
              <p:cNvPr id="146518" name="Rectangle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73939" y="5954239"/>
                <a:ext cx="129540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519" name="Rectangle 87"/>
              <p:cNvSpPr>
                <a:spLocks noChangeArrowheads="1"/>
              </p:cNvSpPr>
              <p:nvPr/>
            </p:nvSpPr>
            <p:spPr bwMode="auto">
              <a:xfrm>
                <a:off x="6435939" y="5392264"/>
                <a:ext cx="533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𝟎𝟎𝟎𝟎</m:t>
                      </m:r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6519" name="Rectangle 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35939" y="5392264"/>
                <a:ext cx="533400" cy="457200"/>
              </a:xfrm>
              <a:prstGeom prst="rect">
                <a:avLst/>
              </a:prstGeom>
              <a:blipFill>
                <a:blip r:embed="rId14"/>
                <a:stretch>
                  <a:fillRect l="-4494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6520" name="Line 88"/>
          <p:cNvSpPr>
            <a:spLocks noChangeShapeType="1"/>
          </p:cNvSpPr>
          <p:nvPr/>
        </p:nvSpPr>
        <p:spPr bwMode="auto">
          <a:xfrm flipH="1">
            <a:off x="1330539" y="5163664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6521" name="Line 89"/>
          <p:cNvSpPr>
            <a:spLocks noChangeShapeType="1"/>
          </p:cNvSpPr>
          <p:nvPr/>
        </p:nvSpPr>
        <p:spPr bwMode="auto">
          <a:xfrm>
            <a:off x="4202325" y="5163664"/>
            <a:ext cx="22336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6522" name="Line 90"/>
          <p:cNvSpPr>
            <a:spLocks noChangeShapeType="1"/>
          </p:cNvSpPr>
          <p:nvPr/>
        </p:nvSpPr>
        <p:spPr bwMode="auto">
          <a:xfrm>
            <a:off x="1330539" y="5087464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6523" name="Line 91"/>
          <p:cNvSpPr>
            <a:spLocks noChangeShapeType="1"/>
          </p:cNvSpPr>
          <p:nvPr/>
        </p:nvSpPr>
        <p:spPr bwMode="auto">
          <a:xfrm>
            <a:off x="6435939" y="5087464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524" name="Text Box 92"/>
              <p:cNvSpPr txBox="1">
                <a:spLocks noChangeArrowheads="1"/>
              </p:cNvSpPr>
              <p:nvPr/>
            </p:nvSpPr>
            <p:spPr bwMode="auto">
              <a:xfrm>
                <a:off x="3768939" y="4935064"/>
                <a:ext cx="33214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6524" name="Text 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68939" y="4935064"/>
                <a:ext cx="332142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525" name="Rectangle 93"/>
              <p:cNvSpPr>
                <a:spLocks noChangeArrowheads="1"/>
              </p:cNvSpPr>
              <p:nvPr/>
            </p:nvSpPr>
            <p:spPr bwMode="auto">
              <a:xfrm>
                <a:off x="7048392" y="5954239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6525" name="Rectangle 9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48392" y="5954239"/>
                <a:ext cx="1295400" cy="4572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6526" name="Text Box 94"/>
          <p:cNvSpPr txBox="1">
            <a:spLocks noChangeArrowheads="1"/>
          </p:cNvSpPr>
          <p:nvPr/>
        </p:nvSpPr>
        <p:spPr bwMode="auto">
          <a:xfrm>
            <a:off x="4427538" y="2133600"/>
            <a:ext cx="604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it-IT" b="1">
                <a:solidFill>
                  <a:srgbClr val="993300"/>
                </a:solidFill>
              </a:rPr>
              <a:t>. . .</a:t>
            </a:r>
          </a:p>
        </p:txBody>
      </p:sp>
      <p:sp>
        <p:nvSpPr>
          <p:cNvPr id="146527" name="Text Box 95"/>
          <p:cNvSpPr txBox="1">
            <a:spLocks noChangeArrowheads="1"/>
          </p:cNvSpPr>
          <p:nvPr/>
        </p:nvSpPr>
        <p:spPr bwMode="auto">
          <a:xfrm>
            <a:off x="3991189" y="5895501"/>
            <a:ext cx="604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it-IT" b="1">
                <a:solidFill>
                  <a:srgbClr val="993300"/>
                </a:solidFill>
              </a:rPr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3476631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529" grpId="0" animBg="1"/>
      <p:bldP spid="146515" grpId="0" animBg="1"/>
      <p:bldP spid="146516" grpId="0" animBg="1"/>
      <p:bldP spid="146517" grpId="0" animBg="1"/>
      <p:bldP spid="146518" grpId="0" animBg="1"/>
      <p:bldP spid="146519" grpId="0" animBg="1"/>
      <p:bldP spid="146520" grpId="0" animBg="1"/>
      <p:bldP spid="146521" grpId="0" animBg="1"/>
      <p:bldP spid="146522" grpId="0" animBg="1"/>
      <p:bldP spid="146523" grpId="0" animBg="1"/>
      <p:bldP spid="146524" grpId="0"/>
      <p:bldP spid="146525" grpId="0" animBg="1"/>
      <p:bldP spid="14652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76200"/>
            <a:ext cx="7772400" cy="1143000"/>
          </a:xfrm>
        </p:spPr>
        <p:txBody>
          <a:bodyPr/>
          <a:lstStyle/>
          <a:p>
            <a:r>
              <a:rPr lang="it-IT" dirty="0"/>
              <a:t>Merkle-Damg</a:t>
            </a:r>
            <a:r>
              <a:rPr lang="en-US" dirty="0">
                <a:cs typeface="Arial" pitchFamily="34" charset="0"/>
              </a:rPr>
              <a:t>å</a:t>
            </a:r>
            <a:r>
              <a:rPr lang="it-IT" dirty="0"/>
              <a:t>rd 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766" name="Rectangle 6"/>
              <p:cNvSpPr>
                <a:spLocks noChangeArrowheads="1"/>
              </p:cNvSpPr>
              <p:nvPr/>
            </p:nvSpPr>
            <p:spPr bwMode="auto">
              <a:xfrm>
                <a:off x="1017588" y="2362200"/>
                <a:ext cx="51816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it-IT" sz="2000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7766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7588" y="2362200"/>
                <a:ext cx="5181600" cy="4572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017588" y="3686175"/>
            <a:ext cx="914400" cy="2438400"/>
            <a:chOff x="1104" y="1728"/>
            <a:chExt cx="912" cy="1200"/>
          </a:xfrm>
        </p:grpSpPr>
        <p:sp>
          <p:nvSpPr>
            <p:cNvPr id="117773" name="Freeform 13"/>
            <p:cNvSpPr>
              <a:spLocks/>
            </p:cNvSpPr>
            <p:nvPr/>
          </p:nvSpPr>
          <p:spPr bwMode="auto">
            <a:xfrm>
              <a:off x="1104" y="1728"/>
              <a:ext cx="912" cy="1200"/>
            </a:xfrm>
            <a:custGeom>
              <a:avLst/>
              <a:gdLst/>
              <a:ahLst/>
              <a:cxnLst>
                <a:cxn ang="0">
                  <a:pos x="0" y="1200"/>
                </a:cxn>
                <a:cxn ang="0">
                  <a:pos x="912" y="1200"/>
                </a:cxn>
                <a:cxn ang="0">
                  <a:pos x="912" y="624"/>
                </a:cxn>
                <a:cxn ang="0">
                  <a:pos x="0" y="0"/>
                </a:cxn>
                <a:cxn ang="0">
                  <a:pos x="0" y="1200"/>
                </a:cxn>
              </a:cxnLst>
              <a:rect l="0" t="0" r="r" b="b"/>
              <a:pathLst>
                <a:path w="912" h="1200">
                  <a:moveTo>
                    <a:pt x="0" y="1200"/>
                  </a:moveTo>
                  <a:lnTo>
                    <a:pt x="912" y="1200"/>
                  </a:lnTo>
                  <a:lnTo>
                    <a:pt x="912" y="624"/>
                  </a:lnTo>
                  <a:lnTo>
                    <a:pt x="0" y="0"/>
                  </a:lnTo>
                  <a:lnTo>
                    <a:pt x="0" y="1200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774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1419" y="2368"/>
                  <a:ext cx="320" cy="255"/>
                </a:xfrm>
                <a:prstGeom prst="rect">
                  <a:avLst/>
                </a:prstGeom>
                <a:noFill/>
                <a:ln>
                  <a:noFill/>
                  <a:headEnd/>
                  <a:tailEnd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oMath>
                    </m:oMathPara>
                  </a14:m>
                  <a:endParaRPr lang="it-IT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7774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19" y="2368"/>
                  <a:ext cx="320" cy="25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  <a:ln>
                  <a:noFill/>
                  <a:headEnd/>
                  <a:tailEnd/>
                </a:ln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2308105" y="3686175"/>
            <a:ext cx="890587" cy="2438400"/>
            <a:chOff x="1099" y="1728"/>
            <a:chExt cx="912" cy="1200"/>
          </a:xfrm>
        </p:grpSpPr>
        <p:sp>
          <p:nvSpPr>
            <p:cNvPr id="117779" name="Freeform 19"/>
            <p:cNvSpPr>
              <a:spLocks/>
            </p:cNvSpPr>
            <p:nvPr/>
          </p:nvSpPr>
          <p:spPr bwMode="auto">
            <a:xfrm>
              <a:off x="1099" y="1728"/>
              <a:ext cx="912" cy="1200"/>
            </a:xfrm>
            <a:custGeom>
              <a:avLst/>
              <a:gdLst/>
              <a:ahLst/>
              <a:cxnLst>
                <a:cxn ang="0">
                  <a:pos x="0" y="1200"/>
                </a:cxn>
                <a:cxn ang="0">
                  <a:pos x="912" y="1200"/>
                </a:cxn>
                <a:cxn ang="0">
                  <a:pos x="912" y="624"/>
                </a:cxn>
                <a:cxn ang="0">
                  <a:pos x="0" y="0"/>
                </a:cxn>
                <a:cxn ang="0">
                  <a:pos x="0" y="1200"/>
                </a:cxn>
              </a:cxnLst>
              <a:rect l="0" t="0" r="r" b="b"/>
              <a:pathLst>
                <a:path w="912" h="1200">
                  <a:moveTo>
                    <a:pt x="0" y="1200"/>
                  </a:moveTo>
                  <a:lnTo>
                    <a:pt x="912" y="1200"/>
                  </a:lnTo>
                  <a:lnTo>
                    <a:pt x="912" y="624"/>
                  </a:lnTo>
                  <a:lnTo>
                    <a:pt x="0" y="0"/>
                  </a:lnTo>
                  <a:lnTo>
                    <a:pt x="0" y="1200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780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1339" y="2368"/>
                  <a:ext cx="503" cy="257"/>
                </a:xfrm>
                <a:prstGeom prst="rect">
                  <a:avLst/>
                </a:prstGeom>
                <a:noFill/>
                <a:ln>
                  <a:noFill/>
                  <a:headEnd/>
                  <a:tailEnd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oMath>
                    </m:oMathPara>
                  </a14:m>
                  <a:endParaRPr lang="it-IT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7780" name="Text 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39" y="2368"/>
                  <a:ext cx="503" cy="257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  <a:ln>
                  <a:noFill/>
                  <a:headEnd/>
                  <a:tailEnd/>
                </a:ln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6732588" y="3686175"/>
            <a:ext cx="914400" cy="2438400"/>
            <a:chOff x="1104" y="1728"/>
            <a:chExt cx="912" cy="1200"/>
          </a:xfrm>
        </p:grpSpPr>
        <p:sp>
          <p:nvSpPr>
            <p:cNvPr id="117785" name="Freeform 25"/>
            <p:cNvSpPr>
              <a:spLocks/>
            </p:cNvSpPr>
            <p:nvPr/>
          </p:nvSpPr>
          <p:spPr bwMode="auto">
            <a:xfrm>
              <a:off x="1104" y="1728"/>
              <a:ext cx="912" cy="1200"/>
            </a:xfrm>
            <a:custGeom>
              <a:avLst/>
              <a:gdLst/>
              <a:ahLst/>
              <a:cxnLst>
                <a:cxn ang="0">
                  <a:pos x="0" y="1200"/>
                </a:cxn>
                <a:cxn ang="0">
                  <a:pos x="912" y="1200"/>
                </a:cxn>
                <a:cxn ang="0">
                  <a:pos x="912" y="624"/>
                </a:cxn>
                <a:cxn ang="0">
                  <a:pos x="0" y="0"/>
                </a:cxn>
                <a:cxn ang="0">
                  <a:pos x="0" y="1200"/>
                </a:cxn>
              </a:cxnLst>
              <a:rect l="0" t="0" r="r" b="b"/>
              <a:pathLst>
                <a:path w="912" h="1200">
                  <a:moveTo>
                    <a:pt x="0" y="1200"/>
                  </a:moveTo>
                  <a:lnTo>
                    <a:pt x="912" y="1200"/>
                  </a:lnTo>
                  <a:lnTo>
                    <a:pt x="912" y="624"/>
                  </a:lnTo>
                  <a:lnTo>
                    <a:pt x="0" y="0"/>
                  </a:lnTo>
                  <a:lnTo>
                    <a:pt x="0" y="1200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786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1367" y="2368"/>
                  <a:ext cx="490" cy="257"/>
                </a:xfrm>
                <a:prstGeom prst="rect">
                  <a:avLst/>
                </a:prstGeom>
                <a:noFill/>
                <a:ln>
                  <a:noFill/>
                  <a:headEnd/>
                  <a:tailEnd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oMath>
                    </m:oMathPara>
                  </a14:m>
                  <a:endParaRPr lang="it-IT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7786" name="Text 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67" y="2368"/>
                  <a:ext cx="490" cy="25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  <a:ln>
                  <a:noFill/>
                  <a:headEnd/>
                  <a:tailEnd/>
                </a:ln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7787" name="Rectangle 27"/>
              <p:cNvSpPr>
                <a:spLocks noChangeArrowheads="1"/>
              </p:cNvSpPr>
              <p:nvPr/>
            </p:nvSpPr>
            <p:spPr bwMode="auto">
              <a:xfrm>
                <a:off x="1017588" y="2924175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7787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7588" y="2924175"/>
                <a:ext cx="1295400" cy="45720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31"/>
          <p:cNvGrpSpPr>
            <a:grpSpLocks/>
          </p:cNvGrpSpPr>
          <p:nvPr/>
        </p:nvGrpSpPr>
        <p:grpSpPr bwMode="auto">
          <a:xfrm>
            <a:off x="5437188" y="3686175"/>
            <a:ext cx="914400" cy="2438400"/>
            <a:chOff x="1104" y="1728"/>
            <a:chExt cx="912" cy="1200"/>
          </a:xfrm>
        </p:grpSpPr>
        <p:sp>
          <p:nvSpPr>
            <p:cNvPr id="117792" name="Freeform 32"/>
            <p:cNvSpPr>
              <a:spLocks/>
            </p:cNvSpPr>
            <p:nvPr/>
          </p:nvSpPr>
          <p:spPr bwMode="auto">
            <a:xfrm>
              <a:off x="1104" y="1728"/>
              <a:ext cx="912" cy="1200"/>
            </a:xfrm>
            <a:custGeom>
              <a:avLst/>
              <a:gdLst/>
              <a:ahLst/>
              <a:cxnLst>
                <a:cxn ang="0">
                  <a:pos x="0" y="1200"/>
                </a:cxn>
                <a:cxn ang="0">
                  <a:pos x="912" y="1200"/>
                </a:cxn>
                <a:cxn ang="0">
                  <a:pos x="912" y="624"/>
                </a:cxn>
                <a:cxn ang="0">
                  <a:pos x="0" y="0"/>
                </a:cxn>
                <a:cxn ang="0">
                  <a:pos x="0" y="1200"/>
                </a:cxn>
              </a:cxnLst>
              <a:rect l="0" t="0" r="r" b="b"/>
              <a:pathLst>
                <a:path w="912" h="1200">
                  <a:moveTo>
                    <a:pt x="0" y="1200"/>
                  </a:moveTo>
                  <a:lnTo>
                    <a:pt x="912" y="1200"/>
                  </a:lnTo>
                  <a:lnTo>
                    <a:pt x="912" y="624"/>
                  </a:lnTo>
                  <a:lnTo>
                    <a:pt x="0" y="0"/>
                  </a:lnTo>
                  <a:lnTo>
                    <a:pt x="0" y="1200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793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1404" y="2368"/>
                  <a:ext cx="343" cy="255"/>
                </a:xfrm>
                <a:prstGeom prst="rect">
                  <a:avLst/>
                </a:prstGeom>
                <a:noFill/>
                <a:ln>
                  <a:noFill/>
                  <a:headEnd/>
                  <a:tailEnd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oMath>
                    </m:oMathPara>
                  </a14:m>
                  <a:endParaRPr lang="it-IT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7793" name="Text 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04" y="2368"/>
                  <a:ext cx="343" cy="255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  <a:ln>
                  <a:noFill/>
                  <a:headEnd/>
                  <a:tailEnd/>
                </a:ln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7794" name="Rectangle 34"/>
              <p:cNvSpPr>
                <a:spLocks noChangeArrowheads="1"/>
              </p:cNvSpPr>
              <p:nvPr/>
            </p:nvSpPr>
            <p:spPr bwMode="auto">
              <a:xfrm>
                <a:off x="2312988" y="2924175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7794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12988" y="2924175"/>
                <a:ext cx="1295400" cy="45720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795" name="Rectangle 35"/>
              <p:cNvSpPr>
                <a:spLocks noChangeArrowheads="1"/>
              </p:cNvSpPr>
              <p:nvPr/>
            </p:nvSpPr>
            <p:spPr bwMode="auto">
              <a:xfrm>
                <a:off x="5437188" y="2924175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7795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37188" y="2924175"/>
                <a:ext cx="1295400" cy="45720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796" name="Rectangle 36"/>
              <p:cNvSpPr>
                <a:spLocks noChangeArrowheads="1"/>
              </p:cNvSpPr>
              <p:nvPr/>
            </p:nvSpPr>
            <p:spPr bwMode="auto">
              <a:xfrm>
                <a:off x="6732588" y="2924175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it-IT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7796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32588" y="2924175"/>
                <a:ext cx="1295400" cy="45720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797" name="AutoShape 37"/>
          <p:cNvSpPr>
            <a:spLocks noChangeArrowheads="1"/>
          </p:cNvSpPr>
          <p:nvPr/>
        </p:nvSpPr>
        <p:spPr bwMode="auto">
          <a:xfrm>
            <a:off x="1931988" y="5362575"/>
            <a:ext cx="381000" cy="4572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7798" name="AutoShape 38"/>
          <p:cNvSpPr>
            <a:spLocks noChangeArrowheads="1"/>
          </p:cNvSpPr>
          <p:nvPr/>
        </p:nvSpPr>
        <p:spPr bwMode="auto">
          <a:xfrm>
            <a:off x="3203575" y="5384800"/>
            <a:ext cx="381000" cy="4572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7799" name="AutoShape 39"/>
          <p:cNvSpPr>
            <a:spLocks noChangeArrowheads="1"/>
          </p:cNvSpPr>
          <p:nvPr/>
        </p:nvSpPr>
        <p:spPr bwMode="auto">
          <a:xfrm>
            <a:off x="5056188" y="5362575"/>
            <a:ext cx="381000" cy="4572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7800" name="AutoShape 40"/>
          <p:cNvSpPr>
            <a:spLocks noChangeArrowheads="1"/>
          </p:cNvSpPr>
          <p:nvPr/>
        </p:nvSpPr>
        <p:spPr bwMode="auto">
          <a:xfrm>
            <a:off x="6351588" y="5362575"/>
            <a:ext cx="381000" cy="4572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7801" name="AutoShape 41"/>
          <p:cNvSpPr>
            <a:spLocks noChangeArrowheads="1"/>
          </p:cNvSpPr>
          <p:nvPr/>
        </p:nvSpPr>
        <p:spPr bwMode="auto">
          <a:xfrm rot="5983297" flipV="1">
            <a:off x="157163" y="3187700"/>
            <a:ext cx="1601788" cy="1220787"/>
          </a:xfrm>
          <a:custGeom>
            <a:avLst/>
            <a:gdLst>
              <a:gd name="G0" fmla="+- -279987 0 0"/>
              <a:gd name="G1" fmla="+- -11796480 0 0"/>
              <a:gd name="G2" fmla="+- -279987 0 -11796480"/>
              <a:gd name="G3" fmla="+- 10800 0 0"/>
              <a:gd name="G4" fmla="+- 0 0 -279987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792 0 0"/>
              <a:gd name="G9" fmla="+- 0 0 -11796480"/>
              <a:gd name="G10" fmla="+- 8792 0 2700"/>
              <a:gd name="G11" fmla="cos G10 -279987"/>
              <a:gd name="G12" fmla="sin G10 -279987"/>
              <a:gd name="G13" fmla="cos 13500 -279987"/>
              <a:gd name="G14" fmla="sin 13500 -279987"/>
              <a:gd name="G15" fmla="+- G11 10800 0"/>
              <a:gd name="G16" fmla="+- G12 10800 0"/>
              <a:gd name="G17" fmla="+- G13 10800 0"/>
              <a:gd name="G18" fmla="+- G14 10800 0"/>
              <a:gd name="G19" fmla="*/ 8792 1 2"/>
              <a:gd name="G20" fmla="+- G19 5400 0"/>
              <a:gd name="G21" fmla="cos G20 -279987"/>
              <a:gd name="G22" fmla="sin G20 -279987"/>
              <a:gd name="G23" fmla="+- G21 10800 0"/>
              <a:gd name="G24" fmla="+- G12 G23 G22"/>
              <a:gd name="G25" fmla="+- G22 G23 G11"/>
              <a:gd name="G26" fmla="cos 10800 -279987"/>
              <a:gd name="G27" fmla="sin 10800 -279987"/>
              <a:gd name="G28" fmla="cos 8792 -279987"/>
              <a:gd name="G29" fmla="sin 8792 -279987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279987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792 G39"/>
              <a:gd name="G43" fmla="sin 8792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397 w 21600"/>
              <a:gd name="T5" fmla="*/ 7 h 21600"/>
              <a:gd name="T6" fmla="*/ 1004 w 21600"/>
              <a:gd name="T7" fmla="*/ 10800 h 21600"/>
              <a:gd name="T8" fmla="*/ 10472 w 21600"/>
              <a:gd name="T9" fmla="*/ 2014 h 21600"/>
              <a:gd name="T10" fmla="*/ 24262 w 21600"/>
              <a:gd name="T11" fmla="*/ 9794 h 21600"/>
              <a:gd name="T12" fmla="*/ 20844 w 21600"/>
              <a:gd name="T13" fmla="*/ 13763 h 21600"/>
              <a:gd name="T14" fmla="*/ 16875 w 21600"/>
              <a:gd name="T15" fmla="*/ 1034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9567" y="10145"/>
                </a:moveTo>
                <a:cubicBezTo>
                  <a:pt x="19224" y="5556"/>
                  <a:pt x="15401" y="2008"/>
                  <a:pt x="10800" y="2008"/>
                </a:cubicBezTo>
                <a:cubicBezTo>
                  <a:pt x="5944" y="2008"/>
                  <a:pt x="2008" y="5944"/>
                  <a:pt x="2008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452" y="0"/>
                  <a:pt x="21148" y="4358"/>
                  <a:pt x="21569" y="9995"/>
                </a:cubicBezTo>
                <a:lnTo>
                  <a:pt x="24262" y="9794"/>
                </a:lnTo>
                <a:lnTo>
                  <a:pt x="20844" y="13763"/>
                </a:lnTo>
                <a:lnTo>
                  <a:pt x="16875" y="10346"/>
                </a:lnTo>
                <a:lnTo>
                  <a:pt x="19567" y="10145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7802" name="AutoShape 42"/>
          <p:cNvSpPr>
            <a:spLocks noChangeArrowheads="1"/>
          </p:cNvSpPr>
          <p:nvPr/>
        </p:nvSpPr>
        <p:spPr bwMode="auto">
          <a:xfrm rot="5983297" flipV="1">
            <a:off x="1449388" y="3228975"/>
            <a:ext cx="1638300" cy="1257300"/>
          </a:xfrm>
          <a:custGeom>
            <a:avLst/>
            <a:gdLst>
              <a:gd name="G0" fmla="+- -279987 0 0"/>
              <a:gd name="G1" fmla="+- -11796480 0 0"/>
              <a:gd name="G2" fmla="+- -279987 0 -11796480"/>
              <a:gd name="G3" fmla="+- 10800 0 0"/>
              <a:gd name="G4" fmla="+- 0 0 -279987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792 0 0"/>
              <a:gd name="G9" fmla="+- 0 0 -11796480"/>
              <a:gd name="G10" fmla="+- 8792 0 2700"/>
              <a:gd name="G11" fmla="cos G10 -279987"/>
              <a:gd name="G12" fmla="sin G10 -279987"/>
              <a:gd name="G13" fmla="cos 13500 -279987"/>
              <a:gd name="G14" fmla="sin 13500 -279987"/>
              <a:gd name="G15" fmla="+- G11 10800 0"/>
              <a:gd name="G16" fmla="+- G12 10800 0"/>
              <a:gd name="G17" fmla="+- G13 10800 0"/>
              <a:gd name="G18" fmla="+- G14 10800 0"/>
              <a:gd name="G19" fmla="*/ 8792 1 2"/>
              <a:gd name="G20" fmla="+- G19 5400 0"/>
              <a:gd name="G21" fmla="cos G20 -279987"/>
              <a:gd name="G22" fmla="sin G20 -279987"/>
              <a:gd name="G23" fmla="+- G21 10800 0"/>
              <a:gd name="G24" fmla="+- G12 G23 G22"/>
              <a:gd name="G25" fmla="+- G22 G23 G11"/>
              <a:gd name="G26" fmla="cos 10800 -279987"/>
              <a:gd name="G27" fmla="sin 10800 -279987"/>
              <a:gd name="G28" fmla="cos 8792 -279987"/>
              <a:gd name="G29" fmla="sin 8792 -279987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279987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792 G39"/>
              <a:gd name="G43" fmla="sin 8792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397 w 21600"/>
              <a:gd name="T5" fmla="*/ 7 h 21600"/>
              <a:gd name="T6" fmla="*/ 1004 w 21600"/>
              <a:gd name="T7" fmla="*/ 10800 h 21600"/>
              <a:gd name="T8" fmla="*/ 10472 w 21600"/>
              <a:gd name="T9" fmla="*/ 2014 h 21600"/>
              <a:gd name="T10" fmla="*/ 24262 w 21600"/>
              <a:gd name="T11" fmla="*/ 9794 h 21600"/>
              <a:gd name="T12" fmla="*/ 20844 w 21600"/>
              <a:gd name="T13" fmla="*/ 13763 h 21600"/>
              <a:gd name="T14" fmla="*/ 16875 w 21600"/>
              <a:gd name="T15" fmla="*/ 1034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9567" y="10145"/>
                </a:moveTo>
                <a:cubicBezTo>
                  <a:pt x="19224" y="5556"/>
                  <a:pt x="15401" y="2008"/>
                  <a:pt x="10800" y="2008"/>
                </a:cubicBezTo>
                <a:cubicBezTo>
                  <a:pt x="5944" y="2008"/>
                  <a:pt x="2008" y="5944"/>
                  <a:pt x="2008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452" y="0"/>
                  <a:pt x="21148" y="4358"/>
                  <a:pt x="21569" y="9995"/>
                </a:cubicBezTo>
                <a:lnTo>
                  <a:pt x="24262" y="9794"/>
                </a:lnTo>
                <a:lnTo>
                  <a:pt x="20844" y="13763"/>
                </a:lnTo>
                <a:lnTo>
                  <a:pt x="16875" y="10346"/>
                </a:lnTo>
                <a:lnTo>
                  <a:pt x="19567" y="10145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7803" name="AutoShape 43"/>
          <p:cNvSpPr>
            <a:spLocks noChangeArrowheads="1"/>
          </p:cNvSpPr>
          <p:nvPr/>
        </p:nvSpPr>
        <p:spPr bwMode="auto">
          <a:xfrm rot="5983297" flipV="1">
            <a:off x="4576763" y="3187700"/>
            <a:ext cx="1600200" cy="1219200"/>
          </a:xfrm>
          <a:custGeom>
            <a:avLst/>
            <a:gdLst>
              <a:gd name="G0" fmla="+- -279987 0 0"/>
              <a:gd name="G1" fmla="+- -11796480 0 0"/>
              <a:gd name="G2" fmla="+- -279987 0 -11796480"/>
              <a:gd name="G3" fmla="+- 10800 0 0"/>
              <a:gd name="G4" fmla="+- 0 0 -279987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792 0 0"/>
              <a:gd name="G9" fmla="+- 0 0 -11796480"/>
              <a:gd name="G10" fmla="+- 8792 0 2700"/>
              <a:gd name="G11" fmla="cos G10 -279987"/>
              <a:gd name="G12" fmla="sin G10 -279987"/>
              <a:gd name="G13" fmla="cos 13500 -279987"/>
              <a:gd name="G14" fmla="sin 13500 -279987"/>
              <a:gd name="G15" fmla="+- G11 10800 0"/>
              <a:gd name="G16" fmla="+- G12 10800 0"/>
              <a:gd name="G17" fmla="+- G13 10800 0"/>
              <a:gd name="G18" fmla="+- G14 10800 0"/>
              <a:gd name="G19" fmla="*/ 8792 1 2"/>
              <a:gd name="G20" fmla="+- G19 5400 0"/>
              <a:gd name="G21" fmla="cos G20 -279987"/>
              <a:gd name="G22" fmla="sin G20 -279987"/>
              <a:gd name="G23" fmla="+- G21 10800 0"/>
              <a:gd name="G24" fmla="+- G12 G23 G22"/>
              <a:gd name="G25" fmla="+- G22 G23 G11"/>
              <a:gd name="G26" fmla="cos 10800 -279987"/>
              <a:gd name="G27" fmla="sin 10800 -279987"/>
              <a:gd name="G28" fmla="cos 8792 -279987"/>
              <a:gd name="G29" fmla="sin 8792 -279987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279987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792 G39"/>
              <a:gd name="G43" fmla="sin 8792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397 w 21600"/>
              <a:gd name="T5" fmla="*/ 7 h 21600"/>
              <a:gd name="T6" fmla="*/ 1004 w 21600"/>
              <a:gd name="T7" fmla="*/ 10800 h 21600"/>
              <a:gd name="T8" fmla="*/ 10472 w 21600"/>
              <a:gd name="T9" fmla="*/ 2014 h 21600"/>
              <a:gd name="T10" fmla="*/ 24262 w 21600"/>
              <a:gd name="T11" fmla="*/ 9794 h 21600"/>
              <a:gd name="T12" fmla="*/ 20844 w 21600"/>
              <a:gd name="T13" fmla="*/ 13763 h 21600"/>
              <a:gd name="T14" fmla="*/ 16875 w 21600"/>
              <a:gd name="T15" fmla="*/ 1034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9567" y="10145"/>
                </a:moveTo>
                <a:cubicBezTo>
                  <a:pt x="19224" y="5556"/>
                  <a:pt x="15401" y="2008"/>
                  <a:pt x="10800" y="2008"/>
                </a:cubicBezTo>
                <a:cubicBezTo>
                  <a:pt x="5944" y="2008"/>
                  <a:pt x="2008" y="5944"/>
                  <a:pt x="2008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452" y="0"/>
                  <a:pt x="21148" y="4358"/>
                  <a:pt x="21569" y="9995"/>
                </a:cubicBezTo>
                <a:lnTo>
                  <a:pt x="24262" y="9794"/>
                </a:lnTo>
                <a:lnTo>
                  <a:pt x="20844" y="13763"/>
                </a:lnTo>
                <a:lnTo>
                  <a:pt x="16875" y="10346"/>
                </a:lnTo>
                <a:lnTo>
                  <a:pt x="19567" y="10145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7804" name="AutoShape 44"/>
          <p:cNvSpPr>
            <a:spLocks noChangeArrowheads="1"/>
          </p:cNvSpPr>
          <p:nvPr/>
        </p:nvSpPr>
        <p:spPr bwMode="auto">
          <a:xfrm rot="5983297" flipV="1">
            <a:off x="5872163" y="3187700"/>
            <a:ext cx="1601788" cy="1220787"/>
          </a:xfrm>
          <a:custGeom>
            <a:avLst/>
            <a:gdLst>
              <a:gd name="G0" fmla="+- -279987 0 0"/>
              <a:gd name="G1" fmla="+- -11796480 0 0"/>
              <a:gd name="G2" fmla="+- -279987 0 -11796480"/>
              <a:gd name="G3" fmla="+- 10800 0 0"/>
              <a:gd name="G4" fmla="+- 0 0 -279987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792 0 0"/>
              <a:gd name="G9" fmla="+- 0 0 -11796480"/>
              <a:gd name="G10" fmla="+- 8792 0 2700"/>
              <a:gd name="G11" fmla="cos G10 -279987"/>
              <a:gd name="G12" fmla="sin G10 -279987"/>
              <a:gd name="G13" fmla="cos 13500 -279987"/>
              <a:gd name="G14" fmla="sin 13500 -279987"/>
              <a:gd name="G15" fmla="+- G11 10800 0"/>
              <a:gd name="G16" fmla="+- G12 10800 0"/>
              <a:gd name="G17" fmla="+- G13 10800 0"/>
              <a:gd name="G18" fmla="+- G14 10800 0"/>
              <a:gd name="G19" fmla="*/ 8792 1 2"/>
              <a:gd name="G20" fmla="+- G19 5400 0"/>
              <a:gd name="G21" fmla="cos G20 -279987"/>
              <a:gd name="G22" fmla="sin G20 -279987"/>
              <a:gd name="G23" fmla="+- G21 10800 0"/>
              <a:gd name="G24" fmla="+- G12 G23 G22"/>
              <a:gd name="G25" fmla="+- G22 G23 G11"/>
              <a:gd name="G26" fmla="cos 10800 -279987"/>
              <a:gd name="G27" fmla="sin 10800 -279987"/>
              <a:gd name="G28" fmla="cos 8792 -279987"/>
              <a:gd name="G29" fmla="sin 8792 -279987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279987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792 G39"/>
              <a:gd name="G43" fmla="sin 8792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397 w 21600"/>
              <a:gd name="T5" fmla="*/ 7 h 21600"/>
              <a:gd name="T6" fmla="*/ 1004 w 21600"/>
              <a:gd name="T7" fmla="*/ 10800 h 21600"/>
              <a:gd name="T8" fmla="*/ 10472 w 21600"/>
              <a:gd name="T9" fmla="*/ 2014 h 21600"/>
              <a:gd name="T10" fmla="*/ 24262 w 21600"/>
              <a:gd name="T11" fmla="*/ 9794 h 21600"/>
              <a:gd name="T12" fmla="*/ 20844 w 21600"/>
              <a:gd name="T13" fmla="*/ 13763 h 21600"/>
              <a:gd name="T14" fmla="*/ 16875 w 21600"/>
              <a:gd name="T15" fmla="*/ 1034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9567" y="10145"/>
                </a:moveTo>
                <a:cubicBezTo>
                  <a:pt x="19224" y="5556"/>
                  <a:pt x="15401" y="2008"/>
                  <a:pt x="10800" y="2008"/>
                </a:cubicBezTo>
                <a:cubicBezTo>
                  <a:pt x="5944" y="2008"/>
                  <a:pt x="2008" y="5944"/>
                  <a:pt x="2008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452" y="0"/>
                  <a:pt x="21148" y="4358"/>
                  <a:pt x="21569" y="9995"/>
                </a:cubicBezTo>
                <a:lnTo>
                  <a:pt x="24262" y="9794"/>
                </a:lnTo>
                <a:lnTo>
                  <a:pt x="20844" y="13763"/>
                </a:lnTo>
                <a:lnTo>
                  <a:pt x="16875" y="10346"/>
                </a:lnTo>
                <a:lnTo>
                  <a:pt x="19567" y="10145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805" name="Rectangle 45"/>
              <p:cNvSpPr>
                <a:spLocks noChangeArrowheads="1"/>
              </p:cNvSpPr>
              <p:nvPr/>
            </p:nvSpPr>
            <p:spPr bwMode="auto">
              <a:xfrm>
                <a:off x="179388" y="4905375"/>
                <a:ext cx="457200" cy="1219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𝐈𝐕</m:t>
                      </m:r>
                    </m:oMath>
                  </m:oMathPara>
                </a14:m>
                <a:endParaRPr lang="it-IT" sz="2000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7805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388" y="4905375"/>
                <a:ext cx="457200" cy="121920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806" name="AutoShape 46"/>
          <p:cNvSpPr>
            <a:spLocks noChangeArrowheads="1"/>
          </p:cNvSpPr>
          <p:nvPr/>
        </p:nvSpPr>
        <p:spPr bwMode="auto">
          <a:xfrm>
            <a:off x="636588" y="5362575"/>
            <a:ext cx="381000" cy="4572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808" name="Rectangle 48"/>
              <p:cNvSpPr>
                <a:spLocks noChangeArrowheads="1"/>
              </p:cNvSpPr>
              <p:nvPr/>
            </p:nvSpPr>
            <p:spPr bwMode="auto">
              <a:xfrm>
                <a:off x="6199188" y="2362200"/>
                <a:ext cx="533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𝟎𝟎𝟎𝟎</m:t>
                      </m:r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7808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99188" y="2362200"/>
                <a:ext cx="533400" cy="457200"/>
              </a:xfrm>
              <a:prstGeom prst="rect">
                <a:avLst/>
              </a:prstGeom>
              <a:blipFill rotWithShape="0">
                <a:blip r:embed="rId13"/>
                <a:stretch>
                  <a:fillRect l="-337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809" name="Text Box 49"/>
          <p:cNvSpPr txBox="1">
            <a:spLocks noChangeArrowheads="1"/>
          </p:cNvSpPr>
          <p:nvPr/>
        </p:nvSpPr>
        <p:spPr bwMode="auto">
          <a:xfrm>
            <a:off x="4065588" y="4676775"/>
            <a:ext cx="604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it-IT" b="1">
                <a:solidFill>
                  <a:srgbClr val="993300"/>
                </a:solidFill>
              </a:rPr>
              <a:t>. . .</a:t>
            </a:r>
          </a:p>
        </p:txBody>
      </p:sp>
      <p:sp>
        <p:nvSpPr>
          <p:cNvPr id="117815" name="Line 55"/>
          <p:cNvSpPr>
            <a:spLocks noChangeShapeType="1"/>
          </p:cNvSpPr>
          <p:nvPr/>
        </p:nvSpPr>
        <p:spPr bwMode="auto">
          <a:xfrm flipH="1">
            <a:off x="1042988" y="21336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7816" name="Line 56"/>
          <p:cNvSpPr>
            <a:spLocks noChangeShapeType="1"/>
          </p:cNvSpPr>
          <p:nvPr/>
        </p:nvSpPr>
        <p:spPr bwMode="auto">
          <a:xfrm>
            <a:off x="3942678" y="2133600"/>
            <a:ext cx="225651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7817" name="Line 57"/>
          <p:cNvSpPr>
            <a:spLocks noChangeShapeType="1"/>
          </p:cNvSpPr>
          <p:nvPr/>
        </p:nvSpPr>
        <p:spPr bwMode="auto">
          <a:xfrm>
            <a:off x="1042988" y="205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7818" name="Line 58"/>
          <p:cNvSpPr>
            <a:spLocks noChangeShapeType="1"/>
          </p:cNvSpPr>
          <p:nvPr/>
        </p:nvSpPr>
        <p:spPr bwMode="auto">
          <a:xfrm>
            <a:off x="6199188" y="20574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819" name="Text Box 59"/>
              <p:cNvSpPr txBox="1">
                <a:spLocks noChangeArrowheads="1"/>
              </p:cNvSpPr>
              <p:nvPr/>
            </p:nvSpPr>
            <p:spPr bwMode="auto">
              <a:xfrm>
                <a:off x="3532188" y="1905000"/>
                <a:ext cx="33214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7819" name="Text 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32188" y="1905000"/>
                <a:ext cx="332142" cy="36933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820" name="Text Box 60"/>
              <p:cNvSpPr txBox="1">
                <a:spLocks noChangeArrowheads="1"/>
              </p:cNvSpPr>
              <p:nvPr/>
            </p:nvSpPr>
            <p:spPr bwMode="auto">
              <a:xfrm>
                <a:off x="250825" y="908050"/>
                <a:ext cx="6096000" cy="6463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it-IT" dirty="0"/>
                  <a:t>given </a:t>
                </a:r>
                <a14:m>
                  <m:oMath xmlns:m="http://schemas.openxmlformats.org/officeDocument/2006/math"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:{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→ {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𝟎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,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𝟏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}</m:t>
                    </m:r>
                    <m:r>
                      <a:rPr lang="en-US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𝑳</m:t>
                    </m:r>
                  </m:oMath>
                </a14:m>
                <a:br>
                  <a:rPr lang="en-US" baseline="30000" dirty="0">
                    <a:solidFill>
                      <a:srgbClr val="FF0000"/>
                    </a:solidFill>
                    <a:cs typeface="Arial" pitchFamily="34" charset="0"/>
                  </a:rPr>
                </a:br>
                <a:r>
                  <a:rPr lang="en-US" dirty="0">
                    <a:cs typeface="Arial" pitchFamily="34" charset="0"/>
                  </a:rPr>
                  <a:t>we construct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𝑯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:</m:t>
                    </m:r>
                    <m:sSup>
                      <m:sSup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→{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𝟎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,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𝟏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}</m:t>
                    </m:r>
                    <m:r>
                      <a:rPr lang="en-US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𝑳</m:t>
                    </m:r>
                  </m:oMath>
                </a14:m>
                <a:endParaRPr lang="en-US" b="1" baseline="30000" dirty="0">
                  <a:solidFill>
                    <a:srgbClr val="FF0000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17820" name="Text 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25" y="908050"/>
                <a:ext cx="6096000" cy="646331"/>
              </a:xfrm>
              <a:prstGeom prst="rect">
                <a:avLst/>
              </a:prstGeom>
              <a:blipFill rotWithShape="0">
                <a:blip r:embed="rId15"/>
                <a:stretch>
                  <a:fillRect l="-800" t="-6604" b="-1320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821" name="Text Box 61"/>
              <p:cNvSpPr txBox="1">
                <a:spLocks noChangeArrowheads="1"/>
              </p:cNvSpPr>
              <p:nvPr/>
            </p:nvSpPr>
            <p:spPr bwMode="auto">
              <a:xfrm>
                <a:off x="2770188" y="3609975"/>
                <a:ext cx="1494319" cy="3633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{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𝟎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,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𝟏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} </m:t>
                      </m:r>
                      <m:r>
                        <a:rPr lang="en-US" b="1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𝑳</m:t>
                      </m:r>
                    </m:oMath>
                  </m:oMathPara>
                </a14:m>
                <a:endParaRPr lang="ru-RU" b="1" baseline="30000" dirty="0">
                  <a:solidFill>
                    <a:srgbClr val="FF0000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17821" name="Text 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0188" y="3609975"/>
                <a:ext cx="1494319" cy="363305"/>
              </a:xfrm>
              <a:prstGeom prst="rect">
                <a:avLst/>
              </a:prstGeom>
              <a:blipFill rotWithShape="0">
                <a:blip r:embed="rId16"/>
                <a:stretch>
                  <a:fillRect b="-183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822" name="AutoShape 62"/>
          <p:cNvSpPr>
            <a:spLocks noChangeArrowheads="1"/>
          </p:cNvSpPr>
          <p:nvPr/>
        </p:nvSpPr>
        <p:spPr bwMode="auto">
          <a:xfrm>
            <a:off x="7646988" y="5362575"/>
            <a:ext cx="381000" cy="4572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823" name="Text Box 63"/>
              <p:cNvSpPr txBox="1">
                <a:spLocks noChangeArrowheads="1"/>
              </p:cNvSpPr>
              <p:nvPr/>
            </p:nvSpPr>
            <p:spPr bwMode="auto">
              <a:xfrm>
                <a:off x="7740650" y="5359400"/>
                <a:ext cx="121920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7823" name="Text 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40650" y="5359400"/>
                <a:ext cx="1219200" cy="369332"/>
              </a:xfrm>
              <a:prstGeom prst="rect">
                <a:avLst/>
              </a:prstGeom>
              <a:blipFill rotWithShape="0">
                <a:blip r:embed="rId17"/>
                <a:stretch>
                  <a:fillRect b="-1475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826" name="AutoShape 66"/>
          <p:cNvSpPr>
            <a:spLocks noChangeArrowheads="1"/>
          </p:cNvSpPr>
          <p:nvPr/>
        </p:nvSpPr>
        <p:spPr bwMode="auto">
          <a:xfrm>
            <a:off x="6659563" y="981075"/>
            <a:ext cx="2160587" cy="936625"/>
          </a:xfrm>
          <a:prstGeom prst="wedgeRectCallout">
            <a:avLst>
              <a:gd name="adj1" fmla="val 2241"/>
              <a:gd name="adj2" fmla="val 169662"/>
            </a:avLst>
          </a:prstGeom>
          <a:solidFill>
            <a:srgbClr val="FDE9A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it-IT" sz="1800"/>
              <a:t>doesn’t need to be know in advance</a:t>
            </a:r>
          </a:p>
          <a:p>
            <a:pPr algn="ctr"/>
            <a:r>
              <a:rPr lang="it-IT" sz="1800"/>
              <a:t>(nice!)</a:t>
            </a:r>
          </a:p>
        </p:txBody>
      </p:sp>
    </p:spTree>
    <p:extLst>
      <p:ext uri="{BB962C8B-B14F-4D97-AF65-F5344CB8AC3E}">
        <p14:creationId xmlns:p14="http://schemas.microsoft.com/office/powerpoint/2010/main" val="3307780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6" grpId="0" animBg="1"/>
      <p:bldP spid="117787" grpId="0" animBg="1"/>
      <p:bldP spid="117794" grpId="0" animBg="1"/>
      <p:bldP spid="117795" grpId="0" animBg="1"/>
      <p:bldP spid="117796" grpId="0" animBg="1"/>
      <p:bldP spid="117797" grpId="0" animBg="1"/>
      <p:bldP spid="117798" grpId="0" animBg="1"/>
      <p:bldP spid="117799" grpId="0" animBg="1"/>
      <p:bldP spid="117800" grpId="0" animBg="1"/>
      <p:bldP spid="117801" grpId="0" animBg="1"/>
      <p:bldP spid="117802" grpId="0" animBg="1"/>
      <p:bldP spid="117803" grpId="0" animBg="1"/>
      <p:bldP spid="117804" grpId="0" animBg="1"/>
      <p:bldP spid="117805" grpId="0" animBg="1"/>
      <p:bldP spid="117806" grpId="0" animBg="1"/>
      <p:bldP spid="117808" grpId="0" animBg="1"/>
      <p:bldP spid="117809" grpId="0"/>
      <p:bldP spid="117815" grpId="0" animBg="1"/>
      <p:bldP spid="117816" grpId="0" animBg="1"/>
      <p:bldP spid="117817" grpId="0" animBg="1"/>
      <p:bldP spid="117818" grpId="0" animBg="1"/>
      <p:bldP spid="117819" grpId="0"/>
      <p:bldP spid="117821" grpId="0"/>
      <p:bldP spid="117822" grpId="0" animBg="1"/>
      <p:bldP spid="117823" grpId="0"/>
      <p:bldP spid="11782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7772400" cy="1143000"/>
          </a:xfrm>
        </p:spPr>
        <p:txBody>
          <a:bodyPr/>
          <a:lstStyle/>
          <a:p>
            <a:r>
              <a:rPr lang="it-IT"/>
              <a:t>This construction is secure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472" y="1142984"/>
            <a:ext cx="7918450" cy="571504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We would like to </a:t>
            </a:r>
            <a:r>
              <a:rPr lang="it-IT" sz="2400" dirty="0"/>
              <a:t>prove the following:</a:t>
            </a:r>
          </a:p>
          <a:p>
            <a:pPr>
              <a:lnSpc>
                <a:spcPct val="90000"/>
              </a:lnSpc>
              <a:buFontTx/>
              <a:buNone/>
            </a:pPr>
            <a:endParaRPr lang="it-IT" sz="2400" dirty="0"/>
          </a:p>
          <a:p>
            <a:pPr>
              <a:lnSpc>
                <a:spcPct val="90000"/>
              </a:lnSpc>
              <a:buFontTx/>
              <a:buNone/>
            </a:pPr>
            <a:endParaRPr lang="en-US" sz="2400" dirty="0">
              <a:cs typeface="Arial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sz="2400" dirty="0">
              <a:cs typeface="Arial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71472" y="2571744"/>
                <a:ext cx="8072494" cy="2419124"/>
              </a:xfrm>
              <a:prstGeom prst="rect">
                <a:avLst/>
              </a:prstGeom>
              <a:solidFill>
                <a:schemeClr val="bg1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it-IT" sz="2800" dirty="0"/>
                  <a:t>If </a:t>
                </a:r>
              </a:p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:{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sz="28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→ {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𝟎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,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𝟏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}</m:t>
                      </m:r>
                      <m:r>
                        <a:rPr lang="en-US" sz="28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𝑳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 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  <a:cs typeface="Arial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2800" dirty="0">
                    <a:cs typeface="Arial" pitchFamily="34" charset="0"/>
                  </a:rPr>
                  <a:t>is a collision-resistant </a:t>
                </a:r>
                <a:r>
                  <a:rPr lang="en-US" sz="2800" b="1" dirty="0">
                    <a:solidFill>
                      <a:srgbClr val="0070C0"/>
                    </a:solidFill>
                    <a:cs typeface="Arial" pitchFamily="34" charset="0"/>
                  </a:rPr>
                  <a:t>compression</a:t>
                </a:r>
                <a:r>
                  <a:rPr lang="en-US" sz="2800" dirty="0">
                    <a:cs typeface="Arial" pitchFamily="34" charset="0"/>
                  </a:rPr>
                  <a:t> function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800" dirty="0">
                    <a:cs typeface="Arial" pitchFamily="34" charset="0"/>
                  </a:rPr>
                  <a:t>then  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800" b="1" dirty="0">
                    <a:solidFill>
                      <a:srgbClr val="993300"/>
                    </a:solidFill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𝑯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:</m:t>
                    </m:r>
                    <m:sSup>
                      <m:sSupPr>
                        <m:ctrlP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8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8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→ {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𝟎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,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𝟏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}</m:t>
                    </m:r>
                    <m:r>
                      <a:rPr lang="en-US" sz="28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𝑳</m:t>
                    </m:r>
                  </m:oMath>
                </a14:m>
                <a:endParaRPr lang="en-US" sz="2800" b="1" baseline="30000" dirty="0">
                  <a:solidFill>
                    <a:srgbClr val="FF0000"/>
                  </a:solidFill>
                  <a:cs typeface="Arial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2800" dirty="0">
                    <a:cs typeface="Arial" pitchFamily="34" charset="0"/>
                  </a:rPr>
                  <a:t>is a collision-resistant </a:t>
                </a:r>
                <a:r>
                  <a:rPr lang="en-US" sz="2800" b="1" dirty="0">
                    <a:solidFill>
                      <a:srgbClr val="0070C0"/>
                    </a:solidFill>
                    <a:cs typeface="Arial" pitchFamily="34" charset="0"/>
                  </a:rPr>
                  <a:t>hash</a:t>
                </a:r>
                <a:r>
                  <a:rPr lang="en-US" sz="2800" dirty="0">
                    <a:cs typeface="Arial" pitchFamily="34" charset="0"/>
                  </a:rPr>
                  <a:t> function.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72" y="2571744"/>
                <a:ext cx="8072494" cy="241912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4000496" y="5786454"/>
            <a:ext cx="4572000" cy="8679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 dirty="0">
                <a:cs typeface="Arial" pitchFamily="34" charset="0"/>
              </a:rPr>
              <a:t>But wait….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>
                <a:cs typeface="Arial" pitchFamily="34" charset="0"/>
              </a:rPr>
              <a:t>It doesn’t make sense…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3812" y="2143116"/>
            <a:ext cx="2039758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u="sng" dirty="0">
                <a:solidFill>
                  <a:schemeClr val="bg1"/>
                </a:solidFill>
              </a:rPr>
              <a:t>Theorem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7058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do?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None/>
                </a:pPr>
                <a:r>
                  <a:rPr lang="en-US" dirty="0"/>
                  <a:t>To be formal, we would need to consider </a:t>
                </a:r>
              </a:p>
              <a:p>
                <a:pPr algn="ctr">
                  <a:buNone/>
                </a:pPr>
                <a:r>
                  <a:rPr lang="en-US" dirty="0"/>
                  <a:t>families of functions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br>
                  <a:rPr lang="en-US" b="1" dirty="0">
                    <a:solidFill>
                      <a:srgbClr val="C00000"/>
                    </a:solidFill>
                  </a:rPr>
                </a:br>
                <a:r>
                  <a:rPr lang="en-US" dirty="0"/>
                  <a:t>indexed by key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algn="ctr">
                  <a:buNone/>
                </a:pPr>
                <a:endParaRPr lang="en-US" b="1" dirty="0">
                  <a:solidFill>
                    <a:srgbClr val="C00000"/>
                  </a:solidFill>
                </a:endParaRPr>
              </a:p>
              <a:p>
                <a:pPr>
                  <a:buNone/>
                </a:pPr>
                <a:r>
                  <a:rPr lang="en-US" dirty="0"/>
                  <a:t>Let’s stay on the </a:t>
                </a:r>
                <a:r>
                  <a:rPr lang="en-US" b="1" dirty="0">
                    <a:solidFill>
                      <a:srgbClr val="00B050"/>
                    </a:solidFill>
                  </a:rPr>
                  <a:t>informal level </a:t>
                </a:r>
                <a:r>
                  <a:rPr lang="en-US" dirty="0"/>
                  <a:t>and argue that:</a:t>
                </a:r>
              </a:p>
              <a:p>
                <a:pPr>
                  <a:buNone/>
                </a:pPr>
                <a:r>
                  <a:rPr lang="en-US" dirty="0"/>
                  <a:t>“if one can find a collision in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then one can find a collision in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en-US" dirty="0"/>
                  <a:t>”</a:t>
                </a:r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546" t="-2381" r="-54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1752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4" name="Rectangle 6"/>
          <p:cNvSpPr>
            <a:spLocks noChangeArrowheads="1"/>
          </p:cNvSpPr>
          <p:nvPr/>
        </p:nvSpPr>
        <p:spPr bwMode="auto">
          <a:xfrm>
            <a:off x="2627313" y="1571612"/>
            <a:ext cx="6265862" cy="33845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pic>
        <p:nvPicPr>
          <p:cNvPr id="135172" name="Picture 4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92275" y="1571612"/>
            <a:ext cx="1512888" cy="1046163"/>
          </a:xfrm>
          <a:prstGeom prst="rect">
            <a:avLst/>
          </a:prstGeom>
          <a:noFill/>
        </p:spPr>
      </p:pic>
      <p:pic>
        <p:nvPicPr>
          <p:cNvPr id="135173" name="Picture 5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24525" y="1858950"/>
            <a:ext cx="2879725" cy="199072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5175" name="Text Box 7"/>
              <p:cNvSpPr txBox="1">
                <a:spLocks noChangeArrowheads="1"/>
              </p:cNvSpPr>
              <p:nvPr/>
            </p:nvSpPr>
            <p:spPr bwMode="auto">
              <a:xfrm>
                <a:off x="5894388" y="3409937"/>
                <a:ext cx="1846262" cy="36933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it-IT" dirty="0"/>
                  <a:t> </a:t>
                </a:r>
                <a:r>
                  <a:rPr lang="en-US" dirty="0"/>
                  <a:t>breaks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endParaRPr lang="it-IT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5175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94388" y="3409937"/>
                <a:ext cx="1846262" cy="369332"/>
              </a:xfrm>
              <a:prstGeom prst="rect">
                <a:avLst/>
              </a:prstGeom>
              <a:blipFill rotWithShape="0">
                <a:blip r:embed="rId4"/>
                <a:stretch>
                  <a:fillRect t="-7937" b="-20635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177" name="Text Box 9"/>
              <p:cNvSpPr txBox="1">
                <a:spLocks noChangeArrowheads="1"/>
              </p:cNvSpPr>
              <p:nvPr/>
            </p:nvSpPr>
            <p:spPr bwMode="auto">
              <a:xfrm>
                <a:off x="1258888" y="2468550"/>
                <a:ext cx="2179637" cy="36933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it-IT" dirty="0"/>
                  <a:t> </a:t>
                </a:r>
                <a:r>
                  <a:rPr lang="en-US" dirty="0"/>
                  <a:t>breaks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it-IT" dirty="0"/>
                  <a:t> </a:t>
                </a:r>
                <a:endParaRPr lang="it-IT" b="1" dirty="0">
                  <a:solidFill>
                    <a:srgbClr val="993300"/>
                  </a:solidFill>
                </a:endParaRPr>
              </a:p>
            </p:txBody>
          </p:sp>
        </mc:Choice>
        <mc:Fallback xmlns="">
          <p:sp>
            <p:nvSpPr>
              <p:cNvPr id="135177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8888" y="2468550"/>
                <a:ext cx="2179637" cy="369332"/>
              </a:xfrm>
              <a:prstGeom prst="rect">
                <a:avLst/>
              </a:prstGeom>
              <a:blipFill rotWithShape="0">
                <a:blip r:embed="rId5"/>
                <a:stretch>
                  <a:fillRect t="-9524" b="-20635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186" name="Line 18"/>
          <p:cNvSpPr>
            <a:spLocks noChangeShapeType="1"/>
          </p:cNvSpPr>
          <p:nvPr/>
        </p:nvSpPr>
        <p:spPr bwMode="auto">
          <a:xfrm flipH="1">
            <a:off x="3492500" y="3011475"/>
            <a:ext cx="2016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187" name="Text Box 19"/>
              <p:cNvSpPr txBox="1">
                <a:spLocks noChangeArrowheads="1"/>
              </p:cNvSpPr>
              <p:nvPr/>
            </p:nvSpPr>
            <p:spPr bwMode="auto">
              <a:xfrm>
                <a:off x="3995738" y="2795575"/>
                <a:ext cx="1152525" cy="369332"/>
              </a:xfrm>
              <a:prstGeom prst="rect">
                <a:avLst/>
              </a:prstGeom>
              <a:solidFill>
                <a:srgbClr val="FFF9D5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’)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5187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5738" y="2795575"/>
                <a:ext cx="1152525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13115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188" name="AutoShape 20"/>
              <p:cNvSpPr>
                <a:spLocks noChangeArrowheads="1"/>
              </p:cNvSpPr>
              <p:nvPr/>
            </p:nvSpPr>
            <p:spPr bwMode="auto">
              <a:xfrm>
                <a:off x="3563938" y="4164000"/>
                <a:ext cx="2520950" cy="504825"/>
              </a:xfrm>
              <a:prstGeom prst="wedgeRoundRectCallout">
                <a:avLst>
                  <a:gd name="adj1" fmla="val -14421"/>
                  <a:gd name="adj2" fmla="val -242769"/>
                  <a:gd name="adj3" fmla="val 16667"/>
                </a:avLst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/>
                <a:r>
                  <a:rPr lang="en-US" sz="2000" dirty="0"/>
                  <a:t>a collision in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5188" name="AutoShap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3938" y="4164000"/>
                <a:ext cx="2520950" cy="504825"/>
              </a:xfrm>
              <a:prstGeom prst="wedgeRoundRectCallout">
                <a:avLst>
                  <a:gd name="adj1" fmla="val -14421"/>
                  <a:gd name="adj2" fmla="val -242769"/>
                  <a:gd name="adj3" fmla="val 16667"/>
                </a:avLst>
              </a:prstGeom>
              <a:blipFill rotWithShape="0">
                <a:blip r:embed="rId7"/>
                <a:stretch>
                  <a:fillRect b="-1224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189" name="Line 21"/>
          <p:cNvSpPr>
            <a:spLocks noChangeShapeType="1"/>
          </p:cNvSpPr>
          <p:nvPr/>
        </p:nvSpPr>
        <p:spPr bwMode="auto">
          <a:xfrm flipH="1">
            <a:off x="1928793" y="2857496"/>
            <a:ext cx="142875" cy="250033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191" name="Text Box 23"/>
              <p:cNvSpPr txBox="1">
                <a:spLocks noChangeArrowheads="1"/>
              </p:cNvSpPr>
              <p:nvPr/>
            </p:nvSpPr>
            <p:spPr bwMode="auto">
              <a:xfrm>
                <a:off x="428596" y="5429264"/>
                <a:ext cx="3135342" cy="369332"/>
              </a:xfrm>
              <a:prstGeom prst="rect">
                <a:avLst/>
              </a:prstGeom>
              <a:solidFill>
                <a:srgbClr val="FDFFE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/>
                  <a:t>outputs a collision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5191" name="Text 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8596" y="5429264"/>
                <a:ext cx="3135342" cy="369332"/>
              </a:xfrm>
              <a:prstGeom prst="rect">
                <a:avLst/>
              </a:prstGeom>
              <a:blipFill rotWithShape="0">
                <a:blip r:embed="rId8"/>
                <a:stretch>
                  <a:fillRect t="-11475" b="-22951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3386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4" grpId="0" animBg="1"/>
      <p:bldP spid="135175" grpId="0" animBg="1"/>
      <p:bldP spid="135177" grpId="0" animBg="1"/>
      <p:bldP spid="135186" grpId="0" animBg="1"/>
      <p:bldP spid="135187" grpId="0" animBg="1"/>
      <p:bldP spid="135188" grpId="0" animBg="1"/>
      <p:bldP spid="135189" grpId="0" animBg="1"/>
      <p:bldP spid="13519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6194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250825" y="609600"/>
                <a:ext cx="8424863" cy="1143000"/>
              </a:xfrm>
            </p:spPr>
            <p:txBody>
              <a:bodyPr>
                <a:normAutofit fontScale="90000"/>
              </a:bodyPr>
              <a:lstStyle/>
              <a:p>
                <a:r>
                  <a:rPr lang="it-IT" sz="4000" dirty="0"/>
                  <a:t>How to compute a collision </a:t>
                </a:r>
                <a14:m>
                  <m:oMath xmlns:m="http://schemas.openxmlformats.org/officeDocument/2006/math">
                    <m:r>
                      <a:rPr lang="it-IT" sz="4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4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it-IT" sz="4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4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it-IT" sz="4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it-IT" sz="4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4000" dirty="0"/>
                  <a:t>in </a:t>
                </a:r>
                <a14:m>
                  <m:oMath xmlns:m="http://schemas.openxmlformats.org/officeDocument/2006/math">
                    <m:r>
                      <a:rPr lang="it-IT" sz="4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it-IT" sz="4000" b="1" dirty="0">
                    <a:solidFill>
                      <a:srgbClr val="993300"/>
                    </a:solidFill>
                  </a:rPr>
                  <a:t> </a:t>
                </a:r>
                <a:r>
                  <a:rPr lang="it-IT" sz="4000" dirty="0"/>
                  <a:t>from a collision </a:t>
                </a:r>
                <a14:m>
                  <m:oMath xmlns:m="http://schemas.openxmlformats.org/officeDocument/2006/math">
                    <m:r>
                      <a:rPr lang="it-IT" sz="4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4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it-IT" sz="4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4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it-IT" sz="4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’)</m:t>
                    </m:r>
                    <m:r>
                      <a:rPr lang="it-IT" sz="4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4000" dirty="0"/>
                  <a:t>in </a:t>
                </a:r>
                <a14:m>
                  <m:oMath xmlns:m="http://schemas.openxmlformats.org/officeDocument/2006/math">
                    <m:r>
                      <a:rPr lang="it-IT" sz="4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it-IT" sz="4000" dirty="0"/>
                  <a:t>?</a:t>
                </a:r>
              </a:p>
            </p:txBody>
          </p:sp>
        </mc:Choice>
        <mc:Fallback xmlns="">
          <p:sp>
            <p:nvSpPr>
              <p:cNvPr id="136194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50825" y="609600"/>
                <a:ext cx="8424863" cy="1143000"/>
              </a:xfrm>
              <a:blipFill rotWithShape="0">
                <a:blip r:embed="rId3"/>
                <a:stretch>
                  <a:fillRect l="-2171" t="-10106" b="-1702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19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84213" y="2420938"/>
                <a:ext cx="7772400" cy="4114800"/>
              </a:xfrm>
            </p:spPr>
            <p:txBody>
              <a:bodyPr/>
              <a:lstStyle/>
              <a:p>
                <a:pPr marL="609600" indent="-609600">
                  <a:buFontTx/>
                  <a:buNone/>
                </a:pPr>
                <a:r>
                  <a:rPr lang="en-US" dirty="0"/>
                  <a:t>We consider two cases:</a:t>
                </a:r>
              </a:p>
              <a:p>
                <a:pPr marL="609600" indent="-609600">
                  <a:buFontTx/>
                  <a:buNone/>
                </a:pPr>
                <a:endParaRPr lang="it-IT" dirty="0"/>
              </a:p>
              <a:p>
                <a:pPr marL="609600" indent="-609600">
                  <a:buFontTx/>
                  <a:buAutoNum type="arabicPeriod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 = |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it-IT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br>
                  <a:rPr lang="en-US" b="1" dirty="0">
                    <a:solidFill>
                      <a:srgbClr val="FF0000"/>
                    </a:solidFill>
                  </a:rPr>
                </a:br>
                <a:endParaRPr lang="en-US" b="1" dirty="0">
                  <a:solidFill>
                    <a:srgbClr val="FF0000"/>
                  </a:solidFill>
                </a:endParaRPr>
              </a:p>
              <a:p>
                <a:pPr marL="609600" indent="-609600">
                  <a:buFontTx/>
                  <a:buAutoNum type="arabicPeriod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 ≠ |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it-IT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609600" indent="-609600">
                  <a:buFontTx/>
                  <a:buAutoNum type="arabicPeriod"/>
                </a:pPr>
                <a:endParaRPr lang="en-US" b="1" dirty="0">
                  <a:solidFill>
                    <a:srgbClr val="993300"/>
                  </a:solidFill>
                </a:endParaRPr>
              </a:p>
              <a:p>
                <a:pPr marL="609600" indent="-609600">
                  <a:buFontTx/>
                  <a:buAutoNum type="arabicPeriod"/>
                </a:pPr>
                <a:endParaRPr lang="it-IT" dirty="0"/>
              </a:p>
            </p:txBody>
          </p:sp>
        </mc:Choice>
        <mc:Fallback xmlns="">
          <p:sp>
            <p:nvSpPr>
              <p:cNvPr id="13619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4213" y="2420938"/>
                <a:ext cx="7772400" cy="4114800"/>
              </a:xfrm>
              <a:blipFill rotWithShape="0">
                <a:blip r:embed="rId5"/>
                <a:stretch>
                  <a:fillRect l="-1569" t="-251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0582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7218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471488" y="41274"/>
                <a:ext cx="7772400" cy="1143001"/>
              </a:xfrm>
            </p:spPr>
            <p:txBody>
              <a:bodyPr/>
              <a:lstStyle/>
              <a:p>
                <a:pPr marL="838200" indent="-838200"/>
                <a:r>
                  <a:rPr lang="en-US" b="1" dirty="0">
                    <a:solidFill>
                      <a:srgbClr val="00B050"/>
                    </a:solidFill>
                  </a:rPr>
                  <a:t>Case </a:t>
                </a:r>
                <a:r>
                  <a:rPr lang="it-IT" b="1" dirty="0">
                    <a:solidFill>
                      <a:srgbClr val="00B050"/>
                    </a:solidFill>
                  </a:rPr>
                  <a:t>1</a:t>
                </a:r>
                <a:r>
                  <a:rPr lang="it-IT" dirty="0"/>
                  <a:t>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|=|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it-IT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721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71488" y="41274"/>
                <a:ext cx="7772400" cy="1143001"/>
              </a:xfrm>
              <a:blipFill rotWithShape="0">
                <a:blip r:embed="rId18"/>
                <a:stretch>
                  <a:fillRect l="-3137" b="-641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233" name="Rectangle 17"/>
              <p:cNvSpPr>
                <a:spLocks noChangeArrowheads="1"/>
              </p:cNvSpPr>
              <p:nvPr/>
            </p:nvSpPr>
            <p:spPr bwMode="auto">
              <a:xfrm>
                <a:off x="1233488" y="1870075"/>
                <a:ext cx="51816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it-IT" sz="2000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7233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33488" y="1870075"/>
                <a:ext cx="5181600" cy="45720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234" name="Rectangle 18"/>
              <p:cNvSpPr>
                <a:spLocks noChangeArrowheads="1"/>
              </p:cNvSpPr>
              <p:nvPr/>
            </p:nvSpPr>
            <p:spPr bwMode="auto">
              <a:xfrm>
                <a:off x="1233488" y="2708275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7234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33488" y="2708275"/>
                <a:ext cx="1295400" cy="45720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235" name="Rectangle 19"/>
              <p:cNvSpPr>
                <a:spLocks noChangeArrowheads="1"/>
              </p:cNvSpPr>
              <p:nvPr/>
            </p:nvSpPr>
            <p:spPr bwMode="auto">
              <a:xfrm>
                <a:off x="2528888" y="2708275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7235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8888" y="2708275"/>
                <a:ext cx="1295400" cy="45720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236" name="Rectangle 20"/>
              <p:cNvSpPr>
                <a:spLocks noChangeArrowheads="1"/>
              </p:cNvSpPr>
              <p:nvPr/>
            </p:nvSpPr>
            <p:spPr bwMode="auto">
              <a:xfrm>
                <a:off x="5653088" y="2708275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7236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53088" y="2708275"/>
                <a:ext cx="1295400" cy="45720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237" name="Rectangle 21"/>
              <p:cNvSpPr>
                <a:spLocks noChangeArrowheads="1"/>
              </p:cNvSpPr>
              <p:nvPr/>
            </p:nvSpPr>
            <p:spPr bwMode="auto">
              <a:xfrm>
                <a:off x="6948488" y="2708275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it-IT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7237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48488" y="2708275"/>
                <a:ext cx="1295400" cy="45720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238" name="Rectangle 22"/>
              <p:cNvSpPr>
                <a:spLocks noChangeArrowheads="1"/>
              </p:cNvSpPr>
              <p:nvPr/>
            </p:nvSpPr>
            <p:spPr bwMode="auto">
              <a:xfrm>
                <a:off x="6415088" y="1870075"/>
                <a:ext cx="533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𝟎𝟎𝟎𝟎</m:t>
                      </m:r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7238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15088" y="1870075"/>
                <a:ext cx="533400" cy="457200"/>
              </a:xfrm>
              <a:prstGeom prst="rect">
                <a:avLst/>
              </a:prstGeom>
              <a:blipFill rotWithShape="0">
                <a:blip r:embed="rId19"/>
                <a:stretch>
                  <a:fillRect l="-333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239" name="Line 23"/>
          <p:cNvSpPr>
            <a:spLocks noChangeShapeType="1"/>
          </p:cNvSpPr>
          <p:nvPr/>
        </p:nvSpPr>
        <p:spPr bwMode="auto">
          <a:xfrm flipH="1">
            <a:off x="1309688" y="1641475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7240" name="Line 24"/>
          <p:cNvSpPr>
            <a:spLocks noChangeShapeType="1"/>
          </p:cNvSpPr>
          <p:nvPr/>
        </p:nvSpPr>
        <p:spPr bwMode="auto">
          <a:xfrm>
            <a:off x="4136316" y="1641475"/>
            <a:ext cx="22787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7241" name="Line 25"/>
          <p:cNvSpPr>
            <a:spLocks noChangeShapeType="1"/>
          </p:cNvSpPr>
          <p:nvPr/>
        </p:nvSpPr>
        <p:spPr bwMode="auto">
          <a:xfrm>
            <a:off x="1309688" y="15652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7242" name="Line 26"/>
          <p:cNvSpPr>
            <a:spLocks noChangeShapeType="1"/>
          </p:cNvSpPr>
          <p:nvPr/>
        </p:nvSpPr>
        <p:spPr bwMode="auto">
          <a:xfrm>
            <a:off x="6415088" y="15652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243" name="Text Box 27"/>
              <p:cNvSpPr txBox="1">
                <a:spLocks noChangeArrowheads="1"/>
              </p:cNvSpPr>
              <p:nvPr/>
            </p:nvSpPr>
            <p:spPr bwMode="auto">
              <a:xfrm>
                <a:off x="3748088" y="1412875"/>
                <a:ext cx="33214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7243" name="Text 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48088" y="1412875"/>
                <a:ext cx="332142" cy="3693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244" name="Rectangle 28"/>
              <p:cNvSpPr>
                <a:spLocks noChangeArrowheads="1"/>
              </p:cNvSpPr>
              <p:nvPr/>
            </p:nvSpPr>
            <p:spPr bwMode="auto">
              <a:xfrm>
                <a:off x="1260475" y="4246563"/>
                <a:ext cx="51816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</m:oMath>
                  </m:oMathPara>
                </a14:m>
                <a:endParaRPr lang="it-IT" sz="2000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7244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60475" y="4246563"/>
                <a:ext cx="5181600" cy="45720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245" name="Rectangle 29"/>
              <p:cNvSpPr>
                <a:spLocks noChangeArrowheads="1"/>
              </p:cNvSpPr>
              <p:nvPr/>
            </p:nvSpPr>
            <p:spPr bwMode="auto">
              <a:xfrm>
                <a:off x="1260475" y="5084763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7245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60475" y="5084763"/>
                <a:ext cx="1295400" cy="45720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246" name="Rectangle 30"/>
              <p:cNvSpPr>
                <a:spLocks noChangeArrowheads="1"/>
              </p:cNvSpPr>
              <p:nvPr/>
            </p:nvSpPr>
            <p:spPr bwMode="auto">
              <a:xfrm>
                <a:off x="2555875" y="5084763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2000" b="1" baseline="-25000" dirty="0">
                  <a:solidFill>
                    <a:srgbClr val="993300"/>
                  </a:solidFill>
                </a:endParaRPr>
              </a:p>
            </p:txBody>
          </p:sp>
        </mc:Choice>
        <mc:Fallback xmlns="">
          <p:sp>
            <p:nvSpPr>
              <p:cNvPr id="137246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5875" y="5084763"/>
                <a:ext cx="1295400" cy="45720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247" name="Rectangle 31"/>
              <p:cNvSpPr>
                <a:spLocks noChangeArrowheads="1"/>
              </p:cNvSpPr>
              <p:nvPr/>
            </p:nvSpPr>
            <p:spPr bwMode="auto">
              <a:xfrm>
                <a:off x="5680075" y="5084763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  <m:sup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2000" b="1" baseline="-25000" dirty="0">
                  <a:solidFill>
                    <a:srgbClr val="993300"/>
                  </a:solidFill>
                </a:endParaRPr>
              </a:p>
            </p:txBody>
          </p:sp>
        </mc:Choice>
        <mc:Fallback xmlns="">
          <p:sp>
            <p:nvSpPr>
              <p:cNvPr id="137247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80075" y="5084763"/>
                <a:ext cx="1295400" cy="457200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248" name="Rectangle 32"/>
              <p:cNvSpPr>
                <a:spLocks noChangeArrowheads="1"/>
              </p:cNvSpPr>
              <p:nvPr/>
            </p:nvSpPr>
            <p:spPr bwMode="auto">
              <a:xfrm>
                <a:off x="6975475" y="5084763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it-IT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7248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75475" y="5084763"/>
                <a:ext cx="1295400" cy="457200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249" name="Rectangle 33"/>
              <p:cNvSpPr>
                <a:spLocks noChangeArrowheads="1"/>
              </p:cNvSpPr>
              <p:nvPr/>
            </p:nvSpPr>
            <p:spPr bwMode="auto">
              <a:xfrm>
                <a:off x="6442075" y="4246563"/>
                <a:ext cx="533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𝟎𝟎𝟎𝟎</m:t>
                      </m:r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7249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42075" y="4246563"/>
                <a:ext cx="533400" cy="457200"/>
              </a:xfrm>
              <a:prstGeom prst="rect">
                <a:avLst/>
              </a:prstGeom>
              <a:blipFill rotWithShape="0">
                <a:blip r:embed="rId20"/>
                <a:stretch>
                  <a:fillRect l="-4494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250" name="Line 34"/>
          <p:cNvSpPr>
            <a:spLocks noChangeShapeType="1"/>
          </p:cNvSpPr>
          <p:nvPr/>
        </p:nvSpPr>
        <p:spPr bwMode="auto">
          <a:xfrm flipH="1">
            <a:off x="1336675" y="4017963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7251" name="Line 35"/>
          <p:cNvSpPr>
            <a:spLocks noChangeShapeType="1"/>
          </p:cNvSpPr>
          <p:nvPr/>
        </p:nvSpPr>
        <p:spPr bwMode="auto">
          <a:xfrm>
            <a:off x="4200861" y="4017963"/>
            <a:ext cx="224121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7252" name="Line 36"/>
          <p:cNvSpPr>
            <a:spLocks noChangeShapeType="1"/>
          </p:cNvSpPr>
          <p:nvPr/>
        </p:nvSpPr>
        <p:spPr bwMode="auto">
          <a:xfrm>
            <a:off x="1336675" y="3941763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7253" name="Line 37"/>
          <p:cNvSpPr>
            <a:spLocks noChangeShapeType="1"/>
          </p:cNvSpPr>
          <p:nvPr/>
        </p:nvSpPr>
        <p:spPr bwMode="auto">
          <a:xfrm>
            <a:off x="6442075" y="3941763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254" name="Text Box 38"/>
              <p:cNvSpPr txBox="1">
                <a:spLocks noChangeArrowheads="1"/>
              </p:cNvSpPr>
              <p:nvPr/>
            </p:nvSpPr>
            <p:spPr bwMode="auto">
              <a:xfrm>
                <a:off x="3775075" y="3789363"/>
                <a:ext cx="33214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7254" name="Text 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75075" y="3789363"/>
                <a:ext cx="332142" cy="369332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435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44" grpId="0" animBg="1"/>
      <p:bldP spid="137245" grpId="0" animBg="1"/>
      <p:bldP spid="137246" grpId="0" animBg="1"/>
      <p:bldP spid="137247" grpId="0" animBg="1"/>
      <p:bldP spid="137248" grpId="0" animBg="1"/>
      <p:bldP spid="137249" grpId="0" animBg="1"/>
      <p:bldP spid="137250" grpId="0" animBg="1"/>
      <p:bldP spid="137251" grpId="0" animBg="1"/>
      <p:bldP spid="137252" grpId="0" animBg="1"/>
      <p:bldP spid="137253" grpId="0" animBg="1"/>
      <p:bldP spid="13725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9266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203200" y="26061"/>
                <a:ext cx="7772400" cy="1143000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|=|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926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03200" y="26061"/>
                <a:ext cx="7772400" cy="1143000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268" name="Rectangle 4"/>
              <p:cNvSpPr>
                <a:spLocks noChangeArrowheads="1"/>
              </p:cNvSpPr>
              <p:nvPr/>
            </p:nvSpPr>
            <p:spPr bwMode="auto">
              <a:xfrm>
                <a:off x="1403350" y="2060575"/>
                <a:ext cx="51816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it-IT" sz="2000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9268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03350" y="2060575"/>
                <a:ext cx="5181600" cy="45720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403350" y="3660775"/>
            <a:ext cx="914400" cy="2438400"/>
            <a:chOff x="1104" y="1728"/>
            <a:chExt cx="912" cy="1200"/>
          </a:xfrm>
        </p:grpSpPr>
        <p:sp>
          <p:nvSpPr>
            <p:cNvPr id="139270" name="Freeform 6"/>
            <p:cNvSpPr>
              <a:spLocks/>
            </p:cNvSpPr>
            <p:nvPr/>
          </p:nvSpPr>
          <p:spPr bwMode="auto">
            <a:xfrm>
              <a:off x="1104" y="1728"/>
              <a:ext cx="912" cy="1200"/>
            </a:xfrm>
            <a:custGeom>
              <a:avLst/>
              <a:gdLst/>
              <a:ahLst/>
              <a:cxnLst>
                <a:cxn ang="0">
                  <a:pos x="0" y="1200"/>
                </a:cxn>
                <a:cxn ang="0">
                  <a:pos x="912" y="1200"/>
                </a:cxn>
                <a:cxn ang="0">
                  <a:pos x="912" y="624"/>
                </a:cxn>
                <a:cxn ang="0">
                  <a:pos x="0" y="0"/>
                </a:cxn>
                <a:cxn ang="0">
                  <a:pos x="0" y="1200"/>
                </a:cxn>
              </a:cxnLst>
              <a:rect l="0" t="0" r="r" b="b"/>
              <a:pathLst>
                <a:path w="912" h="1200">
                  <a:moveTo>
                    <a:pt x="0" y="1200"/>
                  </a:moveTo>
                  <a:lnTo>
                    <a:pt x="912" y="1200"/>
                  </a:lnTo>
                  <a:lnTo>
                    <a:pt x="912" y="624"/>
                  </a:lnTo>
                  <a:lnTo>
                    <a:pt x="0" y="0"/>
                  </a:lnTo>
                  <a:lnTo>
                    <a:pt x="0" y="1200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271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1358" y="2372"/>
                  <a:ext cx="320" cy="255"/>
                </a:xfrm>
                <a:prstGeom prst="rect">
                  <a:avLst/>
                </a:prstGeom>
                <a:noFill/>
                <a:ln>
                  <a:noFill/>
                  <a:headEnd/>
                  <a:tailEnd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oMath>
                    </m:oMathPara>
                  </a14:m>
                  <a:endParaRPr lang="it-IT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9271" name="Text 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58" y="2372"/>
                  <a:ext cx="320" cy="25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  <a:ln>
                  <a:noFill/>
                  <a:headEnd/>
                  <a:tailEnd/>
                </a:ln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2698750" y="3660775"/>
            <a:ext cx="990600" cy="2438400"/>
            <a:chOff x="1104" y="1728"/>
            <a:chExt cx="912" cy="1200"/>
          </a:xfrm>
        </p:grpSpPr>
        <p:sp>
          <p:nvSpPr>
            <p:cNvPr id="139273" name="Freeform 9"/>
            <p:cNvSpPr>
              <a:spLocks/>
            </p:cNvSpPr>
            <p:nvPr/>
          </p:nvSpPr>
          <p:spPr bwMode="auto">
            <a:xfrm>
              <a:off x="1104" y="1728"/>
              <a:ext cx="912" cy="1200"/>
            </a:xfrm>
            <a:custGeom>
              <a:avLst/>
              <a:gdLst/>
              <a:ahLst/>
              <a:cxnLst>
                <a:cxn ang="0">
                  <a:pos x="0" y="1200"/>
                </a:cxn>
                <a:cxn ang="0">
                  <a:pos x="912" y="1200"/>
                </a:cxn>
                <a:cxn ang="0">
                  <a:pos x="912" y="624"/>
                </a:cxn>
                <a:cxn ang="0">
                  <a:pos x="0" y="0"/>
                </a:cxn>
                <a:cxn ang="0">
                  <a:pos x="0" y="1200"/>
                </a:cxn>
              </a:cxnLst>
              <a:rect l="0" t="0" r="r" b="b"/>
              <a:pathLst>
                <a:path w="912" h="1200">
                  <a:moveTo>
                    <a:pt x="0" y="1200"/>
                  </a:moveTo>
                  <a:lnTo>
                    <a:pt x="912" y="1200"/>
                  </a:lnTo>
                  <a:lnTo>
                    <a:pt x="912" y="624"/>
                  </a:lnTo>
                  <a:lnTo>
                    <a:pt x="0" y="0"/>
                  </a:lnTo>
                  <a:lnTo>
                    <a:pt x="0" y="1200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274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1328" y="2368"/>
                  <a:ext cx="452" cy="257"/>
                </a:xfrm>
                <a:prstGeom prst="rect">
                  <a:avLst/>
                </a:prstGeom>
                <a:noFill/>
                <a:ln>
                  <a:noFill/>
                  <a:headEnd/>
                  <a:tailEnd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oMath>
                    </m:oMathPara>
                  </a14:m>
                  <a:endParaRPr lang="it-IT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9274" name="Text 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28" y="2368"/>
                  <a:ext cx="452" cy="25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  <a:ln>
                  <a:noFill/>
                  <a:headEnd/>
                  <a:tailEnd/>
                </a:ln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7118350" y="3660775"/>
            <a:ext cx="914400" cy="2438400"/>
            <a:chOff x="1104" y="1728"/>
            <a:chExt cx="912" cy="1200"/>
          </a:xfrm>
        </p:grpSpPr>
        <p:sp>
          <p:nvSpPr>
            <p:cNvPr id="139276" name="Freeform 12"/>
            <p:cNvSpPr>
              <a:spLocks/>
            </p:cNvSpPr>
            <p:nvPr/>
          </p:nvSpPr>
          <p:spPr bwMode="auto">
            <a:xfrm>
              <a:off x="1104" y="1728"/>
              <a:ext cx="912" cy="1200"/>
            </a:xfrm>
            <a:custGeom>
              <a:avLst/>
              <a:gdLst/>
              <a:ahLst/>
              <a:cxnLst>
                <a:cxn ang="0">
                  <a:pos x="0" y="1200"/>
                </a:cxn>
                <a:cxn ang="0">
                  <a:pos x="912" y="1200"/>
                </a:cxn>
                <a:cxn ang="0">
                  <a:pos x="912" y="624"/>
                </a:cxn>
                <a:cxn ang="0">
                  <a:pos x="0" y="0"/>
                </a:cxn>
                <a:cxn ang="0">
                  <a:pos x="0" y="1200"/>
                </a:cxn>
              </a:cxnLst>
              <a:rect l="0" t="0" r="r" b="b"/>
              <a:pathLst>
                <a:path w="912" h="1200">
                  <a:moveTo>
                    <a:pt x="0" y="1200"/>
                  </a:moveTo>
                  <a:lnTo>
                    <a:pt x="912" y="1200"/>
                  </a:lnTo>
                  <a:lnTo>
                    <a:pt x="912" y="624"/>
                  </a:lnTo>
                  <a:lnTo>
                    <a:pt x="0" y="0"/>
                  </a:lnTo>
                  <a:lnTo>
                    <a:pt x="0" y="1200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277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1441" y="2368"/>
                  <a:ext cx="490" cy="257"/>
                </a:xfrm>
                <a:prstGeom prst="rect">
                  <a:avLst/>
                </a:prstGeom>
                <a:noFill/>
                <a:ln>
                  <a:noFill/>
                  <a:headEnd/>
                  <a:tailEnd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it-IT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oMath>
                    </m:oMathPara>
                  </a14:m>
                  <a:endParaRPr lang="it-IT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9277" name="Text 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41" y="2368"/>
                  <a:ext cx="490" cy="257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  <a:ln>
                  <a:noFill/>
                  <a:headEnd/>
                  <a:tailEnd/>
                </a:ln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9278" name="Rectangle 14"/>
              <p:cNvSpPr>
                <a:spLocks noChangeArrowheads="1"/>
              </p:cNvSpPr>
              <p:nvPr/>
            </p:nvSpPr>
            <p:spPr bwMode="auto">
              <a:xfrm>
                <a:off x="1403350" y="2898775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9278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03350" y="2898775"/>
                <a:ext cx="1295400" cy="45720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5822950" y="3660775"/>
            <a:ext cx="914400" cy="2438400"/>
            <a:chOff x="1104" y="1728"/>
            <a:chExt cx="912" cy="1200"/>
          </a:xfrm>
        </p:grpSpPr>
        <p:sp>
          <p:nvSpPr>
            <p:cNvPr id="139280" name="Freeform 16"/>
            <p:cNvSpPr>
              <a:spLocks/>
            </p:cNvSpPr>
            <p:nvPr/>
          </p:nvSpPr>
          <p:spPr bwMode="auto">
            <a:xfrm>
              <a:off x="1104" y="1728"/>
              <a:ext cx="912" cy="1200"/>
            </a:xfrm>
            <a:custGeom>
              <a:avLst/>
              <a:gdLst/>
              <a:ahLst/>
              <a:cxnLst>
                <a:cxn ang="0">
                  <a:pos x="0" y="1200"/>
                </a:cxn>
                <a:cxn ang="0">
                  <a:pos x="912" y="1200"/>
                </a:cxn>
                <a:cxn ang="0">
                  <a:pos x="912" y="624"/>
                </a:cxn>
                <a:cxn ang="0">
                  <a:pos x="0" y="0"/>
                </a:cxn>
                <a:cxn ang="0">
                  <a:pos x="0" y="1200"/>
                </a:cxn>
              </a:cxnLst>
              <a:rect l="0" t="0" r="r" b="b"/>
              <a:pathLst>
                <a:path w="912" h="1200">
                  <a:moveTo>
                    <a:pt x="0" y="1200"/>
                  </a:moveTo>
                  <a:lnTo>
                    <a:pt x="912" y="1200"/>
                  </a:lnTo>
                  <a:lnTo>
                    <a:pt x="912" y="624"/>
                  </a:lnTo>
                  <a:lnTo>
                    <a:pt x="0" y="0"/>
                  </a:lnTo>
                  <a:lnTo>
                    <a:pt x="0" y="1200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281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1388" y="2368"/>
                  <a:ext cx="343" cy="255"/>
                </a:xfrm>
                <a:prstGeom prst="rect">
                  <a:avLst/>
                </a:prstGeom>
                <a:noFill/>
                <a:ln>
                  <a:noFill/>
                  <a:headEnd/>
                  <a:tailEnd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it-IT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oMath>
                    </m:oMathPara>
                  </a14:m>
                  <a:endParaRPr lang="it-IT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9281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88" y="2368"/>
                  <a:ext cx="343" cy="255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  <a:ln>
                  <a:noFill/>
                  <a:headEnd/>
                  <a:tailEnd/>
                </a:ln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9282" name="Rectangle 18"/>
              <p:cNvSpPr>
                <a:spLocks noChangeArrowheads="1"/>
              </p:cNvSpPr>
              <p:nvPr/>
            </p:nvSpPr>
            <p:spPr bwMode="auto">
              <a:xfrm>
                <a:off x="2698750" y="2898775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9282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8750" y="2898775"/>
                <a:ext cx="1295400" cy="45720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283" name="Rectangle 19"/>
              <p:cNvSpPr>
                <a:spLocks noChangeArrowheads="1"/>
              </p:cNvSpPr>
              <p:nvPr/>
            </p:nvSpPr>
            <p:spPr bwMode="auto">
              <a:xfrm>
                <a:off x="5822950" y="2898775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9283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22950" y="2898775"/>
                <a:ext cx="1295400" cy="45720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284" name="Rectangle 20"/>
              <p:cNvSpPr>
                <a:spLocks noChangeArrowheads="1"/>
              </p:cNvSpPr>
              <p:nvPr/>
            </p:nvSpPr>
            <p:spPr bwMode="auto">
              <a:xfrm>
                <a:off x="7118350" y="2898775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it-IT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9284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18350" y="2898775"/>
                <a:ext cx="1295400" cy="45720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285" name="AutoShape 21"/>
              <p:cNvSpPr>
                <a:spLocks noChangeArrowheads="1"/>
              </p:cNvSpPr>
              <p:nvPr/>
            </p:nvSpPr>
            <p:spPr bwMode="auto">
              <a:xfrm>
                <a:off x="2317750" y="5157788"/>
                <a:ext cx="381000" cy="863600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it-IT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it-IT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9285" name="AutoShap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17750" y="5157788"/>
                <a:ext cx="381000" cy="863600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blipFill rotWithShape="0">
                <a:blip r:embed="rId13"/>
                <a:stretch>
                  <a:fillRect l="-1515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289" name="AutoShape 25"/>
          <p:cNvSpPr>
            <a:spLocks noChangeArrowheads="1"/>
          </p:cNvSpPr>
          <p:nvPr/>
        </p:nvSpPr>
        <p:spPr bwMode="auto">
          <a:xfrm rot="5983297" flipV="1">
            <a:off x="542925" y="3162300"/>
            <a:ext cx="1601788" cy="1220788"/>
          </a:xfrm>
          <a:custGeom>
            <a:avLst/>
            <a:gdLst>
              <a:gd name="G0" fmla="+- -279987 0 0"/>
              <a:gd name="G1" fmla="+- -11796480 0 0"/>
              <a:gd name="G2" fmla="+- -279987 0 -11796480"/>
              <a:gd name="G3" fmla="+- 10800 0 0"/>
              <a:gd name="G4" fmla="+- 0 0 -279987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792 0 0"/>
              <a:gd name="G9" fmla="+- 0 0 -11796480"/>
              <a:gd name="G10" fmla="+- 8792 0 2700"/>
              <a:gd name="G11" fmla="cos G10 -279987"/>
              <a:gd name="G12" fmla="sin G10 -279987"/>
              <a:gd name="G13" fmla="cos 13500 -279987"/>
              <a:gd name="G14" fmla="sin 13500 -279987"/>
              <a:gd name="G15" fmla="+- G11 10800 0"/>
              <a:gd name="G16" fmla="+- G12 10800 0"/>
              <a:gd name="G17" fmla="+- G13 10800 0"/>
              <a:gd name="G18" fmla="+- G14 10800 0"/>
              <a:gd name="G19" fmla="*/ 8792 1 2"/>
              <a:gd name="G20" fmla="+- G19 5400 0"/>
              <a:gd name="G21" fmla="cos G20 -279987"/>
              <a:gd name="G22" fmla="sin G20 -279987"/>
              <a:gd name="G23" fmla="+- G21 10800 0"/>
              <a:gd name="G24" fmla="+- G12 G23 G22"/>
              <a:gd name="G25" fmla="+- G22 G23 G11"/>
              <a:gd name="G26" fmla="cos 10800 -279987"/>
              <a:gd name="G27" fmla="sin 10800 -279987"/>
              <a:gd name="G28" fmla="cos 8792 -279987"/>
              <a:gd name="G29" fmla="sin 8792 -279987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279987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792 G39"/>
              <a:gd name="G43" fmla="sin 8792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397 w 21600"/>
              <a:gd name="T5" fmla="*/ 7 h 21600"/>
              <a:gd name="T6" fmla="*/ 1004 w 21600"/>
              <a:gd name="T7" fmla="*/ 10800 h 21600"/>
              <a:gd name="T8" fmla="*/ 10472 w 21600"/>
              <a:gd name="T9" fmla="*/ 2014 h 21600"/>
              <a:gd name="T10" fmla="*/ 24262 w 21600"/>
              <a:gd name="T11" fmla="*/ 9794 h 21600"/>
              <a:gd name="T12" fmla="*/ 20844 w 21600"/>
              <a:gd name="T13" fmla="*/ 13763 h 21600"/>
              <a:gd name="T14" fmla="*/ 16875 w 21600"/>
              <a:gd name="T15" fmla="*/ 1034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9567" y="10145"/>
                </a:moveTo>
                <a:cubicBezTo>
                  <a:pt x="19224" y="5556"/>
                  <a:pt x="15401" y="2008"/>
                  <a:pt x="10800" y="2008"/>
                </a:cubicBezTo>
                <a:cubicBezTo>
                  <a:pt x="5944" y="2008"/>
                  <a:pt x="2008" y="5944"/>
                  <a:pt x="2008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452" y="0"/>
                  <a:pt x="21148" y="4358"/>
                  <a:pt x="21569" y="9995"/>
                </a:cubicBezTo>
                <a:lnTo>
                  <a:pt x="24262" y="9794"/>
                </a:lnTo>
                <a:lnTo>
                  <a:pt x="20844" y="13763"/>
                </a:lnTo>
                <a:lnTo>
                  <a:pt x="16875" y="10346"/>
                </a:lnTo>
                <a:lnTo>
                  <a:pt x="19567" y="10145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9290" name="AutoShape 26"/>
          <p:cNvSpPr>
            <a:spLocks noChangeArrowheads="1"/>
          </p:cNvSpPr>
          <p:nvPr/>
        </p:nvSpPr>
        <p:spPr bwMode="auto">
          <a:xfrm rot="5983297" flipV="1">
            <a:off x="1835150" y="3203575"/>
            <a:ext cx="1638300" cy="1257300"/>
          </a:xfrm>
          <a:custGeom>
            <a:avLst/>
            <a:gdLst>
              <a:gd name="G0" fmla="+- -279987 0 0"/>
              <a:gd name="G1" fmla="+- -11796480 0 0"/>
              <a:gd name="G2" fmla="+- -279987 0 -11796480"/>
              <a:gd name="G3" fmla="+- 10800 0 0"/>
              <a:gd name="G4" fmla="+- 0 0 -279987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792 0 0"/>
              <a:gd name="G9" fmla="+- 0 0 -11796480"/>
              <a:gd name="G10" fmla="+- 8792 0 2700"/>
              <a:gd name="G11" fmla="cos G10 -279987"/>
              <a:gd name="G12" fmla="sin G10 -279987"/>
              <a:gd name="G13" fmla="cos 13500 -279987"/>
              <a:gd name="G14" fmla="sin 13500 -279987"/>
              <a:gd name="G15" fmla="+- G11 10800 0"/>
              <a:gd name="G16" fmla="+- G12 10800 0"/>
              <a:gd name="G17" fmla="+- G13 10800 0"/>
              <a:gd name="G18" fmla="+- G14 10800 0"/>
              <a:gd name="G19" fmla="*/ 8792 1 2"/>
              <a:gd name="G20" fmla="+- G19 5400 0"/>
              <a:gd name="G21" fmla="cos G20 -279987"/>
              <a:gd name="G22" fmla="sin G20 -279987"/>
              <a:gd name="G23" fmla="+- G21 10800 0"/>
              <a:gd name="G24" fmla="+- G12 G23 G22"/>
              <a:gd name="G25" fmla="+- G22 G23 G11"/>
              <a:gd name="G26" fmla="cos 10800 -279987"/>
              <a:gd name="G27" fmla="sin 10800 -279987"/>
              <a:gd name="G28" fmla="cos 8792 -279987"/>
              <a:gd name="G29" fmla="sin 8792 -279987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279987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792 G39"/>
              <a:gd name="G43" fmla="sin 8792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397 w 21600"/>
              <a:gd name="T5" fmla="*/ 7 h 21600"/>
              <a:gd name="T6" fmla="*/ 1004 w 21600"/>
              <a:gd name="T7" fmla="*/ 10800 h 21600"/>
              <a:gd name="T8" fmla="*/ 10472 w 21600"/>
              <a:gd name="T9" fmla="*/ 2014 h 21600"/>
              <a:gd name="T10" fmla="*/ 24262 w 21600"/>
              <a:gd name="T11" fmla="*/ 9794 h 21600"/>
              <a:gd name="T12" fmla="*/ 20844 w 21600"/>
              <a:gd name="T13" fmla="*/ 13763 h 21600"/>
              <a:gd name="T14" fmla="*/ 16875 w 21600"/>
              <a:gd name="T15" fmla="*/ 1034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9567" y="10145"/>
                </a:moveTo>
                <a:cubicBezTo>
                  <a:pt x="19224" y="5556"/>
                  <a:pt x="15401" y="2008"/>
                  <a:pt x="10800" y="2008"/>
                </a:cubicBezTo>
                <a:cubicBezTo>
                  <a:pt x="5944" y="2008"/>
                  <a:pt x="2008" y="5944"/>
                  <a:pt x="2008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452" y="0"/>
                  <a:pt x="21148" y="4358"/>
                  <a:pt x="21569" y="9995"/>
                </a:cubicBezTo>
                <a:lnTo>
                  <a:pt x="24262" y="9794"/>
                </a:lnTo>
                <a:lnTo>
                  <a:pt x="20844" y="13763"/>
                </a:lnTo>
                <a:lnTo>
                  <a:pt x="16875" y="10346"/>
                </a:lnTo>
                <a:lnTo>
                  <a:pt x="19567" y="10145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9291" name="AutoShape 27"/>
          <p:cNvSpPr>
            <a:spLocks noChangeArrowheads="1"/>
          </p:cNvSpPr>
          <p:nvPr/>
        </p:nvSpPr>
        <p:spPr bwMode="auto">
          <a:xfrm rot="5983297" flipV="1">
            <a:off x="4962525" y="3162300"/>
            <a:ext cx="1600200" cy="1219200"/>
          </a:xfrm>
          <a:custGeom>
            <a:avLst/>
            <a:gdLst>
              <a:gd name="G0" fmla="+- -279987 0 0"/>
              <a:gd name="G1" fmla="+- -11796480 0 0"/>
              <a:gd name="G2" fmla="+- -279987 0 -11796480"/>
              <a:gd name="G3" fmla="+- 10800 0 0"/>
              <a:gd name="G4" fmla="+- 0 0 -279987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792 0 0"/>
              <a:gd name="G9" fmla="+- 0 0 -11796480"/>
              <a:gd name="G10" fmla="+- 8792 0 2700"/>
              <a:gd name="G11" fmla="cos G10 -279987"/>
              <a:gd name="G12" fmla="sin G10 -279987"/>
              <a:gd name="G13" fmla="cos 13500 -279987"/>
              <a:gd name="G14" fmla="sin 13500 -279987"/>
              <a:gd name="G15" fmla="+- G11 10800 0"/>
              <a:gd name="G16" fmla="+- G12 10800 0"/>
              <a:gd name="G17" fmla="+- G13 10800 0"/>
              <a:gd name="G18" fmla="+- G14 10800 0"/>
              <a:gd name="G19" fmla="*/ 8792 1 2"/>
              <a:gd name="G20" fmla="+- G19 5400 0"/>
              <a:gd name="G21" fmla="cos G20 -279987"/>
              <a:gd name="G22" fmla="sin G20 -279987"/>
              <a:gd name="G23" fmla="+- G21 10800 0"/>
              <a:gd name="G24" fmla="+- G12 G23 G22"/>
              <a:gd name="G25" fmla="+- G22 G23 G11"/>
              <a:gd name="G26" fmla="cos 10800 -279987"/>
              <a:gd name="G27" fmla="sin 10800 -279987"/>
              <a:gd name="G28" fmla="cos 8792 -279987"/>
              <a:gd name="G29" fmla="sin 8792 -279987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279987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792 G39"/>
              <a:gd name="G43" fmla="sin 8792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397 w 21600"/>
              <a:gd name="T5" fmla="*/ 7 h 21600"/>
              <a:gd name="T6" fmla="*/ 1004 w 21600"/>
              <a:gd name="T7" fmla="*/ 10800 h 21600"/>
              <a:gd name="T8" fmla="*/ 10472 w 21600"/>
              <a:gd name="T9" fmla="*/ 2014 h 21600"/>
              <a:gd name="T10" fmla="*/ 24262 w 21600"/>
              <a:gd name="T11" fmla="*/ 9794 h 21600"/>
              <a:gd name="T12" fmla="*/ 20844 w 21600"/>
              <a:gd name="T13" fmla="*/ 13763 h 21600"/>
              <a:gd name="T14" fmla="*/ 16875 w 21600"/>
              <a:gd name="T15" fmla="*/ 1034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9567" y="10145"/>
                </a:moveTo>
                <a:cubicBezTo>
                  <a:pt x="19224" y="5556"/>
                  <a:pt x="15401" y="2008"/>
                  <a:pt x="10800" y="2008"/>
                </a:cubicBezTo>
                <a:cubicBezTo>
                  <a:pt x="5944" y="2008"/>
                  <a:pt x="2008" y="5944"/>
                  <a:pt x="2008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452" y="0"/>
                  <a:pt x="21148" y="4358"/>
                  <a:pt x="21569" y="9995"/>
                </a:cubicBezTo>
                <a:lnTo>
                  <a:pt x="24262" y="9794"/>
                </a:lnTo>
                <a:lnTo>
                  <a:pt x="20844" y="13763"/>
                </a:lnTo>
                <a:lnTo>
                  <a:pt x="16875" y="10346"/>
                </a:lnTo>
                <a:lnTo>
                  <a:pt x="19567" y="10145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9292" name="AutoShape 28"/>
          <p:cNvSpPr>
            <a:spLocks noChangeArrowheads="1"/>
          </p:cNvSpPr>
          <p:nvPr/>
        </p:nvSpPr>
        <p:spPr bwMode="auto">
          <a:xfrm rot="5983297" flipV="1">
            <a:off x="6257925" y="3162300"/>
            <a:ext cx="1601788" cy="1220788"/>
          </a:xfrm>
          <a:custGeom>
            <a:avLst/>
            <a:gdLst>
              <a:gd name="G0" fmla="+- -279987 0 0"/>
              <a:gd name="G1" fmla="+- -11796480 0 0"/>
              <a:gd name="G2" fmla="+- -279987 0 -11796480"/>
              <a:gd name="G3" fmla="+- 10800 0 0"/>
              <a:gd name="G4" fmla="+- 0 0 -279987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792 0 0"/>
              <a:gd name="G9" fmla="+- 0 0 -11796480"/>
              <a:gd name="G10" fmla="+- 8792 0 2700"/>
              <a:gd name="G11" fmla="cos G10 -279987"/>
              <a:gd name="G12" fmla="sin G10 -279987"/>
              <a:gd name="G13" fmla="cos 13500 -279987"/>
              <a:gd name="G14" fmla="sin 13500 -279987"/>
              <a:gd name="G15" fmla="+- G11 10800 0"/>
              <a:gd name="G16" fmla="+- G12 10800 0"/>
              <a:gd name="G17" fmla="+- G13 10800 0"/>
              <a:gd name="G18" fmla="+- G14 10800 0"/>
              <a:gd name="G19" fmla="*/ 8792 1 2"/>
              <a:gd name="G20" fmla="+- G19 5400 0"/>
              <a:gd name="G21" fmla="cos G20 -279987"/>
              <a:gd name="G22" fmla="sin G20 -279987"/>
              <a:gd name="G23" fmla="+- G21 10800 0"/>
              <a:gd name="G24" fmla="+- G12 G23 G22"/>
              <a:gd name="G25" fmla="+- G22 G23 G11"/>
              <a:gd name="G26" fmla="cos 10800 -279987"/>
              <a:gd name="G27" fmla="sin 10800 -279987"/>
              <a:gd name="G28" fmla="cos 8792 -279987"/>
              <a:gd name="G29" fmla="sin 8792 -279987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279987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792 G39"/>
              <a:gd name="G43" fmla="sin 8792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397 w 21600"/>
              <a:gd name="T5" fmla="*/ 7 h 21600"/>
              <a:gd name="T6" fmla="*/ 1004 w 21600"/>
              <a:gd name="T7" fmla="*/ 10800 h 21600"/>
              <a:gd name="T8" fmla="*/ 10472 w 21600"/>
              <a:gd name="T9" fmla="*/ 2014 h 21600"/>
              <a:gd name="T10" fmla="*/ 24262 w 21600"/>
              <a:gd name="T11" fmla="*/ 9794 h 21600"/>
              <a:gd name="T12" fmla="*/ 20844 w 21600"/>
              <a:gd name="T13" fmla="*/ 13763 h 21600"/>
              <a:gd name="T14" fmla="*/ 16875 w 21600"/>
              <a:gd name="T15" fmla="*/ 1034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9567" y="10145"/>
                </a:moveTo>
                <a:cubicBezTo>
                  <a:pt x="19224" y="5556"/>
                  <a:pt x="15401" y="2008"/>
                  <a:pt x="10800" y="2008"/>
                </a:cubicBezTo>
                <a:cubicBezTo>
                  <a:pt x="5944" y="2008"/>
                  <a:pt x="2008" y="5944"/>
                  <a:pt x="2008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452" y="0"/>
                  <a:pt x="21148" y="4358"/>
                  <a:pt x="21569" y="9995"/>
                </a:cubicBezTo>
                <a:lnTo>
                  <a:pt x="24262" y="9794"/>
                </a:lnTo>
                <a:lnTo>
                  <a:pt x="20844" y="13763"/>
                </a:lnTo>
                <a:lnTo>
                  <a:pt x="16875" y="10346"/>
                </a:lnTo>
                <a:lnTo>
                  <a:pt x="19567" y="10145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9293" name="Rectangle 29"/>
              <p:cNvSpPr>
                <a:spLocks noChangeArrowheads="1"/>
              </p:cNvSpPr>
              <p:nvPr/>
            </p:nvSpPr>
            <p:spPr bwMode="auto">
              <a:xfrm>
                <a:off x="565150" y="4879975"/>
                <a:ext cx="457200" cy="1219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𝐈𝐕</m:t>
                      </m:r>
                    </m:oMath>
                  </m:oMathPara>
                </a14:m>
                <a:endParaRPr lang="it-IT" sz="2000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9293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5150" y="4879975"/>
                <a:ext cx="457200" cy="1219200"/>
              </a:xfrm>
              <a:prstGeom prst="rect">
                <a:avLst/>
              </a:prstGeom>
              <a:blipFill rotWithShape="0">
                <a:blip r:embed="rId14"/>
                <a:stretch>
                  <a:fillRect l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295" name="Rectangle 31"/>
              <p:cNvSpPr>
                <a:spLocks noChangeArrowheads="1"/>
              </p:cNvSpPr>
              <p:nvPr/>
            </p:nvSpPr>
            <p:spPr bwMode="auto">
              <a:xfrm>
                <a:off x="6584950" y="2060575"/>
                <a:ext cx="533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𝟎𝟎𝟎𝟎</m:t>
                      </m:r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9295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84950" y="2060575"/>
                <a:ext cx="533400" cy="457200"/>
              </a:xfrm>
              <a:prstGeom prst="rect">
                <a:avLst/>
              </a:prstGeom>
              <a:blipFill rotWithShape="0">
                <a:blip r:embed="rId15"/>
                <a:stretch>
                  <a:fillRect l="-333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296" name="Text Box 32"/>
          <p:cNvSpPr txBox="1">
            <a:spLocks noChangeArrowheads="1"/>
          </p:cNvSpPr>
          <p:nvPr/>
        </p:nvSpPr>
        <p:spPr bwMode="auto">
          <a:xfrm>
            <a:off x="4451350" y="4651375"/>
            <a:ext cx="6048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it-IT" b="1">
                <a:solidFill>
                  <a:srgbClr val="993300"/>
                </a:solidFill>
              </a:rPr>
              <a:t>. . 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9298" name="AutoShape 34"/>
              <p:cNvSpPr>
                <a:spLocks noChangeArrowheads="1"/>
              </p:cNvSpPr>
              <p:nvPr/>
            </p:nvSpPr>
            <p:spPr bwMode="auto">
              <a:xfrm>
                <a:off x="8027988" y="5229225"/>
                <a:ext cx="865187" cy="781050"/>
              </a:xfrm>
              <a:prstGeom prst="rightArrow">
                <a:avLst>
                  <a:gd name="adj1" fmla="val 50000"/>
                  <a:gd name="adj2" fmla="val 27693"/>
                </a:avLst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9298" name="AutoShap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27988" y="5229225"/>
                <a:ext cx="865187" cy="781050"/>
              </a:xfrm>
              <a:prstGeom prst="rightArrow">
                <a:avLst>
                  <a:gd name="adj1" fmla="val 50000"/>
                  <a:gd name="adj2" fmla="val 27693"/>
                </a:avLst>
              </a:prstGeom>
              <a:blipFill rotWithShape="0">
                <a:blip r:embed="rId16"/>
                <a:stretch>
                  <a:fillRect l="-137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300" name="AutoShape 36"/>
              <p:cNvSpPr>
                <a:spLocks noChangeArrowheads="1"/>
              </p:cNvSpPr>
              <p:nvPr/>
            </p:nvSpPr>
            <p:spPr bwMode="auto">
              <a:xfrm>
                <a:off x="1042988" y="5157788"/>
                <a:ext cx="381000" cy="863600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it-IT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it-IT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9300" name="AutoShap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2988" y="5157788"/>
                <a:ext cx="381000" cy="863600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blipFill rotWithShape="0">
                <a:blip r:embed="rId17"/>
                <a:stretch>
                  <a:fillRect l="-1515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301" name="AutoShape 37"/>
              <p:cNvSpPr>
                <a:spLocks noChangeArrowheads="1"/>
              </p:cNvSpPr>
              <p:nvPr/>
            </p:nvSpPr>
            <p:spPr bwMode="auto">
              <a:xfrm>
                <a:off x="3708400" y="5157788"/>
                <a:ext cx="381000" cy="863600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it-IT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it-IT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9301" name="AutoShap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08400" y="5157788"/>
                <a:ext cx="381000" cy="863600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blipFill rotWithShape="0">
                <a:blip r:embed="rId18"/>
                <a:stretch>
                  <a:fillRect l="-1515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302" name="AutoShape 38"/>
              <p:cNvSpPr>
                <a:spLocks noChangeArrowheads="1"/>
              </p:cNvSpPr>
              <p:nvPr/>
            </p:nvSpPr>
            <p:spPr bwMode="auto">
              <a:xfrm>
                <a:off x="6715140" y="5143512"/>
                <a:ext cx="720725" cy="863600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it-IT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9302" name="AutoShap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15140" y="5143512"/>
                <a:ext cx="720725" cy="863600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blipFill rotWithShape="0">
                <a:blip r:embed="rId19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303" name="AutoShape 39"/>
              <p:cNvSpPr>
                <a:spLocks noChangeArrowheads="1"/>
              </p:cNvSpPr>
              <p:nvPr/>
            </p:nvSpPr>
            <p:spPr bwMode="auto">
              <a:xfrm>
                <a:off x="5435600" y="5157788"/>
                <a:ext cx="381000" cy="863600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it-IT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it-IT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9303" name="AutoShap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35600" y="5157788"/>
                <a:ext cx="381000" cy="863600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blipFill rotWithShape="0">
                <a:blip r:embed="rId20"/>
                <a:stretch>
                  <a:fillRect l="-4615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304" name="Text Box 40"/>
          <p:cNvSpPr txBox="1">
            <a:spLocks noChangeArrowheads="1"/>
          </p:cNvSpPr>
          <p:nvPr/>
        </p:nvSpPr>
        <p:spPr bwMode="auto">
          <a:xfrm>
            <a:off x="273050" y="1239474"/>
            <a:ext cx="21707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it-IT" sz="2400"/>
              <a:t>Some notation:</a:t>
            </a:r>
          </a:p>
        </p:txBody>
      </p:sp>
    </p:spTree>
    <p:extLst>
      <p:ext uri="{BB962C8B-B14F-4D97-AF65-F5344CB8AC3E}">
        <p14:creationId xmlns:p14="http://schemas.microsoft.com/office/powerpoint/2010/main" val="10920374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0291" name="Rectangle 3"/>
              <p:cNvSpPr>
                <a:spLocks noChangeArrowheads="1"/>
              </p:cNvSpPr>
              <p:nvPr/>
            </p:nvSpPr>
            <p:spPr bwMode="auto">
              <a:xfrm>
                <a:off x="1403350" y="2060575"/>
                <a:ext cx="51816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</m:oMath>
                  </m:oMathPara>
                </a14:m>
                <a:endParaRPr lang="it-IT" sz="2000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0291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03350" y="2060575"/>
                <a:ext cx="5181600" cy="45720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403350" y="3660775"/>
            <a:ext cx="914400" cy="2438400"/>
            <a:chOff x="1104" y="1728"/>
            <a:chExt cx="912" cy="1200"/>
          </a:xfrm>
        </p:grpSpPr>
        <p:sp>
          <p:nvSpPr>
            <p:cNvPr id="140293" name="Freeform 5"/>
            <p:cNvSpPr>
              <a:spLocks/>
            </p:cNvSpPr>
            <p:nvPr/>
          </p:nvSpPr>
          <p:spPr bwMode="auto">
            <a:xfrm>
              <a:off x="1104" y="1728"/>
              <a:ext cx="912" cy="1200"/>
            </a:xfrm>
            <a:custGeom>
              <a:avLst/>
              <a:gdLst/>
              <a:ahLst/>
              <a:cxnLst>
                <a:cxn ang="0">
                  <a:pos x="0" y="1200"/>
                </a:cxn>
                <a:cxn ang="0">
                  <a:pos x="912" y="1200"/>
                </a:cxn>
                <a:cxn ang="0">
                  <a:pos x="912" y="624"/>
                </a:cxn>
                <a:cxn ang="0">
                  <a:pos x="0" y="0"/>
                </a:cxn>
                <a:cxn ang="0">
                  <a:pos x="0" y="1200"/>
                </a:cxn>
              </a:cxnLst>
              <a:rect l="0" t="0" r="r" b="b"/>
              <a:pathLst>
                <a:path w="912" h="1200">
                  <a:moveTo>
                    <a:pt x="0" y="1200"/>
                  </a:moveTo>
                  <a:lnTo>
                    <a:pt x="912" y="1200"/>
                  </a:lnTo>
                  <a:lnTo>
                    <a:pt x="912" y="624"/>
                  </a:lnTo>
                  <a:lnTo>
                    <a:pt x="0" y="0"/>
                  </a:lnTo>
                  <a:lnTo>
                    <a:pt x="0" y="1200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294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1346" y="2373"/>
                  <a:ext cx="320" cy="255"/>
                </a:xfrm>
                <a:prstGeom prst="rect">
                  <a:avLst/>
                </a:prstGeom>
                <a:noFill/>
                <a:ln>
                  <a:noFill/>
                  <a:headEnd/>
                  <a:tailEnd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oMath>
                    </m:oMathPara>
                  </a14:m>
                  <a:endParaRPr lang="it-IT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0294" name="Text 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46" y="2373"/>
                  <a:ext cx="320" cy="25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  <a:ln>
                  <a:noFill/>
                  <a:headEnd/>
                  <a:tailEnd/>
                </a:ln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698750" y="3660775"/>
            <a:ext cx="990600" cy="2438400"/>
            <a:chOff x="1104" y="1728"/>
            <a:chExt cx="912" cy="1200"/>
          </a:xfrm>
        </p:grpSpPr>
        <p:sp>
          <p:nvSpPr>
            <p:cNvPr id="140296" name="Freeform 8"/>
            <p:cNvSpPr>
              <a:spLocks/>
            </p:cNvSpPr>
            <p:nvPr/>
          </p:nvSpPr>
          <p:spPr bwMode="auto">
            <a:xfrm>
              <a:off x="1104" y="1728"/>
              <a:ext cx="912" cy="1200"/>
            </a:xfrm>
            <a:custGeom>
              <a:avLst/>
              <a:gdLst/>
              <a:ahLst/>
              <a:cxnLst>
                <a:cxn ang="0">
                  <a:pos x="0" y="1200"/>
                </a:cxn>
                <a:cxn ang="0">
                  <a:pos x="912" y="1200"/>
                </a:cxn>
                <a:cxn ang="0">
                  <a:pos x="912" y="624"/>
                </a:cxn>
                <a:cxn ang="0">
                  <a:pos x="0" y="0"/>
                </a:cxn>
                <a:cxn ang="0">
                  <a:pos x="0" y="1200"/>
                </a:cxn>
              </a:cxnLst>
              <a:rect l="0" t="0" r="r" b="b"/>
              <a:pathLst>
                <a:path w="912" h="1200">
                  <a:moveTo>
                    <a:pt x="0" y="1200"/>
                  </a:moveTo>
                  <a:lnTo>
                    <a:pt x="912" y="1200"/>
                  </a:lnTo>
                  <a:lnTo>
                    <a:pt x="912" y="624"/>
                  </a:lnTo>
                  <a:lnTo>
                    <a:pt x="0" y="0"/>
                  </a:lnTo>
                  <a:lnTo>
                    <a:pt x="0" y="1200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297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382" y="2371"/>
                  <a:ext cx="452" cy="257"/>
                </a:xfrm>
                <a:prstGeom prst="rect">
                  <a:avLst/>
                </a:prstGeom>
                <a:noFill/>
                <a:ln>
                  <a:noFill/>
                  <a:headEnd/>
                  <a:tailEnd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oMath>
                    </m:oMathPara>
                  </a14:m>
                  <a:endParaRPr lang="it-IT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0297" name="Text 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82" y="2371"/>
                  <a:ext cx="452" cy="25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  <a:ln>
                  <a:noFill/>
                  <a:headEnd/>
                  <a:tailEnd/>
                </a:ln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7118350" y="3660775"/>
            <a:ext cx="914400" cy="2438400"/>
            <a:chOff x="1104" y="1728"/>
            <a:chExt cx="912" cy="1200"/>
          </a:xfrm>
        </p:grpSpPr>
        <p:sp>
          <p:nvSpPr>
            <p:cNvPr id="140299" name="Freeform 11"/>
            <p:cNvSpPr>
              <a:spLocks/>
            </p:cNvSpPr>
            <p:nvPr/>
          </p:nvSpPr>
          <p:spPr bwMode="auto">
            <a:xfrm>
              <a:off x="1104" y="1728"/>
              <a:ext cx="912" cy="1200"/>
            </a:xfrm>
            <a:custGeom>
              <a:avLst/>
              <a:gdLst/>
              <a:ahLst/>
              <a:cxnLst>
                <a:cxn ang="0">
                  <a:pos x="0" y="1200"/>
                </a:cxn>
                <a:cxn ang="0">
                  <a:pos x="912" y="1200"/>
                </a:cxn>
                <a:cxn ang="0">
                  <a:pos x="912" y="624"/>
                </a:cxn>
                <a:cxn ang="0">
                  <a:pos x="0" y="0"/>
                </a:cxn>
                <a:cxn ang="0">
                  <a:pos x="0" y="1200"/>
                </a:cxn>
              </a:cxnLst>
              <a:rect l="0" t="0" r="r" b="b"/>
              <a:pathLst>
                <a:path w="912" h="1200">
                  <a:moveTo>
                    <a:pt x="0" y="1200"/>
                  </a:moveTo>
                  <a:lnTo>
                    <a:pt x="912" y="1200"/>
                  </a:lnTo>
                  <a:lnTo>
                    <a:pt x="912" y="624"/>
                  </a:lnTo>
                  <a:lnTo>
                    <a:pt x="0" y="0"/>
                  </a:lnTo>
                  <a:lnTo>
                    <a:pt x="0" y="1200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300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1364" y="2368"/>
                  <a:ext cx="490" cy="257"/>
                </a:xfrm>
                <a:prstGeom prst="rect">
                  <a:avLst/>
                </a:prstGeom>
                <a:noFill/>
                <a:ln>
                  <a:noFill/>
                  <a:headEnd/>
                  <a:tailEnd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oMath>
                    </m:oMathPara>
                  </a14:m>
                  <a:endParaRPr lang="it-IT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0300" name="Text 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64" y="2368"/>
                  <a:ext cx="490" cy="257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  <a:ln>
                  <a:noFill/>
                  <a:headEnd/>
                  <a:tailEnd/>
                </a:ln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0301" name="Rectangle 13"/>
              <p:cNvSpPr>
                <a:spLocks noChangeArrowheads="1"/>
              </p:cNvSpPr>
              <p:nvPr/>
            </p:nvSpPr>
            <p:spPr bwMode="auto">
              <a:xfrm>
                <a:off x="1403350" y="2898775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0301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03350" y="2898775"/>
                <a:ext cx="1295400" cy="45720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5822950" y="3660775"/>
            <a:ext cx="914400" cy="2438400"/>
            <a:chOff x="1104" y="1728"/>
            <a:chExt cx="912" cy="1200"/>
          </a:xfrm>
        </p:grpSpPr>
        <p:sp>
          <p:nvSpPr>
            <p:cNvPr id="140303" name="Freeform 15"/>
            <p:cNvSpPr>
              <a:spLocks/>
            </p:cNvSpPr>
            <p:nvPr/>
          </p:nvSpPr>
          <p:spPr bwMode="auto">
            <a:xfrm>
              <a:off x="1104" y="1728"/>
              <a:ext cx="912" cy="1200"/>
            </a:xfrm>
            <a:custGeom>
              <a:avLst/>
              <a:gdLst/>
              <a:ahLst/>
              <a:cxnLst>
                <a:cxn ang="0">
                  <a:pos x="0" y="1200"/>
                </a:cxn>
                <a:cxn ang="0">
                  <a:pos x="912" y="1200"/>
                </a:cxn>
                <a:cxn ang="0">
                  <a:pos x="912" y="624"/>
                </a:cxn>
                <a:cxn ang="0">
                  <a:pos x="0" y="0"/>
                </a:cxn>
                <a:cxn ang="0">
                  <a:pos x="0" y="1200"/>
                </a:cxn>
              </a:cxnLst>
              <a:rect l="0" t="0" r="r" b="b"/>
              <a:pathLst>
                <a:path w="912" h="1200">
                  <a:moveTo>
                    <a:pt x="0" y="1200"/>
                  </a:moveTo>
                  <a:lnTo>
                    <a:pt x="912" y="1200"/>
                  </a:lnTo>
                  <a:lnTo>
                    <a:pt x="912" y="624"/>
                  </a:lnTo>
                  <a:lnTo>
                    <a:pt x="0" y="0"/>
                  </a:lnTo>
                  <a:lnTo>
                    <a:pt x="0" y="1200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304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1370" y="2368"/>
                  <a:ext cx="343" cy="255"/>
                </a:xfrm>
                <a:prstGeom prst="rect">
                  <a:avLst/>
                </a:prstGeom>
                <a:noFill/>
                <a:ln>
                  <a:noFill/>
                  <a:headEnd/>
                  <a:tailEnd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oMath>
                    </m:oMathPara>
                  </a14:m>
                  <a:endParaRPr lang="it-IT" sz="28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0304" name="Text 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70" y="2368"/>
                  <a:ext cx="343" cy="255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  <a:ln>
                  <a:noFill/>
                  <a:headEnd/>
                  <a:tailEnd/>
                </a:ln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0305" name="Rectangle 17"/>
              <p:cNvSpPr>
                <a:spLocks noChangeArrowheads="1"/>
              </p:cNvSpPr>
              <p:nvPr/>
            </p:nvSpPr>
            <p:spPr bwMode="auto">
              <a:xfrm>
                <a:off x="2698750" y="2898775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0305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8750" y="2898775"/>
                <a:ext cx="1295400" cy="45720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306" name="Rectangle 18"/>
              <p:cNvSpPr>
                <a:spLocks noChangeArrowheads="1"/>
              </p:cNvSpPr>
              <p:nvPr/>
            </p:nvSpPr>
            <p:spPr bwMode="auto">
              <a:xfrm>
                <a:off x="5822950" y="2898775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  <m:sup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0306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22950" y="2898775"/>
                <a:ext cx="1295400" cy="45720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307" name="Rectangle 19"/>
              <p:cNvSpPr>
                <a:spLocks noChangeArrowheads="1"/>
              </p:cNvSpPr>
              <p:nvPr/>
            </p:nvSpPr>
            <p:spPr bwMode="auto">
              <a:xfrm>
                <a:off x="7118350" y="2898775"/>
                <a:ext cx="1295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it-IT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0307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18350" y="2898775"/>
                <a:ext cx="1295400" cy="45720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308" name="AutoShape 20"/>
              <p:cNvSpPr>
                <a:spLocks noChangeArrowheads="1"/>
              </p:cNvSpPr>
              <p:nvPr/>
            </p:nvSpPr>
            <p:spPr bwMode="auto">
              <a:xfrm>
                <a:off x="2317750" y="5157788"/>
                <a:ext cx="381000" cy="863600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0308" name="AutoShap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17750" y="5157788"/>
                <a:ext cx="381000" cy="863600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blipFill rotWithShape="0">
                <a:blip r:embed="rId13"/>
                <a:stretch>
                  <a:fillRect l="-4545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309" name="AutoShape 21"/>
          <p:cNvSpPr>
            <a:spLocks noChangeArrowheads="1"/>
          </p:cNvSpPr>
          <p:nvPr/>
        </p:nvSpPr>
        <p:spPr bwMode="auto">
          <a:xfrm rot="5983297" flipV="1">
            <a:off x="542925" y="3162300"/>
            <a:ext cx="1601788" cy="1220788"/>
          </a:xfrm>
          <a:custGeom>
            <a:avLst/>
            <a:gdLst>
              <a:gd name="G0" fmla="+- -279987 0 0"/>
              <a:gd name="G1" fmla="+- -11796480 0 0"/>
              <a:gd name="G2" fmla="+- -279987 0 -11796480"/>
              <a:gd name="G3" fmla="+- 10800 0 0"/>
              <a:gd name="G4" fmla="+- 0 0 -279987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792 0 0"/>
              <a:gd name="G9" fmla="+- 0 0 -11796480"/>
              <a:gd name="G10" fmla="+- 8792 0 2700"/>
              <a:gd name="G11" fmla="cos G10 -279987"/>
              <a:gd name="G12" fmla="sin G10 -279987"/>
              <a:gd name="G13" fmla="cos 13500 -279987"/>
              <a:gd name="G14" fmla="sin 13500 -279987"/>
              <a:gd name="G15" fmla="+- G11 10800 0"/>
              <a:gd name="G16" fmla="+- G12 10800 0"/>
              <a:gd name="G17" fmla="+- G13 10800 0"/>
              <a:gd name="G18" fmla="+- G14 10800 0"/>
              <a:gd name="G19" fmla="*/ 8792 1 2"/>
              <a:gd name="G20" fmla="+- G19 5400 0"/>
              <a:gd name="G21" fmla="cos G20 -279987"/>
              <a:gd name="G22" fmla="sin G20 -279987"/>
              <a:gd name="G23" fmla="+- G21 10800 0"/>
              <a:gd name="G24" fmla="+- G12 G23 G22"/>
              <a:gd name="G25" fmla="+- G22 G23 G11"/>
              <a:gd name="G26" fmla="cos 10800 -279987"/>
              <a:gd name="G27" fmla="sin 10800 -279987"/>
              <a:gd name="G28" fmla="cos 8792 -279987"/>
              <a:gd name="G29" fmla="sin 8792 -279987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279987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792 G39"/>
              <a:gd name="G43" fmla="sin 8792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397 w 21600"/>
              <a:gd name="T5" fmla="*/ 7 h 21600"/>
              <a:gd name="T6" fmla="*/ 1004 w 21600"/>
              <a:gd name="T7" fmla="*/ 10800 h 21600"/>
              <a:gd name="T8" fmla="*/ 10472 w 21600"/>
              <a:gd name="T9" fmla="*/ 2014 h 21600"/>
              <a:gd name="T10" fmla="*/ 24262 w 21600"/>
              <a:gd name="T11" fmla="*/ 9794 h 21600"/>
              <a:gd name="T12" fmla="*/ 20844 w 21600"/>
              <a:gd name="T13" fmla="*/ 13763 h 21600"/>
              <a:gd name="T14" fmla="*/ 16875 w 21600"/>
              <a:gd name="T15" fmla="*/ 1034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9567" y="10145"/>
                </a:moveTo>
                <a:cubicBezTo>
                  <a:pt x="19224" y="5556"/>
                  <a:pt x="15401" y="2008"/>
                  <a:pt x="10800" y="2008"/>
                </a:cubicBezTo>
                <a:cubicBezTo>
                  <a:pt x="5944" y="2008"/>
                  <a:pt x="2008" y="5944"/>
                  <a:pt x="2008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452" y="0"/>
                  <a:pt x="21148" y="4358"/>
                  <a:pt x="21569" y="9995"/>
                </a:cubicBezTo>
                <a:lnTo>
                  <a:pt x="24262" y="9794"/>
                </a:lnTo>
                <a:lnTo>
                  <a:pt x="20844" y="13763"/>
                </a:lnTo>
                <a:lnTo>
                  <a:pt x="16875" y="10346"/>
                </a:lnTo>
                <a:lnTo>
                  <a:pt x="19567" y="10145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0310" name="AutoShape 22"/>
          <p:cNvSpPr>
            <a:spLocks noChangeArrowheads="1"/>
          </p:cNvSpPr>
          <p:nvPr/>
        </p:nvSpPr>
        <p:spPr bwMode="auto">
          <a:xfrm rot="5983297" flipV="1">
            <a:off x="1835150" y="3203575"/>
            <a:ext cx="1638300" cy="1257300"/>
          </a:xfrm>
          <a:custGeom>
            <a:avLst/>
            <a:gdLst>
              <a:gd name="G0" fmla="+- -279987 0 0"/>
              <a:gd name="G1" fmla="+- -11796480 0 0"/>
              <a:gd name="G2" fmla="+- -279987 0 -11796480"/>
              <a:gd name="G3" fmla="+- 10800 0 0"/>
              <a:gd name="G4" fmla="+- 0 0 -279987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792 0 0"/>
              <a:gd name="G9" fmla="+- 0 0 -11796480"/>
              <a:gd name="G10" fmla="+- 8792 0 2700"/>
              <a:gd name="G11" fmla="cos G10 -279987"/>
              <a:gd name="G12" fmla="sin G10 -279987"/>
              <a:gd name="G13" fmla="cos 13500 -279987"/>
              <a:gd name="G14" fmla="sin 13500 -279987"/>
              <a:gd name="G15" fmla="+- G11 10800 0"/>
              <a:gd name="G16" fmla="+- G12 10800 0"/>
              <a:gd name="G17" fmla="+- G13 10800 0"/>
              <a:gd name="G18" fmla="+- G14 10800 0"/>
              <a:gd name="G19" fmla="*/ 8792 1 2"/>
              <a:gd name="G20" fmla="+- G19 5400 0"/>
              <a:gd name="G21" fmla="cos G20 -279987"/>
              <a:gd name="G22" fmla="sin G20 -279987"/>
              <a:gd name="G23" fmla="+- G21 10800 0"/>
              <a:gd name="G24" fmla="+- G12 G23 G22"/>
              <a:gd name="G25" fmla="+- G22 G23 G11"/>
              <a:gd name="G26" fmla="cos 10800 -279987"/>
              <a:gd name="G27" fmla="sin 10800 -279987"/>
              <a:gd name="G28" fmla="cos 8792 -279987"/>
              <a:gd name="G29" fmla="sin 8792 -279987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279987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792 G39"/>
              <a:gd name="G43" fmla="sin 8792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397 w 21600"/>
              <a:gd name="T5" fmla="*/ 7 h 21600"/>
              <a:gd name="T6" fmla="*/ 1004 w 21600"/>
              <a:gd name="T7" fmla="*/ 10800 h 21600"/>
              <a:gd name="T8" fmla="*/ 10472 w 21600"/>
              <a:gd name="T9" fmla="*/ 2014 h 21600"/>
              <a:gd name="T10" fmla="*/ 24262 w 21600"/>
              <a:gd name="T11" fmla="*/ 9794 h 21600"/>
              <a:gd name="T12" fmla="*/ 20844 w 21600"/>
              <a:gd name="T13" fmla="*/ 13763 h 21600"/>
              <a:gd name="T14" fmla="*/ 16875 w 21600"/>
              <a:gd name="T15" fmla="*/ 1034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9567" y="10145"/>
                </a:moveTo>
                <a:cubicBezTo>
                  <a:pt x="19224" y="5556"/>
                  <a:pt x="15401" y="2008"/>
                  <a:pt x="10800" y="2008"/>
                </a:cubicBezTo>
                <a:cubicBezTo>
                  <a:pt x="5944" y="2008"/>
                  <a:pt x="2008" y="5944"/>
                  <a:pt x="2008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452" y="0"/>
                  <a:pt x="21148" y="4358"/>
                  <a:pt x="21569" y="9995"/>
                </a:cubicBezTo>
                <a:lnTo>
                  <a:pt x="24262" y="9794"/>
                </a:lnTo>
                <a:lnTo>
                  <a:pt x="20844" y="13763"/>
                </a:lnTo>
                <a:lnTo>
                  <a:pt x="16875" y="10346"/>
                </a:lnTo>
                <a:lnTo>
                  <a:pt x="19567" y="10145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0311" name="AutoShape 23"/>
          <p:cNvSpPr>
            <a:spLocks noChangeArrowheads="1"/>
          </p:cNvSpPr>
          <p:nvPr/>
        </p:nvSpPr>
        <p:spPr bwMode="auto">
          <a:xfrm rot="5983297" flipV="1">
            <a:off x="4962525" y="3162300"/>
            <a:ext cx="1600200" cy="1219200"/>
          </a:xfrm>
          <a:custGeom>
            <a:avLst/>
            <a:gdLst>
              <a:gd name="G0" fmla="+- -279987 0 0"/>
              <a:gd name="G1" fmla="+- -11796480 0 0"/>
              <a:gd name="G2" fmla="+- -279987 0 -11796480"/>
              <a:gd name="G3" fmla="+- 10800 0 0"/>
              <a:gd name="G4" fmla="+- 0 0 -279987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792 0 0"/>
              <a:gd name="G9" fmla="+- 0 0 -11796480"/>
              <a:gd name="G10" fmla="+- 8792 0 2700"/>
              <a:gd name="G11" fmla="cos G10 -279987"/>
              <a:gd name="G12" fmla="sin G10 -279987"/>
              <a:gd name="G13" fmla="cos 13500 -279987"/>
              <a:gd name="G14" fmla="sin 13500 -279987"/>
              <a:gd name="G15" fmla="+- G11 10800 0"/>
              <a:gd name="G16" fmla="+- G12 10800 0"/>
              <a:gd name="G17" fmla="+- G13 10800 0"/>
              <a:gd name="G18" fmla="+- G14 10800 0"/>
              <a:gd name="G19" fmla="*/ 8792 1 2"/>
              <a:gd name="G20" fmla="+- G19 5400 0"/>
              <a:gd name="G21" fmla="cos G20 -279987"/>
              <a:gd name="G22" fmla="sin G20 -279987"/>
              <a:gd name="G23" fmla="+- G21 10800 0"/>
              <a:gd name="G24" fmla="+- G12 G23 G22"/>
              <a:gd name="G25" fmla="+- G22 G23 G11"/>
              <a:gd name="G26" fmla="cos 10800 -279987"/>
              <a:gd name="G27" fmla="sin 10800 -279987"/>
              <a:gd name="G28" fmla="cos 8792 -279987"/>
              <a:gd name="G29" fmla="sin 8792 -279987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279987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792 G39"/>
              <a:gd name="G43" fmla="sin 8792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397 w 21600"/>
              <a:gd name="T5" fmla="*/ 7 h 21600"/>
              <a:gd name="T6" fmla="*/ 1004 w 21600"/>
              <a:gd name="T7" fmla="*/ 10800 h 21600"/>
              <a:gd name="T8" fmla="*/ 10472 w 21600"/>
              <a:gd name="T9" fmla="*/ 2014 h 21600"/>
              <a:gd name="T10" fmla="*/ 24262 w 21600"/>
              <a:gd name="T11" fmla="*/ 9794 h 21600"/>
              <a:gd name="T12" fmla="*/ 20844 w 21600"/>
              <a:gd name="T13" fmla="*/ 13763 h 21600"/>
              <a:gd name="T14" fmla="*/ 16875 w 21600"/>
              <a:gd name="T15" fmla="*/ 1034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9567" y="10145"/>
                </a:moveTo>
                <a:cubicBezTo>
                  <a:pt x="19224" y="5556"/>
                  <a:pt x="15401" y="2008"/>
                  <a:pt x="10800" y="2008"/>
                </a:cubicBezTo>
                <a:cubicBezTo>
                  <a:pt x="5944" y="2008"/>
                  <a:pt x="2008" y="5944"/>
                  <a:pt x="2008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452" y="0"/>
                  <a:pt x="21148" y="4358"/>
                  <a:pt x="21569" y="9995"/>
                </a:cubicBezTo>
                <a:lnTo>
                  <a:pt x="24262" y="9794"/>
                </a:lnTo>
                <a:lnTo>
                  <a:pt x="20844" y="13763"/>
                </a:lnTo>
                <a:lnTo>
                  <a:pt x="16875" y="10346"/>
                </a:lnTo>
                <a:lnTo>
                  <a:pt x="19567" y="10145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0312" name="AutoShape 24"/>
          <p:cNvSpPr>
            <a:spLocks noChangeArrowheads="1"/>
          </p:cNvSpPr>
          <p:nvPr/>
        </p:nvSpPr>
        <p:spPr bwMode="auto">
          <a:xfrm rot="5983297" flipV="1">
            <a:off x="6257925" y="3162300"/>
            <a:ext cx="1601788" cy="1220788"/>
          </a:xfrm>
          <a:custGeom>
            <a:avLst/>
            <a:gdLst>
              <a:gd name="G0" fmla="+- -279987 0 0"/>
              <a:gd name="G1" fmla="+- -11796480 0 0"/>
              <a:gd name="G2" fmla="+- -279987 0 -11796480"/>
              <a:gd name="G3" fmla="+- 10800 0 0"/>
              <a:gd name="G4" fmla="+- 0 0 -279987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792 0 0"/>
              <a:gd name="G9" fmla="+- 0 0 -11796480"/>
              <a:gd name="G10" fmla="+- 8792 0 2700"/>
              <a:gd name="G11" fmla="cos G10 -279987"/>
              <a:gd name="G12" fmla="sin G10 -279987"/>
              <a:gd name="G13" fmla="cos 13500 -279987"/>
              <a:gd name="G14" fmla="sin 13500 -279987"/>
              <a:gd name="G15" fmla="+- G11 10800 0"/>
              <a:gd name="G16" fmla="+- G12 10800 0"/>
              <a:gd name="G17" fmla="+- G13 10800 0"/>
              <a:gd name="G18" fmla="+- G14 10800 0"/>
              <a:gd name="G19" fmla="*/ 8792 1 2"/>
              <a:gd name="G20" fmla="+- G19 5400 0"/>
              <a:gd name="G21" fmla="cos G20 -279987"/>
              <a:gd name="G22" fmla="sin G20 -279987"/>
              <a:gd name="G23" fmla="+- G21 10800 0"/>
              <a:gd name="G24" fmla="+- G12 G23 G22"/>
              <a:gd name="G25" fmla="+- G22 G23 G11"/>
              <a:gd name="G26" fmla="cos 10800 -279987"/>
              <a:gd name="G27" fmla="sin 10800 -279987"/>
              <a:gd name="G28" fmla="cos 8792 -279987"/>
              <a:gd name="G29" fmla="sin 8792 -279987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279987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792 G39"/>
              <a:gd name="G43" fmla="sin 8792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397 w 21600"/>
              <a:gd name="T5" fmla="*/ 7 h 21600"/>
              <a:gd name="T6" fmla="*/ 1004 w 21600"/>
              <a:gd name="T7" fmla="*/ 10800 h 21600"/>
              <a:gd name="T8" fmla="*/ 10472 w 21600"/>
              <a:gd name="T9" fmla="*/ 2014 h 21600"/>
              <a:gd name="T10" fmla="*/ 24262 w 21600"/>
              <a:gd name="T11" fmla="*/ 9794 h 21600"/>
              <a:gd name="T12" fmla="*/ 20844 w 21600"/>
              <a:gd name="T13" fmla="*/ 13763 h 21600"/>
              <a:gd name="T14" fmla="*/ 16875 w 21600"/>
              <a:gd name="T15" fmla="*/ 1034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9567" y="10145"/>
                </a:moveTo>
                <a:cubicBezTo>
                  <a:pt x="19224" y="5556"/>
                  <a:pt x="15401" y="2008"/>
                  <a:pt x="10800" y="2008"/>
                </a:cubicBezTo>
                <a:cubicBezTo>
                  <a:pt x="5944" y="2008"/>
                  <a:pt x="2008" y="5944"/>
                  <a:pt x="2008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452" y="0"/>
                  <a:pt x="21148" y="4358"/>
                  <a:pt x="21569" y="9995"/>
                </a:cubicBezTo>
                <a:lnTo>
                  <a:pt x="24262" y="9794"/>
                </a:lnTo>
                <a:lnTo>
                  <a:pt x="20844" y="13763"/>
                </a:lnTo>
                <a:lnTo>
                  <a:pt x="16875" y="10346"/>
                </a:lnTo>
                <a:lnTo>
                  <a:pt x="19567" y="10145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313" name="Rectangle 25"/>
              <p:cNvSpPr>
                <a:spLocks noChangeArrowheads="1"/>
              </p:cNvSpPr>
              <p:nvPr/>
            </p:nvSpPr>
            <p:spPr bwMode="auto">
              <a:xfrm>
                <a:off x="565150" y="4879975"/>
                <a:ext cx="457200" cy="1219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𝐈𝐕</m:t>
                      </m:r>
                    </m:oMath>
                  </m:oMathPara>
                </a14:m>
                <a:endParaRPr lang="it-IT" sz="2000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0313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5150" y="4879975"/>
                <a:ext cx="457200" cy="1219200"/>
              </a:xfrm>
              <a:prstGeom prst="rect">
                <a:avLst/>
              </a:prstGeom>
              <a:blipFill rotWithShape="0">
                <a:blip r:embed="rId14"/>
                <a:stretch>
                  <a:fillRect l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314" name="Rectangle 26"/>
              <p:cNvSpPr>
                <a:spLocks noChangeArrowheads="1"/>
              </p:cNvSpPr>
              <p:nvPr/>
            </p:nvSpPr>
            <p:spPr bwMode="auto">
              <a:xfrm>
                <a:off x="6584950" y="2060575"/>
                <a:ext cx="533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𝟎𝟎𝟎𝟎</m:t>
                      </m:r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0314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84950" y="2060575"/>
                <a:ext cx="533400" cy="457200"/>
              </a:xfrm>
              <a:prstGeom prst="rect">
                <a:avLst/>
              </a:prstGeom>
              <a:blipFill rotWithShape="0">
                <a:blip r:embed="rId15"/>
                <a:stretch>
                  <a:fillRect l="-333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315" name="Text Box 27"/>
          <p:cNvSpPr txBox="1">
            <a:spLocks noChangeArrowheads="1"/>
          </p:cNvSpPr>
          <p:nvPr/>
        </p:nvSpPr>
        <p:spPr bwMode="auto">
          <a:xfrm>
            <a:off x="4451350" y="4651375"/>
            <a:ext cx="6048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it-IT" b="1">
                <a:solidFill>
                  <a:srgbClr val="993300"/>
                </a:solidFill>
              </a:rPr>
              <a:t>. . 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316" name="AutoShape 28"/>
              <p:cNvSpPr>
                <a:spLocks noChangeArrowheads="1"/>
              </p:cNvSpPr>
              <p:nvPr/>
            </p:nvSpPr>
            <p:spPr bwMode="auto">
              <a:xfrm>
                <a:off x="8001024" y="5219718"/>
                <a:ext cx="865187" cy="781050"/>
              </a:xfrm>
              <a:prstGeom prst="rightArrow">
                <a:avLst>
                  <a:gd name="adj1" fmla="val 50000"/>
                  <a:gd name="adj2" fmla="val 27693"/>
                </a:avLst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’)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0316" name="AutoShap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01024" y="5219718"/>
                <a:ext cx="865187" cy="781050"/>
              </a:xfrm>
              <a:prstGeom prst="rightArrow">
                <a:avLst>
                  <a:gd name="adj1" fmla="val 50000"/>
                  <a:gd name="adj2" fmla="val 27693"/>
                </a:avLst>
              </a:prstGeom>
              <a:blipFill rotWithShape="0">
                <a:blip r:embed="rId16"/>
                <a:stretch>
                  <a:fillRect l="-4861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317" name="AutoShape 29"/>
              <p:cNvSpPr>
                <a:spLocks noChangeArrowheads="1"/>
              </p:cNvSpPr>
              <p:nvPr/>
            </p:nvSpPr>
            <p:spPr bwMode="auto">
              <a:xfrm>
                <a:off x="1042988" y="5157788"/>
                <a:ext cx="381000" cy="863600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0317" name="AutoShap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2988" y="5157788"/>
                <a:ext cx="381000" cy="863600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blipFill rotWithShape="0">
                <a:blip r:embed="rId17"/>
                <a:stretch>
                  <a:fillRect l="-4545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318" name="AutoShape 30"/>
              <p:cNvSpPr>
                <a:spLocks noChangeArrowheads="1"/>
              </p:cNvSpPr>
              <p:nvPr/>
            </p:nvSpPr>
            <p:spPr bwMode="auto">
              <a:xfrm>
                <a:off x="3708400" y="5157788"/>
                <a:ext cx="381000" cy="863600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0318" name="AutoShap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08400" y="5157788"/>
                <a:ext cx="381000" cy="863600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blipFill rotWithShape="0">
                <a:blip r:embed="rId18"/>
                <a:stretch>
                  <a:fillRect l="-4545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319" name="AutoShape 31"/>
              <p:cNvSpPr>
                <a:spLocks noChangeArrowheads="1"/>
              </p:cNvSpPr>
              <p:nvPr/>
            </p:nvSpPr>
            <p:spPr bwMode="auto">
              <a:xfrm>
                <a:off x="6732588" y="5157788"/>
                <a:ext cx="720725" cy="863600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0319" name="AutoShap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32588" y="5157788"/>
                <a:ext cx="720725" cy="863600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blipFill rotWithShape="0">
                <a:blip r:embed="rId19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320" name="AutoShape 32"/>
              <p:cNvSpPr>
                <a:spLocks noChangeArrowheads="1"/>
              </p:cNvSpPr>
              <p:nvPr/>
            </p:nvSpPr>
            <p:spPr bwMode="auto">
              <a:xfrm>
                <a:off x="5292725" y="5229225"/>
                <a:ext cx="523875" cy="792163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0320" name="AutoShap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92725" y="5229225"/>
                <a:ext cx="523875" cy="792163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blipFill rotWithShape="0">
                <a:blip r:embed="rId20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321" name="Text Box 33"/>
              <p:cNvSpPr txBox="1">
                <a:spLocks noChangeArrowheads="1"/>
              </p:cNvSpPr>
              <p:nvPr/>
            </p:nvSpPr>
            <p:spPr bwMode="auto">
              <a:xfrm>
                <a:off x="300672" y="1153044"/>
                <a:ext cx="1129605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it-IT" sz="2400" dirty="0"/>
                  <a:t>For </a:t>
                </a:r>
                <a14:m>
                  <m:oMath xmlns:m="http://schemas.openxmlformats.org/officeDocument/2006/math">
                    <m:r>
                      <a:rPr lang="it-IT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it-IT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it-IT" sz="2400" dirty="0"/>
                  <a:t>:</a:t>
                </a:r>
                <a:endParaRPr lang="it-IT" sz="2400" b="1" dirty="0">
                  <a:solidFill>
                    <a:srgbClr val="993300"/>
                  </a:solidFill>
                </a:endParaRPr>
              </a:p>
            </p:txBody>
          </p:sp>
        </mc:Choice>
        <mc:Fallback xmlns="">
          <p:sp>
            <p:nvSpPr>
              <p:cNvPr id="140321" name="Text 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0672" y="1153044"/>
                <a:ext cx="1129605" cy="461665"/>
              </a:xfrm>
              <a:prstGeom prst="rect">
                <a:avLst/>
              </a:prstGeom>
              <a:blipFill rotWithShape="0">
                <a:blip r:embed="rId21"/>
                <a:stretch>
                  <a:fillRect l="-8065" t="-10526" r="-6989" b="-2894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203200" y="26061"/>
                <a:ext cx="7772400" cy="1143000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|=|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03200" y="26061"/>
                <a:ext cx="7772400" cy="1143000"/>
              </a:xfr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79182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7" name="Freeform 5"/>
          <p:cNvSpPr>
            <a:spLocks/>
          </p:cNvSpPr>
          <p:nvPr/>
        </p:nvSpPr>
        <p:spPr bwMode="auto">
          <a:xfrm rot="16200000">
            <a:off x="1467299" y="4216773"/>
            <a:ext cx="647700" cy="2958354"/>
          </a:xfrm>
          <a:custGeom>
            <a:avLst/>
            <a:gdLst/>
            <a:ahLst/>
            <a:cxnLst>
              <a:cxn ang="0">
                <a:pos x="0" y="1200"/>
              </a:cxn>
              <a:cxn ang="0">
                <a:pos x="912" y="1200"/>
              </a:cxn>
              <a:cxn ang="0">
                <a:pos x="912" y="624"/>
              </a:cxn>
              <a:cxn ang="0">
                <a:pos x="0" y="0"/>
              </a:cxn>
              <a:cxn ang="0">
                <a:pos x="0" y="1200"/>
              </a:cxn>
            </a:cxnLst>
            <a:rect l="0" t="0" r="r" b="b"/>
            <a:pathLst>
              <a:path w="912" h="1200">
                <a:moveTo>
                  <a:pt x="0" y="1200"/>
                </a:moveTo>
                <a:lnTo>
                  <a:pt x="912" y="1200"/>
                </a:lnTo>
                <a:lnTo>
                  <a:pt x="912" y="624"/>
                </a:lnTo>
                <a:lnTo>
                  <a:pt x="0" y="0"/>
                </a:lnTo>
                <a:lnTo>
                  <a:pt x="0" y="120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41319" name="Freeform 7"/>
          <p:cNvSpPr>
            <a:spLocks/>
          </p:cNvSpPr>
          <p:nvPr/>
        </p:nvSpPr>
        <p:spPr bwMode="auto">
          <a:xfrm rot="16200000">
            <a:off x="1467299" y="2992811"/>
            <a:ext cx="647700" cy="2958353"/>
          </a:xfrm>
          <a:custGeom>
            <a:avLst/>
            <a:gdLst/>
            <a:ahLst/>
            <a:cxnLst>
              <a:cxn ang="0">
                <a:pos x="0" y="1200"/>
              </a:cxn>
              <a:cxn ang="0">
                <a:pos x="912" y="1200"/>
              </a:cxn>
              <a:cxn ang="0">
                <a:pos x="912" y="624"/>
              </a:cxn>
              <a:cxn ang="0">
                <a:pos x="0" y="0"/>
              </a:cxn>
              <a:cxn ang="0">
                <a:pos x="0" y="1200"/>
              </a:cxn>
            </a:cxnLst>
            <a:rect l="0" t="0" r="r" b="b"/>
            <a:pathLst>
              <a:path w="912" h="1200">
                <a:moveTo>
                  <a:pt x="0" y="1200"/>
                </a:moveTo>
                <a:lnTo>
                  <a:pt x="912" y="1200"/>
                </a:lnTo>
                <a:lnTo>
                  <a:pt x="912" y="624"/>
                </a:lnTo>
                <a:lnTo>
                  <a:pt x="0" y="0"/>
                </a:lnTo>
                <a:lnTo>
                  <a:pt x="0" y="120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41320" name="Freeform 8"/>
          <p:cNvSpPr>
            <a:spLocks/>
          </p:cNvSpPr>
          <p:nvPr/>
        </p:nvSpPr>
        <p:spPr bwMode="auto">
          <a:xfrm rot="16200000">
            <a:off x="1467299" y="859188"/>
            <a:ext cx="647700" cy="2958353"/>
          </a:xfrm>
          <a:custGeom>
            <a:avLst/>
            <a:gdLst/>
            <a:ahLst/>
            <a:cxnLst>
              <a:cxn ang="0">
                <a:pos x="0" y="1200"/>
              </a:cxn>
              <a:cxn ang="0">
                <a:pos x="912" y="1200"/>
              </a:cxn>
              <a:cxn ang="0">
                <a:pos x="912" y="624"/>
              </a:cxn>
              <a:cxn ang="0">
                <a:pos x="0" y="0"/>
              </a:cxn>
              <a:cxn ang="0">
                <a:pos x="0" y="1200"/>
              </a:cxn>
            </a:cxnLst>
            <a:rect l="0" t="0" r="r" b="b"/>
            <a:pathLst>
              <a:path w="912" h="1200">
                <a:moveTo>
                  <a:pt x="0" y="1200"/>
                </a:moveTo>
                <a:lnTo>
                  <a:pt x="912" y="1200"/>
                </a:lnTo>
                <a:lnTo>
                  <a:pt x="912" y="624"/>
                </a:lnTo>
                <a:lnTo>
                  <a:pt x="0" y="0"/>
                </a:lnTo>
                <a:lnTo>
                  <a:pt x="0" y="120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41321" name="Freeform 9"/>
          <p:cNvSpPr>
            <a:spLocks/>
          </p:cNvSpPr>
          <p:nvPr/>
        </p:nvSpPr>
        <p:spPr bwMode="auto">
          <a:xfrm rot="16200000">
            <a:off x="1477175" y="-374652"/>
            <a:ext cx="647700" cy="2978107"/>
          </a:xfrm>
          <a:custGeom>
            <a:avLst/>
            <a:gdLst/>
            <a:ahLst/>
            <a:cxnLst>
              <a:cxn ang="0">
                <a:pos x="0" y="1200"/>
              </a:cxn>
              <a:cxn ang="0">
                <a:pos x="912" y="1200"/>
              </a:cxn>
              <a:cxn ang="0">
                <a:pos x="912" y="624"/>
              </a:cxn>
              <a:cxn ang="0">
                <a:pos x="0" y="0"/>
              </a:cxn>
              <a:cxn ang="0">
                <a:pos x="0" y="1200"/>
              </a:cxn>
            </a:cxnLst>
            <a:rect l="0" t="0" r="r" b="b"/>
            <a:pathLst>
              <a:path w="912" h="1200">
                <a:moveTo>
                  <a:pt x="0" y="1200"/>
                </a:moveTo>
                <a:lnTo>
                  <a:pt x="912" y="1200"/>
                </a:lnTo>
                <a:lnTo>
                  <a:pt x="912" y="624"/>
                </a:lnTo>
                <a:lnTo>
                  <a:pt x="0" y="0"/>
                </a:lnTo>
                <a:lnTo>
                  <a:pt x="0" y="120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322" name="Rectangle 10"/>
              <p:cNvSpPr>
                <a:spLocks noChangeArrowheads="1"/>
              </p:cNvSpPr>
              <p:nvPr/>
            </p:nvSpPr>
            <p:spPr bwMode="auto">
              <a:xfrm>
                <a:off x="1862582" y="6107038"/>
                <a:ext cx="1407741" cy="431800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𝐈𝐕</m:t>
                      </m:r>
                    </m:oMath>
                  </m:oMathPara>
                </a14:m>
                <a:endParaRPr lang="it-IT" sz="2000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22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62582" y="6107038"/>
                <a:ext cx="1407741" cy="431800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23" name="Rectangle 11"/>
              <p:cNvSpPr>
                <a:spLocks noChangeArrowheads="1"/>
              </p:cNvSpPr>
              <p:nvPr/>
            </p:nvSpPr>
            <p:spPr bwMode="auto">
              <a:xfrm>
                <a:off x="311969" y="6101547"/>
                <a:ext cx="1479177" cy="431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23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1969" y="6101547"/>
                <a:ext cx="1479177" cy="431800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24" name="Rectangle 12"/>
              <p:cNvSpPr>
                <a:spLocks noChangeArrowheads="1"/>
              </p:cNvSpPr>
              <p:nvPr/>
            </p:nvSpPr>
            <p:spPr bwMode="auto">
              <a:xfrm>
                <a:off x="1862583" y="4858553"/>
                <a:ext cx="1407741" cy="431800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24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62583" y="4858553"/>
                <a:ext cx="1407741" cy="431800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25" name="Rectangle 13"/>
              <p:cNvSpPr>
                <a:spLocks noChangeArrowheads="1"/>
              </p:cNvSpPr>
              <p:nvPr/>
            </p:nvSpPr>
            <p:spPr bwMode="auto">
              <a:xfrm>
                <a:off x="311970" y="4858553"/>
                <a:ext cx="1479177" cy="431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25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1970" y="4858553"/>
                <a:ext cx="1479177" cy="43180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28" name="Rectangle 16"/>
              <p:cNvSpPr>
                <a:spLocks noChangeArrowheads="1"/>
              </p:cNvSpPr>
              <p:nvPr/>
            </p:nvSpPr>
            <p:spPr bwMode="auto">
              <a:xfrm>
                <a:off x="1862585" y="2747166"/>
                <a:ext cx="1407740" cy="431800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28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62585" y="2747166"/>
                <a:ext cx="1407740" cy="43180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29" name="Rectangle 17"/>
              <p:cNvSpPr>
                <a:spLocks noChangeArrowheads="1"/>
              </p:cNvSpPr>
              <p:nvPr/>
            </p:nvSpPr>
            <p:spPr bwMode="auto">
              <a:xfrm>
                <a:off x="311971" y="2735240"/>
                <a:ext cx="1479177" cy="431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29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1971" y="2735240"/>
                <a:ext cx="1479177" cy="43180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30" name="Rectangle 18"/>
              <p:cNvSpPr>
                <a:spLocks noChangeArrowheads="1"/>
              </p:cNvSpPr>
              <p:nvPr/>
            </p:nvSpPr>
            <p:spPr bwMode="auto">
              <a:xfrm>
                <a:off x="1862586" y="1511277"/>
                <a:ext cx="1427492" cy="431800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it-IT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30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62586" y="1511277"/>
                <a:ext cx="1427492" cy="43180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31" name="Rectangle 19"/>
              <p:cNvSpPr>
                <a:spLocks noChangeArrowheads="1"/>
              </p:cNvSpPr>
              <p:nvPr/>
            </p:nvSpPr>
            <p:spPr bwMode="auto">
              <a:xfrm>
                <a:off x="311971" y="1511277"/>
                <a:ext cx="1479177" cy="431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31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1971" y="1511277"/>
                <a:ext cx="1479177" cy="43180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32" name="Text Box 20"/>
              <p:cNvSpPr txBox="1">
                <a:spLocks noChangeArrowheads="1"/>
              </p:cNvSpPr>
              <p:nvPr/>
            </p:nvSpPr>
            <p:spPr bwMode="auto">
              <a:xfrm rot="5400000">
                <a:off x="2237373" y="3244333"/>
                <a:ext cx="500065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 . .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32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5400000">
                <a:off x="2237373" y="3244333"/>
                <a:ext cx="500065" cy="36933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333" name="Freeform 21"/>
          <p:cNvSpPr>
            <a:spLocks/>
          </p:cNvSpPr>
          <p:nvPr/>
        </p:nvSpPr>
        <p:spPr bwMode="auto">
          <a:xfrm rot="16200000">
            <a:off x="7084592" y="4220742"/>
            <a:ext cx="647700" cy="2950416"/>
          </a:xfrm>
          <a:custGeom>
            <a:avLst/>
            <a:gdLst/>
            <a:ahLst/>
            <a:cxnLst>
              <a:cxn ang="0">
                <a:pos x="0" y="1200"/>
              </a:cxn>
              <a:cxn ang="0">
                <a:pos x="912" y="1200"/>
              </a:cxn>
              <a:cxn ang="0">
                <a:pos x="912" y="624"/>
              </a:cxn>
              <a:cxn ang="0">
                <a:pos x="0" y="0"/>
              </a:cxn>
              <a:cxn ang="0">
                <a:pos x="0" y="1200"/>
              </a:cxn>
            </a:cxnLst>
            <a:rect l="0" t="0" r="r" b="b"/>
            <a:pathLst>
              <a:path w="912" h="1200">
                <a:moveTo>
                  <a:pt x="0" y="1200"/>
                </a:moveTo>
                <a:lnTo>
                  <a:pt x="912" y="1200"/>
                </a:lnTo>
                <a:lnTo>
                  <a:pt x="912" y="624"/>
                </a:lnTo>
                <a:lnTo>
                  <a:pt x="0" y="0"/>
                </a:lnTo>
                <a:lnTo>
                  <a:pt x="0" y="120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41334" name="Freeform 22"/>
          <p:cNvSpPr>
            <a:spLocks/>
          </p:cNvSpPr>
          <p:nvPr/>
        </p:nvSpPr>
        <p:spPr bwMode="auto">
          <a:xfrm rot="16200000">
            <a:off x="7084592" y="2996780"/>
            <a:ext cx="647700" cy="2950416"/>
          </a:xfrm>
          <a:custGeom>
            <a:avLst/>
            <a:gdLst/>
            <a:ahLst/>
            <a:cxnLst>
              <a:cxn ang="0">
                <a:pos x="0" y="1200"/>
              </a:cxn>
              <a:cxn ang="0">
                <a:pos x="912" y="1200"/>
              </a:cxn>
              <a:cxn ang="0">
                <a:pos x="912" y="624"/>
              </a:cxn>
              <a:cxn ang="0">
                <a:pos x="0" y="0"/>
              </a:cxn>
              <a:cxn ang="0">
                <a:pos x="0" y="1200"/>
              </a:cxn>
            </a:cxnLst>
            <a:rect l="0" t="0" r="r" b="b"/>
            <a:pathLst>
              <a:path w="912" h="1200">
                <a:moveTo>
                  <a:pt x="0" y="1200"/>
                </a:moveTo>
                <a:lnTo>
                  <a:pt x="912" y="1200"/>
                </a:lnTo>
                <a:lnTo>
                  <a:pt x="912" y="624"/>
                </a:lnTo>
                <a:lnTo>
                  <a:pt x="0" y="0"/>
                </a:lnTo>
                <a:lnTo>
                  <a:pt x="0" y="120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41335" name="Freeform 23"/>
          <p:cNvSpPr>
            <a:spLocks/>
          </p:cNvSpPr>
          <p:nvPr/>
        </p:nvSpPr>
        <p:spPr bwMode="auto">
          <a:xfrm rot="16200000">
            <a:off x="7084592" y="863157"/>
            <a:ext cx="647700" cy="2950416"/>
          </a:xfrm>
          <a:custGeom>
            <a:avLst/>
            <a:gdLst/>
            <a:ahLst/>
            <a:cxnLst>
              <a:cxn ang="0">
                <a:pos x="0" y="1200"/>
              </a:cxn>
              <a:cxn ang="0">
                <a:pos x="912" y="1200"/>
              </a:cxn>
              <a:cxn ang="0">
                <a:pos x="912" y="624"/>
              </a:cxn>
              <a:cxn ang="0">
                <a:pos x="0" y="0"/>
              </a:cxn>
              <a:cxn ang="0">
                <a:pos x="0" y="1200"/>
              </a:cxn>
            </a:cxnLst>
            <a:rect l="0" t="0" r="r" b="b"/>
            <a:pathLst>
              <a:path w="912" h="1200">
                <a:moveTo>
                  <a:pt x="0" y="1200"/>
                </a:moveTo>
                <a:lnTo>
                  <a:pt x="912" y="1200"/>
                </a:lnTo>
                <a:lnTo>
                  <a:pt x="912" y="624"/>
                </a:lnTo>
                <a:lnTo>
                  <a:pt x="0" y="0"/>
                </a:lnTo>
                <a:lnTo>
                  <a:pt x="0" y="120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41336" name="Freeform 24"/>
          <p:cNvSpPr>
            <a:spLocks/>
          </p:cNvSpPr>
          <p:nvPr/>
        </p:nvSpPr>
        <p:spPr bwMode="auto">
          <a:xfrm rot="16200000">
            <a:off x="7065549" y="-341763"/>
            <a:ext cx="669936" cy="2934563"/>
          </a:xfrm>
          <a:custGeom>
            <a:avLst/>
            <a:gdLst/>
            <a:ahLst/>
            <a:cxnLst>
              <a:cxn ang="0">
                <a:pos x="0" y="1200"/>
              </a:cxn>
              <a:cxn ang="0">
                <a:pos x="912" y="1200"/>
              </a:cxn>
              <a:cxn ang="0">
                <a:pos x="912" y="624"/>
              </a:cxn>
              <a:cxn ang="0">
                <a:pos x="0" y="0"/>
              </a:cxn>
              <a:cxn ang="0">
                <a:pos x="0" y="1200"/>
              </a:cxn>
            </a:cxnLst>
            <a:rect l="0" t="0" r="r" b="b"/>
            <a:pathLst>
              <a:path w="912" h="1200">
                <a:moveTo>
                  <a:pt x="0" y="1200"/>
                </a:moveTo>
                <a:lnTo>
                  <a:pt x="912" y="1200"/>
                </a:lnTo>
                <a:lnTo>
                  <a:pt x="912" y="624"/>
                </a:lnTo>
                <a:lnTo>
                  <a:pt x="0" y="0"/>
                </a:lnTo>
                <a:lnTo>
                  <a:pt x="0" y="120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337" name="Rectangle 25"/>
              <p:cNvSpPr>
                <a:spLocks noChangeArrowheads="1"/>
              </p:cNvSpPr>
              <p:nvPr/>
            </p:nvSpPr>
            <p:spPr bwMode="auto">
              <a:xfrm>
                <a:off x="7357092" y="6092825"/>
                <a:ext cx="1536083" cy="431800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𝐈𝐕</m:t>
                      </m:r>
                    </m:oMath>
                  </m:oMathPara>
                </a14:m>
                <a:endParaRPr lang="it-IT" sz="2000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37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57092" y="6092825"/>
                <a:ext cx="1536083" cy="431800"/>
              </a:xfrm>
              <a:prstGeom prst="rect">
                <a:avLst/>
              </a:prstGeom>
              <a:blipFill rotWithShape="0">
                <a:blip r:embed="rId28"/>
                <a:stretch>
                  <a:fillRect b="-137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38" name="Rectangle 26"/>
              <p:cNvSpPr>
                <a:spLocks noChangeArrowheads="1"/>
              </p:cNvSpPr>
              <p:nvPr/>
            </p:nvSpPr>
            <p:spPr bwMode="auto">
              <a:xfrm>
                <a:off x="5933233" y="6101546"/>
                <a:ext cx="1376588" cy="431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38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33233" y="6101546"/>
                <a:ext cx="1376588" cy="431800"/>
              </a:xfrm>
              <a:prstGeom prst="rect">
                <a:avLst/>
              </a:prstGeom>
              <a:blipFill rotWithShape="0">
                <a:blip r:embed="rId29"/>
                <a:stretch>
                  <a:fillRect b="-137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39" name="Rectangle 27"/>
              <p:cNvSpPr>
                <a:spLocks noChangeArrowheads="1"/>
              </p:cNvSpPr>
              <p:nvPr/>
            </p:nvSpPr>
            <p:spPr bwMode="auto">
              <a:xfrm>
                <a:off x="7357092" y="4858553"/>
                <a:ext cx="1536083" cy="431800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39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57092" y="4858553"/>
                <a:ext cx="1536083" cy="431800"/>
              </a:xfrm>
              <a:prstGeom prst="rect">
                <a:avLst/>
              </a:prstGeom>
              <a:blipFill rotWithShape="0">
                <a:blip r:embed="rId30"/>
                <a:stretch>
                  <a:fillRect b="-137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40" name="Rectangle 28"/>
              <p:cNvSpPr>
                <a:spLocks noChangeArrowheads="1"/>
              </p:cNvSpPr>
              <p:nvPr/>
            </p:nvSpPr>
            <p:spPr bwMode="auto">
              <a:xfrm>
                <a:off x="5933234" y="4867275"/>
                <a:ext cx="1376587" cy="431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40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33234" y="4867275"/>
                <a:ext cx="1376587" cy="431800"/>
              </a:xfrm>
              <a:prstGeom prst="rect">
                <a:avLst/>
              </a:prstGeom>
              <a:blipFill rotWithShape="0">
                <a:blip r:embed="rId31"/>
                <a:stretch>
                  <a:fillRect b="-137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41" name="Rectangle 29"/>
              <p:cNvSpPr>
                <a:spLocks noChangeArrowheads="1"/>
              </p:cNvSpPr>
              <p:nvPr/>
            </p:nvSpPr>
            <p:spPr bwMode="auto">
              <a:xfrm>
                <a:off x="7359464" y="2735240"/>
                <a:ext cx="1533712" cy="431800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  <m:sup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41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59464" y="2735240"/>
                <a:ext cx="1533712" cy="431800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42" name="Rectangle 30"/>
              <p:cNvSpPr>
                <a:spLocks noChangeArrowheads="1"/>
              </p:cNvSpPr>
              <p:nvPr/>
            </p:nvSpPr>
            <p:spPr bwMode="auto">
              <a:xfrm>
                <a:off x="5933234" y="2730509"/>
                <a:ext cx="1376587" cy="431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  <m:sup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42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33234" y="2730509"/>
                <a:ext cx="1376587" cy="431800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43" name="Rectangle 31"/>
              <p:cNvSpPr>
                <a:spLocks noChangeArrowheads="1"/>
              </p:cNvSpPr>
              <p:nvPr/>
            </p:nvSpPr>
            <p:spPr bwMode="auto">
              <a:xfrm>
                <a:off x="7359463" y="1531924"/>
                <a:ext cx="1524187" cy="431800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43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59463" y="1531924"/>
                <a:ext cx="1524187" cy="431800"/>
              </a:xfrm>
              <a:prstGeom prst="rect">
                <a:avLst/>
              </a:prstGeom>
              <a:blipFill rotWithShape="0">
                <a:blip r:embed="rId34"/>
                <a:stretch>
                  <a:fillRect b="-137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44" name="Rectangle 32"/>
              <p:cNvSpPr>
                <a:spLocks noChangeArrowheads="1"/>
              </p:cNvSpPr>
              <p:nvPr/>
            </p:nvSpPr>
            <p:spPr bwMode="auto">
              <a:xfrm>
                <a:off x="5933234" y="1521600"/>
                <a:ext cx="1376587" cy="431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2000" b="1" baseline="-25000" dirty="0">
                  <a:solidFill>
                    <a:srgbClr val="993300"/>
                  </a:solidFill>
                </a:endParaRPr>
              </a:p>
            </p:txBody>
          </p:sp>
        </mc:Choice>
        <mc:Fallback xmlns="">
          <p:sp>
            <p:nvSpPr>
              <p:cNvPr id="141344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33234" y="1521600"/>
                <a:ext cx="1376587" cy="431800"/>
              </a:xfrm>
              <a:prstGeom prst="rect">
                <a:avLst/>
              </a:prstGeom>
              <a:blipFill rotWithShape="0">
                <a:blip r:embed="rId35"/>
                <a:stretch>
                  <a:fillRect b="-138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45" name="Text Box 33"/>
              <p:cNvSpPr txBox="1">
                <a:spLocks noChangeArrowheads="1"/>
              </p:cNvSpPr>
              <p:nvPr/>
            </p:nvSpPr>
            <p:spPr bwMode="auto">
              <a:xfrm rot="5400000">
                <a:off x="7971788" y="3249065"/>
                <a:ext cx="45717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 . .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45" name="Text 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5400000">
                <a:off x="7971788" y="3249065"/>
                <a:ext cx="457176" cy="369332"/>
              </a:xfrm>
              <a:prstGeom prst="rect">
                <a:avLst/>
              </a:prstGeom>
              <a:blipFill rotWithShape="0">
                <a:blip r:embed="rId36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346" name="AutoShape 34"/>
          <p:cNvSpPr>
            <a:spLocks noChangeArrowheads="1"/>
          </p:cNvSpPr>
          <p:nvPr/>
        </p:nvSpPr>
        <p:spPr bwMode="auto">
          <a:xfrm>
            <a:off x="3431688" y="214290"/>
            <a:ext cx="2430109" cy="576262"/>
          </a:xfrm>
          <a:prstGeom prst="leftRightArrow">
            <a:avLst>
              <a:gd name="adj1" fmla="val 50000"/>
              <a:gd name="adj2" fmla="val 154931"/>
            </a:avLst>
          </a:prstGeom>
          <a:solidFill>
            <a:srgbClr val="F4FAF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 dirty="0">
                <a:solidFill>
                  <a:srgbClr val="00B050"/>
                </a:solidFill>
              </a:rPr>
              <a:t>equal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347" name="Rectangle 35"/>
              <p:cNvSpPr>
                <a:spLocks noChangeArrowheads="1"/>
              </p:cNvSpPr>
              <p:nvPr/>
            </p:nvSpPr>
            <p:spPr bwMode="auto">
              <a:xfrm>
                <a:off x="1829989" y="287315"/>
                <a:ext cx="1460089" cy="430211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it-IT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it-IT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47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9989" y="287315"/>
                <a:ext cx="1460089" cy="430211"/>
              </a:xfrm>
              <a:prstGeom prst="rect">
                <a:avLst/>
              </a:prstGeom>
              <a:blipFill rotWithShape="0">
                <a:blip r:embed="rId21"/>
                <a:stretch>
                  <a:fillRect r="-5785" b="-411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50" name="Rectangle 38"/>
              <p:cNvSpPr>
                <a:spLocks noChangeArrowheads="1"/>
              </p:cNvSpPr>
              <p:nvPr/>
            </p:nvSpPr>
            <p:spPr bwMode="auto">
              <a:xfrm>
                <a:off x="7357092" y="287315"/>
                <a:ext cx="1522600" cy="430211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it-IT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it-IT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it-IT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50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57092" y="287315"/>
                <a:ext cx="1522600" cy="430211"/>
              </a:xfrm>
              <a:prstGeom prst="rect">
                <a:avLst/>
              </a:prstGeom>
              <a:blipFill rotWithShape="0">
                <a:blip r:embed="rId37"/>
                <a:stretch>
                  <a:fillRect r="-6349" b="-411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AutoShape 34"/>
          <p:cNvSpPr>
            <a:spLocks noChangeArrowheads="1"/>
          </p:cNvSpPr>
          <p:nvPr/>
        </p:nvSpPr>
        <p:spPr bwMode="auto">
          <a:xfrm>
            <a:off x="3431688" y="4786322"/>
            <a:ext cx="2430109" cy="576262"/>
          </a:xfrm>
          <a:prstGeom prst="leftRightArrow">
            <a:avLst>
              <a:gd name="adj1" fmla="val 50000"/>
              <a:gd name="adj2" fmla="val 154931"/>
            </a:avLst>
          </a:prstGeom>
          <a:solidFill>
            <a:srgbClr val="F4FAF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not </a:t>
            </a:r>
            <a:r>
              <a:rPr lang="en-US" sz="2000" b="1" dirty="0"/>
              <a:t>equal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16"/>
              <p:cNvSpPr>
                <a:spLocks noChangeArrowheads="1"/>
              </p:cNvSpPr>
              <p:nvPr/>
            </p:nvSpPr>
            <p:spPr bwMode="auto">
              <a:xfrm>
                <a:off x="1862586" y="3643314"/>
                <a:ext cx="1427492" cy="431800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it-IT" sz="20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62586" y="3643314"/>
                <a:ext cx="1427492" cy="431800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16"/>
              <p:cNvSpPr>
                <a:spLocks noChangeArrowheads="1"/>
              </p:cNvSpPr>
              <p:nvPr/>
            </p:nvSpPr>
            <p:spPr bwMode="auto">
              <a:xfrm>
                <a:off x="7368988" y="3643314"/>
                <a:ext cx="1498809" cy="431800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68988" y="3643314"/>
                <a:ext cx="1498809" cy="431800"/>
              </a:xfrm>
              <a:prstGeom prst="rect">
                <a:avLst/>
              </a:prstGeom>
              <a:blipFill rotWithShape="0">
                <a:blip r:embed="rId38"/>
                <a:stretch>
                  <a:fillRect b="-138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6780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1.85185E-6 L 0.00087 0.1789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413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8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7 0.17893 L 0.00087 0.3337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413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7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7 0.33379 L 0.00087 0.4833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413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46" grpId="0" animBg="1"/>
      <p:bldP spid="141346" grpId="1" animBg="1"/>
      <p:bldP spid="141346" grpId="2" animBg="1"/>
      <p:bldP spid="141346" grpId="3" animBg="1"/>
      <p:bldP spid="3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7" name="Freeform 5"/>
          <p:cNvSpPr>
            <a:spLocks/>
          </p:cNvSpPr>
          <p:nvPr/>
        </p:nvSpPr>
        <p:spPr bwMode="auto">
          <a:xfrm rot="16200000">
            <a:off x="1467299" y="4216773"/>
            <a:ext cx="647700" cy="2958354"/>
          </a:xfrm>
          <a:custGeom>
            <a:avLst/>
            <a:gdLst/>
            <a:ahLst/>
            <a:cxnLst>
              <a:cxn ang="0">
                <a:pos x="0" y="1200"/>
              </a:cxn>
              <a:cxn ang="0">
                <a:pos x="912" y="1200"/>
              </a:cxn>
              <a:cxn ang="0">
                <a:pos x="912" y="624"/>
              </a:cxn>
              <a:cxn ang="0">
                <a:pos x="0" y="0"/>
              </a:cxn>
              <a:cxn ang="0">
                <a:pos x="0" y="1200"/>
              </a:cxn>
            </a:cxnLst>
            <a:rect l="0" t="0" r="r" b="b"/>
            <a:pathLst>
              <a:path w="912" h="1200">
                <a:moveTo>
                  <a:pt x="0" y="1200"/>
                </a:moveTo>
                <a:lnTo>
                  <a:pt x="912" y="1200"/>
                </a:lnTo>
                <a:lnTo>
                  <a:pt x="912" y="624"/>
                </a:lnTo>
                <a:lnTo>
                  <a:pt x="0" y="0"/>
                </a:lnTo>
                <a:lnTo>
                  <a:pt x="0" y="120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41319" name="Freeform 7"/>
          <p:cNvSpPr>
            <a:spLocks/>
          </p:cNvSpPr>
          <p:nvPr/>
        </p:nvSpPr>
        <p:spPr bwMode="auto">
          <a:xfrm rot="16200000">
            <a:off x="1467299" y="2992811"/>
            <a:ext cx="647700" cy="2958353"/>
          </a:xfrm>
          <a:custGeom>
            <a:avLst/>
            <a:gdLst/>
            <a:ahLst/>
            <a:cxnLst>
              <a:cxn ang="0">
                <a:pos x="0" y="1200"/>
              </a:cxn>
              <a:cxn ang="0">
                <a:pos x="912" y="1200"/>
              </a:cxn>
              <a:cxn ang="0">
                <a:pos x="912" y="624"/>
              </a:cxn>
              <a:cxn ang="0">
                <a:pos x="0" y="0"/>
              </a:cxn>
              <a:cxn ang="0">
                <a:pos x="0" y="1200"/>
              </a:cxn>
            </a:cxnLst>
            <a:rect l="0" t="0" r="r" b="b"/>
            <a:pathLst>
              <a:path w="912" h="1200">
                <a:moveTo>
                  <a:pt x="0" y="1200"/>
                </a:moveTo>
                <a:lnTo>
                  <a:pt x="912" y="1200"/>
                </a:lnTo>
                <a:lnTo>
                  <a:pt x="912" y="624"/>
                </a:lnTo>
                <a:lnTo>
                  <a:pt x="0" y="0"/>
                </a:lnTo>
                <a:lnTo>
                  <a:pt x="0" y="120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41320" name="Freeform 8"/>
          <p:cNvSpPr>
            <a:spLocks/>
          </p:cNvSpPr>
          <p:nvPr/>
        </p:nvSpPr>
        <p:spPr bwMode="auto">
          <a:xfrm rot="16200000">
            <a:off x="1467299" y="859188"/>
            <a:ext cx="647700" cy="2958353"/>
          </a:xfrm>
          <a:custGeom>
            <a:avLst/>
            <a:gdLst/>
            <a:ahLst/>
            <a:cxnLst>
              <a:cxn ang="0">
                <a:pos x="0" y="1200"/>
              </a:cxn>
              <a:cxn ang="0">
                <a:pos x="912" y="1200"/>
              </a:cxn>
              <a:cxn ang="0">
                <a:pos x="912" y="624"/>
              </a:cxn>
              <a:cxn ang="0">
                <a:pos x="0" y="0"/>
              </a:cxn>
              <a:cxn ang="0">
                <a:pos x="0" y="1200"/>
              </a:cxn>
            </a:cxnLst>
            <a:rect l="0" t="0" r="r" b="b"/>
            <a:pathLst>
              <a:path w="912" h="1200">
                <a:moveTo>
                  <a:pt x="0" y="1200"/>
                </a:moveTo>
                <a:lnTo>
                  <a:pt x="912" y="1200"/>
                </a:lnTo>
                <a:lnTo>
                  <a:pt x="912" y="624"/>
                </a:lnTo>
                <a:lnTo>
                  <a:pt x="0" y="0"/>
                </a:lnTo>
                <a:lnTo>
                  <a:pt x="0" y="120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41321" name="Freeform 9"/>
          <p:cNvSpPr>
            <a:spLocks/>
          </p:cNvSpPr>
          <p:nvPr/>
        </p:nvSpPr>
        <p:spPr bwMode="auto">
          <a:xfrm rot="16200000">
            <a:off x="1477175" y="-374652"/>
            <a:ext cx="647700" cy="2978107"/>
          </a:xfrm>
          <a:custGeom>
            <a:avLst/>
            <a:gdLst/>
            <a:ahLst/>
            <a:cxnLst>
              <a:cxn ang="0">
                <a:pos x="0" y="1200"/>
              </a:cxn>
              <a:cxn ang="0">
                <a:pos x="912" y="1200"/>
              </a:cxn>
              <a:cxn ang="0">
                <a:pos x="912" y="624"/>
              </a:cxn>
              <a:cxn ang="0">
                <a:pos x="0" y="0"/>
              </a:cxn>
              <a:cxn ang="0">
                <a:pos x="0" y="1200"/>
              </a:cxn>
            </a:cxnLst>
            <a:rect l="0" t="0" r="r" b="b"/>
            <a:pathLst>
              <a:path w="912" h="1200">
                <a:moveTo>
                  <a:pt x="0" y="1200"/>
                </a:moveTo>
                <a:lnTo>
                  <a:pt x="912" y="1200"/>
                </a:lnTo>
                <a:lnTo>
                  <a:pt x="912" y="624"/>
                </a:lnTo>
                <a:lnTo>
                  <a:pt x="0" y="0"/>
                </a:lnTo>
                <a:lnTo>
                  <a:pt x="0" y="120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322" name="Rectangle 10"/>
              <p:cNvSpPr>
                <a:spLocks noChangeArrowheads="1"/>
              </p:cNvSpPr>
              <p:nvPr/>
            </p:nvSpPr>
            <p:spPr bwMode="auto">
              <a:xfrm>
                <a:off x="1862582" y="6107038"/>
                <a:ext cx="1407741" cy="431800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𝐈𝐕</m:t>
                      </m:r>
                    </m:oMath>
                  </m:oMathPara>
                </a14:m>
                <a:endParaRPr lang="it-IT" sz="2000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22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62582" y="6107038"/>
                <a:ext cx="1407741" cy="4318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23" name="Rectangle 11"/>
              <p:cNvSpPr>
                <a:spLocks noChangeArrowheads="1"/>
              </p:cNvSpPr>
              <p:nvPr/>
            </p:nvSpPr>
            <p:spPr bwMode="auto">
              <a:xfrm>
                <a:off x="311969" y="6101547"/>
                <a:ext cx="1479177" cy="431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23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1969" y="6101547"/>
                <a:ext cx="1479177" cy="43180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24" name="Rectangle 12"/>
              <p:cNvSpPr>
                <a:spLocks noChangeArrowheads="1"/>
              </p:cNvSpPr>
              <p:nvPr/>
            </p:nvSpPr>
            <p:spPr bwMode="auto">
              <a:xfrm>
                <a:off x="1862583" y="4858553"/>
                <a:ext cx="1407741" cy="431800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24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62583" y="4858553"/>
                <a:ext cx="1407741" cy="43180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25" name="Rectangle 13"/>
              <p:cNvSpPr>
                <a:spLocks noChangeArrowheads="1"/>
              </p:cNvSpPr>
              <p:nvPr/>
            </p:nvSpPr>
            <p:spPr bwMode="auto">
              <a:xfrm>
                <a:off x="311970" y="4858553"/>
                <a:ext cx="1479177" cy="431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25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1970" y="4858553"/>
                <a:ext cx="1479177" cy="43180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28" name="Rectangle 16"/>
              <p:cNvSpPr>
                <a:spLocks noChangeArrowheads="1"/>
              </p:cNvSpPr>
              <p:nvPr/>
            </p:nvSpPr>
            <p:spPr bwMode="auto">
              <a:xfrm>
                <a:off x="1862585" y="2747166"/>
                <a:ext cx="1407740" cy="431800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it-IT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28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62585" y="2747166"/>
                <a:ext cx="1407740" cy="43180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29" name="Rectangle 17"/>
              <p:cNvSpPr>
                <a:spLocks noChangeArrowheads="1"/>
              </p:cNvSpPr>
              <p:nvPr/>
            </p:nvSpPr>
            <p:spPr bwMode="auto">
              <a:xfrm>
                <a:off x="311971" y="2735240"/>
                <a:ext cx="1479177" cy="431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29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1971" y="2735240"/>
                <a:ext cx="1479177" cy="43180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30" name="Rectangle 18"/>
              <p:cNvSpPr>
                <a:spLocks noChangeArrowheads="1"/>
              </p:cNvSpPr>
              <p:nvPr/>
            </p:nvSpPr>
            <p:spPr bwMode="auto">
              <a:xfrm>
                <a:off x="1862586" y="1511277"/>
                <a:ext cx="1427492" cy="431800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it-IT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30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62586" y="1511277"/>
                <a:ext cx="1427492" cy="43180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31" name="Rectangle 19"/>
              <p:cNvSpPr>
                <a:spLocks noChangeArrowheads="1"/>
              </p:cNvSpPr>
              <p:nvPr/>
            </p:nvSpPr>
            <p:spPr bwMode="auto">
              <a:xfrm>
                <a:off x="311971" y="1511277"/>
                <a:ext cx="1479177" cy="431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31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1971" y="1511277"/>
                <a:ext cx="1479177" cy="43180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32" name="Text Box 20"/>
              <p:cNvSpPr txBox="1">
                <a:spLocks noChangeArrowheads="1"/>
              </p:cNvSpPr>
              <p:nvPr/>
            </p:nvSpPr>
            <p:spPr bwMode="auto">
              <a:xfrm rot="5400000">
                <a:off x="2237373" y="3244333"/>
                <a:ext cx="500065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 . .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32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5400000">
                <a:off x="2237373" y="3244333"/>
                <a:ext cx="500065" cy="36933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333" name="Freeform 21"/>
          <p:cNvSpPr>
            <a:spLocks/>
          </p:cNvSpPr>
          <p:nvPr/>
        </p:nvSpPr>
        <p:spPr bwMode="auto">
          <a:xfrm rot="16200000">
            <a:off x="7084592" y="4220742"/>
            <a:ext cx="647700" cy="2950416"/>
          </a:xfrm>
          <a:custGeom>
            <a:avLst/>
            <a:gdLst/>
            <a:ahLst/>
            <a:cxnLst>
              <a:cxn ang="0">
                <a:pos x="0" y="1200"/>
              </a:cxn>
              <a:cxn ang="0">
                <a:pos x="912" y="1200"/>
              </a:cxn>
              <a:cxn ang="0">
                <a:pos x="912" y="624"/>
              </a:cxn>
              <a:cxn ang="0">
                <a:pos x="0" y="0"/>
              </a:cxn>
              <a:cxn ang="0">
                <a:pos x="0" y="1200"/>
              </a:cxn>
            </a:cxnLst>
            <a:rect l="0" t="0" r="r" b="b"/>
            <a:pathLst>
              <a:path w="912" h="1200">
                <a:moveTo>
                  <a:pt x="0" y="1200"/>
                </a:moveTo>
                <a:lnTo>
                  <a:pt x="912" y="1200"/>
                </a:lnTo>
                <a:lnTo>
                  <a:pt x="912" y="624"/>
                </a:lnTo>
                <a:lnTo>
                  <a:pt x="0" y="0"/>
                </a:lnTo>
                <a:lnTo>
                  <a:pt x="0" y="120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41334" name="Freeform 22"/>
          <p:cNvSpPr>
            <a:spLocks/>
          </p:cNvSpPr>
          <p:nvPr/>
        </p:nvSpPr>
        <p:spPr bwMode="auto">
          <a:xfrm rot="16200000">
            <a:off x="7084592" y="2996780"/>
            <a:ext cx="647700" cy="2950416"/>
          </a:xfrm>
          <a:custGeom>
            <a:avLst/>
            <a:gdLst/>
            <a:ahLst/>
            <a:cxnLst>
              <a:cxn ang="0">
                <a:pos x="0" y="1200"/>
              </a:cxn>
              <a:cxn ang="0">
                <a:pos x="912" y="1200"/>
              </a:cxn>
              <a:cxn ang="0">
                <a:pos x="912" y="624"/>
              </a:cxn>
              <a:cxn ang="0">
                <a:pos x="0" y="0"/>
              </a:cxn>
              <a:cxn ang="0">
                <a:pos x="0" y="1200"/>
              </a:cxn>
            </a:cxnLst>
            <a:rect l="0" t="0" r="r" b="b"/>
            <a:pathLst>
              <a:path w="912" h="1200">
                <a:moveTo>
                  <a:pt x="0" y="1200"/>
                </a:moveTo>
                <a:lnTo>
                  <a:pt x="912" y="1200"/>
                </a:lnTo>
                <a:lnTo>
                  <a:pt x="912" y="624"/>
                </a:lnTo>
                <a:lnTo>
                  <a:pt x="0" y="0"/>
                </a:lnTo>
                <a:lnTo>
                  <a:pt x="0" y="120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41335" name="Freeform 23"/>
          <p:cNvSpPr>
            <a:spLocks/>
          </p:cNvSpPr>
          <p:nvPr/>
        </p:nvSpPr>
        <p:spPr bwMode="auto">
          <a:xfrm rot="16200000">
            <a:off x="7084592" y="863157"/>
            <a:ext cx="647700" cy="2950416"/>
          </a:xfrm>
          <a:custGeom>
            <a:avLst/>
            <a:gdLst/>
            <a:ahLst/>
            <a:cxnLst>
              <a:cxn ang="0">
                <a:pos x="0" y="1200"/>
              </a:cxn>
              <a:cxn ang="0">
                <a:pos x="912" y="1200"/>
              </a:cxn>
              <a:cxn ang="0">
                <a:pos x="912" y="624"/>
              </a:cxn>
              <a:cxn ang="0">
                <a:pos x="0" y="0"/>
              </a:cxn>
              <a:cxn ang="0">
                <a:pos x="0" y="1200"/>
              </a:cxn>
            </a:cxnLst>
            <a:rect l="0" t="0" r="r" b="b"/>
            <a:pathLst>
              <a:path w="912" h="1200">
                <a:moveTo>
                  <a:pt x="0" y="1200"/>
                </a:moveTo>
                <a:lnTo>
                  <a:pt x="912" y="1200"/>
                </a:lnTo>
                <a:lnTo>
                  <a:pt x="912" y="624"/>
                </a:lnTo>
                <a:lnTo>
                  <a:pt x="0" y="0"/>
                </a:lnTo>
                <a:lnTo>
                  <a:pt x="0" y="120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141336" name="Freeform 24"/>
          <p:cNvSpPr>
            <a:spLocks/>
          </p:cNvSpPr>
          <p:nvPr/>
        </p:nvSpPr>
        <p:spPr bwMode="auto">
          <a:xfrm rot="16200000">
            <a:off x="7065549" y="-341763"/>
            <a:ext cx="669936" cy="2934563"/>
          </a:xfrm>
          <a:custGeom>
            <a:avLst/>
            <a:gdLst/>
            <a:ahLst/>
            <a:cxnLst>
              <a:cxn ang="0">
                <a:pos x="0" y="1200"/>
              </a:cxn>
              <a:cxn ang="0">
                <a:pos x="912" y="1200"/>
              </a:cxn>
              <a:cxn ang="0">
                <a:pos x="912" y="624"/>
              </a:cxn>
              <a:cxn ang="0">
                <a:pos x="0" y="0"/>
              </a:cxn>
              <a:cxn ang="0">
                <a:pos x="0" y="1200"/>
              </a:cxn>
            </a:cxnLst>
            <a:rect l="0" t="0" r="r" b="b"/>
            <a:pathLst>
              <a:path w="912" h="1200">
                <a:moveTo>
                  <a:pt x="0" y="1200"/>
                </a:moveTo>
                <a:lnTo>
                  <a:pt x="912" y="1200"/>
                </a:lnTo>
                <a:lnTo>
                  <a:pt x="912" y="624"/>
                </a:lnTo>
                <a:lnTo>
                  <a:pt x="0" y="0"/>
                </a:lnTo>
                <a:lnTo>
                  <a:pt x="0" y="120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337" name="Rectangle 25"/>
              <p:cNvSpPr>
                <a:spLocks noChangeArrowheads="1"/>
              </p:cNvSpPr>
              <p:nvPr/>
            </p:nvSpPr>
            <p:spPr bwMode="auto">
              <a:xfrm>
                <a:off x="7357092" y="6092825"/>
                <a:ext cx="1536083" cy="431800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𝐈𝐕</m:t>
                      </m:r>
                    </m:oMath>
                  </m:oMathPara>
                </a14:m>
                <a:endParaRPr lang="it-IT" sz="2000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37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57092" y="6092825"/>
                <a:ext cx="1536083" cy="431800"/>
              </a:xfrm>
              <a:prstGeom prst="rect">
                <a:avLst/>
              </a:prstGeom>
              <a:blipFill rotWithShape="0">
                <a:blip r:embed="rId12"/>
                <a:stretch>
                  <a:fillRect b="-137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38" name="Rectangle 26"/>
              <p:cNvSpPr>
                <a:spLocks noChangeArrowheads="1"/>
              </p:cNvSpPr>
              <p:nvPr/>
            </p:nvSpPr>
            <p:spPr bwMode="auto">
              <a:xfrm>
                <a:off x="5933233" y="6101546"/>
                <a:ext cx="1376588" cy="431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38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33233" y="6101546"/>
                <a:ext cx="1376588" cy="431800"/>
              </a:xfrm>
              <a:prstGeom prst="rect">
                <a:avLst/>
              </a:prstGeom>
              <a:blipFill rotWithShape="0">
                <a:blip r:embed="rId13"/>
                <a:stretch>
                  <a:fillRect b="-137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39" name="Rectangle 27"/>
              <p:cNvSpPr>
                <a:spLocks noChangeArrowheads="1"/>
              </p:cNvSpPr>
              <p:nvPr/>
            </p:nvSpPr>
            <p:spPr bwMode="auto">
              <a:xfrm>
                <a:off x="7357092" y="4858553"/>
                <a:ext cx="1536083" cy="431800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39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57092" y="4858553"/>
                <a:ext cx="1536083" cy="431800"/>
              </a:xfrm>
              <a:prstGeom prst="rect">
                <a:avLst/>
              </a:prstGeom>
              <a:blipFill rotWithShape="0">
                <a:blip r:embed="rId14"/>
                <a:stretch>
                  <a:fillRect b="-137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40" name="Rectangle 28"/>
              <p:cNvSpPr>
                <a:spLocks noChangeArrowheads="1"/>
              </p:cNvSpPr>
              <p:nvPr/>
            </p:nvSpPr>
            <p:spPr bwMode="auto">
              <a:xfrm>
                <a:off x="5933234" y="4867275"/>
                <a:ext cx="1376587" cy="431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40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33234" y="4867275"/>
                <a:ext cx="1376587" cy="431800"/>
              </a:xfrm>
              <a:prstGeom prst="rect">
                <a:avLst/>
              </a:prstGeom>
              <a:blipFill rotWithShape="0">
                <a:blip r:embed="rId15"/>
                <a:stretch>
                  <a:fillRect b="-137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41" name="Rectangle 29"/>
              <p:cNvSpPr>
                <a:spLocks noChangeArrowheads="1"/>
              </p:cNvSpPr>
              <p:nvPr/>
            </p:nvSpPr>
            <p:spPr bwMode="auto">
              <a:xfrm>
                <a:off x="7359464" y="2735240"/>
                <a:ext cx="1533712" cy="431800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  <m:sup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41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59464" y="2735240"/>
                <a:ext cx="1533712" cy="431800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42" name="Rectangle 30"/>
              <p:cNvSpPr>
                <a:spLocks noChangeArrowheads="1"/>
              </p:cNvSpPr>
              <p:nvPr/>
            </p:nvSpPr>
            <p:spPr bwMode="auto">
              <a:xfrm>
                <a:off x="5933234" y="2730509"/>
                <a:ext cx="1376587" cy="431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  <m:sup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42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33234" y="2730509"/>
                <a:ext cx="1376587" cy="431800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43" name="Rectangle 31"/>
              <p:cNvSpPr>
                <a:spLocks noChangeArrowheads="1"/>
              </p:cNvSpPr>
              <p:nvPr/>
            </p:nvSpPr>
            <p:spPr bwMode="auto">
              <a:xfrm>
                <a:off x="7359463" y="1531924"/>
                <a:ext cx="1524187" cy="431800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43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59463" y="1531924"/>
                <a:ext cx="1524187" cy="431800"/>
              </a:xfrm>
              <a:prstGeom prst="rect">
                <a:avLst/>
              </a:prstGeom>
              <a:blipFill rotWithShape="0">
                <a:blip r:embed="rId18"/>
                <a:stretch>
                  <a:fillRect b="-137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44" name="Rectangle 32"/>
              <p:cNvSpPr>
                <a:spLocks noChangeArrowheads="1"/>
              </p:cNvSpPr>
              <p:nvPr/>
            </p:nvSpPr>
            <p:spPr bwMode="auto">
              <a:xfrm>
                <a:off x="5933234" y="1521600"/>
                <a:ext cx="1376587" cy="431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2000" b="1" baseline="-25000" dirty="0">
                  <a:solidFill>
                    <a:srgbClr val="993300"/>
                  </a:solidFill>
                </a:endParaRPr>
              </a:p>
            </p:txBody>
          </p:sp>
        </mc:Choice>
        <mc:Fallback xmlns="">
          <p:sp>
            <p:nvSpPr>
              <p:cNvPr id="141344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33234" y="1521600"/>
                <a:ext cx="1376587" cy="431800"/>
              </a:xfrm>
              <a:prstGeom prst="rect">
                <a:avLst/>
              </a:prstGeom>
              <a:blipFill rotWithShape="0">
                <a:blip r:embed="rId19"/>
                <a:stretch>
                  <a:fillRect b="-138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45" name="Text Box 33"/>
              <p:cNvSpPr txBox="1">
                <a:spLocks noChangeArrowheads="1"/>
              </p:cNvSpPr>
              <p:nvPr/>
            </p:nvSpPr>
            <p:spPr bwMode="auto">
              <a:xfrm rot="5400000">
                <a:off x="7971788" y="3249065"/>
                <a:ext cx="45717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 . .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45" name="Text 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5400000">
                <a:off x="7971788" y="3249065"/>
                <a:ext cx="457176" cy="369332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346" name="AutoShape 34"/>
          <p:cNvSpPr>
            <a:spLocks noChangeArrowheads="1"/>
          </p:cNvSpPr>
          <p:nvPr/>
        </p:nvSpPr>
        <p:spPr bwMode="auto">
          <a:xfrm>
            <a:off x="3431688" y="214290"/>
            <a:ext cx="2430109" cy="576262"/>
          </a:xfrm>
          <a:prstGeom prst="leftRightArrow">
            <a:avLst>
              <a:gd name="adj1" fmla="val 50000"/>
              <a:gd name="adj2" fmla="val 154931"/>
            </a:avLst>
          </a:prstGeom>
          <a:solidFill>
            <a:srgbClr val="F4FAF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b="1" dirty="0">
                <a:solidFill>
                  <a:srgbClr val="00B050"/>
                </a:solidFill>
              </a:rPr>
              <a:t>equal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347" name="Rectangle 35"/>
              <p:cNvSpPr>
                <a:spLocks noChangeArrowheads="1"/>
              </p:cNvSpPr>
              <p:nvPr/>
            </p:nvSpPr>
            <p:spPr bwMode="auto">
              <a:xfrm>
                <a:off x="1829989" y="287315"/>
                <a:ext cx="1460089" cy="430211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it-IT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it-IT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47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9989" y="287315"/>
                <a:ext cx="1460089" cy="430211"/>
              </a:xfrm>
              <a:prstGeom prst="rect">
                <a:avLst/>
              </a:prstGeom>
              <a:blipFill rotWithShape="0">
                <a:blip r:embed="rId21"/>
                <a:stretch>
                  <a:fillRect r="-5785" b="-411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50" name="Rectangle 38"/>
              <p:cNvSpPr>
                <a:spLocks noChangeArrowheads="1"/>
              </p:cNvSpPr>
              <p:nvPr/>
            </p:nvSpPr>
            <p:spPr bwMode="auto">
              <a:xfrm>
                <a:off x="7357092" y="287315"/>
                <a:ext cx="1522600" cy="430211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it-IT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it-IT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it-IT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350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57092" y="287315"/>
                <a:ext cx="1522600" cy="430211"/>
              </a:xfrm>
              <a:prstGeom prst="rect">
                <a:avLst/>
              </a:prstGeom>
              <a:blipFill rotWithShape="0">
                <a:blip r:embed="rId22"/>
                <a:stretch>
                  <a:fillRect r="-6349" b="-411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16"/>
              <p:cNvSpPr>
                <a:spLocks noChangeArrowheads="1"/>
              </p:cNvSpPr>
              <p:nvPr/>
            </p:nvSpPr>
            <p:spPr bwMode="auto">
              <a:xfrm>
                <a:off x="1862586" y="3643314"/>
                <a:ext cx="1427492" cy="431800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it-IT" sz="20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62586" y="3643314"/>
                <a:ext cx="1427492" cy="431800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16"/>
              <p:cNvSpPr>
                <a:spLocks noChangeArrowheads="1"/>
              </p:cNvSpPr>
              <p:nvPr/>
            </p:nvSpPr>
            <p:spPr bwMode="auto">
              <a:xfrm>
                <a:off x="7368988" y="3643314"/>
                <a:ext cx="1498809" cy="431800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68988" y="3643314"/>
                <a:ext cx="1498809" cy="431800"/>
              </a:xfrm>
              <a:prstGeom prst="rect">
                <a:avLst/>
              </a:prstGeom>
              <a:blipFill rotWithShape="0">
                <a:blip r:embed="rId24"/>
                <a:stretch>
                  <a:fillRect b="-138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Box 37"/>
              <p:cNvSpPr txBox="1">
                <a:spLocks noChangeArrowheads="1"/>
              </p:cNvSpPr>
              <p:nvPr/>
            </p:nvSpPr>
            <p:spPr bwMode="auto">
              <a:xfrm>
                <a:off x="3339722" y="2241293"/>
                <a:ext cx="2540566" cy="255454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p>
                        <m: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be the least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such that</a:t>
                </a:r>
              </a:p>
              <a:p>
                <a:endParaRPr lang="en-US" sz="2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bSupPr>
                        <m:e>
                          <m:r>
                            <a:rPr lang="en-US" sz="2000" b="1" i="1" dirty="0" err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 dirty="0" err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endParaRPr lang="en-US" sz="2000" b="1" dirty="0">
                  <a:solidFill>
                    <a:srgbClr val="993300"/>
                  </a:solidFill>
                </a:endParaRPr>
              </a:p>
              <a:p>
                <a:pPr algn="ctr"/>
                <a:r>
                  <a:rPr lang="en-US" dirty="0"/>
                  <a:t>(because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≠ 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such 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 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always exists!)</a:t>
                </a:r>
              </a:p>
            </p:txBody>
          </p:sp>
        </mc:Choice>
        <mc:Fallback xmlns="">
          <p:sp>
            <p:nvSpPr>
              <p:cNvPr id="37" name="Text 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39722" y="2241293"/>
                <a:ext cx="2540566" cy="2554545"/>
              </a:xfrm>
              <a:prstGeom prst="rect">
                <a:avLst/>
              </a:prstGeom>
              <a:blipFill rotWithShape="0">
                <a:blip r:embed="rId25"/>
                <a:stretch>
                  <a:fillRect l="-2387" t="-1188" r="-143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6986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So, we have found a collision!</a:t>
            </a:r>
          </a:p>
        </p:txBody>
      </p:sp>
      <p:sp>
        <p:nvSpPr>
          <p:cNvPr id="142340" name="Freeform 4"/>
          <p:cNvSpPr>
            <a:spLocks/>
          </p:cNvSpPr>
          <p:nvPr/>
        </p:nvSpPr>
        <p:spPr bwMode="auto">
          <a:xfrm rot="16200000">
            <a:off x="1508125" y="2173288"/>
            <a:ext cx="647700" cy="2438400"/>
          </a:xfrm>
          <a:custGeom>
            <a:avLst/>
            <a:gdLst/>
            <a:ahLst/>
            <a:cxnLst>
              <a:cxn ang="0">
                <a:pos x="0" y="1200"/>
              </a:cxn>
              <a:cxn ang="0">
                <a:pos x="912" y="1200"/>
              </a:cxn>
              <a:cxn ang="0">
                <a:pos x="912" y="624"/>
              </a:cxn>
              <a:cxn ang="0">
                <a:pos x="0" y="0"/>
              </a:cxn>
              <a:cxn ang="0">
                <a:pos x="0" y="1200"/>
              </a:cxn>
            </a:cxnLst>
            <a:rect l="0" t="0" r="r" b="b"/>
            <a:pathLst>
              <a:path w="912" h="1200">
                <a:moveTo>
                  <a:pt x="0" y="1200"/>
                </a:moveTo>
                <a:lnTo>
                  <a:pt x="912" y="1200"/>
                </a:lnTo>
                <a:lnTo>
                  <a:pt x="912" y="624"/>
                </a:lnTo>
                <a:lnTo>
                  <a:pt x="0" y="0"/>
                </a:lnTo>
                <a:lnTo>
                  <a:pt x="0" y="120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341" name="Rectangle 5"/>
              <p:cNvSpPr>
                <a:spLocks noChangeArrowheads="1"/>
              </p:cNvSpPr>
              <p:nvPr/>
            </p:nvSpPr>
            <p:spPr bwMode="auto">
              <a:xfrm>
                <a:off x="1908175" y="3789363"/>
                <a:ext cx="1152525" cy="431800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p>
                              <m: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it-IT" sz="24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2341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8175" y="3789363"/>
                <a:ext cx="1152525" cy="4318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342" name="Rectangle 6"/>
              <p:cNvSpPr>
                <a:spLocks noChangeArrowheads="1"/>
              </p:cNvSpPr>
              <p:nvPr/>
            </p:nvSpPr>
            <p:spPr bwMode="auto">
              <a:xfrm>
                <a:off x="612775" y="3789363"/>
                <a:ext cx="1223963" cy="431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p>
                              <m: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it-IT" sz="24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2342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2775" y="3789363"/>
                <a:ext cx="1223963" cy="43180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343" name="Rectangle 7"/>
              <p:cNvSpPr>
                <a:spLocks noChangeArrowheads="1"/>
              </p:cNvSpPr>
              <p:nvPr/>
            </p:nvSpPr>
            <p:spPr bwMode="auto">
              <a:xfrm>
                <a:off x="1908175" y="2565400"/>
                <a:ext cx="1152525" cy="431800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sSup>
                            <m:sSup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p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2343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8175" y="2565400"/>
                <a:ext cx="1152525" cy="43180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345" name="Freeform 9"/>
          <p:cNvSpPr>
            <a:spLocks/>
          </p:cNvSpPr>
          <p:nvPr/>
        </p:nvSpPr>
        <p:spPr bwMode="auto">
          <a:xfrm rot="16200000">
            <a:off x="6619875" y="2173288"/>
            <a:ext cx="647700" cy="2438400"/>
          </a:xfrm>
          <a:custGeom>
            <a:avLst/>
            <a:gdLst/>
            <a:ahLst/>
            <a:cxnLst>
              <a:cxn ang="0">
                <a:pos x="0" y="1200"/>
              </a:cxn>
              <a:cxn ang="0">
                <a:pos x="912" y="1200"/>
              </a:cxn>
              <a:cxn ang="0">
                <a:pos x="912" y="624"/>
              </a:cxn>
              <a:cxn ang="0">
                <a:pos x="0" y="0"/>
              </a:cxn>
              <a:cxn ang="0">
                <a:pos x="0" y="1200"/>
              </a:cxn>
            </a:cxnLst>
            <a:rect l="0" t="0" r="r" b="b"/>
            <a:pathLst>
              <a:path w="912" h="1200">
                <a:moveTo>
                  <a:pt x="0" y="1200"/>
                </a:moveTo>
                <a:lnTo>
                  <a:pt x="912" y="1200"/>
                </a:lnTo>
                <a:lnTo>
                  <a:pt x="912" y="624"/>
                </a:lnTo>
                <a:lnTo>
                  <a:pt x="0" y="0"/>
                </a:lnTo>
                <a:lnTo>
                  <a:pt x="0" y="120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346" name="Rectangle 10"/>
              <p:cNvSpPr>
                <a:spLocks noChangeArrowheads="1"/>
              </p:cNvSpPr>
              <p:nvPr/>
            </p:nvSpPr>
            <p:spPr bwMode="auto">
              <a:xfrm>
                <a:off x="7019925" y="3789363"/>
                <a:ext cx="1152525" cy="431800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p>
                              <m: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24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2346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19925" y="3789363"/>
                <a:ext cx="1152525" cy="431800"/>
              </a:xfrm>
              <a:prstGeom prst="rect">
                <a:avLst/>
              </a:prstGeom>
              <a:blipFill rotWithShape="0">
                <a:blip r:embed="rId6"/>
                <a:stretch>
                  <a:fillRect b="-138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347" name="Rectangle 11"/>
              <p:cNvSpPr>
                <a:spLocks noChangeArrowheads="1"/>
              </p:cNvSpPr>
              <p:nvPr/>
            </p:nvSpPr>
            <p:spPr bwMode="auto">
              <a:xfrm>
                <a:off x="5724525" y="3789363"/>
                <a:ext cx="1223963" cy="431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p>
                              <m: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24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2347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24525" y="3789363"/>
                <a:ext cx="1223963" cy="431800"/>
              </a:xfrm>
              <a:prstGeom prst="rect">
                <a:avLst/>
              </a:prstGeom>
              <a:blipFill rotWithShape="0">
                <a:blip r:embed="rId7"/>
                <a:stretch>
                  <a:fillRect b="-138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348" name="Rectangle 12"/>
              <p:cNvSpPr>
                <a:spLocks noChangeArrowheads="1"/>
              </p:cNvSpPr>
              <p:nvPr/>
            </p:nvSpPr>
            <p:spPr bwMode="auto">
              <a:xfrm>
                <a:off x="7019925" y="2565400"/>
                <a:ext cx="1152525" cy="431800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p>
                              <m: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  <m:sup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24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2348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19925" y="2565400"/>
                <a:ext cx="1152525" cy="431800"/>
              </a:xfrm>
              <a:prstGeom prst="rect">
                <a:avLst/>
              </a:prstGeom>
              <a:blipFill rotWithShape="0">
                <a:blip r:embed="rId8"/>
                <a:stretch>
                  <a:fillRect b="-1370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350" name="AutoShape 14"/>
          <p:cNvSpPr>
            <a:spLocks noChangeArrowheads="1"/>
          </p:cNvSpPr>
          <p:nvPr/>
        </p:nvSpPr>
        <p:spPr bwMode="auto">
          <a:xfrm>
            <a:off x="3132138" y="3716338"/>
            <a:ext cx="2519362" cy="576262"/>
          </a:xfrm>
          <a:prstGeom prst="leftRightArrow">
            <a:avLst>
              <a:gd name="adj1" fmla="val 50000"/>
              <a:gd name="adj2" fmla="val 87438"/>
            </a:avLst>
          </a:prstGeom>
          <a:solidFill>
            <a:srgbClr val="F4FAF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it-IT" sz="2000" b="1" dirty="0">
                <a:solidFill>
                  <a:srgbClr val="FF0000"/>
                </a:solidFill>
              </a:rPr>
              <a:t>not</a:t>
            </a:r>
            <a:r>
              <a:rPr lang="it-IT" sz="2000" dirty="0">
                <a:solidFill>
                  <a:srgbClr val="FF0000"/>
                </a:solidFill>
              </a:rPr>
              <a:t> </a:t>
            </a:r>
            <a:r>
              <a:rPr lang="it-IT" sz="2000" b="1" dirty="0"/>
              <a:t>equal</a:t>
            </a:r>
          </a:p>
        </p:txBody>
      </p:sp>
      <p:sp>
        <p:nvSpPr>
          <p:cNvPr id="142351" name="AutoShape 15"/>
          <p:cNvSpPr>
            <a:spLocks noChangeArrowheads="1"/>
          </p:cNvSpPr>
          <p:nvPr/>
        </p:nvSpPr>
        <p:spPr bwMode="auto">
          <a:xfrm>
            <a:off x="3419475" y="2492375"/>
            <a:ext cx="3455988" cy="576263"/>
          </a:xfrm>
          <a:prstGeom prst="leftRightArrow">
            <a:avLst>
              <a:gd name="adj1" fmla="val 50000"/>
              <a:gd name="adj2" fmla="val 119945"/>
            </a:avLst>
          </a:prstGeom>
          <a:solidFill>
            <a:srgbClr val="F4FAF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it-IT" sz="2000" b="1" dirty="0">
                <a:solidFill>
                  <a:srgbClr val="00B050"/>
                </a:solidFill>
              </a:rPr>
              <a:t>equal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352" name="Text Box 16"/>
              <p:cNvSpPr txBox="1">
                <a:spLocks noChangeArrowheads="1"/>
              </p:cNvSpPr>
              <p:nvPr/>
            </p:nvSpPr>
            <p:spPr bwMode="auto">
              <a:xfrm>
                <a:off x="2051050" y="3208615"/>
                <a:ext cx="38183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2352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1050" y="3208615"/>
                <a:ext cx="381836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353" name="Text Box 17"/>
              <p:cNvSpPr txBox="1">
                <a:spLocks noChangeArrowheads="1"/>
              </p:cNvSpPr>
              <p:nvPr/>
            </p:nvSpPr>
            <p:spPr bwMode="auto">
              <a:xfrm>
                <a:off x="7295732" y="3198853"/>
                <a:ext cx="38183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2353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95732" y="3198853"/>
                <a:ext cx="381836" cy="3693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861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50" grpId="0" animBg="1"/>
      <p:bldP spid="14235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8242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207963" y="77787"/>
                <a:ext cx="7772400" cy="1143001"/>
              </a:xfrm>
            </p:spPr>
            <p:txBody>
              <a:bodyPr/>
              <a:lstStyle/>
              <a:p>
                <a:pPr marL="838200" indent="-838200"/>
                <a:r>
                  <a:rPr lang="it-IT" b="1" dirty="0">
                    <a:solidFill>
                      <a:srgbClr val="00B050"/>
                    </a:solidFill>
                  </a:rPr>
                  <a:t>Case 2</a:t>
                </a:r>
                <a:r>
                  <a:rPr lang="it-IT" dirty="0"/>
                  <a:t>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|≠|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it-IT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’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8242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07963" y="77787"/>
                <a:ext cx="7772400" cy="1143001"/>
              </a:xfrm>
              <a:blipFill rotWithShape="0">
                <a:blip r:embed="rId3"/>
                <a:stretch>
                  <a:fillRect l="-3137" b="-641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256" name="Freeform 16"/>
          <p:cNvSpPr>
            <a:spLocks/>
          </p:cNvSpPr>
          <p:nvPr/>
        </p:nvSpPr>
        <p:spPr bwMode="auto">
          <a:xfrm rot="16200000">
            <a:off x="1362075" y="1093788"/>
            <a:ext cx="647700" cy="2438400"/>
          </a:xfrm>
          <a:custGeom>
            <a:avLst/>
            <a:gdLst/>
            <a:ahLst/>
            <a:cxnLst>
              <a:cxn ang="0">
                <a:pos x="0" y="1200"/>
              </a:cxn>
              <a:cxn ang="0">
                <a:pos x="912" y="1200"/>
              </a:cxn>
              <a:cxn ang="0">
                <a:pos x="912" y="624"/>
              </a:cxn>
              <a:cxn ang="0">
                <a:pos x="0" y="0"/>
              </a:cxn>
              <a:cxn ang="0">
                <a:pos x="0" y="1200"/>
              </a:cxn>
            </a:cxnLst>
            <a:rect l="0" t="0" r="r" b="b"/>
            <a:pathLst>
              <a:path w="912" h="1200">
                <a:moveTo>
                  <a:pt x="0" y="1200"/>
                </a:moveTo>
                <a:lnTo>
                  <a:pt x="912" y="1200"/>
                </a:lnTo>
                <a:lnTo>
                  <a:pt x="912" y="624"/>
                </a:lnTo>
                <a:lnTo>
                  <a:pt x="0" y="0"/>
                </a:lnTo>
                <a:lnTo>
                  <a:pt x="0" y="120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257" name="Rectangle 17"/>
              <p:cNvSpPr>
                <a:spLocks noChangeArrowheads="1"/>
              </p:cNvSpPr>
              <p:nvPr/>
            </p:nvSpPr>
            <p:spPr bwMode="auto">
              <a:xfrm>
                <a:off x="1762125" y="2709863"/>
                <a:ext cx="1152525" cy="431800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8257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2125" y="2709863"/>
                <a:ext cx="1152525" cy="43180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258" name="Rectangle 18"/>
              <p:cNvSpPr>
                <a:spLocks noChangeArrowheads="1"/>
              </p:cNvSpPr>
              <p:nvPr/>
            </p:nvSpPr>
            <p:spPr bwMode="auto">
              <a:xfrm>
                <a:off x="466725" y="2709863"/>
                <a:ext cx="1223963" cy="431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8258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6725" y="2709863"/>
                <a:ext cx="1223963" cy="43180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259" name="Freeform 19"/>
          <p:cNvSpPr>
            <a:spLocks/>
          </p:cNvSpPr>
          <p:nvPr/>
        </p:nvSpPr>
        <p:spPr bwMode="auto">
          <a:xfrm rot="16200000">
            <a:off x="7267575" y="1093788"/>
            <a:ext cx="647700" cy="2438400"/>
          </a:xfrm>
          <a:custGeom>
            <a:avLst/>
            <a:gdLst/>
            <a:ahLst/>
            <a:cxnLst>
              <a:cxn ang="0">
                <a:pos x="0" y="1200"/>
              </a:cxn>
              <a:cxn ang="0">
                <a:pos x="912" y="1200"/>
              </a:cxn>
              <a:cxn ang="0">
                <a:pos x="912" y="624"/>
              </a:cxn>
              <a:cxn ang="0">
                <a:pos x="0" y="0"/>
              </a:cxn>
              <a:cxn ang="0">
                <a:pos x="0" y="1200"/>
              </a:cxn>
            </a:cxnLst>
            <a:rect l="0" t="0" r="r" b="b"/>
            <a:pathLst>
              <a:path w="912" h="1200">
                <a:moveTo>
                  <a:pt x="0" y="1200"/>
                </a:moveTo>
                <a:lnTo>
                  <a:pt x="912" y="1200"/>
                </a:lnTo>
                <a:lnTo>
                  <a:pt x="912" y="624"/>
                </a:lnTo>
                <a:lnTo>
                  <a:pt x="0" y="0"/>
                </a:lnTo>
                <a:lnTo>
                  <a:pt x="0" y="120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260" name="Rectangle 20"/>
              <p:cNvSpPr>
                <a:spLocks noChangeArrowheads="1"/>
              </p:cNvSpPr>
              <p:nvPr/>
            </p:nvSpPr>
            <p:spPr bwMode="auto">
              <a:xfrm>
                <a:off x="7667625" y="2709863"/>
                <a:ext cx="1152525" cy="431800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sSup>
                            <m:sSupPr>
                              <m:ctrlPr>
                                <a:rPr lang="en-US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p>
                              <m:r>
                                <a:rPr lang="en-US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24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8260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67625" y="2709863"/>
                <a:ext cx="1152525" cy="431800"/>
              </a:xfrm>
              <a:prstGeom prst="rect">
                <a:avLst/>
              </a:prstGeom>
              <a:blipFill rotWithShape="0">
                <a:blip r:embed="rId6"/>
                <a:stretch>
                  <a:fillRect b="-277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261" name="Rectangle 21"/>
              <p:cNvSpPr>
                <a:spLocks noChangeArrowheads="1"/>
              </p:cNvSpPr>
              <p:nvPr/>
            </p:nvSpPr>
            <p:spPr bwMode="auto">
              <a:xfrm>
                <a:off x="6372225" y="2709863"/>
                <a:ext cx="1223963" cy="431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sSup>
                            <m:sSupPr>
                              <m:ctrlPr>
                                <a:rPr lang="en-US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p>
                              <m:r>
                                <a:rPr lang="en-US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it-IT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8261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72225" y="2709863"/>
                <a:ext cx="1223963" cy="431800"/>
              </a:xfrm>
              <a:prstGeom prst="rect">
                <a:avLst/>
              </a:prstGeom>
              <a:blipFill rotWithShape="0">
                <a:blip r:embed="rId7"/>
                <a:stretch>
                  <a:fillRect b="-277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262" name="AutoShape 22"/>
          <p:cNvSpPr>
            <a:spLocks noChangeArrowheads="1"/>
          </p:cNvSpPr>
          <p:nvPr/>
        </p:nvSpPr>
        <p:spPr bwMode="auto">
          <a:xfrm>
            <a:off x="3059113" y="1412875"/>
            <a:ext cx="4464050" cy="576263"/>
          </a:xfrm>
          <a:prstGeom prst="leftRightArrow">
            <a:avLst>
              <a:gd name="adj1" fmla="val 50000"/>
              <a:gd name="adj2" fmla="val 154931"/>
            </a:avLst>
          </a:prstGeom>
          <a:solidFill>
            <a:srgbClr val="F4FAF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it-IT" sz="2000" b="1" dirty="0">
                <a:solidFill>
                  <a:srgbClr val="00B050"/>
                </a:solidFill>
              </a:rPr>
              <a:t>equal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263" name="Rectangle 23"/>
              <p:cNvSpPr>
                <a:spLocks noChangeArrowheads="1"/>
              </p:cNvSpPr>
              <p:nvPr/>
            </p:nvSpPr>
            <p:spPr bwMode="auto">
              <a:xfrm>
                <a:off x="1690688" y="1485900"/>
                <a:ext cx="1223962" cy="431800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8263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0688" y="1485900"/>
                <a:ext cx="1223962" cy="431800"/>
              </a:xfrm>
              <a:prstGeom prst="rect">
                <a:avLst/>
              </a:prstGeom>
              <a:blipFill rotWithShape="0">
                <a:blip r:embed="rId8"/>
                <a:stretch>
                  <a:fillRect b="-1095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264" name="Rectangle 24"/>
              <p:cNvSpPr>
                <a:spLocks noChangeArrowheads="1"/>
              </p:cNvSpPr>
              <p:nvPr/>
            </p:nvSpPr>
            <p:spPr bwMode="auto">
              <a:xfrm>
                <a:off x="7523163" y="1485900"/>
                <a:ext cx="1295400" cy="431800"/>
              </a:xfrm>
              <a:prstGeom prst="rect">
                <a:avLst/>
              </a:prstGeom>
              <a:solidFill>
                <a:srgbClr val="F4FAF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’)</m:t>
                      </m:r>
                    </m:oMath>
                  </m:oMathPara>
                </a14:m>
                <a:endParaRPr lang="it-IT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8264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23163" y="1485900"/>
                <a:ext cx="1295400" cy="431800"/>
              </a:xfrm>
              <a:prstGeom prst="rect">
                <a:avLst/>
              </a:prstGeom>
              <a:blipFill rotWithShape="0">
                <a:blip r:embed="rId9"/>
                <a:stretch>
                  <a:fillRect b="-1095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265" name="Text Box 25"/>
          <p:cNvSpPr txBox="1">
            <a:spLocks noChangeArrowheads="1"/>
          </p:cNvSpPr>
          <p:nvPr/>
        </p:nvSpPr>
        <p:spPr bwMode="auto">
          <a:xfrm rot="5400000">
            <a:off x="1518444" y="3359944"/>
            <a:ext cx="6048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it-IT" b="1"/>
              <a:t>. . .</a:t>
            </a:r>
          </a:p>
        </p:txBody>
      </p:sp>
      <p:sp>
        <p:nvSpPr>
          <p:cNvPr id="138266" name="Text Box 26"/>
          <p:cNvSpPr txBox="1">
            <a:spLocks noChangeArrowheads="1"/>
          </p:cNvSpPr>
          <p:nvPr/>
        </p:nvSpPr>
        <p:spPr bwMode="auto">
          <a:xfrm rot="5400000">
            <a:off x="7449344" y="3431382"/>
            <a:ext cx="604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it-IT" b="1"/>
              <a:t>. . .</a:t>
            </a:r>
          </a:p>
        </p:txBody>
      </p:sp>
      <p:sp>
        <p:nvSpPr>
          <p:cNvPr id="138267" name="AutoShape 27"/>
          <p:cNvSpPr>
            <a:spLocks noChangeArrowheads="1"/>
          </p:cNvSpPr>
          <p:nvPr/>
        </p:nvSpPr>
        <p:spPr bwMode="auto">
          <a:xfrm rot="16200000">
            <a:off x="1185863" y="2422525"/>
            <a:ext cx="1439862" cy="3024188"/>
          </a:xfrm>
          <a:custGeom>
            <a:avLst/>
            <a:gdLst>
              <a:gd name="G0" fmla="+- 16595 0 0"/>
              <a:gd name="G1" fmla="+- 5023 0 0"/>
              <a:gd name="G2" fmla="+- 12158 0 5023"/>
              <a:gd name="G3" fmla="+- G2 0 5023"/>
              <a:gd name="G4" fmla="*/ G3 32768 32059"/>
              <a:gd name="G5" fmla="*/ G4 1 2"/>
              <a:gd name="G6" fmla="+- 21600 0 16595"/>
              <a:gd name="G7" fmla="*/ G6 5023 6079"/>
              <a:gd name="G8" fmla="+- G7 16595 0"/>
              <a:gd name="T0" fmla="*/ 16595 w 21600"/>
              <a:gd name="T1" fmla="*/ 0 h 21600"/>
              <a:gd name="T2" fmla="*/ 16595 w 21600"/>
              <a:gd name="T3" fmla="*/ 12158 h 21600"/>
              <a:gd name="T4" fmla="*/ 1080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6595" y="0"/>
                </a:lnTo>
                <a:lnTo>
                  <a:pt x="16595" y="5023"/>
                </a:lnTo>
                <a:lnTo>
                  <a:pt x="12427" y="5023"/>
                </a:lnTo>
                <a:cubicBezTo>
                  <a:pt x="5564" y="5023"/>
                  <a:pt x="0" y="8217"/>
                  <a:pt x="0" y="12158"/>
                </a:cubicBezTo>
                <a:lnTo>
                  <a:pt x="0" y="21600"/>
                </a:lnTo>
                <a:lnTo>
                  <a:pt x="2159" y="21600"/>
                </a:lnTo>
                <a:lnTo>
                  <a:pt x="2159" y="12158"/>
                </a:lnTo>
                <a:cubicBezTo>
                  <a:pt x="2159" y="9384"/>
                  <a:pt x="6756" y="7135"/>
                  <a:pt x="12427" y="7135"/>
                </a:cubicBezTo>
                <a:lnTo>
                  <a:pt x="16595" y="7135"/>
                </a:lnTo>
                <a:lnTo>
                  <a:pt x="16595" y="12158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endParaRPr lang="en-US"/>
          </a:p>
        </p:txBody>
      </p:sp>
      <p:sp>
        <p:nvSpPr>
          <p:cNvPr id="138268" name="AutoShape 28"/>
          <p:cNvSpPr>
            <a:spLocks noChangeArrowheads="1"/>
          </p:cNvSpPr>
          <p:nvPr/>
        </p:nvSpPr>
        <p:spPr bwMode="auto">
          <a:xfrm rot="5400000" flipH="1">
            <a:off x="5740401" y="2332037"/>
            <a:ext cx="1439862" cy="3205163"/>
          </a:xfrm>
          <a:custGeom>
            <a:avLst/>
            <a:gdLst>
              <a:gd name="G0" fmla="+- 16595 0 0"/>
              <a:gd name="G1" fmla="+- 5023 0 0"/>
              <a:gd name="G2" fmla="+- 12158 0 5023"/>
              <a:gd name="G3" fmla="+- G2 0 5023"/>
              <a:gd name="G4" fmla="*/ G3 32768 32059"/>
              <a:gd name="G5" fmla="*/ G4 1 2"/>
              <a:gd name="G6" fmla="+- 21600 0 16595"/>
              <a:gd name="G7" fmla="*/ G6 5023 6079"/>
              <a:gd name="G8" fmla="+- G7 16595 0"/>
              <a:gd name="T0" fmla="*/ 16595 w 21600"/>
              <a:gd name="T1" fmla="*/ 0 h 21600"/>
              <a:gd name="T2" fmla="*/ 16595 w 21600"/>
              <a:gd name="T3" fmla="*/ 12158 h 21600"/>
              <a:gd name="T4" fmla="*/ 1080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6595" y="0"/>
                </a:lnTo>
                <a:lnTo>
                  <a:pt x="16595" y="5023"/>
                </a:lnTo>
                <a:lnTo>
                  <a:pt x="12427" y="5023"/>
                </a:lnTo>
                <a:cubicBezTo>
                  <a:pt x="5564" y="5023"/>
                  <a:pt x="0" y="8217"/>
                  <a:pt x="0" y="12158"/>
                </a:cubicBezTo>
                <a:lnTo>
                  <a:pt x="0" y="21600"/>
                </a:lnTo>
                <a:lnTo>
                  <a:pt x="2159" y="21600"/>
                </a:lnTo>
                <a:lnTo>
                  <a:pt x="2159" y="12158"/>
                </a:lnTo>
                <a:cubicBezTo>
                  <a:pt x="2159" y="9384"/>
                  <a:pt x="6756" y="7135"/>
                  <a:pt x="12427" y="7135"/>
                </a:cubicBezTo>
                <a:lnTo>
                  <a:pt x="16595" y="7135"/>
                </a:lnTo>
                <a:lnTo>
                  <a:pt x="16595" y="12158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8270" name="Rectangle 30"/>
          <p:cNvSpPr>
            <a:spLocks noChangeArrowheads="1"/>
          </p:cNvSpPr>
          <p:nvPr/>
        </p:nvSpPr>
        <p:spPr bwMode="auto">
          <a:xfrm>
            <a:off x="2143108" y="3929066"/>
            <a:ext cx="4103687" cy="1871663"/>
          </a:xfrm>
          <a:prstGeom prst="rect">
            <a:avLst/>
          </a:prstGeom>
          <a:solidFill>
            <a:schemeClr val="bg1"/>
          </a:solidFill>
          <a:ln>
            <a:headEnd/>
            <a:tailEnd/>
          </a:ln>
          <a:effectLst>
            <a:glow rad="228600">
              <a:schemeClr val="accent5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400" b="1" dirty="0"/>
              <a:t>the last block encodes</a:t>
            </a:r>
            <a:br>
              <a:rPr lang="en-US" sz="2400" b="1" dirty="0"/>
            </a:br>
            <a:r>
              <a:rPr lang="en-US" sz="2400" b="1" dirty="0"/>
              <a:t>the length on the message</a:t>
            </a:r>
            <a:br>
              <a:rPr lang="en-US" sz="2400" b="1" dirty="0"/>
            </a:br>
            <a:r>
              <a:rPr lang="en-US" sz="2400" b="1" dirty="0"/>
              <a:t>so these values</a:t>
            </a:r>
            <a:br>
              <a:rPr lang="en-US" sz="2400" b="1" dirty="0"/>
            </a:br>
            <a:r>
              <a:rPr lang="en-US" sz="2400" b="1" dirty="0">
                <a:solidFill>
                  <a:srgbClr val="0070C0"/>
                </a:solidFill>
              </a:rPr>
              <a:t>cannot be equal</a:t>
            </a:r>
            <a:r>
              <a:rPr lang="en-US" sz="2400" b="1" dirty="0"/>
              <a:t>!</a:t>
            </a:r>
            <a:r>
              <a:rPr lang="en-US" sz="2400" dirty="0"/>
              <a:t>  </a:t>
            </a:r>
          </a:p>
        </p:txBody>
      </p:sp>
      <p:sp>
        <p:nvSpPr>
          <p:cNvPr id="138271" name="Rectangle 31"/>
          <p:cNvSpPr>
            <a:spLocks noChangeArrowheads="1"/>
          </p:cNvSpPr>
          <p:nvPr/>
        </p:nvSpPr>
        <p:spPr bwMode="auto">
          <a:xfrm>
            <a:off x="393700" y="6096794"/>
            <a:ext cx="554491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it-IT" sz="2800" dirty="0"/>
              <a:t>So, again we have found a collision!</a:t>
            </a:r>
          </a:p>
        </p:txBody>
      </p:sp>
    </p:spTree>
    <p:extLst>
      <p:ext uri="{BB962C8B-B14F-4D97-AF65-F5344CB8AC3E}">
        <p14:creationId xmlns:p14="http://schemas.microsoft.com/office/powerpoint/2010/main" val="393346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62" grpId="0" animBg="1"/>
      <p:bldP spid="138267" grpId="0" animBg="1"/>
      <p:bldP spid="138268" grpId="0" animBg="1"/>
      <p:bldP spid="138270" grpId="0" animBg="1"/>
      <p:bldP spid="13827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0148" y="1642219"/>
            <a:ext cx="6929486" cy="368776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Introduction and definitions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Hash function design paradigms</a:t>
            </a:r>
          </a:p>
          <a:p>
            <a:pPr marL="971550" lvl="1" indent="-514350">
              <a:buFont typeface="+mj-lt"/>
              <a:buAutoNum type="arabicPeriod"/>
            </a:pPr>
            <a:r>
              <a:rPr lang="it-IT" dirty="0"/>
              <a:t>Merkle-Damg</a:t>
            </a:r>
            <a:r>
              <a:rPr lang="en-US" dirty="0">
                <a:cs typeface="Arial" pitchFamily="34" charset="0"/>
              </a:rPr>
              <a:t>å</a:t>
            </a:r>
            <a:r>
              <a:rPr lang="it-IT" dirty="0"/>
              <a:t>rd transform</a:t>
            </a:r>
          </a:p>
          <a:p>
            <a:pPr marL="971550" lvl="1" indent="-514350">
              <a:buFont typeface="+mj-lt"/>
              <a:buAutoNum type="arabicPeriod"/>
            </a:pPr>
            <a:r>
              <a:rPr lang="it-IT" dirty="0"/>
              <a:t>Sponge construction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Other </a:t>
            </a:r>
            <a:r>
              <a:rPr lang="pl-PL" dirty="0"/>
              <a:t>uses of hash functions</a:t>
            </a:r>
            <a:endParaRPr lang="it-IT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Real-life constructions</a:t>
            </a:r>
            <a:endParaRPr lang="it-IT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897076" y="2842884"/>
            <a:ext cx="1214446" cy="71438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048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623" y="15908"/>
            <a:ext cx="8515350" cy="935580"/>
          </a:xfrm>
        </p:spPr>
        <p:txBody>
          <a:bodyPr>
            <a:normAutofit/>
          </a:bodyPr>
          <a:lstStyle/>
          <a:p>
            <a:r>
              <a:rPr lang="en-US" sz="4000" dirty="0"/>
              <a:t>Sponge construction</a:t>
            </a:r>
            <a:endParaRPr lang="pl-PL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985479" y="5386869"/>
                <a:ext cx="1260255" cy="44562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5479" y="5386869"/>
                <a:ext cx="1260255" cy="44562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398553" y="5386869"/>
                <a:ext cx="1260255" cy="44562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553" y="5386869"/>
                <a:ext cx="1260255" cy="44562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6749426" y="5386869"/>
                <a:ext cx="1260255" cy="44562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sub>
                      </m:sSub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9426" y="5386869"/>
                <a:ext cx="1260255" cy="44562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/>
              <p:cNvSpPr>
                <a:spLocks noChangeArrowheads="1"/>
              </p:cNvSpPr>
              <p:nvPr/>
            </p:nvSpPr>
            <p:spPr bwMode="auto">
              <a:xfrm>
                <a:off x="1985479" y="4756648"/>
                <a:ext cx="51816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it-IT" sz="2000" b="1" baseline="30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5479" y="4756648"/>
                <a:ext cx="5181600" cy="45720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26"/>
              <p:cNvSpPr>
                <a:spLocks noChangeArrowheads="1"/>
              </p:cNvSpPr>
              <p:nvPr/>
            </p:nvSpPr>
            <p:spPr bwMode="auto">
              <a:xfrm>
                <a:off x="7167079" y="4756648"/>
                <a:ext cx="842602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</a:rPr>
                  <a:t>1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𝟎𝟎</m:t>
                    </m:r>
                    <m:r>
                      <a:rPr lang="en-US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𝟎𝟏</m:t>
                    </m:r>
                  </m:oMath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67079" y="4756648"/>
                <a:ext cx="842602" cy="457200"/>
              </a:xfrm>
              <a:prstGeom prst="rect">
                <a:avLst/>
              </a:prstGeom>
              <a:blipFill rotWithShape="0">
                <a:blip r:embed="rId6"/>
                <a:stretch>
                  <a:fillRect l="-500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Left Brace 8"/>
          <p:cNvSpPr/>
          <p:nvPr/>
        </p:nvSpPr>
        <p:spPr>
          <a:xfrm rot="16200000">
            <a:off x="2464677" y="5404453"/>
            <a:ext cx="301860" cy="1260255"/>
          </a:xfrm>
          <a:prstGeom prst="leftBrace">
            <a:avLst>
              <a:gd name="adj1" fmla="val 208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Rectangle 9"/>
          <p:cNvSpPr/>
          <p:nvPr/>
        </p:nvSpPr>
        <p:spPr>
          <a:xfrm rot="16200000">
            <a:off x="5801051" y="1360592"/>
            <a:ext cx="725782" cy="32987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b="1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 rot="16200000">
            <a:off x="5368183" y="2519241"/>
            <a:ext cx="1591520" cy="32988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/>
              <p:cNvSpPr/>
              <p:nvPr/>
            </p:nvSpPr>
            <p:spPr>
              <a:xfrm>
                <a:off x="6873371" y="1162640"/>
                <a:ext cx="353883" cy="2317302"/>
              </a:xfrm>
              <a:prstGeom prst="round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pl-PL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Rounded 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371" y="1162640"/>
                <a:ext cx="353883" cy="2317302"/>
              </a:xfrm>
              <a:prstGeom prst="round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V="1">
            <a:off x="6328882" y="1531973"/>
            <a:ext cx="544488" cy="2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1" idx="2"/>
          </p:cNvCxnSpPr>
          <p:nvPr/>
        </p:nvCxnSpPr>
        <p:spPr>
          <a:xfrm>
            <a:off x="6328884" y="2684182"/>
            <a:ext cx="544484" cy="28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Left Brace 15"/>
          <p:cNvSpPr/>
          <p:nvPr/>
        </p:nvSpPr>
        <p:spPr>
          <a:xfrm>
            <a:off x="5706426" y="1217091"/>
            <a:ext cx="241998" cy="671330"/>
          </a:xfrm>
          <a:prstGeom prst="leftBrace">
            <a:avLst>
              <a:gd name="adj1" fmla="val 38946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7" name="Left Brace 16"/>
          <p:cNvSpPr/>
          <p:nvPr/>
        </p:nvSpPr>
        <p:spPr>
          <a:xfrm>
            <a:off x="5669119" y="1888421"/>
            <a:ext cx="210821" cy="1591521"/>
          </a:xfrm>
          <a:prstGeom prst="leftBrace">
            <a:avLst>
              <a:gd name="adj1" fmla="val 38946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318021" y="1277326"/>
                <a:ext cx="437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021" y="1277326"/>
                <a:ext cx="437128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270189" y="2499515"/>
                <a:ext cx="4293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0189" y="2499515"/>
                <a:ext cx="429329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/>
          <p:cNvSpPr/>
          <p:nvPr/>
        </p:nvSpPr>
        <p:spPr>
          <a:xfrm rot="16200000">
            <a:off x="7574645" y="1367033"/>
            <a:ext cx="725782" cy="32987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b="1" dirty="0">
              <a:solidFill>
                <a:srgbClr val="FF000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 rot="16200000">
            <a:off x="7141777" y="2525682"/>
            <a:ext cx="1591520" cy="32988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b="1" dirty="0">
              <a:solidFill>
                <a:srgbClr val="FF0000"/>
              </a:solidFill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 flipV="1">
            <a:off x="7228110" y="1531973"/>
            <a:ext cx="544488" cy="2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7228112" y="2684182"/>
            <a:ext cx="544484" cy="28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501336" y="982766"/>
                <a:ext cx="4562467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b="1" dirty="0"/>
                  <a:t>main parameters</a:t>
                </a:r>
                <a:r>
                  <a:rPr lang="en-US" sz="2400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– “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capacity</a:t>
                </a:r>
                <a:r>
                  <a:rPr lang="en-US" sz="2400" dirty="0"/>
                  <a:t>”</a:t>
                </a:r>
              </a:p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sz="2400" dirty="0"/>
                  <a:t> – “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rate</a:t>
                </a:r>
                <a:r>
                  <a:rPr lang="en-US" sz="2400" dirty="0"/>
                  <a:t>”</a:t>
                </a:r>
              </a:p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– “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state width</a:t>
                </a:r>
                <a:r>
                  <a:rPr lang="en-US" sz="2400" dirty="0"/>
                  <a:t>”</a:t>
                </a:r>
              </a:p>
              <a:p>
                <a:endParaRPr lang="en-US" sz="2400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400" b="1" dirty="0"/>
                  <a:t>main ingredient</a:t>
                </a:r>
                <a:r>
                  <a:rPr lang="en-US" sz="2400" dirty="0"/>
                  <a:t>:</a:t>
                </a:r>
              </a:p>
              <a:p>
                <a:r>
                  <a:rPr lang="en-US" sz="2400" dirty="0"/>
                  <a:t>a function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p>
                    </m:sSup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p>
                    </m:sSup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endParaRPr lang="en-US" sz="2400" b="1" dirty="0">
                  <a:solidFill>
                    <a:srgbClr val="FF0000"/>
                  </a:solidFill>
                </a:endParaRPr>
              </a:p>
              <a:p>
                <a:r>
                  <a:rPr lang="en-US" sz="2400" b="1" dirty="0"/>
                  <a:t>first step: </a:t>
                </a:r>
                <a:r>
                  <a:rPr lang="en-US" sz="2400" dirty="0"/>
                  <a:t>input processing:</a:t>
                </a: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36" y="982766"/>
                <a:ext cx="4562467" cy="3416320"/>
              </a:xfrm>
              <a:prstGeom prst="rect">
                <a:avLst/>
              </a:prstGeom>
              <a:blipFill rotWithShape="0">
                <a:blip r:embed="rId10"/>
                <a:stretch>
                  <a:fillRect l="-2003" t="-1426" b="-303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ular Callout 37"/>
              <p:cNvSpPr/>
              <p:nvPr/>
            </p:nvSpPr>
            <p:spPr>
              <a:xfrm>
                <a:off x="5576918" y="4073917"/>
                <a:ext cx="3144803" cy="487827"/>
              </a:xfrm>
              <a:prstGeom prst="wedgeRectCallout">
                <a:avLst>
                  <a:gd name="adj1" fmla="val 19433"/>
                  <a:gd name="adj2" fmla="val 108430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pad if needed with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sSup>
                      <m:sSup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Rectangular Callout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6918" y="4073917"/>
                <a:ext cx="3144803" cy="487827"/>
              </a:xfrm>
              <a:prstGeom prst="wedgeRectCallout">
                <a:avLst>
                  <a:gd name="adj1" fmla="val 19433"/>
                  <a:gd name="adj2" fmla="val 108430"/>
                </a:avLst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2435909" y="6185511"/>
                <a:ext cx="35939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5909" y="6185511"/>
                <a:ext cx="359393" cy="36933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Brace 41"/>
          <p:cNvSpPr/>
          <p:nvPr/>
        </p:nvSpPr>
        <p:spPr>
          <a:xfrm rot="16200000">
            <a:off x="3877751" y="5404453"/>
            <a:ext cx="301860" cy="1260255"/>
          </a:xfrm>
          <a:prstGeom prst="leftBrace">
            <a:avLst>
              <a:gd name="adj1" fmla="val 208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3848983" y="6185511"/>
                <a:ext cx="35939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8983" y="6185511"/>
                <a:ext cx="359393" cy="369332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Left Brace 43"/>
          <p:cNvSpPr/>
          <p:nvPr/>
        </p:nvSpPr>
        <p:spPr>
          <a:xfrm rot="16200000">
            <a:off x="7228624" y="5404454"/>
            <a:ext cx="301860" cy="1260255"/>
          </a:xfrm>
          <a:prstGeom prst="leftBrace">
            <a:avLst>
              <a:gd name="adj1" fmla="val 208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7199856" y="6185512"/>
                <a:ext cx="35939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9856" y="6185512"/>
                <a:ext cx="359393" cy="36933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95834" y="5434037"/>
                <a:ext cx="151323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divide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sz="2000" dirty="0"/>
                  <a:t> as:</a:t>
                </a:r>
                <a:endParaRPr lang="pl-PL" sz="20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834" y="5434037"/>
                <a:ext cx="1513235" cy="400110"/>
              </a:xfrm>
              <a:prstGeom prst="rect">
                <a:avLst/>
              </a:prstGeom>
              <a:blipFill rotWithShape="0">
                <a:blip r:embed="rId15"/>
                <a:stretch>
                  <a:fillRect l="-4435" t="-7576" r="-3629" b="-2575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33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6" grpId="0" animBg="1"/>
      <p:bldP spid="17" grpId="0" animBg="1"/>
      <p:bldP spid="18" grpId="0"/>
      <p:bldP spid="19" grpId="0"/>
      <p:bldP spid="33" grpId="0" animBg="1"/>
      <p:bldP spid="34" grpId="0" animBg="1"/>
      <p:bldP spid="37" grpId="0" uiExpand="1" build="p"/>
      <p:bldP spid="38" grpId="0" animBg="1"/>
      <p:bldP spid="39" grpId="0"/>
      <p:bldP spid="42" grpId="0" animBg="1"/>
      <p:bldP spid="43" grpId="0"/>
      <p:bldP spid="44" grpId="0" animBg="1"/>
      <p:bldP spid="45" grpId="0"/>
      <p:bldP spid="4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062" y="428944"/>
            <a:ext cx="4438032" cy="520181"/>
          </a:xfrm>
        </p:spPr>
        <p:txBody>
          <a:bodyPr>
            <a:normAutofit fontScale="90000"/>
          </a:bodyPr>
          <a:lstStyle/>
          <a:p>
            <a:r>
              <a:rPr lang="en-US" dirty="0"/>
              <a:t>Second step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 rot="16200000">
                <a:off x="324512" y="2989161"/>
                <a:ext cx="1018572" cy="3298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24512" y="2989161"/>
                <a:ext cx="1018572" cy="329879"/>
              </a:xfrm>
              <a:prstGeom prst="rect">
                <a:avLst/>
              </a:prstGeom>
              <a:blipFill rotWithShape="0">
                <a:blip r:embed="rId2"/>
                <a:stretch>
                  <a:fillRect r="-19643" b="-414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 rot="16200000">
                <a:off x="-228178" y="4560423"/>
                <a:ext cx="2123956" cy="329882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28178" y="4560423"/>
                <a:ext cx="2123956" cy="329882"/>
              </a:xfrm>
              <a:prstGeom prst="rect">
                <a:avLst/>
              </a:prstGeom>
              <a:blipFill rotWithShape="0">
                <a:blip r:embed="rId3"/>
                <a:stretch>
                  <a:fillRect r="-1964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/>
              <p:cNvSpPr/>
              <p:nvPr/>
            </p:nvSpPr>
            <p:spPr>
              <a:xfrm>
                <a:off x="1543228" y="2644814"/>
                <a:ext cx="353883" cy="3142528"/>
              </a:xfrm>
              <a:prstGeom prst="round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pl-PL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ounded 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228" y="2644814"/>
                <a:ext cx="353883" cy="3142528"/>
              </a:xfrm>
              <a:prstGeom prst="round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042005" y="2969432"/>
                <a:ext cx="465191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005" y="2969432"/>
                <a:ext cx="465191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 flipV="1">
            <a:off x="998737" y="3162785"/>
            <a:ext cx="544488" cy="2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998737" y="4725365"/>
            <a:ext cx="544491" cy="2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1274601" y="2199188"/>
            <a:ext cx="0" cy="8912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775925" y="1770009"/>
                <a:ext cx="997352" cy="44562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925" y="1770009"/>
                <a:ext cx="997352" cy="44562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Left Brace 21"/>
          <p:cNvSpPr/>
          <p:nvPr/>
        </p:nvSpPr>
        <p:spPr>
          <a:xfrm>
            <a:off x="376283" y="2644814"/>
            <a:ext cx="226482" cy="1018571"/>
          </a:xfrm>
          <a:prstGeom prst="leftBrace">
            <a:avLst>
              <a:gd name="adj1" fmla="val 38946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3" name="Left Brace 22"/>
          <p:cNvSpPr/>
          <p:nvPr/>
        </p:nvSpPr>
        <p:spPr>
          <a:xfrm>
            <a:off x="376283" y="3663385"/>
            <a:ext cx="226482" cy="2123958"/>
          </a:xfrm>
          <a:prstGeom prst="leftBrace">
            <a:avLst>
              <a:gd name="adj1" fmla="val 38946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420" y="2937605"/>
                <a:ext cx="437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0" y="2937605"/>
                <a:ext cx="437128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" y="4532019"/>
                <a:ext cx="4293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4532019"/>
                <a:ext cx="429329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/>
          <p:cNvSpPr/>
          <p:nvPr/>
        </p:nvSpPr>
        <p:spPr>
          <a:xfrm rot="16200000">
            <a:off x="1852177" y="3026017"/>
            <a:ext cx="1018572" cy="2735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b="1" dirty="0">
              <a:solidFill>
                <a:srgbClr val="FF0000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 rot="16200000">
            <a:off x="1299489" y="4597279"/>
            <a:ext cx="2123956" cy="2735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b="1" dirty="0">
              <a:solidFill>
                <a:srgbClr val="FF0000"/>
              </a:solidFill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1927173" y="4732334"/>
            <a:ext cx="305368" cy="46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1915626" y="3155875"/>
            <a:ext cx="305368" cy="46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ounded Rectangle 67"/>
              <p:cNvSpPr/>
              <p:nvPr/>
            </p:nvSpPr>
            <p:spPr>
              <a:xfrm>
                <a:off x="3039256" y="2636134"/>
                <a:ext cx="353883" cy="3142528"/>
              </a:xfrm>
              <a:prstGeom prst="round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pl-PL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8" name="Rounded Rectangle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9256" y="2636134"/>
                <a:ext cx="353883" cy="3142528"/>
              </a:xfrm>
              <a:prstGeom prst="round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2538033" y="2960752"/>
                <a:ext cx="465191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8033" y="2960752"/>
                <a:ext cx="465191" cy="369332"/>
              </a:xfrm>
              <a:prstGeom prst="rect">
                <a:avLst/>
              </a:prstGeom>
              <a:blipFill rotWithShape="0">
                <a:blip r:embed="rId10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Arrow Connector 69"/>
          <p:cNvCxnSpPr/>
          <p:nvPr/>
        </p:nvCxnSpPr>
        <p:spPr>
          <a:xfrm flipV="1">
            <a:off x="2494765" y="3154105"/>
            <a:ext cx="544488" cy="2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2494765" y="4716685"/>
            <a:ext cx="544491" cy="2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2770629" y="2190508"/>
            <a:ext cx="0" cy="8912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/>
              <p:cNvSpPr/>
              <p:nvPr/>
            </p:nvSpPr>
            <p:spPr>
              <a:xfrm>
                <a:off x="2273337" y="1770537"/>
                <a:ext cx="997352" cy="44562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3" name="Rectangle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3337" y="1770537"/>
                <a:ext cx="997352" cy="445624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Straight Arrow Connector 75"/>
          <p:cNvCxnSpPr/>
          <p:nvPr/>
        </p:nvCxnSpPr>
        <p:spPr>
          <a:xfrm>
            <a:off x="3423201" y="4723654"/>
            <a:ext cx="305368" cy="46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3411654" y="3147195"/>
            <a:ext cx="305368" cy="46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ounded Rectangle 81"/>
              <p:cNvSpPr/>
              <p:nvPr/>
            </p:nvSpPr>
            <p:spPr>
              <a:xfrm>
                <a:off x="4644045" y="2649683"/>
                <a:ext cx="353883" cy="3142528"/>
              </a:xfrm>
              <a:prstGeom prst="round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pl-PL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" name="Rounded Rectangle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045" y="2649683"/>
                <a:ext cx="353883" cy="3142528"/>
              </a:xfrm>
              <a:prstGeom prst="round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4142822" y="2974301"/>
                <a:ext cx="465191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822" y="2974301"/>
                <a:ext cx="465191" cy="369332"/>
              </a:xfrm>
              <a:prstGeom prst="rect">
                <a:avLst/>
              </a:prstGeom>
              <a:blipFill rotWithShape="0">
                <a:blip r:embed="rId13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3"/>
          <p:cNvCxnSpPr/>
          <p:nvPr/>
        </p:nvCxnSpPr>
        <p:spPr>
          <a:xfrm flipV="1">
            <a:off x="4113435" y="3171466"/>
            <a:ext cx="544488" cy="2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>
            <a:off x="4099554" y="4730234"/>
            <a:ext cx="544491" cy="2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4375418" y="2204057"/>
            <a:ext cx="0" cy="8912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 86"/>
              <p:cNvSpPr/>
              <p:nvPr/>
            </p:nvSpPr>
            <p:spPr>
              <a:xfrm>
                <a:off x="3876742" y="1774878"/>
                <a:ext cx="997352" cy="44562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sub>
                      </m:sSub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7" name="Rectangle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742" y="1774878"/>
                <a:ext cx="997352" cy="445624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Arrow Connector 87"/>
          <p:cNvCxnSpPr/>
          <p:nvPr/>
        </p:nvCxnSpPr>
        <p:spPr>
          <a:xfrm>
            <a:off x="5026178" y="4747332"/>
            <a:ext cx="656236" cy="86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/>
          <p:nvPr/>
        </p:nvCxnSpPr>
        <p:spPr>
          <a:xfrm>
            <a:off x="5026178" y="3169096"/>
            <a:ext cx="656236" cy="86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 rot="16200000">
            <a:off x="5333670" y="3042890"/>
            <a:ext cx="1018572" cy="27450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b="1" dirty="0">
              <a:solidFill>
                <a:srgbClr val="FF0000"/>
              </a:solidFill>
            </a:endParaRPr>
          </a:p>
        </p:txBody>
      </p:sp>
      <p:sp>
        <p:nvSpPr>
          <p:cNvPr id="96" name="Rectangle 95"/>
          <p:cNvSpPr/>
          <p:nvPr/>
        </p:nvSpPr>
        <p:spPr>
          <a:xfrm rot="16200000">
            <a:off x="4780983" y="4614153"/>
            <a:ext cx="2123956" cy="27450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Rounded Rectangle 96"/>
              <p:cNvSpPr/>
              <p:nvPr/>
            </p:nvSpPr>
            <p:spPr>
              <a:xfrm>
                <a:off x="6519976" y="2653495"/>
                <a:ext cx="355144" cy="3142528"/>
              </a:xfrm>
              <a:prstGeom prst="round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pl-PL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7" name="Rounded Rectangle 9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976" y="2653495"/>
                <a:ext cx="355144" cy="3142528"/>
              </a:xfrm>
              <a:prstGeom prst="round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Arrow Connector 98"/>
          <p:cNvCxnSpPr/>
          <p:nvPr/>
        </p:nvCxnSpPr>
        <p:spPr>
          <a:xfrm flipV="1">
            <a:off x="5976745" y="3171466"/>
            <a:ext cx="544488" cy="2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>
            <a:off x="5976745" y="4734046"/>
            <a:ext cx="544491" cy="2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>
            <a:off x="6905181" y="4741015"/>
            <a:ext cx="305368" cy="46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/>
          <p:nvPr/>
        </p:nvCxnSpPr>
        <p:spPr>
          <a:xfrm>
            <a:off x="6893634" y="3164556"/>
            <a:ext cx="305368" cy="46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 rot="16200000">
            <a:off x="6856206" y="3043378"/>
            <a:ext cx="1018572" cy="2735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b="1" dirty="0">
              <a:solidFill>
                <a:srgbClr val="FF0000"/>
              </a:solidFill>
            </a:endParaRPr>
          </a:p>
        </p:txBody>
      </p:sp>
      <p:sp>
        <p:nvSpPr>
          <p:cNvPr id="108" name="Rectangle 107"/>
          <p:cNvSpPr/>
          <p:nvPr/>
        </p:nvSpPr>
        <p:spPr>
          <a:xfrm rot="16200000">
            <a:off x="6303518" y="4614640"/>
            <a:ext cx="2123956" cy="2735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Rounded Rectangle 108"/>
              <p:cNvSpPr/>
              <p:nvPr/>
            </p:nvSpPr>
            <p:spPr>
              <a:xfrm>
                <a:off x="8043285" y="2653495"/>
                <a:ext cx="353883" cy="3142528"/>
              </a:xfrm>
              <a:prstGeom prst="round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pl-PL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9" name="Rounded Rectangle 10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285" y="2653495"/>
                <a:ext cx="353883" cy="3142528"/>
              </a:xfrm>
              <a:prstGeom prst="round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1" name="Straight Arrow Connector 110"/>
          <p:cNvCxnSpPr/>
          <p:nvPr/>
        </p:nvCxnSpPr>
        <p:spPr>
          <a:xfrm flipV="1">
            <a:off x="7498794" y="3171466"/>
            <a:ext cx="544488" cy="2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/>
          <p:nvPr/>
        </p:nvCxnSpPr>
        <p:spPr>
          <a:xfrm>
            <a:off x="7498794" y="4734046"/>
            <a:ext cx="544491" cy="2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/>
          <p:nvPr/>
        </p:nvCxnSpPr>
        <p:spPr>
          <a:xfrm>
            <a:off x="8427230" y="4741015"/>
            <a:ext cx="305368" cy="46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/>
        </p:nvCxnSpPr>
        <p:spPr>
          <a:xfrm>
            <a:off x="8415683" y="3164556"/>
            <a:ext cx="305368" cy="46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/>
          <p:nvPr/>
        </p:nvCxnSpPr>
        <p:spPr>
          <a:xfrm>
            <a:off x="5340850" y="2366367"/>
            <a:ext cx="9607" cy="3629319"/>
          </a:xfrm>
          <a:prstGeom prst="line">
            <a:avLst/>
          </a:prstGeom>
          <a:ln w="28575">
            <a:prstDash val="sysDas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/>
          <p:nvPr/>
        </p:nvCxnSpPr>
        <p:spPr>
          <a:xfrm flipV="1">
            <a:off x="6220767" y="2215635"/>
            <a:ext cx="5545" cy="9645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Rectangle 120"/>
              <p:cNvSpPr/>
              <p:nvPr/>
            </p:nvSpPr>
            <p:spPr>
              <a:xfrm>
                <a:off x="5750313" y="1770009"/>
                <a:ext cx="997352" cy="44562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pl-PL" b="1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1" name="Rectangle 1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0313" y="1770009"/>
                <a:ext cx="997352" cy="445624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" name="Straight Arrow Connector 121"/>
          <p:cNvCxnSpPr>
            <a:endCxn id="123" idx="2"/>
          </p:cNvCxnSpPr>
          <p:nvPr/>
        </p:nvCxnSpPr>
        <p:spPr>
          <a:xfrm flipV="1">
            <a:off x="7769130" y="2222208"/>
            <a:ext cx="3639" cy="964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Rectangle 122"/>
              <p:cNvSpPr/>
              <p:nvPr/>
            </p:nvSpPr>
            <p:spPr>
              <a:xfrm>
                <a:off x="7274093" y="1776584"/>
                <a:ext cx="997352" cy="44562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3" name="Rectangle 1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093" y="1776584"/>
                <a:ext cx="997352" cy="445624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3627369" y="3767565"/>
                <a:ext cx="61106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… </m:t>
                      </m:r>
                    </m:oMath>
                  </m:oMathPara>
                </a14:m>
                <a:endParaRPr lang="pl-PL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7369" y="3767565"/>
                <a:ext cx="611065" cy="523220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3276070" y="1600993"/>
                <a:ext cx="61106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… </m:t>
                      </m:r>
                    </m:oMath>
                  </m:oMathPara>
                </a14:m>
                <a:endParaRPr lang="pl-PL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070" y="1600993"/>
                <a:ext cx="611065" cy="523220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8445246" y="3767565"/>
                <a:ext cx="61106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… </m:t>
                      </m:r>
                    </m:oMath>
                  </m:oMathPara>
                </a14:m>
                <a:endParaRPr lang="pl-PL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5246" y="3767565"/>
                <a:ext cx="611065" cy="523220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/>
              <p:cNvSpPr txBox="1"/>
              <p:nvPr/>
            </p:nvSpPr>
            <p:spPr>
              <a:xfrm>
                <a:off x="8274381" y="1643550"/>
                <a:ext cx="61106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… </m:t>
                      </m:r>
                    </m:oMath>
                  </m:oMathPara>
                </a14:m>
                <a:endParaRPr lang="pl-PL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4381" y="1643550"/>
                <a:ext cx="611065" cy="523220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Left Brace 127"/>
          <p:cNvSpPr/>
          <p:nvPr/>
        </p:nvSpPr>
        <p:spPr>
          <a:xfrm rot="16200000">
            <a:off x="2772922" y="3774521"/>
            <a:ext cx="270039" cy="4508741"/>
          </a:xfrm>
          <a:prstGeom prst="leftBrace">
            <a:avLst>
              <a:gd name="adj1" fmla="val 208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9" name="TextBox 128"/>
          <p:cNvSpPr txBox="1"/>
          <p:nvPr/>
        </p:nvSpPr>
        <p:spPr>
          <a:xfrm>
            <a:off x="2282674" y="6219954"/>
            <a:ext cx="1350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“absorbing”</a:t>
            </a:r>
            <a:endParaRPr lang="pl-PL" dirty="0"/>
          </a:p>
        </p:txBody>
      </p:sp>
      <p:sp>
        <p:nvSpPr>
          <p:cNvPr id="130" name="Left Brace 129"/>
          <p:cNvSpPr/>
          <p:nvPr/>
        </p:nvSpPr>
        <p:spPr>
          <a:xfrm rot="16200000">
            <a:off x="7066721" y="4316408"/>
            <a:ext cx="315295" cy="3457297"/>
          </a:xfrm>
          <a:prstGeom prst="leftBrace">
            <a:avLst>
              <a:gd name="adj1" fmla="val 208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1" name="TextBox 130"/>
          <p:cNvSpPr txBox="1"/>
          <p:nvPr/>
        </p:nvSpPr>
        <p:spPr>
          <a:xfrm>
            <a:off x="6550947" y="6206535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“squeezing”</a:t>
            </a:r>
            <a:endParaRPr lang="pl-PL" dirty="0"/>
          </a:p>
        </p:txBody>
      </p:sp>
      <p:sp>
        <p:nvSpPr>
          <p:cNvPr id="137" name="Left Brace 136"/>
          <p:cNvSpPr/>
          <p:nvPr/>
        </p:nvSpPr>
        <p:spPr>
          <a:xfrm rot="16200000" flipH="1">
            <a:off x="7026384" y="-167185"/>
            <a:ext cx="395970" cy="3457299"/>
          </a:xfrm>
          <a:prstGeom prst="leftBrace">
            <a:avLst>
              <a:gd name="adj1" fmla="val 208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8" name="TextBox 137"/>
          <p:cNvSpPr txBox="1"/>
          <p:nvPr/>
        </p:nvSpPr>
        <p:spPr>
          <a:xfrm>
            <a:off x="6713651" y="1027603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“output”</a:t>
            </a:r>
            <a:endParaRPr lang="pl-PL" dirty="0"/>
          </a:p>
        </p:txBody>
      </p:sp>
      <p:sp>
        <p:nvSpPr>
          <p:cNvPr id="139" name="Rectangular Callout 138"/>
          <p:cNvSpPr/>
          <p:nvPr/>
        </p:nvSpPr>
        <p:spPr>
          <a:xfrm>
            <a:off x="5707876" y="133826"/>
            <a:ext cx="2872037" cy="791427"/>
          </a:xfrm>
          <a:prstGeom prst="wedgeRectCallout">
            <a:avLst>
              <a:gd name="adj1" fmla="val 7378"/>
              <a:gd name="adj2" fmla="val 7194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truncate if needed</a:t>
            </a:r>
            <a:br>
              <a:rPr lang="en-US" dirty="0"/>
            </a:br>
            <a:r>
              <a:rPr lang="en-US" b="1" u="sng" dirty="0"/>
              <a:t>note</a:t>
            </a:r>
            <a:r>
              <a:rPr lang="en-US" dirty="0"/>
              <a:t>: “unlimited” length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912807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8" grpId="0" animBg="1"/>
      <p:bldP spid="22" grpId="0" animBg="1"/>
      <p:bldP spid="23" grpId="0" animBg="1"/>
      <p:bldP spid="24" grpId="0"/>
      <p:bldP spid="25" grpId="0"/>
      <p:bldP spid="49" grpId="0" animBg="1"/>
      <p:bldP spid="50" grpId="0" animBg="1"/>
      <p:bldP spid="68" grpId="0" animBg="1"/>
      <p:bldP spid="69" grpId="0" animBg="1"/>
      <p:bldP spid="73" grpId="0" animBg="1"/>
      <p:bldP spid="82" grpId="0" animBg="1"/>
      <p:bldP spid="83" grpId="0" animBg="1"/>
      <p:bldP spid="87" grpId="0" animBg="1"/>
      <p:bldP spid="95" grpId="0" animBg="1"/>
      <p:bldP spid="96" grpId="0" animBg="1"/>
      <p:bldP spid="97" grpId="0" animBg="1"/>
      <p:bldP spid="107" grpId="0" animBg="1"/>
      <p:bldP spid="108" grpId="0" animBg="1"/>
      <p:bldP spid="109" grpId="0" animBg="1"/>
      <p:bldP spid="121" grpId="0" animBg="1"/>
      <p:bldP spid="123" grpId="0" animBg="1"/>
      <p:bldP spid="124" grpId="0"/>
      <p:bldP spid="125" grpId="0"/>
      <p:bldP spid="126" grpId="0"/>
      <p:bldP spid="127" grpId="0"/>
      <p:bldP spid="128" grpId="0" animBg="1"/>
      <p:bldP spid="129" grpId="0"/>
      <p:bldP spid="130" grpId="0" animBg="1"/>
      <p:bldP spid="131" grpId="0"/>
      <p:bldP spid="137" grpId="0" animBg="1"/>
      <p:bldP spid="138" grpId="0"/>
      <p:bldP spid="13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0148" y="1642219"/>
            <a:ext cx="6929486" cy="368776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Introduction and definitions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Hash function design paradigms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Other </a:t>
            </a:r>
            <a:r>
              <a:rPr lang="pl-PL" dirty="0"/>
              <a:t>uses of hash functions</a:t>
            </a:r>
            <a:endParaRPr lang="it-IT" dirty="0"/>
          </a:p>
          <a:p>
            <a:pPr marL="971550" lvl="1" indent="-514350">
              <a:buFont typeface="+mj-lt"/>
              <a:buAutoNum type="arabicPeriod"/>
            </a:pPr>
            <a:r>
              <a:rPr lang="it-IT" dirty="0"/>
              <a:t>Merkle trees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Practical randomness extraction and the random oracle model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Password storage and Proofs of Work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Real-life constructions</a:t>
            </a:r>
            <a:endParaRPr lang="it-IT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798260" y="2979242"/>
            <a:ext cx="1214446" cy="71438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0677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618" y="224463"/>
            <a:ext cx="8904427" cy="715066"/>
          </a:xfrm>
        </p:spPr>
        <p:txBody>
          <a:bodyPr>
            <a:noAutofit/>
          </a:bodyPr>
          <a:lstStyle/>
          <a:p>
            <a:r>
              <a:rPr lang="en-US" sz="3600" dirty="0"/>
              <a:t>Consider again file fingerprinting</a:t>
            </a:r>
          </a:p>
        </p:txBody>
      </p:sp>
      <p:pic>
        <p:nvPicPr>
          <p:cNvPr id="5" name="Picture 2" descr="http://images.clipartpanda.com/server-clipart-RTGK5rgTL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907" y="2458654"/>
            <a:ext cx="1728192" cy="267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849491" y="4149678"/>
                <a:ext cx="2952328" cy="472407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large file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9491" y="4149678"/>
                <a:ext cx="2952328" cy="472407"/>
              </a:xfrm>
              <a:prstGeom prst="rect">
                <a:avLst/>
              </a:prstGeom>
              <a:blipFill rotWithShape="0">
                <a:blip r:embed="rId4"/>
                <a:stretch>
                  <a:fillRect t="-7595" b="-2658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Flowchart: Manual Operation 6"/>
              <p:cNvSpPr/>
              <p:nvPr/>
            </p:nvSpPr>
            <p:spPr>
              <a:xfrm>
                <a:off x="2863683" y="3488176"/>
                <a:ext cx="2943515" cy="612648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5460 w 15460"/>
                  <a:gd name="connsiteY0" fmla="*/ 0 h 10000"/>
                  <a:gd name="connsiteX1" fmla="*/ 15460 w 15460"/>
                  <a:gd name="connsiteY1" fmla="*/ 0 h 10000"/>
                  <a:gd name="connsiteX2" fmla="*/ 13460 w 15460"/>
                  <a:gd name="connsiteY2" fmla="*/ 10000 h 10000"/>
                  <a:gd name="connsiteX3" fmla="*/ 0 w 15460"/>
                  <a:gd name="connsiteY3" fmla="*/ 10000 h 10000"/>
                  <a:gd name="connsiteX4" fmla="*/ 5460 w 15460"/>
                  <a:gd name="connsiteY4" fmla="*/ 0 h 10000"/>
                  <a:gd name="connsiteX0" fmla="*/ 5460 w 24492"/>
                  <a:gd name="connsiteY0" fmla="*/ 0 h 10000"/>
                  <a:gd name="connsiteX1" fmla="*/ 15460 w 24492"/>
                  <a:gd name="connsiteY1" fmla="*/ 0 h 10000"/>
                  <a:gd name="connsiteX2" fmla="*/ 24492 w 24492"/>
                  <a:gd name="connsiteY2" fmla="*/ 9645 h 10000"/>
                  <a:gd name="connsiteX3" fmla="*/ 0 w 24492"/>
                  <a:gd name="connsiteY3" fmla="*/ 10000 h 10000"/>
                  <a:gd name="connsiteX4" fmla="*/ 5460 w 24492"/>
                  <a:gd name="connsiteY4" fmla="*/ 0 h 10000"/>
                  <a:gd name="connsiteX0" fmla="*/ 5460 w 21794"/>
                  <a:gd name="connsiteY0" fmla="*/ 0 h 10000"/>
                  <a:gd name="connsiteX1" fmla="*/ 15460 w 21794"/>
                  <a:gd name="connsiteY1" fmla="*/ 0 h 10000"/>
                  <a:gd name="connsiteX2" fmla="*/ 21794 w 21794"/>
                  <a:gd name="connsiteY2" fmla="*/ 9645 h 10000"/>
                  <a:gd name="connsiteX3" fmla="*/ 0 w 21794"/>
                  <a:gd name="connsiteY3" fmla="*/ 10000 h 10000"/>
                  <a:gd name="connsiteX4" fmla="*/ 5460 w 21794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794" h="10000">
                    <a:moveTo>
                      <a:pt x="5460" y="0"/>
                    </a:moveTo>
                    <a:lnTo>
                      <a:pt x="15460" y="0"/>
                    </a:lnTo>
                    <a:lnTo>
                      <a:pt x="21794" y="9645"/>
                    </a:lnTo>
                    <a:lnTo>
                      <a:pt x="0" y="10000"/>
                    </a:lnTo>
                    <a:lnTo>
                      <a:pt x="5460" y="0"/>
                    </a:lnTo>
                    <a:close/>
                  </a:path>
                </a:pathLst>
              </a:cu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Flowchart: Manual Operation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3683" y="3488176"/>
                <a:ext cx="2943515" cy="612648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8000 w 10000"/>
                  <a:gd name="connsiteY2" fmla="*/ 10000 h 10000"/>
                  <a:gd name="connsiteX3" fmla="*/ 2000 w 10000"/>
                  <a:gd name="connsiteY3" fmla="*/ 10000 h 10000"/>
                  <a:gd name="connsiteX4" fmla="*/ 0 w 10000"/>
                  <a:gd name="connsiteY4" fmla="*/ 0 h 10000"/>
                  <a:gd name="connsiteX0" fmla="*/ 5460 w 15460"/>
                  <a:gd name="connsiteY0" fmla="*/ 0 h 10000"/>
                  <a:gd name="connsiteX1" fmla="*/ 15460 w 15460"/>
                  <a:gd name="connsiteY1" fmla="*/ 0 h 10000"/>
                  <a:gd name="connsiteX2" fmla="*/ 13460 w 15460"/>
                  <a:gd name="connsiteY2" fmla="*/ 10000 h 10000"/>
                  <a:gd name="connsiteX3" fmla="*/ 0 w 15460"/>
                  <a:gd name="connsiteY3" fmla="*/ 10000 h 10000"/>
                  <a:gd name="connsiteX4" fmla="*/ 5460 w 15460"/>
                  <a:gd name="connsiteY4" fmla="*/ 0 h 10000"/>
                  <a:gd name="connsiteX0" fmla="*/ 5460 w 24492"/>
                  <a:gd name="connsiteY0" fmla="*/ 0 h 10000"/>
                  <a:gd name="connsiteX1" fmla="*/ 15460 w 24492"/>
                  <a:gd name="connsiteY1" fmla="*/ 0 h 10000"/>
                  <a:gd name="connsiteX2" fmla="*/ 24492 w 24492"/>
                  <a:gd name="connsiteY2" fmla="*/ 9645 h 10000"/>
                  <a:gd name="connsiteX3" fmla="*/ 0 w 24492"/>
                  <a:gd name="connsiteY3" fmla="*/ 10000 h 10000"/>
                  <a:gd name="connsiteX4" fmla="*/ 5460 w 24492"/>
                  <a:gd name="connsiteY4" fmla="*/ 0 h 10000"/>
                  <a:gd name="connsiteX0" fmla="*/ 5460 w 21794"/>
                  <a:gd name="connsiteY0" fmla="*/ 0 h 10000"/>
                  <a:gd name="connsiteX1" fmla="*/ 15460 w 21794"/>
                  <a:gd name="connsiteY1" fmla="*/ 0 h 10000"/>
                  <a:gd name="connsiteX2" fmla="*/ 21794 w 21794"/>
                  <a:gd name="connsiteY2" fmla="*/ 9645 h 10000"/>
                  <a:gd name="connsiteX3" fmla="*/ 0 w 21794"/>
                  <a:gd name="connsiteY3" fmla="*/ 10000 h 10000"/>
                  <a:gd name="connsiteX4" fmla="*/ 5460 w 21794"/>
                  <a:gd name="connsiteY4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794" h="10000">
                    <a:moveTo>
                      <a:pt x="5460" y="0"/>
                    </a:moveTo>
                    <a:lnTo>
                      <a:pt x="15460" y="0"/>
                    </a:lnTo>
                    <a:lnTo>
                      <a:pt x="21794" y="9645"/>
                    </a:lnTo>
                    <a:lnTo>
                      <a:pt x="0" y="10000"/>
                    </a:lnTo>
                    <a:lnTo>
                      <a:pt x="5460" y="0"/>
                    </a:lnTo>
                    <a:close/>
                  </a:path>
                </a:pathLst>
              </a:cu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574950" y="3032041"/>
                <a:ext cx="1452036" cy="36930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4950" y="3032041"/>
                <a:ext cx="1452036" cy="369305"/>
              </a:xfrm>
              <a:prstGeom prst="rect">
                <a:avLst/>
              </a:prstGeom>
              <a:blipFill rotWithShape="0">
                <a:blip r:embed="rId6"/>
                <a:stretch>
                  <a:fillRect b="-2222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3441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498" y="130603"/>
            <a:ext cx="7886700" cy="1044228"/>
          </a:xfrm>
        </p:spPr>
        <p:txBody>
          <a:bodyPr/>
          <a:lstStyle/>
          <a:p>
            <a:r>
              <a:rPr lang="pl-PL" dirty="0"/>
              <a:t>Fingerprinting large files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43555" y="1417638"/>
                <a:ext cx="8516337" cy="2731442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Suppose a file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dirty="0"/>
                  <a:t> consists of many smaller blocks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dirty="0"/>
                  <a:t>, and the user may want to </a:t>
                </a:r>
                <a:r>
                  <a:rPr lang="en-US" b="1" dirty="0"/>
                  <a:t>access only one of them</a:t>
                </a:r>
                <a:r>
                  <a:rPr lang="en-US" dirty="0"/>
                  <a:t>. </a:t>
                </a:r>
                <a:br>
                  <a:rPr lang="pl-PL" dirty="0"/>
                </a:br>
                <a:endParaRPr lang="pl-PL" dirty="0"/>
              </a:p>
              <a:p>
                <a:pPr marL="0" indent="0">
                  <a:buNone/>
                </a:pPr>
                <a:r>
                  <a:rPr lang="pl-PL" b="1" u="sng" dirty="0">
                    <a:solidFill>
                      <a:srgbClr val="0070C0"/>
                    </a:solidFill>
                  </a:rPr>
                  <a:t>Question</a:t>
                </a:r>
                <a:r>
                  <a:rPr lang="pl-PL" dirty="0"/>
                  <a:t>: H</a:t>
                </a:r>
                <a:r>
                  <a:rPr lang="en-US" dirty="0"/>
                  <a:t>ow to “fingerprint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dirty="0"/>
                  <a:t>”?</a:t>
                </a:r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r>
                  <a:rPr lang="en-US" b="1" u="sng" dirty="0">
                    <a:solidFill>
                      <a:srgbClr val="0070C0"/>
                    </a:solidFill>
                  </a:rPr>
                  <a:t>Naive solution</a:t>
                </a:r>
                <a:r>
                  <a:rPr lang="en-US" dirty="0"/>
                  <a:t>: fingerprint each of them independently.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3555" y="1417638"/>
                <a:ext cx="8516337" cy="2731442"/>
              </a:xfrm>
              <a:blipFill>
                <a:blip r:embed="rId2"/>
                <a:stretch>
                  <a:fillRect l="-1288" t="-3795" r="-716" b="-1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55576" y="5733256"/>
                <a:ext cx="822590" cy="43204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5733256"/>
                <a:ext cx="822590" cy="43204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748973" y="5733256"/>
                <a:ext cx="822590" cy="43204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8973" y="5733256"/>
                <a:ext cx="822590" cy="43204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742369" y="5733256"/>
                <a:ext cx="822590" cy="43204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2369" y="5733256"/>
                <a:ext cx="822590" cy="43204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735766" y="5733256"/>
                <a:ext cx="822590" cy="43204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5766" y="5733256"/>
                <a:ext cx="822590" cy="43204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729163" y="5733256"/>
                <a:ext cx="822590" cy="43204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163" y="5733256"/>
                <a:ext cx="822590" cy="43204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722560" y="5733256"/>
                <a:ext cx="822590" cy="43204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2560" y="5733256"/>
                <a:ext cx="822590" cy="43204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6715956" y="5733256"/>
                <a:ext cx="822590" cy="43204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956" y="5733256"/>
                <a:ext cx="822590" cy="43204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7709353" y="5733256"/>
                <a:ext cx="822590" cy="43204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353" y="5733256"/>
                <a:ext cx="822590" cy="432048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lowchart: Manual Operation 6"/>
          <p:cNvSpPr/>
          <p:nvPr/>
        </p:nvSpPr>
        <p:spPr>
          <a:xfrm>
            <a:off x="755576" y="5093002"/>
            <a:ext cx="822590" cy="53864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" fmla="*/ 5460 w 15460"/>
              <a:gd name="connsiteY0" fmla="*/ 0 h 10000"/>
              <a:gd name="connsiteX1" fmla="*/ 15460 w 15460"/>
              <a:gd name="connsiteY1" fmla="*/ 0 h 10000"/>
              <a:gd name="connsiteX2" fmla="*/ 13460 w 15460"/>
              <a:gd name="connsiteY2" fmla="*/ 10000 h 10000"/>
              <a:gd name="connsiteX3" fmla="*/ 0 w 15460"/>
              <a:gd name="connsiteY3" fmla="*/ 10000 h 10000"/>
              <a:gd name="connsiteX4" fmla="*/ 5460 w 15460"/>
              <a:gd name="connsiteY4" fmla="*/ 0 h 10000"/>
              <a:gd name="connsiteX0" fmla="*/ 5460 w 24492"/>
              <a:gd name="connsiteY0" fmla="*/ 0 h 10000"/>
              <a:gd name="connsiteX1" fmla="*/ 15460 w 24492"/>
              <a:gd name="connsiteY1" fmla="*/ 0 h 10000"/>
              <a:gd name="connsiteX2" fmla="*/ 24492 w 24492"/>
              <a:gd name="connsiteY2" fmla="*/ 9645 h 10000"/>
              <a:gd name="connsiteX3" fmla="*/ 0 w 24492"/>
              <a:gd name="connsiteY3" fmla="*/ 10000 h 10000"/>
              <a:gd name="connsiteX4" fmla="*/ 5460 w 24492"/>
              <a:gd name="connsiteY4" fmla="*/ 0 h 10000"/>
              <a:gd name="connsiteX0" fmla="*/ 5460 w 21794"/>
              <a:gd name="connsiteY0" fmla="*/ 0 h 10000"/>
              <a:gd name="connsiteX1" fmla="*/ 15460 w 21794"/>
              <a:gd name="connsiteY1" fmla="*/ 0 h 10000"/>
              <a:gd name="connsiteX2" fmla="*/ 21794 w 21794"/>
              <a:gd name="connsiteY2" fmla="*/ 9645 h 10000"/>
              <a:gd name="connsiteX3" fmla="*/ 0 w 21794"/>
              <a:gd name="connsiteY3" fmla="*/ 10000 h 10000"/>
              <a:gd name="connsiteX4" fmla="*/ 5460 w 21794"/>
              <a:gd name="connsiteY4" fmla="*/ 0 h 10000"/>
              <a:gd name="connsiteX0" fmla="*/ 5460 w 21794"/>
              <a:gd name="connsiteY0" fmla="*/ 0 h 10474"/>
              <a:gd name="connsiteX1" fmla="*/ 15460 w 21794"/>
              <a:gd name="connsiteY1" fmla="*/ 0 h 10474"/>
              <a:gd name="connsiteX2" fmla="*/ 21794 w 21794"/>
              <a:gd name="connsiteY2" fmla="*/ 10474 h 10474"/>
              <a:gd name="connsiteX3" fmla="*/ 0 w 21794"/>
              <a:gd name="connsiteY3" fmla="*/ 10000 h 10474"/>
              <a:gd name="connsiteX4" fmla="*/ 5460 w 21794"/>
              <a:gd name="connsiteY4" fmla="*/ 0 h 10474"/>
              <a:gd name="connsiteX0" fmla="*/ 5460 w 21794"/>
              <a:gd name="connsiteY0" fmla="*/ 0 h 10000"/>
              <a:gd name="connsiteX1" fmla="*/ 15460 w 21794"/>
              <a:gd name="connsiteY1" fmla="*/ 0 h 10000"/>
              <a:gd name="connsiteX2" fmla="*/ 21794 w 21794"/>
              <a:gd name="connsiteY2" fmla="*/ 9645 h 10000"/>
              <a:gd name="connsiteX3" fmla="*/ 0 w 21794"/>
              <a:gd name="connsiteY3" fmla="*/ 10000 h 10000"/>
              <a:gd name="connsiteX4" fmla="*/ 5460 w 21794"/>
              <a:gd name="connsiteY4" fmla="*/ 0 h 10000"/>
              <a:gd name="connsiteX0" fmla="*/ 5460 w 24611"/>
              <a:gd name="connsiteY0" fmla="*/ 0 h 10119"/>
              <a:gd name="connsiteX1" fmla="*/ 15460 w 24611"/>
              <a:gd name="connsiteY1" fmla="*/ 0 h 10119"/>
              <a:gd name="connsiteX2" fmla="*/ 24611 w 24611"/>
              <a:gd name="connsiteY2" fmla="*/ 10119 h 10119"/>
              <a:gd name="connsiteX3" fmla="*/ 0 w 24611"/>
              <a:gd name="connsiteY3" fmla="*/ 10000 h 10119"/>
              <a:gd name="connsiteX4" fmla="*/ 5460 w 24611"/>
              <a:gd name="connsiteY4" fmla="*/ 0 h 10119"/>
              <a:gd name="connsiteX0" fmla="*/ 5460 w 22599"/>
              <a:gd name="connsiteY0" fmla="*/ 0 h 10474"/>
              <a:gd name="connsiteX1" fmla="*/ 15460 w 22599"/>
              <a:gd name="connsiteY1" fmla="*/ 0 h 10474"/>
              <a:gd name="connsiteX2" fmla="*/ 22599 w 22599"/>
              <a:gd name="connsiteY2" fmla="*/ 10474 h 10474"/>
              <a:gd name="connsiteX3" fmla="*/ 0 w 22599"/>
              <a:gd name="connsiteY3" fmla="*/ 10000 h 10474"/>
              <a:gd name="connsiteX4" fmla="*/ 5460 w 22599"/>
              <a:gd name="connsiteY4" fmla="*/ 0 h 10474"/>
              <a:gd name="connsiteX0" fmla="*/ 5460 w 22243"/>
              <a:gd name="connsiteY0" fmla="*/ 0 h 10000"/>
              <a:gd name="connsiteX1" fmla="*/ 15460 w 22243"/>
              <a:gd name="connsiteY1" fmla="*/ 0 h 10000"/>
              <a:gd name="connsiteX2" fmla="*/ 22243 w 22243"/>
              <a:gd name="connsiteY2" fmla="*/ 9874 h 10000"/>
              <a:gd name="connsiteX3" fmla="*/ 0 w 22243"/>
              <a:gd name="connsiteY3" fmla="*/ 10000 h 10000"/>
              <a:gd name="connsiteX4" fmla="*/ 5460 w 22243"/>
              <a:gd name="connsiteY4" fmla="*/ 0 h 10000"/>
              <a:gd name="connsiteX0" fmla="*/ 5460 w 22752"/>
              <a:gd name="connsiteY0" fmla="*/ 0 h 10049"/>
              <a:gd name="connsiteX1" fmla="*/ 15460 w 22752"/>
              <a:gd name="connsiteY1" fmla="*/ 0 h 10049"/>
              <a:gd name="connsiteX2" fmla="*/ 22752 w 22752"/>
              <a:gd name="connsiteY2" fmla="*/ 10049 h 10049"/>
              <a:gd name="connsiteX3" fmla="*/ 0 w 22752"/>
              <a:gd name="connsiteY3" fmla="*/ 10000 h 10049"/>
              <a:gd name="connsiteX4" fmla="*/ 5460 w 22752"/>
              <a:gd name="connsiteY4" fmla="*/ 0 h 10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52" h="10049">
                <a:moveTo>
                  <a:pt x="5460" y="0"/>
                </a:moveTo>
                <a:lnTo>
                  <a:pt x="15460" y="0"/>
                </a:lnTo>
                <a:lnTo>
                  <a:pt x="22752" y="10049"/>
                </a:lnTo>
                <a:lnTo>
                  <a:pt x="0" y="10000"/>
                </a:lnTo>
                <a:lnTo>
                  <a:pt x="5460" y="0"/>
                </a:lnTo>
                <a:close/>
              </a:path>
            </a:pathLst>
          </a:cu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971600" y="4651047"/>
                <a:ext cx="288032" cy="36930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4651047"/>
                <a:ext cx="288032" cy="36930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lowchart: Manual Operation 6"/>
          <p:cNvSpPr/>
          <p:nvPr/>
        </p:nvSpPr>
        <p:spPr>
          <a:xfrm>
            <a:off x="1774032" y="5093002"/>
            <a:ext cx="822590" cy="53864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" fmla="*/ 5460 w 15460"/>
              <a:gd name="connsiteY0" fmla="*/ 0 h 10000"/>
              <a:gd name="connsiteX1" fmla="*/ 15460 w 15460"/>
              <a:gd name="connsiteY1" fmla="*/ 0 h 10000"/>
              <a:gd name="connsiteX2" fmla="*/ 13460 w 15460"/>
              <a:gd name="connsiteY2" fmla="*/ 10000 h 10000"/>
              <a:gd name="connsiteX3" fmla="*/ 0 w 15460"/>
              <a:gd name="connsiteY3" fmla="*/ 10000 h 10000"/>
              <a:gd name="connsiteX4" fmla="*/ 5460 w 15460"/>
              <a:gd name="connsiteY4" fmla="*/ 0 h 10000"/>
              <a:gd name="connsiteX0" fmla="*/ 5460 w 24492"/>
              <a:gd name="connsiteY0" fmla="*/ 0 h 10000"/>
              <a:gd name="connsiteX1" fmla="*/ 15460 w 24492"/>
              <a:gd name="connsiteY1" fmla="*/ 0 h 10000"/>
              <a:gd name="connsiteX2" fmla="*/ 24492 w 24492"/>
              <a:gd name="connsiteY2" fmla="*/ 9645 h 10000"/>
              <a:gd name="connsiteX3" fmla="*/ 0 w 24492"/>
              <a:gd name="connsiteY3" fmla="*/ 10000 h 10000"/>
              <a:gd name="connsiteX4" fmla="*/ 5460 w 24492"/>
              <a:gd name="connsiteY4" fmla="*/ 0 h 10000"/>
              <a:gd name="connsiteX0" fmla="*/ 5460 w 21794"/>
              <a:gd name="connsiteY0" fmla="*/ 0 h 10000"/>
              <a:gd name="connsiteX1" fmla="*/ 15460 w 21794"/>
              <a:gd name="connsiteY1" fmla="*/ 0 h 10000"/>
              <a:gd name="connsiteX2" fmla="*/ 21794 w 21794"/>
              <a:gd name="connsiteY2" fmla="*/ 9645 h 10000"/>
              <a:gd name="connsiteX3" fmla="*/ 0 w 21794"/>
              <a:gd name="connsiteY3" fmla="*/ 10000 h 10000"/>
              <a:gd name="connsiteX4" fmla="*/ 5460 w 21794"/>
              <a:gd name="connsiteY4" fmla="*/ 0 h 10000"/>
              <a:gd name="connsiteX0" fmla="*/ 5460 w 21794"/>
              <a:gd name="connsiteY0" fmla="*/ 0 h 10474"/>
              <a:gd name="connsiteX1" fmla="*/ 15460 w 21794"/>
              <a:gd name="connsiteY1" fmla="*/ 0 h 10474"/>
              <a:gd name="connsiteX2" fmla="*/ 21794 w 21794"/>
              <a:gd name="connsiteY2" fmla="*/ 10474 h 10474"/>
              <a:gd name="connsiteX3" fmla="*/ 0 w 21794"/>
              <a:gd name="connsiteY3" fmla="*/ 10000 h 10474"/>
              <a:gd name="connsiteX4" fmla="*/ 5460 w 21794"/>
              <a:gd name="connsiteY4" fmla="*/ 0 h 10474"/>
              <a:gd name="connsiteX0" fmla="*/ 5460 w 21794"/>
              <a:gd name="connsiteY0" fmla="*/ 0 h 10000"/>
              <a:gd name="connsiteX1" fmla="*/ 15460 w 21794"/>
              <a:gd name="connsiteY1" fmla="*/ 0 h 10000"/>
              <a:gd name="connsiteX2" fmla="*/ 21794 w 21794"/>
              <a:gd name="connsiteY2" fmla="*/ 9645 h 10000"/>
              <a:gd name="connsiteX3" fmla="*/ 0 w 21794"/>
              <a:gd name="connsiteY3" fmla="*/ 10000 h 10000"/>
              <a:gd name="connsiteX4" fmla="*/ 5460 w 21794"/>
              <a:gd name="connsiteY4" fmla="*/ 0 h 10000"/>
              <a:gd name="connsiteX0" fmla="*/ 5460 w 24611"/>
              <a:gd name="connsiteY0" fmla="*/ 0 h 10119"/>
              <a:gd name="connsiteX1" fmla="*/ 15460 w 24611"/>
              <a:gd name="connsiteY1" fmla="*/ 0 h 10119"/>
              <a:gd name="connsiteX2" fmla="*/ 24611 w 24611"/>
              <a:gd name="connsiteY2" fmla="*/ 10119 h 10119"/>
              <a:gd name="connsiteX3" fmla="*/ 0 w 24611"/>
              <a:gd name="connsiteY3" fmla="*/ 10000 h 10119"/>
              <a:gd name="connsiteX4" fmla="*/ 5460 w 24611"/>
              <a:gd name="connsiteY4" fmla="*/ 0 h 10119"/>
              <a:gd name="connsiteX0" fmla="*/ 5460 w 22599"/>
              <a:gd name="connsiteY0" fmla="*/ 0 h 10474"/>
              <a:gd name="connsiteX1" fmla="*/ 15460 w 22599"/>
              <a:gd name="connsiteY1" fmla="*/ 0 h 10474"/>
              <a:gd name="connsiteX2" fmla="*/ 22599 w 22599"/>
              <a:gd name="connsiteY2" fmla="*/ 10474 h 10474"/>
              <a:gd name="connsiteX3" fmla="*/ 0 w 22599"/>
              <a:gd name="connsiteY3" fmla="*/ 10000 h 10474"/>
              <a:gd name="connsiteX4" fmla="*/ 5460 w 22599"/>
              <a:gd name="connsiteY4" fmla="*/ 0 h 10474"/>
              <a:gd name="connsiteX0" fmla="*/ 5460 w 22243"/>
              <a:gd name="connsiteY0" fmla="*/ 0 h 10000"/>
              <a:gd name="connsiteX1" fmla="*/ 15460 w 22243"/>
              <a:gd name="connsiteY1" fmla="*/ 0 h 10000"/>
              <a:gd name="connsiteX2" fmla="*/ 22243 w 22243"/>
              <a:gd name="connsiteY2" fmla="*/ 9874 h 10000"/>
              <a:gd name="connsiteX3" fmla="*/ 0 w 22243"/>
              <a:gd name="connsiteY3" fmla="*/ 10000 h 10000"/>
              <a:gd name="connsiteX4" fmla="*/ 5460 w 22243"/>
              <a:gd name="connsiteY4" fmla="*/ 0 h 10000"/>
              <a:gd name="connsiteX0" fmla="*/ 5460 w 22752"/>
              <a:gd name="connsiteY0" fmla="*/ 0 h 10049"/>
              <a:gd name="connsiteX1" fmla="*/ 15460 w 22752"/>
              <a:gd name="connsiteY1" fmla="*/ 0 h 10049"/>
              <a:gd name="connsiteX2" fmla="*/ 22752 w 22752"/>
              <a:gd name="connsiteY2" fmla="*/ 10049 h 10049"/>
              <a:gd name="connsiteX3" fmla="*/ 0 w 22752"/>
              <a:gd name="connsiteY3" fmla="*/ 10000 h 10049"/>
              <a:gd name="connsiteX4" fmla="*/ 5460 w 22752"/>
              <a:gd name="connsiteY4" fmla="*/ 0 h 10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52" h="10049">
                <a:moveTo>
                  <a:pt x="5460" y="0"/>
                </a:moveTo>
                <a:lnTo>
                  <a:pt x="15460" y="0"/>
                </a:lnTo>
                <a:lnTo>
                  <a:pt x="22752" y="10049"/>
                </a:lnTo>
                <a:lnTo>
                  <a:pt x="0" y="10000"/>
                </a:lnTo>
                <a:lnTo>
                  <a:pt x="5460" y="0"/>
                </a:lnTo>
                <a:close/>
              </a:path>
            </a:pathLst>
          </a:cu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1965116" y="4651047"/>
                <a:ext cx="302628" cy="36930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116" y="4651047"/>
                <a:ext cx="302628" cy="36930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lowchart: Manual Operation 6"/>
          <p:cNvSpPr/>
          <p:nvPr/>
        </p:nvSpPr>
        <p:spPr>
          <a:xfrm>
            <a:off x="2718984" y="5093002"/>
            <a:ext cx="822590" cy="53864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" fmla="*/ 5460 w 15460"/>
              <a:gd name="connsiteY0" fmla="*/ 0 h 10000"/>
              <a:gd name="connsiteX1" fmla="*/ 15460 w 15460"/>
              <a:gd name="connsiteY1" fmla="*/ 0 h 10000"/>
              <a:gd name="connsiteX2" fmla="*/ 13460 w 15460"/>
              <a:gd name="connsiteY2" fmla="*/ 10000 h 10000"/>
              <a:gd name="connsiteX3" fmla="*/ 0 w 15460"/>
              <a:gd name="connsiteY3" fmla="*/ 10000 h 10000"/>
              <a:gd name="connsiteX4" fmla="*/ 5460 w 15460"/>
              <a:gd name="connsiteY4" fmla="*/ 0 h 10000"/>
              <a:gd name="connsiteX0" fmla="*/ 5460 w 24492"/>
              <a:gd name="connsiteY0" fmla="*/ 0 h 10000"/>
              <a:gd name="connsiteX1" fmla="*/ 15460 w 24492"/>
              <a:gd name="connsiteY1" fmla="*/ 0 h 10000"/>
              <a:gd name="connsiteX2" fmla="*/ 24492 w 24492"/>
              <a:gd name="connsiteY2" fmla="*/ 9645 h 10000"/>
              <a:gd name="connsiteX3" fmla="*/ 0 w 24492"/>
              <a:gd name="connsiteY3" fmla="*/ 10000 h 10000"/>
              <a:gd name="connsiteX4" fmla="*/ 5460 w 24492"/>
              <a:gd name="connsiteY4" fmla="*/ 0 h 10000"/>
              <a:gd name="connsiteX0" fmla="*/ 5460 w 21794"/>
              <a:gd name="connsiteY0" fmla="*/ 0 h 10000"/>
              <a:gd name="connsiteX1" fmla="*/ 15460 w 21794"/>
              <a:gd name="connsiteY1" fmla="*/ 0 h 10000"/>
              <a:gd name="connsiteX2" fmla="*/ 21794 w 21794"/>
              <a:gd name="connsiteY2" fmla="*/ 9645 h 10000"/>
              <a:gd name="connsiteX3" fmla="*/ 0 w 21794"/>
              <a:gd name="connsiteY3" fmla="*/ 10000 h 10000"/>
              <a:gd name="connsiteX4" fmla="*/ 5460 w 21794"/>
              <a:gd name="connsiteY4" fmla="*/ 0 h 10000"/>
              <a:gd name="connsiteX0" fmla="*/ 5460 w 21794"/>
              <a:gd name="connsiteY0" fmla="*/ 0 h 10474"/>
              <a:gd name="connsiteX1" fmla="*/ 15460 w 21794"/>
              <a:gd name="connsiteY1" fmla="*/ 0 h 10474"/>
              <a:gd name="connsiteX2" fmla="*/ 21794 w 21794"/>
              <a:gd name="connsiteY2" fmla="*/ 10474 h 10474"/>
              <a:gd name="connsiteX3" fmla="*/ 0 w 21794"/>
              <a:gd name="connsiteY3" fmla="*/ 10000 h 10474"/>
              <a:gd name="connsiteX4" fmla="*/ 5460 w 21794"/>
              <a:gd name="connsiteY4" fmla="*/ 0 h 10474"/>
              <a:gd name="connsiteX0" fmla="*/ 5460 w 21794"/>
              <a:gd name="connsiteY0" fmla="*/ 0 h 10000"/>
              <a:gd name="connsiteX1" fmla="*/ 15460 w 21794"/>
              <a:gd name="connsiteY1" fmla="*/ 0 h 10000"/>
              <a:gd name="connsiteX2" fmla="*/ 21794 w 21794"/>
              <a:gd name="connsiteY2" fmla="*/ 9645 h 10000"/>
              <a:gd name="connsiteX3" fmla="*/ 0 w 21794"/>
              <a:gd name="connsiteY3" fmla="*/ 10000 h 10000"/>
              <a:gd name="connsiteX4" fmla="*/ 5460 w 21794"/>
              <a:gd name="connsiteY4" fmla="*/ 0 h 10000"/>
              <a:gd name="connsiteX0" fmla="*/ 5460 w 24611"/>
              <a:gd name="connsiteY0" fmla="*/ 0 h 10119"/>
              <a:gd name="connsiteX1" fmla="*/ 15460 w 24611"/>
              <a:gd name="connsiteY1" fmla="*/ 0 h 10119"/>
              <a:gd name="connsiteX2" fmla="*/ 24611 w 24611"/>
              <a:gd name="connsiteY2" fmla="*/ 10119 h 10119"/>
              <a:gd name="connsiteX3" fmla="*/ 0 w 24611"/>
              <a:gd name="connsiteY3" fmla="*/ 10000 h 10119"/>
              <a:gd name="connsiteX4" fmla="*/ 5460 w 24611"/>
              <a:gd name="connsiteY4" fmla="*/ 0 h 10119"/>
              <a:gd name="connsiteX0" fmla="*/ 5460 w 22599"/>
              <a:gd name="connsiteY0" fmla="*/ 0 h 10474"/>
              <a:gd name="connsiteX1" fmla="*/ 15460 w 22599"/>
              <a:gd name="connsiteY1" fmla="*/ 0 h 10474"/>
              <a:gd name="connsiteX2" fmla="*/ 22599 w 22599"/>
              <a:gd name="connsiteY2" fmla="*/ 10474 h 10474"/>
              <a:gd name="connsiteX3" fmla="*/ 0 w 22599"/>
              <a:gd name="connsiteY3" fmla="*/ 10000 h 10474"/>
              <a:gd name="connsiteX4" fmla="*/ 5460 w 22599"/>
              <a:gd name="connsiteY4" fmla="*/ 0 h 10474"/>
              <a:gd name="connsiteX0" fmla="*/ 5460 w 22243"/>
              <a:gd name="connsiteY0" fmla="*/ 0 h 10000"/>
              <a:gd name="connsiteX1" fmla="*/ 15460 w 22243"/>
              <a:gd name="connsiteY1" fmla="*/ 0 h 10000"/>
              <a:gd name="connsiteX2" fmla="*/ 22243 w 22243"/>
              <a:gd name="connsiteY2" fmla="*/ 9874 h 10000"/>
              <a:gd name="connsiteX3" fmla="*/ 0 w 22243"/>
              <a:gd name="connsiteY3" fmla="*/ 10000 h 10000"/>
              <a:gd name="connsiteX4" fmla="*/ 5460 w 22243"/>
              <a:gd name="connsiteY4" fmla="*/ 0 h 10000"/>
              <a:gd name="connsiteX0" fmla="*/ 5460 w 22752"/>
              <a:gd name="connsiteY0" fmla="*/ 0 h 10049"/>
              <a:gd name="connsiteX1" fmla="*/ 15460 w 22752"/>
              <a:gd name="connsiteY1" fmla="*/ 0 h 10049"/>
              <a:gd name="connsiteX2" fmla="*/ 22752 w 22752"/>
              <a:gd name="connsiteY2" fmla="*/ 10049 h 10049"/>
              <a:gd name="connsiteX3" fmla="*/ 0 w 22752"/>
              <a:gd name="connsiteY3" fmla="*/ 10000 h 10049"/>
              <a:gd name="connsiteX4" fmla="*/ 5460 w 22752"/>
              <a:gd name="connsiteY4" fmla="*/ 0 h 10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52" h="10049">
                <a:moveTo>
                  <a:pt x="5460" y="0"/>
                </a:moveTo>
                <a:lnTo>
                  <a:pt x="15460" y="0"/>
                </a:lnTo>
                <a:lnTo>
                  <a:pt x="22752" y="10049"/>
                </a:lnTo>
                <a:lnTo>
                  <a:pt x="0" y="10000"/>
                </a:lnTo>
                <a:lnTo>
                  <a:pt x="5460" y="0"/>
                </a:lnTo>
                <a:close/>
              </a:path>
            </a:pathLst>
          </a:cu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2958632" y="4651047"/>
                <a:ext cx="288032" cy="36930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8632" y="4651047"/>
                <a:ext cx="288032" cy="36930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lowchart: Manual Operation 6"/>
          <p:cNvSpPr/>
          <p:nvPr/>
        </p:nvSpPr>
        <p:spPr>
          <a:xfrm>
            <a:off x="3735766" y="5093002"/>
            <a:ext cx="822590" cy="53864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" fmla="*/ 5460 w 15460"/>
              <a:gd name="connsiteY0" fmla="*/ 0 h 10000"/>
              <a:gd name="connsiteX1" fmla="*/ 15460 w 15460"/>
              <a:gd name="connsiteY1" fmla="*/ 0 h 10000"/>
              <a:gd name="connsiteX2" fmla="*/ 13460 w 15460"/>
              <a:gd name="connsiteY2" fmla="*/ 10000 h 10000"/>
              <a:gd name="connsiteX3" fmla="*/ 0 w 15460"/>
              <a:gd name="connsiteY3" fmla="*/ 10000 h 10000"/>
              <a:gd name="connsiteX4" fmla="*/ 5460 w 15460"/>
              <a:gd name="connsiteY4" fmla="*/ 0 h 10000"/>
              <a:gd name="connsiteX0" fmla="*/ 5460 w 24492"/>
              <a:gd name="connsiteY0" fmla="*/ 0 h 10000"/>
              <a:gd name="connsiteX1" fmla="*/ 15460 w 24492"/>
              <a:gd name="connsiteY1" fmla="*/ 0 h 10000"/>
              <a:gd name="connsiteX2" fmla="*/ 24492 w 24492"/>
              <a:gd name="connsiteY2" fmla="*/ 9645 h 10000"/>
              <a:gd name="connsiteX3" fmla="*/ 0 w 24492"/>
              <a:gd name="connsiteY3" fmla="*/ 10000 h 10000"/>
              <a:gd name="connsiteX4" fmla="*/ 5460 w 24492"/>
              <a:gd name="connsiteY4" fmla="*/ 0 h 10000"/>
              <a:gd name="connsiteX0" fmla="*/ 5460 w 21794"/>
              <a:gd name="connsiteY0" fmla="*/ 0 h 10000"/>
              <a:gd name="connsiteX1" fmla="*/ 15460 w 21794"/>
              <a:gd name="connsiteY1" fmla="*/ 0 h 10000"/>
              <a:gd name="connsiteX2" fmla="*/ 21794 w 21794"/>
              <a:gd name="connsiteY2" fmla="*/ 9645 h 10000"/>
              <a:gd name="connsiteX3" fmla="*/ 0 w 21794"/>
              <a:gd name="connsiteY3" fmla="*/ 10000 h 10000"/>
              <a:gd name="connsiteX4" fmla="*/ 5460 w 21794"/>
              <a:gd name="connsiteY4" fmla="*/ 0 h 10000"/>
              <a:gd name="connsiteX0" fmla="*/ 5460 w 21794"/>
              <a:gd name="connsiteY0" fmla="*/ 0 h 10474"/>
              <a:gd name="connsiteX1" fmla="*/ 15460 w 21794"/>
              <a:gd name="connsiteY1" fmla="*/ 0 h 10474"/>
              <a:gd name="connsiteX2" fmla="*/ 21794 w 21794"/>
              <a:gd name="connsiteY2" fmla="*/ 10474 h 10474"/>
              <a:gd name="connsiteX3" fmla="*/ 0 w 21794"/>
              <a:gd name="connsiteY3" fmla="*/ 10000 h 10474"/>
              <a:gd name="connsiteX4" fmla="*/ 5460 w 21794"/>
              <a:gd name="connsiteY4" fmla="*/ 0 h 10474"/>
              <a:gd name="connsiteX0" fmla="*/ 5460 w 21794"/>
              <a:gd name="connsiteY0" fmla="*/ 0 h 10000"/>
              <a:gd name="connsiteX1" fmla="*/ 15460 w 21794"/>
              <a:gd name="connsiteY1" fmla="*/ 0 h 10000"/>
              <a:gd name="connsiteX2" fmla="*/ 21794 w 21794"/>
              <a:gd name="connsiteY2" fmla="*/ 9645 h 10000"/>
              <a:gd name="connsiteX3" fmla="*/ 0 w 21794"/>
              <a:gd name="connsiteY3" fmla="*/ 10000 h 10000"/>
              <a:gd name="connsiteX4" fmla="*/ 5460 w 21794"/>
              <a:gd name="connsiteY4" fmla="*/ 0 h 10000"/>
              <a:gd name="connsiteX0" fmla="*/ 5460 w 24611"/>
              <a:gd name="connsiteY0" fmla="*/ 0 h 10119"/>
              <a:gd name="connsiteX1" fmla="*/ 15460 w 24611"/>
              <a:gd name="connsiteY1" fmla="*/ 0 h 10119"/>
              <a:gd name="connsiteX2" fmla="*/ 24611 w 24611"/>
              <a:gd name="connsiteY2" fmla="*/ 10119 h 10119"/>
              <a:gd name="connsiteX3" fmla="*/ 0 w 24611"/>
              <a:gd name="connsiteY3" fmla="*/ 10000 h 10119"/>
              <a:gd name="connsiteX4" fmla="*/ 5460 w 24611"/>
              <a:gd name="connsiteY4" fmla="*/ 0 h 10119"/>
              <a:gd name="connsiteX0" fmla="*/ 5460 w 22599"/>
              <a:gd name="connsiteY0" fmla="*/ 0 h 10474"/>
              <a:gd name="connsiteX1" fmla="*/ 15460 w 22599"/>
              <a:gd name="connsiteY1" fmla="*/ 0 h 10474"/>
              <a:gd name="connsiteX2" fmla="*/ 22599 w 22599"/>
              <a:gd name="connsiteY2" fmla="*/ 10474 h 10474"/>
              <a:gd name="connsiteX3" fmla="*/ 0 w 22599"/>
              <a:gd name="connsiteY3" fmla="*/ 10000 h 10474"/>
              <a:gd name="connsiteX4" fmla="*/ 5460 w 22599"/>
              <a:gd name="connsiteY4" fmla="*/ 0 h 10474"/>
              <a:gd name="connsiteX0" fmla="*/ 5460 w 22243"/>
              <a:gd name="connsiteY0" fmla="*/ 0 h 10000"/>
              <a:gd name="connsiteX1" fmla="*/ 15460 w 22243"/>
              <a:gd name="connsiteY1" fmla="*/ 0 h 10000"/>
              <a:gd name="connsiteX2" fmla="*/ 22243 w 22243"/>
              <a:gd name="connsiteY2" fmla="*/ 9874 h 10000"/>
              <a:gd name="connsiteX3" fmla="*/ 0 w 22243"/>
              <a:gd name="connsiteY3" fmla="*/ 10000 h 10000"/>
              <a:gd name="connsiteX4" fmla="*/ 5460 w 22243"/>
              <a:gd name="connsiteY4" fmla="*/ 0 h 10000"/>
              <a:gd name="connsiteX0" fmla="*/ 5460 w 22752"/>
              <a:gd name="connsiteY0" fmla="*/ 0 h 10049"/>
              <a:gd name="connsiteX1" fmla="*/ 15460 w 22752"/>
              <a:gd name="connsiteY1" fmla="*/ 0 h 10049"/>
              <a:gd name="connsiteX2" fmla="*/ 22752 w 22752"/>
              <a:gd name="connsiteY2" fmla="*/ 10049 h 10049"/>
              <a:gd name="connsiteX3" fmla="*/ 0 w 22752"/>
              <a:gd name="connsiteY3" fmla="*/ 10000 h 10049"/>
              <a:gd name="connsiteX4" fmla="*/ 5460 w 22752"/>
              <a:gd name="connsiteY4" fmla="*/ 0 h 10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52" h="10049">
                <a:moveTo>
                  <a:pt x="5460" y="0"/>
                </a:moveTo>
                <a:lnTo>
                  <a:pt x="15460" y="0"/>
                </a:lnTo>
                <a:lnTo>
                  <a:pt x="22752" y="10049"/>
                </a:lnTo>
                <a:lnTo>
                  <a:pt x="0" y="10000"/>
                </a:lnTo>
                <a:lnTo>
                  <a:pt x="5460" y="0"/>
                </a:lnTo>
                <a:close/>
              </a:path>
            </a:pathLst>
          </a:cu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3952148" y="4651047"/>
                <a:ext cx="288032" cy="36930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148" y="4651047"/>
                <a:ext cx="288032" cy="36930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Flowchart: Manual Operation 6"/>
          <p:cNvSpPr/>
          <p:nvPr/>
        </p:nvSpPr>
        <p:spPr>
          <a:xfrm>
            <a:off x="4729163" y="5093002"/>
            <a:ext cx="822590" cy="53864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" fmla="*/ 5460 w 15460"/>
              <a:gd name="connsiteY0" fmla="*/ 0 h 10000"/>
              <a:gd name="connsiteX1" fmla="*/ 15460 w 15460"/>
              <a:gd name="connsiteY1" fmla="*/ 0 h 10000"/>
              <a:gd name="connsiteX2" fmla="*/ 13460 w 15460"/>
              <a:gd name="connsiteY2" fmla="*/ 10000 h 10000"/>
              <a:gd name="connsiteX3" fmla="*/ 0 w 15460"/>
              <a:gd name="connsiteY3" fmla="*/ 10000 h 10000"/>
              <a:gd name="connsiteX4" fmla="*/ 5460 w 15460"/>
              <a:gd name="connsiteY4" fmla="*/ 0 h 10000"/>
              <a:gd name="connsiteX0" fmla="*/ 5460 w 24492"/>
              <a:gd name="connsiteY0" fmla="*/ 0 h 10000"/>
              <a:gd name="connsiteX1" fmla="*/ 15460 w 24492"/>
              <a:gd name="connsiteY1" fmla="*/ 0 h 10000"/>
              <a:gd name="connsiteX2" fmla="*/ 24492 w 24492"/>
              <a:gd name="connsiteY2" fmla="*/ 9645 h 10000"/>
              <a:gd name="connsiteX3" fmla="*/ 0 w 24492"/>
              <a:gd name="connsiteY3" fmla="*/ 10000 h 10000"/>
              <a:gd name="connsiteX4" fmla="*/ 5460 w 24492"/>
              <a:gd name="connsiteY4" fmla="*/ 0 h 10000"/>
              <a:gd name="connsiteX0" fmla="*/ 5460 w 21794"/>
              <a:gd name="connsiteY0" fmla="*/ 0 h 10000"/>
              <a:gd name="connsiteX1" fmla="*/ 15460 w 21794"/>
              <a:gd name="connsiteY1" fmla="*/ 0 h 10000"/>
              <a:gd name="connsiteX2" fmla="*/ 21794 w 21794"/>
              <a:gd name="connsiteY2" fmla="*/ 9645 h 10000"/>
              <a:gd name="connsiteX3" fmla="*/ 0 w 21794"/>
              <a:gd name="connsiteY3" fmla="*/ 10000 h 10000"/>
              <a:gd name="connsiteX4" fmla="*/ 5460 w 21794"/>
              <a:gd name="connsiteY4" fmla="*/ 0 h 10000"/>
              <a:gd name="connsiteX0" fmla="*/ 5460 w 21794"/>
              <a:gd name="connsiteY0" fmla="*/ 0 h 10474"/>
              <a:gd name="connsiteX1" fmla="*/ 15460 w 21794"/>
              <a:gd name="connsiteY1" fmla="*/ 0 h 10474"/>
              <a:gd name="connsiteX2" fmla="*/ 21794 w 21794"/>
              <a:gd name="connsiteY2" fmla="*/ 10474 h 10474"/>
              <a:gd name="connsiteX3" fmla="*/ 0 w 21794"/>
              <a:gd name="connsiteY3" fmla="*/ 10000 h 10474"/>
              <a:gd name="connsiteX4" fmla="*/ 5460 w 21794"/>
              <a:gd name="connsiteY4" fmla="*/ 0 h 10474"/>
              <a:gd name="connsiteX0" fmla="*/ 5460 w 21794"/>
              <a:gd name="connsiteY0" fmla="*/ 0 h 10000"/>
              <a:gd name="connsiteX1" fmla="*/ 15460 w 21794"/>
              <a:gd name="connsiteY1" fmla="*/ 0 h 10000"/>
              <a:gd name="connsiteX2" fmla="*/ 21794 w 21794"/>
              <a:gd name="connsiteY2" fmla="*/ 9645 h 10000"/>
              <a:gd name="connsiteX3" fmla="*/ 0 w 21794"/>
              <a:gd name="connsiteY3" fmla="*/ 10000 h 10000"/>
              <a:gd name="connsiteX4" fmla="*/ 5460 w 21794"/>
              <a:gd name="connsiteY4" fmla="*/ 0 h 10000"/>
              <a:gd name="connsiteX0" fmla="*/ 5460 w 24611"/>
              <a:gd name="connsiteY0" fmla="*/ 0 h 10119"/>
              <a:gd name="connsiteX1" fmla="*/ 15460 w 24611"/>
              <a:gd name="connsiteY1" fmla="*/ 0 h 10119"/>
              <a:gd name="connsiteX2" fmla="*/ 24611 w 24611"/>
              <a:gd name="connsiteY2" fmla="*/ 10119 h 10119"/>
              <a:gd name="connsiteX3" fmla="*/ 0 w 24611"/>
              <a:gd name="connsiteY3" fmla="*/ 10000 h 10119"/>
              <a:gd name="connsiteX4" fmla="*/ 5460 w 24611"/>
              <a:gd name="connsiteY4" fmla="*/ 0 h 10119"/>
              <a:gd name="connsiteX0" fmla="*/ 5460 w 22599"/>
              <a:gd name="connsiteY0" fmla="*/ 0 h 10474"/>
              <a:gd name="connsiteX1" fmla="*/ 15460 w 22599"/>
              <a:gd name="connsiteY1" fmla="*/ 0 h 10474"/>
              <a:gd name="connsiteX2" fmla="*/ 22599 w 22599"/>
              <a:gd name="connsiteY2" fmla="*/ 10474 h 10474"/>
              <a:gd name="connsiteX3" fmla="*/ 0 w 22599"/>
              <a:gd name="connsiteY3" fmla="*/ 10000 h 10474"/>
              <a:gd name="connsiteX4" fmla="*/ 5460 w 22599"/>
              <a:gd name="connsiteY4" fmla="*/ 0 h 10474"/>
              <a:gd name="connsiteX0" fmla="*/ 5460 w 22243"/>
              <a:gd name="connsiteY0" fmla="*/ 0 h 10000"/>
              <a:gd name="connsiteX1" fmla="*/ 15460 w 22243"/>
              <a:gd name="connsiteY1" fmla="*/ 0 h 10000"/>
              <a:gd name="connsiteX2" fmla="*/ 22243 w 22243"/>
              <a:gd name="connsiteY2" fmla="*/ 9874 h 10000"/>
              <a:gd name="connsiteX3" fmla="*/ 0 w 22243"/>
              <a:gd name="connsiteY3" fmla="*/ 10000 h 10000"/>
              <a:gd name="connsiteX4" fmla="*/ 5460 w 22243"/>
              <a:gd name="connsiteY4" fmla="*/ 0 h 10000"/>
              <a:gd name="connsiteX0" fmla="*/ 5460 w 22752"/>
              <a:gd name="connsiteY0" fmla="*/ 0 h 10049"/>
              <a:gd name="connsiteX1" fmla="*/ 15460 w 22752"/>
              <a:gd name="connsiteY1" fmla="*/ 0 h 10049"/>
              <a:gd name="connsiteX2" fmla="*/ 22752 w 22752"/>
              <a:gd name="connsiteY2" fmla="*/ 10049 h 10049"/>
              <a:gd name="connsiteX3" fmla="*/ 0 w 22752"/>
              <a:gd name="connsiteY3" fmla="*/ 10000 h 10049"/>
              <a:gd name="connsiteX4" fmla="*/ 5460 w 22752"/>
              <a:gd name="connsiteY4" fmla="*/ 0 h 10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52" h="10049">
                <a:moveTo>
                  <a:pt x="5460" y="0"/>
                </a:moveTo>
                <a:lnTo>
                  <a:pt x="15460" y="0"/>
                </a:lnTo>
                <a:lnTo>
                  <a:pt x="22752" y="10049"/>
                </a:lnTo>
                <a:lnTo>
                  <a:pt x="0" y="10000"/>
                </a:lnTo>
                <a:lnTo>
                  <a:pt x="5460" y="0"/>
                </a:lnTo>
                <a:close/>
              </a:path>
            </a:pathLst>
          </a:cu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4945664" y="4651047"/>
                <a:ext cx="288032" cy="36930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5664" y="4651047"/>
                <a:ext cx="288032" cy="36930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Flowchart: Manual Operation 6"/>
          <p:cNvSpPr/>
          <p:nvPr/>
        </p:nvSpPr>
        <p:spPr>
          <a:xfrm>
            <a:off x="5722560" y="5093002"/>
            <a:ext cx="822590" cy="53864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" fmla="*/ 5460 w 15460"/>
              <a:gd name="connsiteY0" fmla="*/ 0 h 10000"/>
              <a:gd name="connsiteX1" fmla="*/ 15460 w 15460"/>
              <a:gd name="connsiteY1" fmla="*/ 0 h 10000"/>
              <a:gd name="connsiteX2" fmla="*/ 13460 w 15460"/>
              <a:gd name="connsiteY2" fmla="*/ 10000 h 10000"/>
              <a:gd name="connsiteX3" fmla="*/ 0 w 15460"/>
              <a:gd name="connsiteY3" fmla="*/ 10000 h 10000"/>
              <a:gd name="connsiteX4" fmla="*/ 5460 w 15460"/>
              <a:gd name="connsiteY4" fmla="*/ 0 h 10000"/>
              <a:gd name="connsiteX0" fmla="*/ 5460 w 24492"/>
              <a:gd name="connsiteY0" fmla="*/ 0 h 10000"/>
              <a:gd name="connsiteX1" fmla="*/ 15460 w 24492"/>
              <a:gd name="connsiteY1" fmla="*/ 0 h 10000"/>
              <a:gd name="connsiteX2" fmla="*/ 24492 w 24492"/>
              <a:gd name="connsiteY2" fmla="*/ 9645 h 10000"/>
              <a:gd name="connsiteX3" fmla="*/ 0 w 24492"/>
              <a:gd name="connsiteY3" fmla="*/ 10000 h 10000"/>
              <a:gd name="connsiteX4" fmla="*/ 5460 w 24492"/>
              <a:gd name="connsiteY4" fmla="*/ 0 h 10000"/>
              <a:gd name="connsiteX0" fmla="*/ 5460 w 21794"/>
              <a:gd name="connsiteY0" fmla="*/ 0 h 10000"/>
              <a:gd name="connsiteX1" fmla="*/ 15460 w 21794"/>
              <a:gd name="connsiteY1" fmla="*/ 0 h 10000"/>
              <a:gd name="connsiteX2" fmla="*/ 21794 w 21794"/>
              <a:gd name="connsiteY2" fmla="*/ 9645 h 10000"/>
              <a:gd name="connsiteX3" fmla="*/ 0 w 21794"/>
              <a:gd name="connsiteY3" fmla="*/ 10000 h 10000"/>
              <a:gd name="connsiteX4" fmla="*/ 5460 w 21794"/>
              <a:gd name="connsiteY4" fmla="*/ 0 h 10000"/>
              <a:gd name="connsiteX0" fmla="*/ 5460 w 21794"/>
              <a:gd name="connsiteY0" fmla="*/ 0 h 10474"/>
              <a:gd name="connsiteX1" fmla="*/ 15460 w 21794"/>
              <a:gd name="connsiteY1" fmla="*/ 0 h 10474"/>
              <a:gd name="connsiteX2" fmla="*/ 21794 w 21794"/>
              <a:gd name="connsiteY2" fmla="*/ 10474 h 10474"/>
              <a:gd name="connsiteX3" fmla="*/ 0 w 21794"/>
              <a:gd name="connsiteY3" fmla="*/ 10000 h 10474"/>
              <a:gd name="connsiteX4" fmla="*/ 5460 w 21794"/>
              <a:gd name="connsiteY4" fmla="*/ 0 h 10474"/>
              <a:gd name="connsiteX0" fmla="*/ 5460 w 21794"/>
              <a:gd name="connsiteY0" fmla="*/ 0 h 10000"/>
              <a:gd name="connsiteX1" fmla="*/ 15460 w 21794"/>
              <a:gd name="connsiteY1" fmla="*/ 0 h 10000"/>
              <a:gd name="connsiteX2" fmla="*/ 21794 w 21794"/>
              <a:gd name="connsiteY2" fmla="*/ 9645 h 10000"/>
              <a:gd name="connsiteX3" fmla="*/ 0 w 21794"/>
              <a:gd name="connsiteY3" fmla="*/ 10000 h 10000"/>
              <a:gd name="connsiteX4" fmla="*/ 5460 w 21794"/>
              <a:gd name="connsiteY4" fmla="*/ 0 h 10000"/>
              <a:gd name="connsiteX0" fmla="*/ 5460 w 24611"/>
              <a:gd name="connsiteY0" fmla="*/ 0 h 10119"/>
              <a:gd name="connsiteX1" fmla="*/ 15460 w 24611"/>
              <a:gd name="connsiteY1" fmla="*/ 0 h 10119"/>
              <a:gd name="connsiteX2" fmla="*/ 24611 w 24611"/>
              <a:gd name="connsiteY2" fmla="*/ 10119 h 10119"/>
              <a:gd name="connsiteX3" fmla="*/ 0 w 24611"/>
              <a:gd name="connsiteY3" fmla="*/ 10000 h 10119"/>
              <a:gd name="connsiteX4" fmla="*/ 5460 w 24611"/>
              <a:gd name="connsiteY4" fmla="*/ 0 h 10119"/>
              <a:gd name="connsiteX0" fmla="*/ 5460 w 22599"/>
              <a:gd name="connsiteY0" fmla="*/ 0 h 10474"/>
              <a:gd name="connsiteX1" fmla="*/ 15460 w 22599"/>
              <a:gd name="connsiteY1" fmla="*/ 0 h 10474"/>
              <a:gd name="connsiteX2" fmla="*/ 22599 w 22599"/>
              <a:gd name="connsiteY2" fmla="*/ 10474 h 10474"/>
              <a:gd name="connsiteX3" fmla="*/ 0 w 22599"/>
              <a:gd name="connsiteY3" fmla="*/ 10000 h 10474"/>
              <a:gd name="connsiteX4" fmla="*/ 5460 w 22599"/>
              <a:gd name="connsiteY4" fmla="*/ 0 h 10474"/>
              <a:gd name="connsiteX0" fmla="*/ 5460 w 22243"/>
              <a:gd name="connsiteY0" fmla="*/ 0 h 10000"/>
              <a:gd name="connsiteX1" fmla="*/ 15460 w 22243"/>
              <a:gd name="connsiteY1" fmla="*/ 0 h 10000"/>
              <a:gd name="connsiteX2" fmla="*/ 22243 w 22243"/>
              <a:gd name="connsiteY2" fmla="*/ 9874 h 10000"/>
              <a:gd name="connsiteX3" fmla="*/ 0 w 22243"/>
              <a:gd name="connsiteY3" fmla="*/ 10000 h 10000"/>
              <a:gd name="connsiteX4" fmla="*/ 5460 w 22243"/>
              <a:gd name="connsiteY4" fmla="*/ 0 h 10000"/>
              <a:gd name="connsiteX0" fmla="*/ 5460 w 22752"/>
              <a:gd name="connsiteY0" fmla="*/ 0 h 10049"/>
              <a:gd name="connsiteX1" fmla="*/ 15460 w 22752"/>
              <a:gd name="connsiteY1" fmla="*/ 0 h 10049"/>
              <a:gd name="connsiteX2" fmla="*/ 22752 w 22752"/>
              <a:gd name="connsiteY2" fmla="*/ 10049 h 10049"/>
              <a:gd name="connsiteX3" fmla="*/ 0 w 22752"/>
              <a:gd name="connsiteY3" fmla="*/ 10000 h 10049"/>
              <a:gd name="connsiteX4" fmla="*/ 5460 w 22752"/>
              <a:gd name="connsiteY4" fmla="*/ 0 h 10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52" h="10049">
                <a:moveTo>
                  <a:pt x="5460" y="0"/>
                </a:moveTo>
                <a:lnTo>
                  <a:pt x="15460" y="0"/>
                </a:lnTo>
                <a:lnTo>
                  <a:pt x="22752" y="10049"/>
                </a:lnTo>
                <a:lnTo>
                  <a:pt x="0" y="10000"/>
                </a:lnTo>
                <a:lnTo>
                  <a:pt x="5460" y="0"/>
                </a:lnTo>
                <a:close/>
              </a:path>
            </a:pathLst>
          </a:cu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5939180" y="4651047"/>
                <a:ext cx="288032" cy="36930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9180" y="4651047"/>
                <a:ext cx="288032" cy="36930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Flowchart: Manual Operation 6"/>
          <p:cNvSpPr/>
          <p:nvPr/>
        </p:nvSpPr>
        <p:spPr>
          <a:xfrm>
            <a:off x="6715956" y="5117140"/>
            <a:ext cx="822590" cy="53864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" fmla="*/ 5460 w 15460"/>
              <a:gd name="connsiteY0" fmla="*/ 0 h 10000"/>
              <a:gd name="connsiteX1" fmla="*/ 15460 w 15460"/>
              <a:gd name="connsiteY1" fmla="*/ 0 h 10000"/>
              <a:gd name="connsiteX2" fmla="*/ 13460 w 15460"/>
              <a:gd name="connsiteY2" fmla="*/ 10000 h 10000"/>
              <a:gd name="connsiteX3" fmla="*/ 0 w 15460"/>
              <a:gd name="connsiteY3" fmla="*/ 10000 h 10000"/>
              <a:gd name="connsiteX4" fmla="*/ 5460 w 15460"/>
              <a:gd name="connsiteY4" fmla="*/ 0 h 10000"/>
              <a:gd name="connsiteX0" fmla="*/ 5460 w 24492"/>
              <a:gd name="connsiteY0" fmla="*/ 0 h 10000"/>
              <a:gd name="connsiteX1" fmla="*/ 15460 w 24492"/>
              <a:gd name="connsiteY1" fmla="*/ 0 h 10000"/>
              <a:gd name="connsiteX2" fmla="*/ 24492 w 24492"/>
              <a:gd name="connsiteY2" fmla="*/ 9645 h 10000"/>
              <a:gd name="connsiteX3" fmla="*/ 0 w 24492"/>
              <a:gd name="connsiteY3" fmla="*/ 10000 h 10000"/>
              <a:gd name="connsiteX4" fmla="*/ 5460 w 24492"/>
              <a:gd name="connsiteY4" fmla="*/ 0 h 10000"/>
              <a:gd name="connsiteX0" fmla="*/ 5460 w 21794"/>
              <a:gd name="connsiteY0" fmla="*/ 0 h 10000"/>
              <a:gd name="connsiteX1" fmla="*/ 15460 w 21794"/>
              <a:gd name="connsiteY1" fmla="*/ 0 h 10000"/>
              <a:gd name="connsiteX2" fmla="*/ 21794 w 21794"/>
              <a:gd name="connsiteY2" fmla="*/ 9645 h 10000"/>
              <a:gd name="connsiteX3" fmla="*/ 0 w 21794"/>
              <a:gd name="connsiteY3" fmla="*/ 10000 h 10000"/>
              <a:gd name="connsiteX4" fmla="*/ 5460 w 21794"/>
              <a:gd name="connsiteY4" fmla="*/ 0 h 10000"/>
              <a:gd name="connsiteX0" fmla="*/ 5460 w 21794"/>
              <a:gd name="connsiteY0" fmla="*/ 0 h 10474"/>
              <a:gd name="connsiteX1" fmla="*/ 15460 w 21794"/>
              <a:gd name="connsiteY1" fmla="*/ 0 h 10474"/>
              <a:gd name="connsiteX2" fmla="*/ 21794 w 21794"/>
              <a:gd name="connsiteY2" fmla="*/ 10474 h 10474"/>
              <a:gd name="connsiteX3" fmla="*/ 0 w 21794"/>
              <a:gd name="connsiteY3" fmla="*/ 10000 h 10474"/>
              <a:gd name="connsiteX4" fmla="*/ 5460 w 21794"/>
              <a:gd name="connsiteY4" fmla="*/ 0 h 10474"/>
              <a:gd name="connsiteX0" fmla="*/ 5460 w 21794"/>
              <a:gd name="connsiteY0" fmla="*/ 0 h 10000"/>
              <a:gd name="connsiteX1" fmla="*/ 15460 w 21794"/>
              <a:gd name="connsiteY1" fmla="*/ 0 h 10000"/>
              <a:gd name="connsiteX2" fmla="*/ 21794 w 21794"/>
              <a:gd name="connsiteY2" fmla="*/ 9645 h 10000"/>
              <a:gd name="connsiteX3" fmla="*/ 0 w 21794"/>
              <a:gd name="connsiteY3" fmla="*/ 10000 h 10000"/>
              <a:gd name="connsiteX4" fmla="*/ 5460 w 21794"/>
              <a:gd name="connsiteY4" fmla="*/ 0 h 10000"/>
              <a:gd name="connsiteX0" fmla="*/ 5460 w 24611"/>
              <a:gd name="connsiteY0" fmla="*/ 0 h 10119"/>
              <a:gd name="connsiteX1" fmla="*/ 15460 w 24611"/>
              <a:gd name="connsiteY1" fmla="*/ 0 h 10119"/>
              <a:gd name="connsiteX2" fmla="*/ 24611 w 24611"/>
              <a:gd name="connsiteY2" fmla="*/ 10119 h 10119"/>
              <a:gd name="connsiteX3" fmla="*/ 0 w 24611"/>
              <a:gd name="connsiteY3" fmla="*/ 10000 h 10119"/>
              <a:gd name="connsiteX4" fmla="*/ 5460 w 24611"/>
              <a:gd name="connsiteY4" fmla="*/ 0 h 10119"/>
              <a:gd name="connsiteX0" fmla="*/ 5460 w 22599"/>
              <a:gd name="connsiteY0" fmla="*/ 0 h 10474"/>
              <a:gd name="connsiteX1" fmla="*/ 15460 w 22599"/>
              <a:gd name="connsiteY1" fmla="*/ 0 h 10474"/>
              <a:gd name="connsiteX2" fmla="*/ 22599 w 22599"/>
              <a:gd name="connsiteY2" fmla="*/ 10474 h 10474"/>
              <a:gd name="connsiteX3" fmla="*/ 0 w 22599"/>
              <a:gd name="connsiteY3" fmla="*/ 10000 h 10474"/>
              <a:gd name="connsiteX4" fmla="*/ 5460 w 22599"/>
              <a:gd name="connsiteY4" fmla="*/ 0 h 10474"/>
              <a:gd name="connsiteX0" fmla="*/ 5460 w 22243"/>
              <a:gd name="connsiteY0" fmla="*/ 0 h 10000"/>
              <a:gd name="connsiteX1" fmla="*/ 15460 w 22243"/>
              <a:gd name="connsiteY1" fmla="*/ 0 h 10000"/>
              <a:gd name="connsiteX2" fmla="*/ 22243 w 22243"/>
              <a:gd name="connsiteY2" fmla="*/ 9874 h 10000"/>
              <a:gd name="connsiteX3" fmla="*/ 0 w 22243"/>
              <a:gd name="connsiteY3" fmla="*/ 10000 h 10000"/>
              <a:gd name="connsiteX4" fmla="*/ 5460 w 22243"/>
              <a:gd name="connsiteY4" fmla="*/ 0 h 10000"/>
              <a:gd name="connsiteX0" fmla="*/ 5460 w 22752"/>
              <a:gd name="connsiteY0" fmla="*/ 0 h 10049"/>
              <a:gd name="connsiteX1" fmla="*/ 15460 w 22752"/>
              <a:gd name="connsiteY1" fmla="*/ 0 h 10049"/>
              <a:gd name="connsiteX2" fmla="*/ 22752 w 22752"/>
              <a:gd name="connsiteY2" fmla="*/ 10049 h 10049"/>
              <a:gd name="connsiteX3" fmla="*/ 0 w 22752"/>
              <a:gd name="connsiteY3" fmla="*/ 10000 h 10049"/>
              <a:gd name="connsiteX4" fmla="*/ 5460 w 22752"/>
              <a:gd name="connsiteY4" fmla="*/ 0 h 10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52" h="10049">
                <a:moveTo>
                  <a:pt x="5460" y="0"/>
                </a:moveTo>
                <a:lnTo>
                  <a:pt x="15460" y="0"/>
                </a:lnTo>
                <a:lnTo>
                  <a:pt x="22752" y="10049"/>
                </a:lnTo>
                <a:lnTo>
                  <a:pt x="0" y="10000"/>
                </a:lnTo>
                <a:lnTo>
                  <a:pt x="5460" y="0"/>
                </a:lnTo>
                <a:close/>
              </a:path>
            </a:pathLst>
          </a:cu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6932696" y="4651047"/>
                <a:ext cx="288032" cy="36930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2696" y="4651047"/>
                <a:ext cx="288032" cy="36930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Flowchart: Manual Operation 6"/>
          <p:cNvSpPr/>
          <p:nvPr/>
        </p:nvSpPr>
        <p:spPr>
          <a:xfrm>
            <a:off x="7710190" y="5117140"/>
            <a:ext cx="822590" cy="53864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" fmla="*/ 5460 w 15460"/>
              <a:gd name="connsiteY0" fmla="*/ 0 h 10000"/>
              <a:gd name="connsiteX1" fmla="*/ 15460 w 15460"/>
              <a:gd name="connsiteY1" fmla="*/ 0 h 10000"/>
              <a:gd name="connsiteX2" fmla="*/ 13460 w 15460"/>
              <a:gd name="connsiteY2" fmla="*/ 10000 h 10000"/>
              <a:gd name="connsiteX3" fmla="*/ 0 w 15460"/>
              <a:gd name="connsiteY3" fmla="*/ 10000 h 10000"/>
              <a:gd name="connsiteX4" fmla="*/ 5460 w 15460"/>
              <a:gd name="connsiteY4" fmla="*/ 0 h 10000"/>
              <a:gd name="connsiteX0" fmla="*/ 5460 w 24492"/>
              <a:gd name="connsiteY0" fmla="*/ 0 h 10000"/>
              <a:gd name="connsiteX1" fmla="*/ 15460 w 24492"/>
              <a:gd name="connsiteY1" fmla="*/ 0 h 10000"/>
              <a:gd name="connsiteX2" fmla="*/ 24492 w 24492"/>
              <a:gd name="connsiteY2" fmla="*/ 9645 h 10000"/>
              <a:gd name="connsiteX3" fmla="*/ 0 w 24492"/>
              <a:gd name="connsiteY3" fmla="*/ 10000 h 10000"/>
              <a:gd name="connsiteX4" fmla="*/ 5460 w 24492"/>
              <a:gd name="connsiteY4" fmla="*/ 0 h 10000"/>
              <a:gd name="connsiteX0" fmla="*/ 5460 w 21794"/>
              <a:gd name="connsiteY0" fmla="*/ 0 h 10000"/>
              <a:gd name="connsiteX1" fmla="*/ 15460 w 21794"/>
              <a:gd name="connsiteY1" fmla="*/ 0 h 10000"/>
              <a:gd name="connsiteX2" fmla="*/ 21794 w 21794"/>
              <a:gd name="connsiteY2" fmla="*/ 9645 h 10000"/>
              <a:gd name="connsiteX3" fmla="*/ 0 w 21794"/>
              <a:gd name="connsiteY3" fmla="*/ 10000 h 10000"/>
              <a:gd name="connsiteX4" fmla="*/ 5460 w 21794"/>
              <a:gd name="connsiteY4" fmla="*/ 0 h 10000"/>
              <a:gd name="connsiteX0" fmla="*/ 5460 w 21794"/>
              <a:gd name="connsiteY0" fmla="*/ 0 h 10474"/>
              <a:gd name="connsiteX1" fmla="*/ 15460 w 21794"/>
              <a:gd name="connsiteY1" fmla="*/ 0 h 10474"/>
              <a:gd name="connsiteX2" fmla="*/ 21794 w 21794"/>
              <a:gd name="connsiteY2" fmla="*/ 10474 h 10474"/>
              <a:gd name="connsiteX3" fmla="*/ 0 w 21794"/>
              <a:gd name="connsiteY3" fmla="*/ 10000 h 10474"/>
              <a:gd name="connsiteX4" fmla="*/ 5460 w 21794"/>
              <a:gd name="connsiteY4" fmla="*/ 0 h 10474"/>
              <a:gd name="connsiteX0" fmla="*/ 5460 w 21794"/>
              <a:gd name="connsiteY0" fmla="*/ 0 h 10000"/>
              <a:gd name="connsiteX1" fmla="*/ 15460 w 21794"/>
              <a:gd name="connsiteY1" fmla="*/ 0 h 10000"/>
              <a:gd name="connsiteX2" fmla="*/ 21794 w 21794"/>
              <a:gd name="connsiteY2" fmla="*/ 9645 h 10000"/>
              <a:gd name="connsiteX3" fmla="*/ 0 w 21794"/>
              <a:gd name="connsiteY3" fmla="*/ 10000 h 10000"/>
              <a:gd name="connsiteX4" fmla="*/ 5460 w 21794"/>
              <a:gd name="connsiteY4" fmla="*/ 0 h 10000"/>
              <a:gd name="connsiteX0" fmla="*/ 5460 w 24611"/>
              <a:gd name="connsiteY0" fmla="*/ 0 h 10119"/>
              <a:gd name="connsiteX1" fmla="*/ 15460 w 24611"/>
              <a:gd name="connsiteY1" fmla="*/ 0 h 10119"/>
              <a:gd name="connsiteX2" fmla="*/ 24611 w 24611"/>
              <a:gd name="connsiteY2" fmla="*/ 10119 h 10119"/>
              <a:gd name="connsiteX3" fmla="*/ 0 w 24611"/>
              <a:gd name="connsiteY3" fmla="*/ 10000 h 10119"/>
              <a:gd name="connsiteX4" fmla="*/ 5460 w 24611"/>
              <a:gd name="connsiteY4" fmla="*/ 0 h 10119"/>
              <a:gd name="connsiteX0" fmla="*/ 5460 w 22599"/>
              <a:gd name="connsiteY0" fmla="*/ 0 h 10474"/>
              <a:gd name="connsiteX1" fmla="*/ 15460 w 22599"/>
              <a:gd name="connsiteY1" fmla="*/ 0 h 10474"/>
              <a:gd name="connsiteX2" fmla="*/ 22599 w 22599"/>
              <a:gd name="connsiteY2" fmla="*/ 10474 h 10474"/>
              <a:gd name="connsiteX3" fmla="*/ 0 w 22599"/>
              <a:gd name="connsiteY3" fmla="*/ 10000 h 10474"/>
              <a:gd name="connsiteX4" fmla="*/ 5460 w 22599"/>
              <a:gd name="connsiteY4" fmla="*/ 0 h 10474"/>
              <a:gd name="connsiteX0" fmla="*/ 5460 w 22243"/>
              <a:gd name="connsiteY0" fmla="*/ 0 h 10000"/>
              <a:gd name="connsiteX1" fmla="*/ 15460 w 22243"/>
              <a:gd name="connsiteY1" fmla="*/ 0 h 10000"/>
              <a:gd name="connsiteX2" fmla="*/ 22243 w 22243"/>
              <a:gd name="connsiteY2" fmla="*/ 9874 h 10000"/>
              <a:gd name="connsiteX3" fmla="*/ 0 w 22243"/>
              <a:gd name="connsiteY3" fmla="*/ 10000 h 10000"/>
              <a:gd name="connsiteX4" fmla="*/ 5460 w 22243"/>
              <a:gd name="connsiteY4" fmla="*/ 0 h 10000"/>
              <a:gd name="connsiteX0" fmla="*/ 5460 w 22752"/>
              <a:gd name="connsiteY0" fmla="*/ 0 h 10049"/>
              <a:gd name="connsiteX1" fmla="*/ 15460 w 22752"/>
              <a:gd name="connsiteY1" fmla="*/ 0 h 10049"/>
              <a:gd name="connsiteX2" fmla="*/ 22752 w 22752"/>
              <a:gd name="connsiteY2" fmla="*/ 10049 h 10049"/>
              <a:gd name="connsiteX3" fmla="*/ 0 w 22752"/>
              <a:gd name="connsiteY3" fmla="*/ 10000 h 10049"/>
              <a:gd name="connsiteX4" fmla="*/ 5460 w 22752"/>
              <a:gd name="connsiteY4" fmla="*/ 0 h 10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52" h="10049">
                <a:moveTo>
                  <a:pt x="5460" y="0"/>
                </a:moveTo>
                <a:lnTo>
                  <a:pt x="15460" y="0"/>
                </a:lnTo>
                <a:lnTo>
                  <a:pt x="22752" y="10049"/>
                </a:lnTo>
                <a:lnTo>
                  <a:pt x="0" y="10000"/>
                </a:lnTo>
                <a:lnTo>
                  <a:pt x="5460" y="0"/>
                </a:lnTo>
                <a:close/>
              </a:path>
            </a:pathLst>
          </a:cu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7926214" y="4651047"/>
                <a:ext cx="288032" cy="36930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6214" y="4651047"/>
                <a:ext cx="288032" cy="369305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4370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>
          <a:xfrm>
            <a:off x="4517989" y="1709337"/>
            <a:ext cx="871159" cy="47318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6249684" y="2385206"/>
            <a:ext cx="876675" cy="47318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5136676" y="3115454"/>
            <a:ext cx="1152364" cy="47318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4897719" y="3888346"/>
            <a:ext cx="847767" cy="46013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5749976" y="3881286"/>
            <a:ext cx="879424" cy="46719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6876768" y="3121449"/>
            <a:ext cx="1108992" cy="46719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2834992" y="2366805"/>
            <a:ext cx="797267" cy="47595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13" y="115663"/>
            <a:ext cx="8951847" cy="922526"/>
          </a:xfrm>
        </p:spPr>
        <p:txBody>
          <a:bodyPr>
            <a:noAutofit/>
          </a:bodyPr>
          <a:lstStyle/>
          <a:p>
            <a:r>
              <a:rPr lang="en-US" sz="3600" dirty="0"/>
              <a:t>Better</a:t>
            </a:r>
            <a:r>
              <a:rPr lang="pl-PL" sz="3600" dirty="0"/>
              <a:t> </a:t>
            </a:r>
            <a:r>
              <a:rPr lang="en-US" sz="3600" dirty="0"/>
              <a:t>solution: construct a </a:t>
            </a:r>
            <a:r>
              <a:rPr lang="en-US" sz="3600" b="1" dirty="0" err="1"/>
              <a:t>Merkle</a:t>
            </a:r>
            <a:r>
              <a:rPr lang="en-US" sz="3600" b="1" dirty="0"/>
              <a:t> tree: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511897" y="3937683"/>
                <a:ext cx="715110" cy="34465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897" y="3937683"/>
                <a:ext cx="715110" cy="34465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375496" y="3937683"/>
                <a:ext cx="715110" cy="34465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496" y="3937683"/>
                <a:ext cx="715110" cy="34465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239095" y="3937683"/>
                <a:ext cx="715110" cy="34465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9095" y="3937683"/>
                <a:ext cx="715110" cy="34465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102694" y="3937683"/>
                <a:ext cx="715110" cy="34465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694" y="3937683"/>
                <a:ext cx="715110" cy="34465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796370" y="3182717"/>
                <a:ext cx="1015619" cy="34465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370" y="3182717"/>
                <a:ext cx="1015619" cy="34465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472770" y="3196783"/>
                <a:ext cx="971847" cy="330591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16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sz="16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770" y="3196783"/>
                <a:ext cx="971847" cy="33059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2876071" y="2441818"/>
            <a:ext cx="715110" cy="34465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 b="1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/>
          <p:cNvCxnSpPr>
            <a:stCxn id="4" idx="0"/>
            <a:endCxn id="8" idx="2"/>
          </p:cNvCxnSpPr>
          <p:nvPr/>
        </p:nvCxnSpPr>
        <p:spPr>
          <a:xfrm flipV="1">
            <a:off x="1869452" y="3527375"/>
            <a:ext cx="434728" cy="410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12" name="Straight Arrow Connector 11"/>
          <p:cNvCxnSpPr>
            <a:stCxn id="5" idx="0"/>
            <a:endCxn id="8" idx="2"/>
          </p:cNvCxnSpPr>
          <p:nvPr/>
        </p:nvCxnSpPr>
        <p:spPr>
          <a:xfrm flipH="1" flipV="1">
            <a:off x="2304180" y="3527375"/>
            <a:ext cx="428871" cy="410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13" name="Straight Arrow Connector 12"/>
          <p:cNvCxnSpPr>
            <a:stCxn id="6" idx="0"/>
            <a:endCxn id="9" idx="2"/>
          </p:cNvCxnSpPr>
          <p:nvPr/>
        </p:nvCxnSpPr>
        <p:spPr>
          <a:xfrm flipV="1">
            <a:off x="3596650" y="3527374"/>
            <a:ext cx="362044" cy="410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14" name="Straight Arrow Connector 13"/>
          <p:cNvCxnSpPr>
            <a:stCxn id="7" idx="0"/>
            <a:endCxn id="9" idx="2"/>
          </p:cNvCxnSpPr>
          <p:nvPr/>
        </p:nvCxnSpPr>
        <p:spPr>
          <a:xfrm flipH="1" flipV="1">
            <a:off x="3958694" y="3527374"/>
            <a:ext cx="501555" cy="410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15" name="Straight Arrow Connector 14"/>
          <p:cNvCxnSpPr>
            <a:stCxn id="8" idx="0"/>
            <a:endCxn id="10" idx="2"/>
          </p:cNvCxnSpPr>
          <p:nvPr/>
        </p:nvCxnSpPr>
        <p:spPr>
          <a:xfrm flipV="1">
            <a:off x="2304180" y="2786476"/>
            <a:ext cx="929446" cy="396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16" name="Straight Arrow Connector 15"/>
          <p:cNvCxnSpPr>
            <a:stCxn id="9" idx="0"/>
            <a:endCxn id="10" idx="2"/>
          </p:cNvCxnSpPr>
          <p:nvPr/>
        </p:nvCxnSpPr>
        <p:spPr>
          <a:xfrm flipH="1" flipV="1">
            <a:off x="3233626" y="2786476"/>
            <a:ext cx="725068" cy="410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966293" y="3937683"/>
                <a:ext cx="715110" cy="34465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293" y="3937683"/>
                <a:ext cx="715110" cy="34465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5829892" y="3937683"/>
                <a:ext cx="715110" cy="34465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892" y="3937683"/>
                <a:ext cx="715110" cy="344658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6693491" y="3937683"/>
                <a:ext cx="715110" cy="34465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3491" y="3937683"/>
                <a:ext cx="715110" cy="344658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7557090" y="3937683"/>
                <a:ext cx="715110" cy="34465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7090" y="3937683"/>
                <a:ext cx="715110" cy="344658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5212862" y="3196783"/>
                <a:ext cx="971847" cy="330591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sz="16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  <m:r>
                        <a:rPr lang="en-US" sz="16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862" y="3196783"/>
                <a:ext cx="971847" cy="330591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6927166" y="3196783"/>
                <a:ext cx="971847" cy="330591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  <m:r>
                        <a:rPr lang="en-US" sz="16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sub>
                      </m:sSub>
                      <m:r>
                        <a:rPr lang="en-US" sz="16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7166" y="3196783"/>
                <a:ext cx="971847" cy="330591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6330467" y="2441818"/>
            <a:ext cx="715110" cy="34465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 b="1" dirty="0">
              <a:solidFill>
                <a:srgbClr val="FF0000"/>
              </a:solidFill>
            </a:endParaRPr>
          </a:p>
        </p:txBody>
      </p:sp>
      <p:cxnSp>
        <p:nvCxnSpPr>
          <p:cNvPr id="24" name="Straight Arrow Connector 23"/>
          <p:cNvCxnSpPr>
            <a:stCxn id="17" idx="0"/>
            <a:endCxn id="21" idx="2"/>
          </p:cNvCxnSpPr>
          <p:nvPr/>
        </p:nvCxnSpPr>
        <p:spPr>
          <a:xfrm flipV="1">
            <a:off x="5323848" y="3527374"/>
            <a:ext cx="374938" cy="410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25" name="Straight Arrow Connector 24"/>
          <p:cNvCxnSpPr>
            <a:stCxn id="18" idx="0"/>
            <a:endCxn id="21" idx="2"/>
          </p:cNvCxnSpPr>
          <p:nvPr/>
        </p:nvCxnSpPr>
        <p:spPr>
          <a:xfrm flipH="1" flipV="1">
            <a:off x="5698786" y="3527374"/>
            <a:ext cx="488661" cy="410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26" name="Straight Arrow Connector 25"/>
          <p:cNvCxnSpPr>
            <a:stCxn id="19" idx="0"/>
            <a:endCxn id="22" idx="2"/>
          </p:cNvCxnSpPr>
          <p:nvPr/>
        </p:nvCxnSpPr>
        <p:spPr>
          <a:xfrm flipV="1">
            <a:off x="7051046" y="3527374"/>
            <a:ext cx="362044" cy="410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27" name="Straight Arrow Connector 26"/>
          <p:cNvCxnSpPr>
            <a:stCxn id="20" idx="0"/>
            <a:endCxn id="22" idx="2"/>
          </p:cNvCxnSpPr>
          <p:nvPr/>
        </p:nvCxnSpPr>
        <p:spPr>
          <a:xfrm flipH="1" flipV="1">
            <a:off x="7413090" y="3527374"/>
            <a:ext cx="501555" cy="410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28" name="Straight Arrow Connector 27"/>
          <p:cNvCxnSpPr>
            <a:stCxn id="21" idx="0"/>
            <a:endCxn id="23" idx="2"/>
          </p:cNvCxnSpPr>
          <p:nvPr/>
        </p:nvCxnSpPr>
        <p:spPr>
          <a:xfrm flipV="1">
            <a:off x="5698786" y="2786476"/>
            <a:ext cx="989236" cy="410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29" name="Straight Arrow Connector 28"/>
          <p:cNvCxnSpPr>
            <a:stCxn id="22" idx="0"/>
            <a:endCxn id="23" idx="2"/>
          </p:cNvCxnSpPr>
          <p:nvPr/>
        </p:nvCxnSpPr>
        <p:spPr>
          <a:xfrm flipH="1" flipV="1">
            <a:off x="6688022" y="2786476"/>
            <a:ext cx="725068" cy="410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sp>
        <p:nvSpPr>
          <p:cNvPr id="30" name="Rectangle 29"/>
          <p:cNvSpPr/>
          <p:nvPr/>
        </p:nvSpPr>
        <p:spPr>
          <a:xfrm>
            <a:off x="4587637" y="1773603"/>
            <a:ext cx="715110" cy="34465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i="1" dirty="0">
                <a:solidFill>
                  <a:srgbClr val="FF0000"/>
                </a:solidFill>
              </a:rPr>
              <a:t>C</a:t>
            </a:r>
          </a:p>
        </p:txBody>
      </p:sp>
      <p:cxnSp>
        <p:nvCxnSpPr>
          <p:cNvPr id="31" name="Straight Arrow Connector 30"/>
          <p:cNvCxnSpPr>
            <a:stCxn id="10" idx="0"/>
            <a:endCxn id="30" idx="1"/>
          </p:cNvCxnSpPr>
          <p:nvPr/>
        </p:nvCxnSpPr>
        <p:spPr>
          <a:xfrm flipV="1">
            <a:off x="3233626" y="1945932"/>
            <a:ext cx="1354011" cy="495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32" name="Straight Arrow Connector 31"/>
          <p:cNvCxnSpPr>
            <a:stCxn id="23" idx="0"/>
            <a:endCxn id="30" idx="3"/>
          </p:cNvCxnSpPr>
          <p:nvPr/>
        </p:nvCxnSpPr>
        <p:spPr>
          <a:xfrm flipH="1" flipV="1">
            <a:off x="5302747" y="1945932"/>
            <a:ext cx="1385275" cy="495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417928" y="5175605"/>
                <a:ext cx="826887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>
                    <a:solidFill>
                      <a:srgbClr val="0070C0"/>
                    </a:solidFill>
                  </a:rPr>
                  <a:t>Recall</a:t>
                </a:r>
                <a:r>
                  <a:rPr lang="en-US" sz="2400" dirty="0"/>
                  <a:t>: </a:t>
                </a:r>
                <a:r>
                  <a:rPr lang="en-US" sz="2400" dirty="0" err="1"/>
                  <a:t>Merkle</a:t>
                </a:r>
                <a:r>
                  <a:rPr lang="en-US" sz="2400" dirty="0"/>
                  <a:t> trees allow to efficiently prove that each block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was included into the hash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sz="2400" dirty="0"/>
                  <a:t>. </a:t>
                </a:r>
              </a:p>
              <a:p>
                <a:r>
                  <a:rPr lang="en-US" sz="2400" dirty="0"/>
                  <a:t>This is done by sending </a:t>
                </a:r>
                <a14:m>
                  <m:oMath xmlns:m="http://schemas.openxmlformats.org/officeDocument/2006/math">
                    <m:r>
                      <a:rPr lang="en-US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𝐌𝐞𝐫𝐤𝐥𝐞𝐏𝐫𝐨𝐨𝐟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.</a:t>
                </a:r>
                <a:endParaRPr lang="en-US" b="1" dirty="0">
                  <a:solidFill>
                    <a:schemeClr val="accent2"/>
                  </a:solidFill>
                </a:endParaRPr>
              </a:p>
              <a:p>
                <a:r>
                  <a:rPr lang="en-US" sz="2400" b="1" u="sng" dirty="0">
                    <a:solidFill>
                      <a:srgbClr val="0070C0"/>
                    </a:solidFill>
                  </a:rPr>
                  <a:t>Easy to see</a:t>
                </a:r>
                <a:r>
                  <a:rPr lang="en-US" sz="2400" b="1" dirty="0"/>
                  <a:t>: </a:t>
                </a:r>
                <a:r>
                  <a:rPr lang="en-US" sz="2400" dirty="0"/>
                  <a:t>if </a:t>
                </a:r>
                <a:r>
                  <a:rPr lang="en-US" sz="2400" b="1" i="1" dirty="0">
                    <a:solidFill>
                      <a:srgbClr val="FF0000"/>
                    </a:solidFill>
                  </a:rPr>
                  <a:t>H</a:t>
                </a:r>
                <a:r>
                  <a:rPr lang="en-US" sz="2400" dirty="0"/>
                  <a:t> is collision resistant then so is </a:t>
                </a:r>
                <a14:m>
                  <m:oMath xmlns:m="http://schemas.openxmlformats.org/officeDocument/2006/math">
                    <m:r>
                      <a:rPr lang="en-US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𝐌𝐞𝐫𝐤𝐥𝐞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28" y="5175605"/>
                <a:ext cx="8268872" cy="1569660"/>
              </a:xfrm>
              <a:prstGeom prst="rect">
                <a:avLst/>
              </a:prstGeom>
              <a:blipFill rotWithShape="0">
                <a:blip r:embed="rId15"/>
                <a:stretch>
                  <a:fillRect l="-1180" t="-3101" r="-1032" b="-775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5856902" y="1261429"/>
                <a:ext cx="2333459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𝐌𝐞𝐫𝐤𝐥𝐞𝐏𝐫𝐨𝐨𝐟</m:t>
                      </m:r>
                      <m:d>
                        <m:d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sub>
                          </m:sSub>
                        </m:e>
                      </m:d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,… 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6902" y="1261429"/>
                <a:ext cx="2333459" cy="923330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ular Callout 39"/>
              <p:cNvSpPr/>
              <p:nvPr/>
            </p:nvSpPr>
            <p:spPr>
              <a:xfrm>
                <a:off x="2111542" y="1554979"/>
                <a:ext cx="2129370" cy="428936"/>
              </a:xfrm>
              <a:prstGeom prst="wedgeRectCallout">
                <a:avLst>
                  <a:gd name="adj1" fmla="val 65290"/>
                  <a:gd name="adj2" fmla="val 23746"/>
                </a:avLst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𝐌𝐞𝐫𝐤𝐥𝐞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sub>
                      </m:sSub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" name="Rectangular Callout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542" y="1554979"/>
                <a:ext cx="2129370" cy="428936"/>
              </a:xfrm>
              <a:prstGeom prst="wedgeRectCallout">
                <a:avLst>
                  <a:gd name="adj1" fmla="val 65290"/>
                  <a:gd name="adj2" fmla="val 23746"/>
                </a:avLst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9740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1" grpId="0" animBg="1"/>
      <p:bldP spid="39" grpId="0" animBg="1"/>
      <p:bldP spid="38" grpId="0" animBg="1"/>
      <p:bldP spid="34" grpId="0" animBg="1"/>
      <p:bldP spid="36" grpId="0" animBg="1"/>
      <p:bldP spid="37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30" grpId="0" animBg="1"/>
      <p:bldP spid="35" grpId="0"/>
      <p:bldP spid="4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rgbClr val="0070C0"/>
                </a:solidFill>
              </a:rPr>
              <a:t>BitTorrent</a:t>
            </a:r>
            <a:r>
              <a:rPr lang="en-US" dirty="0"/>
              <a:t>, </a:t>
            </a:r>
            <a:r>
              <a:rPr lang="en-US" b="1" dirty="0">
                <a:solidFill>
                  <a:srgbClr val="0070C0"/>
                </a:solidFill>
              </a:rPr>
              <a:t>Gnutella</a:t>
            </a:r>
            <a:r>
              <a:rPr lang="en-US" dirty="0"/>
              <a:t>, </a:t>
            </a:r>
            <a:r>
              <a:rPr lang="en-US" b="1" dirty="0">
                <a:solidFill>
                  <a:srgbClr val="0070C0"/>
                </a:solidFill>
              </a:rPr>
              <a:t>Gnutella2</a:t>
            </a:r>
            <a:r>
              <a:rPr lang="en-US" dirty="0"/>
              <a:t>, and </a:t>
            </a:r>
            <a:r>
              <a:rPr lang="en-US" b="1" dirty="0">
                <a:solidFill>
                  <a:srgbClr val="0070C0"/>
                </a:solidFill>
              </a:rPr>
              <a:t>Direct Connect P2P</a:t>
            </a:r>
            <a:r>
              <a:rPr lang="en-US" dirty="0"/>
              <a:t>... - a variant of the idea from the previous slide</a:t>
            </a:r>
            <a:r>
              <a:rPr lang="pl-PL" dirty="0"/>
              <a:t>s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files in the peer-to-peer networks are </a:t>
            </a:r>
            <a:r>
              <a:rPr lang="en-US" b="1" dirty="0">
                <a:solidFill>
                  <a:srgbClr val="7030A0"/>
                </a:solidFill>
              </a:rPr>
              <a:t>identified by their hashes</a:t>
            </a:r>
          </a:p>
          <a:p>
            <a:r>
              <a:rPr lang="en-US" dirty="0"/>
              <a:t>each file consists of “</a:t>
            </a:r>
            <a:r>
              <a:rPr lang="en-US" b="1" dirty="0">
                <a:solidFill>
                  <a:srgbClr val="FF0000"/>
                </a:solidFill>
              </a:rPr>
              <a:t>pieces</a:t>
            </a:r>
            <a:r>
              <a:rPr lang="en-US" dirty="0"/>
              <a:t>”</a:t>
            </a:r>
          </a:p>
          <a:p>
            <a:r>
              <a:rPr lang="en-US" dirty="0"/>
              <a:t>the users download the pieces from each other.</a:t>
            </a:r>
            <a:endParaRPr lang="pl-PL" dirty="0"/>
          </a:p>
          <a:p>
            <a:r>
              <a:rPr lang="en-US" dirty="0"/>
              <a:t>some of them use </a:t>
            </a:r>
            <a:r>
              <a:rPr lang="en-US" b="1" dirty="0" err="1">
                <a:solidFill>
                  <a:srgbClr val="00B050"/>
                </a:solidFill>
              </a:rPr>
              <a:t>Merkle</a:t>
            </a:r>
            <a:r>
              <a:rPr lang="en-US" b="1" dirty="0">
                <a:solidFill>
                  <a:srgbClr val="00B050"/>
                </a:solidFill>
              </a:rPr>
              <a:t> trees</a:t>
            </a:r>
            <a:r>
              <a:rPr lang="en-US" dirty="0">
                <a:solidFill>
                  <a:srgbClr val="00B050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323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0148" y="1642219"/>
            <a:ext cx="6929486" cy="368776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Introduction and definitions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Hash function design paradigms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Other </a:t>
            </a:r>
            <a:r>
              <a:rPr lang="pl-PL" dirty="0"/>
              <a:t>uses of hash functions</a:t>
            </a:r>
            <a:endParaRPr lang="it-IT" dirty="0"/>
          </a:p>
          <a:p>
            <a:pPr marL="971550" lvl="1" indent="-514350">
              <a:buFont typeface="+mj-lt"/>
              <a:buAutoNum type="arabicPeriod"/>
            </a:pPr>
            <a:r>
              <a:rPr lang="it-IT" dirty="0"/>
              <a:t>Merkle trees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Practical randomness extraction and the random oracle model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Password storage and Proofs of Work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Real-life constructions</a:t>
            </a:r>
            <a:endParaRPr lang="it-IT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901087" y="3328158"/>
            <a:ext cx="1214446" cy="71438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8646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466" y="148914"/>
            <a:ext cx="8370122" cy="1325563"/>
          </a:xfrm>
        </p:spPr>
        <p:txBody>
          <a:bodyPr>
            <a:normAutofit/>
          </a:bodyPr>
          <a:lstStyle/>
          <a:p>
            <a:r>
              <a:rPr lang="en-US" sz="4000" dirty="0"/>
              <a:t>How the outputs of hash functions look in real life?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435280" cy="341297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C:\&gt; echo -n `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Wydział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Matematyki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Informatyki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Mechaniki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` |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openssl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sha1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30428440c00bd45d2e2fd93ed980fbd8aa063428</a:t>
            </a:r>
            <a:br>
              <a:rPr lang="pl-PL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C:\&gt; echo -n `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Wydział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Matematyki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Informtyki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Mechanik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` |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openssl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sha1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9937fe966d988e8163fe07f6a1dbd9caf624e1c8</a:t>
            </a:r>
          </a:p>
          <a:p>
            <a:pPr marL="0" indent="0">
              <a:buNone/>
            </a:pPr>
            <a:br>
              <a:rPr lang="pl-PL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C:\&gt; echo -n `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Wydział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Matematyki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Informatyki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Mechaniki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` |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openssl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sha1</a:t>
            </a:r>
          </a:p>
          <a:p>
            <a:pPr marL="0" indent="0">
              <a:buNone/>
            </a:pPr>
            <a:r>
              <a:rPr lang="pl-PL" b="1" dirty="0">
                <a:solidFill>
                  <a:srgbClr val="FF0000"/>
                </a:solidFill>
                <a:latin typeface="Consolas" panose="020B0609020204030204" pitchFamily="49" charset="0"/>
              </a:rPr>
              <a:t>456b370c5afe5f45c0af4a6290d02f6d2f557381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0466" y="5138900"/>
            <a:ext cx="85220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0070C0"/>
                </a:solidFill>
              </a:rPr>
              <a:t>Observation</a:t>
            </a:r>
            <a:r>
              <a:rPr lang="en-US" sz="2400" dirty="0"/>
              <a:t>: the outputs on different inputs are “unrelated” and “completely random”.</a:t>
            </a:r>
          </a:p>
        </p:txBody>
      </p:sp>
      <p:sp>
        <p:nvSpPr>
          <p:cNvPr id="5" name="Rectangular Callout 4"/>
          <p:cNvSpPr/>
          <p:nvPr/>
        </p:nvSpPr>
        <p:spPr>
          <a:xfrm>
            <a:off x="2027817" y="6095621"/>
            <a:ext cx="6181364" cy="612648"/>
          </a:xfrm>
          <a:prstGeom prst="wedgeRectCallout">
            <a:avLst>
              <a:gd name="adj1" fmla="val 18030"/>
              <a:gd name="adj2" fmla="val -81485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we will formalize this property in a moment</a:t>
            </a:r>
          </a:p>
        </p:txBody>
      </p:sp>
    </p:spTree>
    <p:extLst>
      <p:ext uri="{BB962C8B-B14F-4D97-AF65-F5344CB8AC3E}">
        <p14:creationId xmlns:p14="http://schemas.microsoft.com/office/powerpoint/2010/main" val="340687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4" grpId="0"/>
      <p:bldP spid="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53" y="417212"/>
            <a:ext cx="8793142" cy="1325563"/>
          </a:xfrm>
        </p:spPr>
        <p:txBody>
          <a:bodyPr>
            <a:noAutofit/>
          </a:bodyPr>
          <a:lstStyle/>
          <a:p>
            <a:r>
              <a:rPr lang="en-US" sz="3200" dirty="0"/>
              <a:t>Example of how this property is used: deriving “uniformly random keys” from “non-uniform randomness"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5"/>
              <p:cNvSpPr>
                <a:spLocks noChangeArrowheads="1"/>
              </p:cNvSpPr>
              <p:nvPr/>
            </p:nvSpPr>
            <p:spPr bwMode="auto">
              <a:xfrm>
                <a:off x="2571736" y="2571744"/>
                <a:ext cx="4071966" cy="466724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en-US" sz="2000" dirty="0"/>
                  <a:t>shorter “uniformly random”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1736" y="2571744"/>
                <a:ext cx="4071966" cy="466724"/>
              </a:xfrm>
              <a:prstGeom prst="rect">
                <a:avLst/>
              </a:prstGeom>
              <a:blipFill rotWithShape="0">
                <a:blip r:embed="rId2"/>
                <a:stretch>
                  <a:fillRect b="-1538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6"/>
              <p:cNvSpPr>
                <a:spLocks noChangeArrowheads="1"/>
              </p:cNvSpPr>
              <p:nvPr/>
            </p:nvSpPr>
            <p:spPr bwMode="auto">
              <a:xfrm>
                <a:off x="857224" y="5281610"/>
                <a:ext cx="7598082" cy="980294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anchor="ctr"/>
              <a:lstStyle/>
              <a:p>
                <a:pPr algn="ctr"/>
                <a:r>
                  <a:rPr lang="en-US" sz="2400" dirty="0"/>
                  <a:t>user generated randomness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dirty="0"/>
                  <a:t>(key strokes, mouse movements, passwords, etc.)</a:t>
                </a:r>
                <a:endParaRPr lang="en-US" sz="2400" b="1" dirty="0">
                  <a:solidFill>
                    <a:srgbClr val="993300"/>
                  </a:solidFill>
                </a:endParaRPr>
              </a:p>
            </p:txBody>
          </p:sp>
        </mc:Choice>
        <mc:Fallback xmlns="">
          <p:sp>
            <p:nvSpPr>
              <p:cNvPr id="5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7224" y="5281610"/>
                <a:ext cx="7598082" cy="980294"/>
              </a:xfrm>
              <a:prstGeom prst="rect">
                <a:avLst/>
              </a:prstGeom>
              <a:blipFill rotWithShape="0">
                <a:blip r:embed="rId3"/>
                <a:stretch>
                  <a:fillRect b="-552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rapezoid 5"/>
              <p:cNvSpPr/>
              <p:nvPr/>
            </p:nvSpPr>
            <p:spPr>
              <a:xfrm>
                <a:off x="928662" y="3143248"/>
                <a:ext cx="7429552" cy="2000264"/>
              </a:xfrm>
              <a:prstGeom prst="trapezoid">
                <a:avLst>
                  <a:gd name="adj" fmla="val 79647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/>
                  <a:t>a hash function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3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sz="36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it-IT" sz="36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36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it-IT" sz="36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sz="36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sz="36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it-IT" sz="3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→ {</m:t>
                      </m:r>
                      <m:r>
                        <a:rPr lang="it-IT" sz="3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𝟎</m:t>
                      </m:r>
                      <m:r>
                        <a:rPr lang="it-IT" sz="3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,</m:t>
                      </m:r>
                      <m:r>
                        <a:rPr lang="it-IT" sz="3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𝟏</m:t>
                      </m:r>
                      <m:r>
                        <a:rPr lang="it-IT" sz="3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}</m:t>
                      </m:r>
                      <m:r>
                        <a:rPr lang="it-IT" sz="36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𝑳</m:t>
                      </m:r>
                    </m:oMath>
                  </m:oMathPara>
                </a14:m>
                <a:endParaRPr lang="it-IT" sz="3600" b="1" dirty="0">
                  <a:solidFill>
                    <a:srgbClr val="FF0000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6" name="Trapezoid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662" y="3143248"/>
                <a:ext cx="7429552" cy="2000264"/>
              </a:xfrm>
              <a:prstGeom prst="trapezoid">
                <a:avLst>
                  <a:gd name="adj" fmla="val 79647"/>
                </a:avLst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5786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55" y="161938"/>
            <a:ext cx="8621704" cy="796908"/>
          </a:xfrm>
        </p:spPr>
        <p:txBody>
          <a:bodyPr>
            <a:normAutofit/>
          </a:bodyPr>
          <a:lstStyle/>
          <a:p>
            <a:r>
              <a:rPr lang="en-US" sz="3600" dirty="0"/>
              <a:t>Example: password-based encryption</a:t>
            </a:r>
          </a:p>
        </p:txBody>
      </p:sp>
      <p:pic>
        <p:nvPicPr>
          <p:cNvPr id="4" name="Picture 4" descr="MCj0411466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00734" y="2209800"/>
            <a:ext cx="1401763" cy="1457325"/>
          </a:xfrm>
          <a:prstGeom prst="rect">
            <a:avLst/>
          </a:prstGeom>
          <a:noFill/>
        </p:spPr>
      </p:pic>
      <p:pic>
        <p:nvPicPr>
          <p:cNvPr id="5" name="Picture 6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71868" y="5143512"/>
            <a:ext cx="1841500" cy="1273175"/>
          </a:xfrm>
          <a:prstGeom prst="rect">
            <a:avLst/>
          </a:prstGeom>
          <a:noFill/>
        </p:spPr>
      </p:pic>
      <p:pic>
        <p:nvPicPr>
          <p:cNvPr id="6" name="Picture 7" descr="MCj0415808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852618" y="2209800"/>
            <a:ext cx="1368425" cy="1438275"/>
          </a:xfrm>
          <a:prstGeom prst="rect">
            <a:avLst/>
          </a:prstGeom>
          <a:noFill/>
        </p:spPr>
      </p:pic>
      <p:sp>
        <p:nvSpPr>
          <p:cNvPr id="7" name="Line 8"/>
          <p:cNvSpPr>
            <a:spLocks noChangeShapeType="1"/>
          </p:cNvSpPr>
          <p:nvPr/>
        </p:nvSpPr>
        <p:spPr bwMode="auto">
          <a:xfrm flipV="1">
            <a:off x="3256556" y="3038467"/>
            <a:ext cx="2601328" cy="457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9"/>
              <p:cNvSpPr txBox="1">
                <a:spLocks noChangeArrowheads="1"/>
              </p:cNvSpPr>
              <p:nvPr/>
            </p:nvSpPr>
            <p:spPr bwMode="auto">
              <a:xfrm>
                <a:off x="3602043" y="2831068"/>
                <a:ext cx="1933543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l-GR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02043" y="2831068"/>
                <a:ext cx="1933543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12903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AutoShape 10"/>
          <p:cNvCxnSpPr>
            <a:cxnSpLocks noChangeShapeType="1"/>
            <a:stCxn id="8" idx="2"/>
            <a:endCxn id="5" idx="0"/>
          </p:cNvCxnSpPr>
          <p:nvPr/>
        </p:nvCxnSpPr>
        <p:spPr bwMode="auto">
          <a:xfrm rot="5400000">
            <a:off x="3559161" y="4133858"/>
            <a:ext cx="1943112" cy="76197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2081218" y="3200400"/>
            <a:ext cx="7334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b="1" dirty="0">
                <a:solidFill>
                  <a:srgbClr val="FF0000"/>
                </a:solidFill>
              </a:rPr>
              <a:t>Alice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6281734" y="3200400"/>
            <a:ext cx="6318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800" b="1" dirty="0">
                <a:solidFill>
                  <a:srgbClr val="FF0000"/>
                </a:solidFill>
              </a:rPr>
              <a:t>Bob</a:t>
            </a:r>
            <a:endParaRPr lang="en-US" sz="18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57158" y="1142984"/>
                <a:ext cx="287610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dirty="0"/>
                  <a:t> – hash function</a:t>
                </a:r>
              </a:p>
              <a:p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– encryption scheme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58" y="1142984"/>
                <a:ext cx="2876108" cy="646331"/>
              </a:xfrm>
              <a:prstGeom prst="rect">
                <a:avLst/>
              </a:prstGeom>
              <a:blipFill rotWithShape="0">
                <a:blip r:embed="rId7"/>
                <a:stretch>
                  <a:fillRect l="-637" t="-5607" r="-1486" b="-1215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500166" y="4214818"/>
                <a:ext cx="2060500" cy="369332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dirty="0"/>
                  <a:t>shared password </a:t>
                </a:r>
                <a14:m>
                  <m:oMath xmlns:m="http://schemas.openxmlformats.org/officeDocument/2006/math">
                    <m:r>
                      <a:rPr lang="el-GR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166" y="4214818"/>
                <a:ext cx="2060500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2059" t="-7937" b="-2063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>
            <a:stCxn id="15" idx="0"/>
            <a:endCxn id="11" idx="2"/>
          </p:cNvCxnSpPr>
          <p:nvPr/>
        </p:nvCxnSpPr>
        <p:spPr>
          <a:xfrm flipH="1" flipV="1">
            <a:off x="2447931" y="3570288"/>
            <a:ext cx="82485" cy="6445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638192" y="4214818"/>
                <a:ext cx="2060500" cy="369332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dirty="0"/>
                  <a:t>shared password </a:t>
                </a:r>
                <a14:m>
                  <m:oMath xmlns:m="http://schemas.openxmlformats.org/officeDocument/2006/math">
                    <m:r>
                      <a:rPr lang="el-GR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192" y="4214818"/>
                <a:ext cx="2060500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2353" t="-7937" b="-2063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>
            <a:stCxn id="18" idx="0"/>
            <a:endCxn id="4" idx="2"/>
          </p:cNvCxnSpPr>
          <p:nvPr/>
        </p:nvCxnSpPr>
        <p:spPr>
          <a:xfrm flipH="1" flipV="1">
            <a:off x="6601616" y="3667125"/>
            <a:ext cx="66826" cy="5476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99695" y="2571744"/>
                <a:ext cx="1026243" cy="64633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message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95" y="2571744"/>
                <a:ext cx="1026243" cy="646331"/>
              </a:xfrm>
              <a:prstGeom prst="rect">
                <a:avLst/>
              </a:prstGeom>
              <a:blipFill rotWithShape="0">
                <a:blip r:embed="rId10"/>
                <a:stretch>
                  <a:fillRect l="-5263" t="-5505" r="-40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>
            <a:stCxn id="22" idx="3"/>
            <a:endCxn id="6" idx="1"/>
          </p:cNvCxnSpPr>
          <p:nvPr/>
        </p:nvCxnSpPr>
        <p:spPr>
          <a:xfrm>
            <a:off x="1225938" y="2894910"/>
            <a:ext cx="626680" cy="340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7128306" y="2753796"/>
                <a:ext cx="1955985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l-GR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306" y="2753796"/>
                <a:ext cx="1955985" cy="369332"/>
              </a:xfrm>
              <a:prstGeom prst="rect">
                <a:avLst/>
              </a:prstGeom>
              <a:blipFill rotWithShape="0">
                <a:blip r:embed="rId11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 flipH="1">
            <a:off x="6143636" y="5072074"/>
            <a:ext cx="23574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Informally</a:t>
            </a:r>
            <a:r>
              <a:rPr lang="en-US" dirty="0"/>
              <a:t>:</a:t>
            </a:r>
          </a:p>
          <a:p>
            <a:r>
              <a:rPr lang="en-US" dirty="0"/>
              <a:t>The only thing that Eve can do is to examine all  possible passwords 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7158" y="5357826"/>
            <a:ext cx="2500298" cy="1200329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Warning</a:t>
            </a:r>
            <a:r>
              <a:rPr lang="en-US" dirty="0"/>
              <a:t>:</a:t>
            </a:r>
            <a:endParaRPr lang="en-US" b="1" u="sng" dirty="0"/>
          </a:p>
          <a:p>
            <a:r>
              <a:rPr lang="en-US" dirty="0"/>
              <a:t>there exist much better solutions for this problem</a:t>
            </a:r>
          </a:p>
        </p:txBody>
      </p:sp>
    </p:spTree>
    <p:extLst>
      <p:ext uri="{BB962C8B-B14F-4D97-AF65-F5344CB8AC3E}">
        <p14:creationId xmlns:p14="http://schemas.microsoft.com/office/powerpoint/2010/main" val="301956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8" grpId="0" animBg="1"/>
      <p:bldP spid="22" grpId="0" animBg="1"/>
      <p:bldP spid="32" grpId="0" animBg="1"/>
      <p:bldP spid="33" grpId="0"/>
      <p:bldP spid="3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74638"/>
            <a:ext cx="8576530" cy="1143000"/>
          </a:xfrm>
        </p:spPr>
        <p:txBody>
          <a:bodyPr>
            <a:normAutofit/>
          </a:bodyPr>
          <a:lstStyle/>
          <a:p>
            <a:r>
              <a:rPr lang="en-US" dirty="0"/>
              <a:t>Random oracle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383" y="1266025"/>
            <a:ext cx="8576530" cy="2357454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[Fiat, Shamir: How to Prove Yourself: Practical Solutions to Identification and Signature Problems. 1986]</a:t>
            </a:r>
          </a:p>
          <a:p>
            <a:pPr>
              <a:buNone/>
            </a:pPr>
            <a:r>
              <a:rPr lang="en-US" b="1" dirty="0">
                <a:solidFill>
                  <a:srgbClr val="00B050"/>
                </a:solidFill>
              </a:rPr>
              <a:t>[</a:t>
            </a:r>
            <a:r>
              <a:rPr lang="en-US" b="1" dirty="0" err="1">
                <a:solidFill>
                  <a:srgbClr val="00B050"/>
                </a:solidFill>
              </a:rPr>
              <a:t>Bellare</a:t>
            </a:r>
            <a:r>
              <a:rPr lang="en-US" b="1" dirty="0">
                <a:solidFill>
                  <a:srgbClr val="00B050"/>
                </a:solidFill>
              </a:rPr>
              <a:t>, Rogaway: Random Oracles are Practical: A Paradigm for Designing Efficient Protocols, 1993]</a:t>
            </a:r>
          </a:p>
          <a:p>
            <a:pPr>
              <a:buNone/>
            </a:pPr>
            <a:r>
              <a:rPr lang="en-US" b="1" dirty="0"/>
              <a:t>Idea</a:t>
            </a:r>
            <a:r>
              <a:rPr lang="en-US" dirty="0"/>
              <a:t>: model the hash function as a </a:t>
            </a:r>
            <a:r>
              <a:rPr lang="en-US" b="1" dirty="0"/>
              <a:t>random oracle</a:t>
            </a:r>
            <a:r>
              <a:rPr lang="en-US" dirty="0"/>
              <a:t>.</a:t>
            </a:r>
            <a:endParaRPr lang="en-US" b="1" dirty="0"/>
          </a:p>
        </p:txBody>
      </p:sp>
      <p:pic>
        <p:nvPicPr>
          <p:cNvPr id="1034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18693" y="3905917"/>
            <a:ext cx="2143140" cy="2374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060570" y="5842711"/>
                <a:ext cx="2150717" cy="369332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it-IT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it-IT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→{</m:t>
                      </m:r>
                      <m:r>
                        <a:rPr lang="it-IT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𝟎</m:t>
                      </m:r>
                      <m:r>
                        <a:rPr lang="it-IT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,</m:t>
                      </m:r>
                      <m:r>
                        <a:rPr lang="it-IT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𝟏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}</m:t>
                      </m:r>
                      <m:r>
                        <a:rPr lang="it-IT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𝑳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0570" y="5842711"/>
                <a:ext cx="2150717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ular Callout 9"/>
          <p:cNvSpPr/>
          <p:nvPr/>
        </p:nvSpPr>
        <p:spPr>
          <a:xfrm>
            <a:off x="5876213" y="5548991"/>
            <a:ext cx="2786082" cy="714380"/>
          </a:xfrm>
          <a:prstGeom prst="wedgeRectCallout">
            <a:avLst>
              <a:gd name="adj1" fmla="val -67719"/>
              <a:gd name="adj2" fmla="val 19994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 completely random function</a:t>
            </a:r>
          </a:p>
        </p:txBody>
      </p:sp>
      <p:grpSp>
        <p:nvGrpSpPr>
          <p:cNvPr id="4" name="Group 10"/>
          <p:cNvGrpSpPr/>
          <p:nvPr/>
        </p:nvGrpSpPr>
        <p:grpSpPr>
          <a:xfrm>
            <a:off x="1375619" y="4548859"/>
            <a:ext cx="1500198" cy="369332"/>
            <a:chOff x="714348" y="4572008"/>
            <a:chExt cx="1500198" cy="369332"/>
          </a:xfrm>
        </p:grpSpPr>
        <p:cxnSp>
          <p:nvCxnSpPr>
            <p:cNvPr id="17" name="Straight Arrow Connector 16"/>
            <p:cNvCxnSpPr/>
            <p:nvPr/>
          </p:nvCxnSpPr>
          <p:spPr>
            <a:xfrm flipV="1">
              <a:off x="714348" y="4714884"/>
              <a:ext cx="1500198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1357290" y="4572008"/>
                  <a:ext cx="369012" cy="369332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7290" y="4572008"/>
                  <a:ext cx="369012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11"/>
          <p:cNvGrpSpPr/>
          <p:nvPr/>
        </p:nvGrpSpPr>
        <p:grpSpPr>
          <a:xfrm>
            <a:off x="1375619" y="5120363"/>
            <a:ext cx="1428760" cy="369332"/>
            <a:chOff x="714348" y="5143512"/>
            <a:chExt cx="1428760" cy="369332"/>
          </a:xfrm>
        </p:grpSpPr>
        <p:cxnSp>
          <p:nvCxnSpPr>
            <p:cNvPr id="16" name="Straight Arrow Connector 15"/>
            <p:cNvCxnSpPr/>
            <p:nvPr/>
          </p:nvCxnSpPr>
          <p:spPr>
            <a:xfrm rot="10800000">
              <a:off x="714348" y="5286388"/>
              <a:ext cx="142876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1062024" y="5143512"/>
                  <a:ext cx="742511" cy="369332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2024" y="5143512"/>
                  <a:ext cx="742511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50526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Remember the pseudorandom functions?</a:t>
            </a:r>
          </a:p>
        </p:txBody>
      </p:sp>
      <p:pic>
        <p:nvPicPr>
          <p:cNvPr id="1026" name="Picture 2" descr="C:\Users\Stefan\AppData\Local\Microsoft\Windows\Temporary Internet Files\Content.IE5\12SHTSF3\MCj0398601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57620" y="2357430"/>
            <a:ext cx="2140812" cy="2494077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929058" y="3500438"/>
                <a:ext cx="2261968" cy="646331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 random function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 {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sz="1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b="1" baseline="30000" dirty="0">
                    <a:solidFill>
                      <a:srgbClr val="C00000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9058" y="3500438"/>
                <a:ext cx="2261968" cy="646331"/>
              </a:xfrm>
              <a:prstGeom prst="rect">
                <a:avLst/>
              </a:prstGeom>
              <a:blipFill rotWithShape="0">
                <a:blip r:embed="rId7"/>
                <a:stretch>
                  <a:fillRect t="-4630" b="-833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32" descr="MCj04114660000[1]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429520" y="1857364"/>
            <a:ext cx="1401763" cy="1457325"/>
          </a:xfrm>
          <a:prstGeom prst="rect">
            <a:avLst/>
          </a:prstGeom>
          <a:noFill/>
        </p:spPr>
      </p:pic>
      <p:pic>
        <p:nvPicPr>
          <p:cNvPr id="7" name="Picture 6" descr="MCj04158080000[1]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42910" y="1785926"/>
            <a:ext cx="1368425" cy="143827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ight Arrow 7"/>
              <p:cNvSpPr/>
              <p:nvPr/>
            </p:nvSpPr>
            <p:spPr>
              <a:xfrm rot="2407857">
                <a:off x="2454961" y="2399819"/>
                <a:ext cx="1589063" cy="667032"/>
              </a:xfrm>
              <a:prstGeom prst="right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ight Arrow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407857">
                <a:off x="2454961" y="2399819"/>
                <a:ext cx="1589063" cy="667032"/>
              </a:xfrm>
              <a:prstGeom prst="rightArrow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Left Arrow 9"/>
              <p:cNvSpPr/>
              <p:nvPr/>
            </p:nvSpPr>
            <p:spPr>
              <a:xfrm rot="2465745">
                <a:off x="1906996" y="2874401"/>
                <a:ext cx="1643074" cy="766919"/>
              </a:xfrm>
              <a:prstGeom prst="leftArrow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Left Arrow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465745">
                <a:off x="1906996" y="2874401"/>
                <a:ext cx="1643074" cy="766919"/>
              </a:xfrm>
              <a:prstGeom prst="leftArrow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Left Arrow 12"/>
              <p:cNvSpPr/>
              <p:nvPr/>
            </p:nvSpPr>
            <p:spPr>
              <a:xfrm rot="19070068">
                <a:off x="5705097" y="2708853"/>
                <a:ext cx="1562828" cy="785818"/>
              </a:xfrm>
              <a:prstGeom prst="leftArrow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Left Arrow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070068">
                <a:off x="5705097" y="2708853"/>
                <a:ext cx="1562828" cy="785818"/>
              </a:xfrm>
              <a:prstGeom prst="leftArrow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ight Arrow 14"/>
              <p:cNvSpPr/>
              <p:nvPr/>
            </p:nvSpPr>
            <p:spPr>
              <a:xfrm rot="19096710">
                <a:off x="6205828" y="3280819"/>
                <a:ext cx="1571636" cy="785818"/>
              </a:xfrm>
              <a:prstGeom prst="rightArrow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Right Arrow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096710">
                <a:off x="6205828" y="3280819"/>
                <a:ext cx="1571636" cy="785818"/>
              </a:xfrm>
              <a:prstGeom prst="rightArrow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10" descr="MCj04359410000[1]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142976" y="5357826"/>
            <a:ext cx="1841500" cy="127317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ight Arrow 23"/>
              <p:cNvSpPr/>
              <p:nvPr/>
            </p:nvSpPr>
            <p:spPr>
              <a:xfrm rot="18808681">
                <a:off x="2582408" y="4477459"/>
                <a:ext cx="1589063" cy="667032"/>
              </a:xfrm>
              <a:prstGeom prst="rightArrow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’’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Right Arrow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808681">
                <a:off x="2582408" y="4477459"/>
                <a:ext cx="1589063" cy="667032"/>
              </a:xfrm>
              <a:prstGeom prst="rightArrow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Left Arrow 24"/>
              <p:cNvSpPr/>
              <p:nvPr/>
            </p:nvSpPr>
            <p:spPr>
              <a:xfrm rot="18866569">
                <a:off x="2901454" y="5048027"/>
                <a:ext cx="1643074" cy="766919"/>
              </a:xfrm>
              <a:prstGeom prst="leftArrow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’’)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Left Arrow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866569">
                <a:off x="2901454" y="5048027"/>
                <a:ext cx="1643074" cy="766919"/>
              </a:xfrm>
              <a:prstGeom prst="leftArrow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4929191" y="5286388"/>
            <a:ext cx="35004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Crucial difference:</a:t>
            </a:r>
          </a:p>
          <a:p>
            <a:r>
              <a:rPr lang="en-US" sz="2400" dirty="0"/>
              <a:t>Also the adversary can query the oracle</a:t>
            </a:r>
          </a:p>
        </p:txBody>
      </p:sp>
    </p:spTree>
    <p:extLst>
      <p:ext uri="{BB962C8B-B14F-4D97-AF65-F5344CB8AC3E}">
        <p14:creationId xmlns:p14="http://schemas.microsoft.com/office/powerpoint/2010/main" val="2224733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3" grpId="0" animBg="1"/>
      <p:bldP spid="15" grpId="0" animBg="1"/>
      <p:bldP spid="24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4" name="Rectangle 4"/>
          <p:cNvSpPr>
            <a:spLocks noChangeArrowheads="1"/>
          </p:cNvSpPr>
          <p:nvPr/>
        </p:nvSpPr>
        <p:spPr bwMode="auto">
          <a:xfrm>
            <a:off x="3429000" y="838200"/>
            <a:ext cx="3429016" cy="16621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112645" name="Picture 5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295400"/>
            <a:ext cx="1841500" cy="127317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2646" name="Rectangle 6"/>
              <p:cNvSpPr>
                <a:spLocks noChangeArrowheads="1"/>
              </p:cNvSpPr>
              <p:nvPr/>
            </p:nvSpPr>
            <p:spPr bwMode="auto">
              <a:xfrm>
                <a:off x="3857620" y="1214422"/>
                <a:ext cx="533400" cy="6096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2646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57620" y="1214422"/>
                <a:ext cx="533400" cy="60960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2650" name="Picture 10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34" y="5357826"/>
            <a:ext cx="1841500" cy="1273175"/>
          </a:xfrm>
          <a:prstGeom prst="rect">
            <a:avLst/>
          </a:prstGeom>
          <a:noFill/>
        </p:spPr>
      </p:pic>
      <p:sp>
        <p:nvSpPr>
          <p:cNvPr id="112665" name="Text Box 25"/>
          <p:cNvSpPr txBox="1">
            <a:spLocks noChangeArrowheads="1"/>
          </p:cNvSpPr>
          <p:nvPr/>
        </p:nvSpPr>
        <p:spPr bwMode="auto">
          <a:xfrm>
            <a:off x="3352800" y="3303588"/>
            <a:ext cx="287178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formal model:</a:t>
            </a:r>
            <a:endParaRPr lang="it-IT" sz="3200" b="1" dirty="0">
              <a:solidFill>
                <a:srgbClr val="FF0000"/>
              </a:solidFill>
            </a:endParaRPr>
          </a:p>
        </p:txBody>
      </p:sp>
      <p:sp>
        <p:nvSpPr>
          <p:cNvPr id="112666" name="Text Box 26"/>
          <p:cNvSpPr txBox="1">
            <a:spLocks noChangeArrowheads="1"/>
          </p:cNvSpPr>
          <p:nvPr/>
        </p:nvSpPr>
        <p:spPr bwMode="auto">
          <a:xfrm>
            <a:off x="2819400" y="0"/>
            <a:ext cx="42259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informal description:</a:t>
            </a:r>
            <a:endParaRPr lang="it-IT" sz="3200" b="1" dirty="0">
              <a:solidFill>
                <a:srgbClr val="FF0000"/>
              </a:solidFill>
            </a:endParaRPr>
          </a:p>
        </p:txBody>
      </p:sp>
      <p:sp>
        <p:nvSpPr>
          <p:cNvPr id="112667" name="Line 27"/>
          <p:cNvSpPr>
            <a:spLocks noChangeShapeType="1"/>
          </p:cNvSpPr>
          <p:nvPr/>
        </p:nvSpPr>
        <p:spPr bwMode="auto">
          <a:xfrm>
            <a:off x="0" y="3200400"/>
            <a:ext cx="91440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68" name="Rectangle 28"/>
              <p:cNvSpPr>
                <a:spLocks noChangeArrowheads="1"/>
              </p:cNvSpPr>
              <p:nvPr/>
            </p:nvSpPr>
            <p:spPr bwMode="auto">
              <a:xfrm>
                <a:off x="457200" y="457200"/>
                <a:ext cx="1600200" cy="6096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en-US" b="1" dirty="0"/>
                  <a:t>“knows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 dirty="0"/>
                  <a:t>”</a:t>
                </a:r>
                <a:endParaRPr lang="it-IT" b="1" dirty="0"/>
              </a:p>
            </p:txBody>
          </p:sp>
        </mc:Choice>
        <mc:Fallback xmlns="">
          <p:sp>
            <p:nvSpPr>
              <p:cNvPr id="112668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457200"/>
                <a:ext cx="1600200" cy="60960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670" name="Line 30"/>
          <p:cNvSpPr>
            <a:spLocks noChangeShapeType="1"/>
          </p:cNvSpPr>
          <p:nvPr/>
        </p:nvSpPr>
        <p:spPr bwMode="auto">
          <a:xfrm>
            <a:off x="1066800" y="1066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673" name="Line 33"/>
          <p:cNvSpPr>
            <a:spLocks noChangeShapeType="1"/>
          </p:cNvSpPr>
          <p:nvPr/>
        </p:nvSpPr>
        <p:spPr bwMode="auto">
          <a:xfrm flipH="1">
            <a:off x="2286000" y="20574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674" name="Line 34"/>
          <p:cNvSpPr>
            <a:spLocks noChangeShapeType="1"/>
          </p:cNvSpPr>
          <p:nvPr/>
        </p:nvSpPr>
        <p:spPr bwMode="auto">
          <a:xfrm flipH="1">
            <a:off x="2286000" y="25146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676" name="Line 36"/>
          <p:cNvSpPr>
            <a:spLocks noChangeShapeType="1"/>
          </p:cNvSpPr>
          <p:nvPr/>
        </p:nvSpPr>
        <p:spPr bwMode="auto">
          <a:xfrm flipV="1">
            <a:off x="2286000" y="18288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677" name="Line 37"/>
          <p:cNvSpPr>
            <a:spLocks noChangeShapeType="1"/>
          </p:cNvSpPr>
          <p:nvPr/>
        </p:nvSpPr>
        <p:spPr bwMode="auto">
          <a:xfrm flipV="1">
            <a:off x="2286000" y="22860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680" name="Line 40"/>
          <p:cNvSpPr>
            <a:spLocks noChangeShapeType="1"/>
          </p:cNvSpPr>
          <p:nvPr/>
        </p:nvSpPr>
        <p:spPr bwMode="auto">
          <a:xfrm flipH="1">
            <a:off x="2209800" y="55626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681" name="Line 41"/>
          <p:cNvSpPr>
            <a:spLocks noChangeShapeType="1"/>
          </p:cNvSpPr>
          <p:nvPr/>
        </p:nvSpPr>
        <p:spPr bwMode="auto">
          <a:xfrm flipH="1">
            <a:off x="2209800" y="60198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683" name="Line 43"/>
          <p:cNvSpPr>
            <a:spLocks noChangeShapeType="1"/>
          </p:cNvSpPr>
          <p:nvPr/>
        </p:nvSpPr>
        <p:spPr bwMode="auto">
          <a:xfrm flipV="1">
            <a:off x="2209800" y="53340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684" name="Line 44"/>
          <p:cNvSpPr>
            <a:spLocks noChangeShapeType="1"/>
          </p:cNvSpPr>
          <p:nvPr/>
        </p:nvSpPr>
        <p:spPr bwMode="auto">
          <a:xfrm flipV="1">
            <a:off x="2209800" y="57912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685" name="Text Box 45"/>
          <p:cNvSpPr txBox="1">
            <a:spLocks noChangeArrowheads="1"/>
          </p:cNvSpPr>
          <p:nvPr/>
        </p:nvSpPr>
        <p:spPr bwMode="auto">
          <a:xfrm>
            <a:off x="5143504" y="885810"/>
            <a:ext cx="1414462" cy="400050"/>
          </a:xfrm>
          <a:prstGeom prst="rect">
            <a:avLst/>
          </a:prstGeom>
          <a:solidFill>
            <a:srgbClr val="F4FAFA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/>
              <a:t>a protocol</a:t>
            </a:r>
          </a:p>
        </p:txBody>
      </p:sp>
      <p:sp>
        <p:nvSpPr>
          <p:cNvPr id="41" name="Rectangle 4"/>
          <p:cNvSpPr>
            <a:spLocks noChangeArrowheads="1"/>
          </p:cNvSpPr>
          <p:nvPr/>
        </p:nvSpPr>
        <p:spPr bwMode="auto">
          <a:xfrm>
            <a:off x="3357554" y="4572008"/>
            <a:ext cx="3357586" cy="16621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Rectangle 6"/>
          <p:cNvSpPr>
            <a:spLocks noChangeArrowheads="1"/>
          </p:cNvSpPr>
          <p:nvPr/>
        </p:nvSpPr>
        <p:spPr bwMode="auto">
          <a:xfrm>
            <a:off x="3786174" y="4948230"/>
            <a:ext cx="53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none" anchor="ctr"/>
          <a:lstStyle/>
          <a:p>
            <a:pPr algn="ctr"/>
            <a:endParaRPr lang="it-IT" b="1" dirty="0"/>
          </a:p>
        </p:txBody>
      </p:sp>
      <p:sp>
        <p:nvSpPr>
          <p:cNvPr id="45" name="Text Box 45"/>
          <p:cNvSpPr txBox="1">
            <a:spLocks noChangeArrowheads="1"/>
          </p:cNvSpPr>
          <p:nvPr/>
        </p:nvSpPr>
        <p:spPr bwMode="auto">
          <a:xfrm>
            <a:off x="5072066" y="4643446"/>
            <a:ext cx="1414462" cy="400050"/>
          </a:xfrm>
          <a:prstGeom prst="rect">
            <a:avLst/>
          </a:prstGeom>
          <a:solidFill>
            <a:srgbClr val="F4FAFA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dirty="0"/>
              <a:t>a protocol</a:t>
            </a:r>
          </a:p>
        </p:txBody>
      </p:sp>
      <p:pic>
        <p:nvPicPr>
          <p:cNvPr id="46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09575" y="3338193"/>
            <a:ext cx="1500198" cy="166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140475" y="4572008"/>
                <a:ext cx="2643206" cy="369332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 {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  <m:sup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→ {</m:t>
                      </m:r>
                      <m:r>
                        <a:rPr lang="it-IT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𝟎</m:t>
                      </m:r>
                      <m:r>
                        <a:rPr lang="it-IT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,</m:t>
                      </m:r>
                      <m:r>
                        <a:rPr lang="it-IT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𝟏</m:t>
                      </m:r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}</m:t>
                      </m:r>
                      <m:r>
                        <a:rPr lang="it-IT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𝑳</m:t>
                      </m:r>
                    </m:oMath>
                  </m:oMathPara>
                </a14:m>
                <a:endParaRPr lang="it-IT" b="1" dirty="0">
                  <a:solidFill>
                    <a:srgbClr val="FF0000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75" y="4572008"/>
                <a:ext cx="2643206" cy="369332"/>
              </a:xfrm>
              <a:prstGeom prst="rect">
                <a:avLst/>
              </a:prstGeom>
              <a:blipFill rotWithShape="0">
                <a:blip r:embed="rId8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Curved Connector 54"/>
          <p:cNvCxnSpPr/>
          <p:nvPr/>
        </p:nvCxnSpPr>
        <p:spPr>
          <a:xfrm rot="10800000">
            <a:off x="2357422" y="4214818"/>
            <a:ext cx="1571628" cy="1109650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urved Connector 56"/>
          <p:cNvCxnSpPr/>
          <p:nvPr/>
        </p:nvCxnSpPr>
        <p:spPr>
          <a:xfrm rot="10800000">
            <a:off x="2428860" y="3929066"/>
            <a:ext cx="1571628" cy="1109650"/>
          </a:xfrm>
          <a:prstGeom prst="curvedConnector3">
            <a:avLst>
              <a:gd name="adj1" fmla="val 40303"/>
            </a:avLst>
          </a:prstGeom>
          <a:ln w="2857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63"/>
          <p:cNvGrpSpPr/>
          <p:nvPr/>
        </p:nvGrpSpPr>
        <p:grpSpPr>
          <a:xfrm rot="16200000">
            <a:off x="940569" y="4702977"/>
            <a:ext cx="333376" cy="928694"/>
            <a:chOff x="7072330" y="3529018"/>
            <a:chExt cx="1066800" cy="685800"/>
          </a:xfrm>
        </p:grpSpPr>
        <p:sp>
          <p:nvSpPr>
            <p:cNvPr id="60" name="Line 40"/>
            <p:cNvSpPr>
              <a:spLocks noChangeShapeType="1"/>
            </p:cNvSpPr>
            <p:nvPr/>
          </p:nvSpPr>
          <p:spPr bwMode="auto">
            <a:xfrm flipH="1">
              <a:off x="7072330" y="3757618"/>
              <a:ext cx="1066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41"/>
            <p:cNvSpPr>
              <a:spLocks noChangeShapeType="1"/>
            </p:cNvSpPr>
            <p:nvPr/>
          </p:nvSpPr>
          <p:spPr bwMode="auto">
            <a:xfrm flipH="1">
              <a:off x="7072330" y="4214818"/>
              <a:ext cx="1066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43"/>
            <p:cNvSpPr>
              <a:spLocks noChangeShapeType="1"/>
            </p:cNvSpPr>
            <p:nvPr/>
          </p:nvSpPr>
          <p:spPr bwMode="auto">
            <a:xfrm flipV="1">
              <a:off x="7072330" y="3529018"/>
              <a:ext cx="1066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Line 44"/>
            <p:cNvSpPr>
              <a:spLocks noChangeShapeType="1"/>
            </p:cNvSpPr>
            <p:nvPr/>
          </p:nvSpPr>
          <p:spPr bwMode="auto">
            <a:xfrm flipV="1">
              <a:off x="7072330" y="3986218"/>
              <a:ext cx="1066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7286644" y="3571876"/>
                <a:ext cx="164307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Every call to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dirty="0"/>
                  <a:t> is replaced with a query to the oracle.</a:t>
                </a: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6644" y="3571876"/>
                <a:ext cx="1643074" cy="1200329"/>
              </a:xfrm>
              <a:prstGeom prst="rect">
                <a:avLst/>
              </a:prstGeom>
              <a:blipFill rotWithShape="0">
                <a:blip r:embed="rId9"/>
                <a:stretch>
                  <a:fillRect l="-2963" t="-3553" b="-659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Box 65"/>
          <p:cNvSpPr txBox="1"/>
          <p:nvPr/>
        </p:nvSpPr>
        <p:spPr>
          <a:xfrm>
            <a:off x="7358082" y="5000636"/>
            <a:ext cx="16430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also the adversary is allowed to query the oracle.</a:t>
            </a:r>
          </a:p>
        </p:txBody>
      </p:sp>
    </p:spTree>
    <p:extLst>
      <p:ext uri="{BB962C8B-B14F-4D97-AF65-F5344CB8AC3E}">
        <p14:creationId xmlns:p14="http://schemas.microsoft.com/office/powerpoint/2010/main" val="222334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5" grpId="0"/>
      <p:bldP spid="112680" grpId="0" animBg="1"/>
      <p:bldP spid="112681" grpId="0" animBg="1"/>
      <p:bldP spid="112683" grpId="0" animBg="1"/>
      <p:bldP spid="112684" grpId="0" animBg="1"/>
      <p:bldP spid="41" grpId="0" animBg="1"/>
      <p:bldP spid="42" grpId="0" animBg="1"/>
      <p:bldP spid="45" grpId="0" animBg="1"/>
      <p:bldP spid="47" grpId="0" animBg="1"/>
      <p:bldP spid="65" grpId="0"/>
      <p:bldP spid="6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74638"/>
            <a:ext cx="8576530" cy="1143000"/>
          </a:xfrm>
        </p:spPr>
        <p:txBody>
          <a:bodyPr/>
          <a:lstStyle/>
          <a:p>
            <a:r>
              <a:rPr lang="en-US" dirty="0"/>
              <a:t>How would we use it in the proof?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5"/>
              <p:cNvSpPr>
                <a:spLocks noChangeArrowheads="1"/>
              </p:cNvSpPr>
              <p:nvPr/>
            </p:nvSpPr>
            <p:spPr bwMode="auto">
              <a:xfrm>
                <a:off x="2571736" y="1571612"/>
                <a:ext cx="4071966" cy="466724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en-US" sz="2000" dirty="0"/>
                  <a:t>shorter “uniformly random”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1736" y="1571612"/>
                <a:ext cx="4071966" cy="466724"/>
              </a:xfrm>
              <a:prstGeom prst="rect">
                <a:avLst/>
              </a:prstGeom>
              <a:blipFill rotWithShape="0">
                <a:blip r:embed="rId3"/>
                <a:stretch>
                  <a:fillRect b="-1538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6"/>
              <p:cNvSpPr>
                <a:spLocks noChangeArrowheads="1"/>
              </p:cNvSpPr>
              <p:nvPr/>
            </p:nvSpPr>
            <p:spPr bwMode="auto">
              <a:xfrm>
                <a:off x="857224" y="4281478"/>
                <a:ext cx="74676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en-US" sz="2000" dirty="0"/>
                  <a:t>user generated randomness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7224" y="4281478"/>
                <a:ext cx="7467600" cy="457200"/>
              </a:xfrm>
              <a:prstGeom prst="rect">
                <a:avLst/>
              </a:prstGeom>
              <a:blipFill rotWithShape="0">
                <a:blip r:embed="rId4"/>
                <a:stretch>
                  <a:fillRect b="-15584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rapezoid 6"/>
              <p:cNvSpPr/>
              <p:nvPr/>
            </p:nvSpPr>
            <p:spPr>
              <a:xfrm>
                <a:off x="928662" y="2143116"/>
                <a:ext cx="7429552" cy="2000264"/>
              </a:xfrm>
              <a:prstGeom prst="trapezoid">
                <a:avLst>
                  <a:gd name="adj" fmla="val 79647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/>
                  <a:t>a hash function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3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3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sz="36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it-IT" sz="36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36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it-IT" sz="36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sz="36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sz="36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it-IT" sz="3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→ {</m:t>
                      </m:r>
                      <m:r>
                        <a:rPr lang="it-IT" sz="3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𝟎</m:t>
                      </m:r>
                      <m:r>
                        <a:rPr lang="it-IT" sz="3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,</m:t>
                      </m:r>
                      <m:r>
                        <a:rPr lang="it-IT" sz="3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𝟏</m:t>
                      </m:r>
                      <m:r>
                        <a:rPr lang="it-IT" sz="3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}</m:t>
                      </m:r>
                      <m:r>
                        <a:rPr lang="it-IT" sz="36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𝑳</m:t>
                      </m:r>
                    </m:oMath>
                  </m:oMathPara>
                </a14:m>
                <a:endParaRPr lang="it-IT" sz="3600" b="1" dirty="0">
                  <a:solidFill>
                    <a:srgbClr val="FF0000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7" name="Trapezoid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662" y="2143116"/>
                <a:ext cx="7429552" cy="2000264"/>
              </a:xfrm>
              <a:prstGeom prst="trapezoid">
                <a:avLst>
                  <a:gd name="adj" fmla="val 79647"/>
                </a:avLst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ular Callout 11"/>
              <p:cNvSpPr/>
              <p:nvPr/>
            </p:nvSpPr>
            <p:spPr>
              <a:xfrm>
                <a:off x="1571604" y="5429264"/>
                <a:ext cx="7072362" cy="785818"/>
              </a:xfrm>
              <a:prstGeom prst="wedgeRoundRectCallout">
                <a:avLst>
                  <a:gd name="adj1" fmla="val 14259"/>
                  <a:gd name="adj2" fmla="val -153494"/>
                  <a:gd name="adj3" fmla="val 16667"/>
                </a:avLst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As long as the adversary never queried the oracle on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2000" dirty="0"/>
                  <a:t> </a:t>
                </a:r>
                <a:br>
                  <a:rPr lang="en-US" sz="2000" dirty="0"/>
                </a:br>
                <a:r>
                  <a:rPr lang="en-US" sz="2000" dirty="0"/>
                  <a:t>the value </a:t>
                </a:r>
                <a14:m>
                  <m:oMath xmlns:m="http://schemas.openxmlformats.org/officeDocument/2006/math">
                    <m:r>
                      <a:rPr lang="it-IT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it-IT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it-IT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sz="2000" b="1" dirty="0">
                    <a:solidFill>
                      <a:srgbClr val="993300"/>
                    </a:solidFill>
                  </a:rPr>
                  <a:t> </a:t>
                </a:r>
                <a:r>
                  <a:rPr lang="it-IT" sz="2000" dirty="0">
                    <a:solidFill>
                      <a:schemeClr val="tx1"/>
                    </a:solidFill>
                  </a:rPr>
                  <a:t>“</a:t>
                </a:r>
                <a:r>
                  <a:rPr lang="en-US" sz="2000" dirty="0">
                    <a:solidFill>
                      <a:schemeClr val="tx1"/>
                    </a:solidFill>
                  </a:rPr>
                  <a:t>looks completely random to him</a:t>
                </a:r>
                <a:r>
                  <a:rPr lang="it-IT" sz="2000" dirty="0">
                    <a:solidFill>
                      <a:schemeClr val="tx1"/>
                    </a:solidFill>
                  </a:rPr>
                  <a:t>”.</a:t>
                </a:r>
                <a:r>
                  <a:rPr lang="en-US" sz="2000" dirty="0">
                    <a:solidFill>
                      <a:schemeClr val="tx1"/>
                    </a:solidFill>
                  </a:rPr>
                  <a:t>   </a:t>
                </a:r>
              </a:p>
            </p:txBody>
          </p:sp>
        </mc:Choice>
        <mc:Fallback xmlns="">
          <p:sp>
            <p:nvSpPr>
              <p:cNvPr id="12" name="Rounded Rectangular Callou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604" y="5429264"/>
                <a:ext cx="7072362" cy="785818"/>
              </a:xfrm>
              <a:prstGeom prst="wedgeRoundRectCallout">
                <a:avLst>
                  <a:gd name="adj1" fmla="val 14259"/>
                  <a:gd name="adj2" fmla="val -153494"/>
                  <a:gd name="adj3" fmla="val 16667"/>
                </a:avLst>
              </a:prstGeom>
              <a:blipFill rotWithShape="0">
                <a:blip r:embed="rId6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MCj04359410000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57158" y="4929198"/>
            <a:ext cx="1841500" cy="12731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9240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0"/>
            <a:ext cx="857653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Criticism of the Random Oracle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500174"/>
            <a:ext cx="8505092" cy="4786346"/>
          </a:xfrm>
          <a:solidFill>
            <a:schemeClr val="bg2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There exists a signature scheme that is </a:t>
            </a:r>
            <a:br>
              <a:rPr lang="en-US" dirty="0"/>
            </a:br>
            <a:endParaRPr lang="en-US" dirty="0"/>
          </a:p>
          <a:p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secure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in </a:t>
            </a:r>
            <a:r>
              <a:rPr lang="en-US" b="1" dirty="0"/>
              <a:t>ROM </a:t>
            </a:r>
          </a:p>
          <a:p>
            <a:pPr>
              <a:buNone/>
            </a:pPr>
            <a:br>
              <a:rPr lang="en-US" dirty="0"/>
            </a:br>
            <a:r>
              <a:rPr lang="en-US" dirty="0"/>
              <a:t>but</a:t>
            </a:r>
            <a:br>
              <a:rPr lang="en-US" dirty="0"/>
            </a:br>
            <a:r>
              <a:rPr lang="en-US" dirty="0"/>
              <a:t> </a:t>
            </a:r>
          </a:p>
          <a:p>
            <a:r>
              <a:rPr lang="en-US" dirty="0"/>
              <a:t> is </a:t>
            </a:r>
            <a:r>
              <a:rPr lang="en-US" b="1" dirty="0">
                <a:solidFill>
                  <a:srgbClr val="FF0000"/>
                </a:solidFill>
              </a:rPr>
              <a:t>not secure </a:t>
            </a:r>
            <a:r>
              <a:rPr lang="en-US" dirty="0"/>
              <a:t>if the random oracle is replaced with </a:t>
            </a:r>
            <a:r>
              <a:rPr lang="en-US" b="1" dirty="0"/>
              <a:t>any</a:t>
            </a:r>
            <a:r>
              <a:rPr lang="en-US" dirty="0"/>
              <a:t> real hash function.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This example is </a:t>
            </a:r>
            <a:r>
              <a:rPr lang="en-US" b="1" dirty="0">
                <a:solidFill>
                  <a:srgbClr val="0070C0"/>
                </a:solidFill>
              </a:rPr>
              <a:t>very artificial</a:t>
            </a:r>
            <a:r>
              <a:rPr lang="en-US" dirty="0"/>
              <a:t>.  No “realistic” example of this type is know.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214281" y="1285860"/>
            <a:ext cx="8660777" cy="38472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900" dirty="0"/>
              <a:t>[Canetti, </a:t>
            </a:r>
            <a:r>
              <a:rPr lang="en-US" sz="1900" dirty="0" err="1"/>
              <a:t>Goldreich</a:t>
            </a:r>
            <a:r>
              <a:rPr lang="en-US" sz="1900" dirty="0"/>
              <a:t>, Halevi: </a:t>
            </a:r>
            <a:r>
              <a:rPr lang="en-US" sz="1900" b="1" dirty="0">
                <a:solidFill>
                  <a:srgbClr val="00B050"/>
                </a:solidFill>
              </a:rPr>
              <a:t>The random oracle methodology, revisited</a:t>
            </a:r>
            <a:r>
              <a:rPr lang="en-US" sz="1900" dirty="0"/>
              <a:t>. 1998]</a:t>
            </a:r>
          </a:p>
        </p:txBody>
      </p:sp>
    </p:spTree>
    <p:extLst>
      <p:ext uri="{BB962C8B-B14F-4D97-AF65-F5344CB8AC3E}">
        <p14:creationId xmlns:p14="http://schemas.microsoft.com/office/powerpoint/2010/main" val="2820026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82" y="274638"/>
            <a:ext cx="8719406" cy="1143000"/>
          </a:xfrm>
        </p:spPr>
        <p:txBody>
          <a:bodyPr/>
          <a:lstStyle/>
          <a:p>
            <a:r>
              <a:rPr lang="en-US" dirty="0"/>
              <a:t>Terminology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857224" y="1714488"/>
            <a:ext cx="7572428" cy="15696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/>
              <a:t>Model without the random oracles: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/>
              <a:t>“</a:t>
            </a:r>
            <a:r>
              <a:rPr lang="en-US" sz="3200" b="1" dirty="0">
                <a:solidFill>
                  <a:srgbClr val="7030A0"/>
                </a:solidFill>
              </a:rPr>
              <a:t>plain model</a:t>
            </a:r>
            <a:r>
              <a:rPr lang="en-US" sz="3200" dirty="0"/>
              <a:t>”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/>
              <a:t>“</a:t>
            </a:r>
            <a:r>
              <a:rPr lang="en-US" sz="3200" b="1" dirty="0">
                <a:solidFill>
                  <a:srgbClr val="7030A0"/>
                </a:solidFill>
              </a:rPr>
              <a:t>cryptographic model</a:t>
            </a:r>
            <a:r>
              <a:rPr lang="en-US" sz="3200" dirty="0"/>
              <a:t>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857224" y="3929066"/>
            <a:ext cx="7572428" cy="107721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/>
              <a:t>Random Oracle Model is also called:</a:t>
            </a:r>
          </a:p>
          <a:p>
            <a:r>
              <a:rPr lang="en-US" sz="3200" dirty="0"/>
              <a:t>the “</a:t>
            </a:r>
            <a:r>
              <a:rPr lang="en-US" sz="3200" b="1" dirty="0">
                <a:solidFill>
                  <a:srgbClr val="FF0000"/>
                </a:solidFill>
              </a:rPr>
              <a:t>Random Oracle Heuristic</a:t>
            </a:r>
            <a:r>
              <a:rPr lang="en-US" sz="3200" dirty="0"/>
              <a:t>”.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6946" y="5987204"/>
            <a:ext cx="77867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B050"/>
                </a:solidFill>
              </a:rPr>
              <a:t>Common view</a:t>
            </a:r>
            <a:r>
              <a:rPr lang="en-US" sz="2400" dirty="0"/>
              <a:t>: a proof in </a:t>
            </a:r>
            <a:r>
              <a:rPr lang="en-US" sz="2400" b="1" dirty="0"/>
              <a:t>ROM</a:t>
            </a:r>
            <a:r>
              <a:rPr lang="en-US" sz="2400" dirty="0"/>
              <a:t> is better than nothing.</a:t>
            </a:r>
          </a:p>
        </p:txBody>
      </p:sp>
    </p:spTree>
    <p:extLst>
      <p:ext uri="{BB962C8B-B14F-4D97-AF65-F5344CB8AC3E}">
        <p14:creationId xmlns:p14="http://schemas.microsoft.com/office/powerpoint/2010/main" val="2366529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0148" y="1642219"/>
            <a:ext cx="6929486" cy="368776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Introduction and definitions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Hash function design paradigms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Other </a:t>
            </a:r>
            <a:r>
              <a:rPr lang="pl-PL" dirty="0"/>
              <a:t>uses of hash functions</a:t>
            </a:r>
            <a:endParaRPr lang="it-IT" dirty="0"/>
          </a:p>
          <a:p>
            <a:pPr marL="971550" lvl="1" indent="-514350">
              <a:buFont typeface="+mj-lt"/>
              <a:buAutoNum type="arabicPeriod"/>
            </a:pPr>
            <a:r>
              <a:rPr lang="it-IT" dirty="0"/>
              <a:t>Merkle trees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Practical randomness extraction and the random oracle model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Password storage and Proofs of Work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Real-life constructions</a:t>
            </a:r>
            <a:endParaRPr lang="it-IT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869003" y="4058074"/>
            <a:ext cx="1214446" cy="71438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6416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33" y="58615"/>
            <a:ext cx="7886700" cy="1325563"/>
          </a:xfrm>
        </p:spPr>
        <p:txBody>
          <a:bodyPr/>
          <a:lstStyle/>
          <a:p>
            <a:r>
              <a:rPr lang="en-US" dirty="0"/>
              <a:t>Password storage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6340020" cy="21168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Simple idea: instead of storing user’s passwords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dirty="0"/>
                  <a:t> in plaintext store their hashes.</a:t>
                </a:r>
              </a:p>
              <a:p>
                <a:pPr marL="0" indent="0">
                  <a:buNone/>
                </a:pPr>
                <a:r>
                  <a:rPr lang="en-US" b="1" u="sng" dirty="0">
                    <a:solidFill>
                      <a:srgbClr val="0070C0"/>
                    </a:solidFill>
                  </a:rPr>
                  <a:t>Better</a:t>
                </a:r>
                <a:r>
                  <a:rPr lang="en-US" dirty="0"/>
                  <a:t>: “salted hashes”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6340020" cy="2116832"/>
              </a:xfrm>
              <a:blipFill rotWithShape="0">
                <a:blip r:embed="rId2"/>
                <a:stretch>
                  <a:fillRect l="-1923" t="-518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http://images.clipartpanda.com/server-clipart-RTGK5rgTL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846138"/>
            <a:ext cx="1587492" cy="2454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ular Callout 3"/>
          <p:cNvSpPr/>
          <p:nvPr/>
        </p:nvSpPr>
        <p:spPr>
          <a:xfrm>
            <a:off x="827584" y="3933056"/>
            <a:ext cx="7859216" cy="2304256"/>
          </a:xfrm>
          <a:prstGeom prst="wedgeRectCallout">
            <a:avLst>
              <a:gd name="adj1" fmla="val 10510"/>
              <a:gd name="adj2" fmla="val -59775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u="sng" dirty="0">
                <a:solidFill>
                  <a:srgbClr val="7030A0"/>
                </a:solidFill>
              </a:rPr>
              <a:t>advantages</a:t>
            </a:r>
            <a:r>
              <a:rPr lang="en-US" sz="2800" dirty="0"/>
              <a:t>:</a:t>
            </a:r>
          </a:p>
          <a:p>
            <a:pPr marL="342900" indent="-342900">
              <a:buAutoNum type="arabicPeriod"/>
            </a:pPr>
            <a:r>
              <a:rPr lang="en-US" sz="2800" dirty="0"/>
              <a:t>makes “precomputation attacks” harder</a:t>
            </a:r>
            <a:r>
              <a:rPr lang="pl-PL" sz="2800" dirty="0"/>
              <a:t> [</a:t>
            </a:r>
            <a:r>
              <a:rPr lang="pl-PL" sz="2800" b="1" dirty="0"/>
              <a:t>exercise</a:t>
            </a:r>
            <a:r>
              <a:rPr lang="pl-PL" sz="2800" dirty="0"/>
              <a:t>]</a:t>
            </a:r>
            <a:endParaRPr lang="en-US" sz="2800" b="1" dirty="0"/>
          </a:p>
          <a:p>
            <a:pPr marL="342900" indent="-342900">
              <a:buAutoNum type="arabicPeriod"/>
            </a:pPr>
            <a:r>
              <a:rPr lang="en-US" sz="2800" dirty="0"/>
              <a:t>if two users have the same password then the stored values are different.</a:t>
            </a:r>
          </a:p>
        </p:txBody>
      </p:sp>
    </p:spTree>
    <p:extLst>
      <p:ext uri="{BB962C8B-B14F-4D97-AF65-F5344CB8AC3E}">
        <p14:creationId xmlns:p14="http://schemas.microsoft.com/office/powerpoint/2010/main" val="1652043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dirty="0"/>
              <a:t>Proofs of work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35429" y="1041986"/>
            <a:ext cx="8483600" cy="19407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dirty="0"/>
              <a:t>Introduced by </a:t>
            </a:r>
            <a:r>
              <a:rPr lang="en-US" sz="2500" b="1" dirty="0" err="1">
                <a:solidFill>
                  <a:srgbClr val="00B050"/>
                </a:solidFill>
              </a:rPr>
              <a:t>Dwork</a:t>
            </a:r>
            <a:r>
              <a:rPr lang="en-US" sz="2500" b="1" dirty="0">
                <a:solidFill>
                  <a:srgbClr val="00B050"/>
                </a:solidFill>
              </a:rPr>
              <a:t> and Naor </a:t>
            </a:r>
            <a:r>
              <a:rPr lang="en-US" sz="2500" dirty="0"/>
              <a:t>[Crypto 1992] as a countermeasure against spam.</a:t>
            </a:r>
          </a:p>
          <a:p>
            <a:pPr marL="0" indent="0">
              <a:buNone/>
            </a:pPr>
            <a:r>
              <a:rPr lang="en-US" sz="2500" b="1" u="sng" dirty="0">
                <a:solidFill>
                  <a:srgbClr val="FF0000"/>
                </a:solidFill>
              </a:rPr>
              <a:t>Basic idea</a:t>
            </a:r>
            <a:r>
              <a:rPr lang="en-US" sz="2500" dirty="0"/>
              <a:t>:  Force users to do some computational work: solve a </a:t>
            </a:r>
            <a:r>
              <a:rPr lang="en-US" sz="2500" b="1" dirty="0"/>
              <a:t>moderately difficult </a:t>
            </a:r>
            <a:r>
              <a:rPr lang="en-US" sz="2500" dirty="0"/>
              <a:t>“puzzle” (checking correctness of the solution has to be fast).</a:t>
            </a:r>
          </a:p>
        </p:txBody>
      </p:sp>
      <p:pic>
        <p:nvPicPr>
          <p:cNvPr id="5" name="Picture 4" descr="MCj0411466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84447" y="4061813"/>
            <a:ext cx="1514741" cy="1574781"/>
          </a:xfrm>
          <a:prstGeom prst="rect">
            <a:avLst/>
          </a:prstGeom>
          <a:noFill/>
        </p:spPr>
      </p:pic>
      <p:pic>
        <p:nvPicPr>
          <p:cNvPr id="6" name="Picture 7" descr="MCj0415808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16439" y="4029769"/>
            <a:ext cx="1443584" cy="1517271"/>
          </a:xfrm>
          <a:prstGeom prst="rect">
            <a:avLst/>
          </a:prstGeom>
          <a:noFill/>
        </p:spPr>
      </p:pic>
      <p:sp>
        <p:nvSpPr>
          <p:cNvPr id="7" name="Right Arrow 6"/>
          <p:cNvSpPr/>
          <p:nvPr/>
        </p:nvSpPr>
        <p:spPr>
          <a:xfrm>
            <a:off x="3185164" y="3093911"/>
            <a:ext cx="2619141" cy="1324046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I want to send you an email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Left Arrow 7"/>
              <p:cNvSpPr/>
              <p:nvPr/>
            </p:nvSpPr>
            <p:spPr>
              <a:xfrm>
                <a:off x="3105022" y="4147608"/>
                <a:ext cx="2567223" cy="1245312"/>
              </a:xfrm>
              <a:prstGeom prst="leftArrow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solve a puzzle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first</a:t>
                </a:r>
              </a:p>
            </p:txBody>
          </p:sp>
        </mc:Choice>
        <mc:Fallback xmlns="">
          <p:sp>
            <p:nvSpPr>
              <p:cNvPr id="8" name="Left Arrow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022" y="4147608"/>
                <a:ext cx="2567223" cy="1245312"/>
              </a:xfrm>
              <a:prstGeom prst="leftArrow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ular Callout 8"/>
              <p:cNvSpPr/>
              <p:nvPr/>
            </p:nvSpPr>
            <p:spPr>
              <a:xfrm>
                <a:off x="229827" y="3429000"/>
                <a:ext cx="2160240" cy="2191239"/>
              </a:xfrm>
              <a:prstGeom prst="wedgeRectCallout">
                <a:avLst>
                  <a:gd name="adj1" fmla="val 54418"/>
                  <a:gd name="adj2" fmla="val -12680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computes</a:t>
                </a:r>
                <a:br>
                  <a:rPr lang="en-US" sz="2200" dirty="0"/>
                </a:br>
                <a:r>
                  <a:rPr lang="en-US" sz="22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sz="22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/>
                  <a:t>– “a solution for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200" dirty="0"/>
                  <a:t>”</a:t>
                </a:r>
              </a:p>
              <a:p>
                <a:pPr algn="ctr"/>
                <a:r>
                  <a:rPr lang="en-US" sz="2200" dirty="0"/>
                  <a:t>(this takes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sz="2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seconds)</a:t>
                </a:r>
              </a:p>
            </p:txBody>
          </p:sp>
        </mc:Choice>
        <mc:Fallback xmlns="">
          <p:sp>
            <p:nvSpPr>
              <p:cNvPr id="9" name="Rectangular Callou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27" y="3429000"/>
                <a:ext cx="2160240" cy="2191239"/>
              </a:xfrm>
              <a:prstGeom prst="wedgeRectCallout">
                <a:avLst>
                  <a:gd name="adj1" fmla="val 54418"/>
                  <a:gd name="adj2" fmla="val -12680"/>
                </a:avLst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ular Callout 9"/>
              <p:cNvSpPr/>
              <p:nvPr/>
            </p:nvSpPr>
            <p:spPr>
              <a:xfrm>
                <a:off x="6625001" y="4675240"/>
                <a:ext cx="2304256" cy="1743600"/>
              </a:xfrm>
              <a:prstGeom prst="wedgeRectCallout">
                <a:avLst>
                  <a:gd name="adj1" fmla="val -48769"/>
                  <a:gd name="adj2" fmla="val -61907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verifies if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sz="2200" dirty="0"/>
                  <a:t> is a solution for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sz="2200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200" dirty="0"/>
                  <a:t>(this takes a few milliseconds)</a:t>
                </a:r>
              </a:p>
            </p:txBody>
          </p:sp>
        </mc:Choice>
        <mc:Fallback xmlns="">
          <p:sp>
            <p:nvSpPr>
              <p:cNvPr id="10" name="Rectangular Callou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001" y="4675240"/>
                <a:ext cx="2304256" cy="1743600"/>
              </a:xfrm>
              <a:prstGeom prst="wedgeRectCallout">
                <a:avLst>
                  <a:gd name="adj1" fmla="val -48769"/>
                  <a:gd name="adj2" fmla="val -61907"/>
                </a:avLst>
              </a:prstGeom>
              <a:blipFill rotWithShape="0">
                <a:blip r:embed="rId6"/>
                <a:stretch>
                  <a:fillRect r="-184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ight Arrow 10"/>
              <p:cNvSpPr/>
              <p:nvPr/>
            </p:nvSpPr>
            <p:spPr>
              <a:xfrm>
                <a:off x="3185164" y="5306181"/>
                <a:ext cx="2619141" cy="660827"/>
              </a:xfrm>
              <a:prstGeom prst="rightArrow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ight Arrow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164" y="5306181"/>
                <a:ext cx="2619141" cy="660827"/>
              </a:xfrm>
              <a:prstGeom prst="rightArrow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Left Arrow 11"/>
          <p:cNvSpPr/>
          <p:nvPr/>
        </p:nvSpPr>
        <p:spPr>
          <a:xfrm>
            <a:off x="3105022" y="5924030"/>
            <a:ext cx="2567223" cy="522587"/>
          </a:xfrm>
          <a:prstGeom prst="lef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413465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aśnienie prostokątne zaokrąglone 22"/>
          <p:cNvSpPr/>
          <p:nvPr/>
        </p:nvSpPr>
        <p:spPr>
          <a:xfrm>
            <a:off x="135962" y="3237691"/>
            <a:ext cx="5227970" cy="2158076"/>
          </a:xfrm>
          <a:prstGeom prst="wedgeRoundRectCallout">
            <a:avLst>
              <a:gd name="adj1" fmla="val 17262"/>
              <a:gd name="adj2" fmla="val 65290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102435"/>
            <a:ext cx="8229600" cy="942399"/>
          </a:xfrm>
        </p:spPr>
        <p:txBody>
          <a:bodyPr/>
          <a:lstStyle/>
          <a:p>
            <a:r>
              <a:rPr lang="en-US" dirty="0">
                <a:latin typeface="+mn-lt"/>
              </a:rPr>
              <a:t>A simple hash-based </a:t>
            </a:r>
            <a:r>
              <a:rPr lang="en-US" dirty="0" err="1">
                <a:latin typeface="+mn-lt"/>
              </a:rPr>
              <a:t>PoW</a:t>
            </a:r>
            <a:endParaRPr lang="en-US" dirty="0">
              <a:latin typeface="+mn-lt"/>
            </a:endParaRPr>
          </a:p>
        </p:txBody>
      </p:sp>
      <p:sp>
        <p:nvSpPr>
          <p:cNvPr id="7" name="PoleTekstowe 6"/>
          <p:cNvSpPr txBox="1"/>
          <p:nvPr/>
        </p:nvSpPr>
        <p:spPr>
          <a:xfrm>
            <a:off x="229120" y="3265964"/>
            <a:ext cx="10250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Prover</a:t>
            </a:r>
            <a:endParaRPr lang="en-US" sz="2400" b="1" dirty="0"/>
          </a:p>
        </p:txBody>
      </p:sp>
      <p:sp>
        <p:nvSpPr>
          <p:cNvPr id="10" name="Strzałka w lewo 9"/>
          <p:cNvSpPr/>
          <p:nvPr/>
        </p:nvSpPr>
        <p:spPr>
          <a:xfrm>
            <a:off x="1963451" y="1925297"/>
            <a:ext cx="4582578" cy="1003859"/>
          </a:xfrm>
          <a:prstGeom prst="lef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random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rostokąt 11"/>
              <p:cNvSpPr/>
              <p:nvPr/>
            </p:nvSpPr>
            <p:spPr>
              <a:xfrm>
                <a:off x="230545" y="3637894"/>
                <a:ext cx="5133387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finds </a:t>
                </a:r>
                <a:r>
                  <a:rPr lang="en-US" sz="2400" b="1" i="1" dirty="0">
                    <a:solidFill>
                      <a:srgbClr val="FF0000"/>
                    </a:solidFill>
                  </a:rPr>
                  <a:t>s</a:t>
                </a:r>
                <a:r>
                  <a:rPr lang="en-US" sz="2400" dirty="0"/>
                  <a:t> such that</a:t>
                </a:r>
              </a:p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starts with </a:t>
                </a:r>
                <a:r>
                  <a:rPr lang="en-US" sz="2400" b="1" i="1" dirty="0">
                    <a:solidFill>
                      <a:srgbClr val="FF0000"/>
                    </a:solidFill>
                  </a:rPr>
                  <a:t>n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>
                    <a:solidFill>
                      <a:srgbClr val="000000"/>
                    </a:solidFill>
                  </a:rPr>
                  <a:t>zeros (in binary)</a:t>
                </a:r>
                <a:endParaRPr lang="en-US" sz="2400" b="1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2" name="Prostoką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545" y="3637894"/>
                <a:ext cx="5133387" cy="830997"/>
              </a:xfrm>
              <a:prstGeom prst="rect">
                <a:avLst/>
              </a:prstGeom>
              <a:blipFill rotWithShape="0">
                <a:blip r:embed="rId2"/>
                <a:stretch>
                  <a:fillRect l="-1900" t="-5882" r="-475" b="-1617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trzałka w prawo 12"/>
          <p:cNvSpPr/>
          <p:nvPr/>
        </p:nvSpPr>
        <p:spPr>
          <a:xfrm>
            <a:off x="2382352" y="3006144"/>
            <a:ext cx="3944437" cy="92886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rgbClr val="FF0000"/>
                </a:solidFill>
              </a:rPr>
              <a:t>s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4" name="Prostokąt 13"/>
          <p:cNvSpPr/>
          <p:nvPr/>
        </p:nvSpPr>
        <p:spPr>
          <a:xfrm>
            <a:off x="543616" y="4826259"/>
            <a:ext cx="914400" cy="4432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salt</a:t>
            </a:r>
          </a:p>
        </p:txBody>
      </p:sp>
      <p:cxnSp>
        <p:nvCxnSpPr>
          <p:cNvPr id="16" name="Łącznik zakrzywiony 15"/>
          <p:cNvCxnSpPr>
            <a:stCxn id="14" idx="0"/>
          </p:cNvCxnSpPr>
          <p:nvPr/>
        </p:nvCxnSpPr>
        <p:spPr>
          <a:xfrm rot="5400000" flipH="1" flipV="1">
            <a:off x="630819" y="4397270"/>
            <a:ext cx="798986" cy="58993"/>
          </a:xfrm>
          <a:prstGeom prst="curved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rostokąt 17"/>
          <p:cNvSpPr/>
          <p:nvPr/>
        </p:nvSpPr>
        <p:spPr>
          <a:xfrm>
            <a:off x="1458017" y="4826260"/>
            <a:ext cx="3182440" cy="4432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“hardness  parameter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PoleTekstowe 25"/>
              <p:cNvSpPr txBox="1"/>
              <p:nvPr/>
            </p:nvSpPr>
            <p:spPr>
              <a:xfrm>
                <a:off x="237937" y="5656766"/>
                <a:ext cx="59153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/>
                  <a:t>(in </a:t>
                </a:r>
                <a:r>
                  <a:rPr lang="pl-PL" sz="2400" b="1" dirty="0"/>
                  <a:t>ROM</a:t>
                </a:r>
                <a:r>
                  <a:rPr lang="pl-PL" sz="2400" dirty="0"/>
                  <a:t>) </a:t>
                </a:r>
                <a:r>
                  <a:rPr lang="en-US" sz="2400" dirty="0"/>
                  <a:t>takes expected time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2</a:t>
                </a:r>
                <a:r>
                  <a:rPr lang="en-US" sz="2400" b="1" i="1" baseline="30000" dirty="0">
                    <a:solidFill>
                      <a:srgbClr val="FF0000"/>
                    </a:solidFill>
                  </a:rPr>
                  <a:t>n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TIME(</a:t>
                </a:r>
                <a:r>
                  <a:rPr lang="en-US" sz="2400" b="1" i="1" dirty="0">
                    <a:solidFill>
                      <a:srgbClr val="FF0000"/>
                    </a:solidFill>
                  </a:rPr>
                  <a:t>H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) </a:t>
                </a:r>
              </a:p>
            </p:txBody>
          </p:sp>
        </mc:Choice>
        <mc:Fallback xmlns="">
          <p:sp>
            <p:nvSpPr>
              <p:cNvPr id="26" name="PoleTekstowe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937" y="5656766"/>
                <a:ext cx="5915337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1546" t="-10526" r="-1340" b="-2894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PoleTekstowe 26"/>
          <p:cNvSpPr txBox="1"/>
          <p:nvPr/>
        </p:nvSpPr>
        <p:spPr>
          <a:xfrm>
            <a:off x="6153274" y="5657700"/>
            <a:ext cx="2883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takes time </a:t>
            </a:r>
            <a:r>
              <a:rPr lang="en-US" sz="2400" b="1" dirty="0">
                <a:solidFill>
                  <a:srgbClr val="FF0000"/>
                </a:solidFill>
              </a:rPr>
              <a:t>TIME(</a:t>
            </a:r>
            <a:r>
              <a:rPr lang="en-US" sz="2400" b="1" i="1" dirty="0">
                <a:solidFill>
                  <a:srgbClr val="FF0000"/>
                </a:solidFill>
              </a:rPr>
              <a:t>H</a:t>
            </a:r>
            <a:r>
              <a:rPr lang="en-US" sz="2400" b="1" dirty="0">
                <a:solidFill>
                  <a:srgbClr val="FF0000"/>
                </a:solidFill>
              </a:rPr>
              <a:t>) </a:t>
            </a:r>
          </a:p>
        </p:txBody>
      </p:sp>
      <p:sp>
        <p:nvSpPr>
          <p:cNvPr id="30" name="PoleTekstowe 29"/>
          <p:cNvSpPr txBox="1"/>
          <p:nvPr/>
        </p:nvSpPr>
        <p:spPr>
          <a:xfrm>
            <a:off x="611560" y="1032698"/>
            <a:ext cx="8742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</a:rPr>
              <a:t>H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– a hash function whose computation takes time </a:t>
            </a:r>
            <a:r>
              <a:rPr lang="en-US" sz="2400" b="1" dirty="0">
                <a:solidFill>
                  <a:srgbClr val="FF0000"/>
                </a:solidFill>
              </a:rPr>
              <a:t>TIME(</a:t>
            </a:r>
            <a:r>
              <a:rPr lang="en-US" sz="2400" b="1" i="1" dirty="0">
                <a:solidFill>
                  <a:srgbClr val="FF0000"/>
                </a:solidFill>
              </a:rPr>
              <a:t>H</a:t>
            </a:r>
            <a:r>
              <a:rPr lang="en-US" sz="2400" b="1" dirty="0">
                <a:solidFill>
                  <a:srgbClr val="FF0000"/>
                </a:solidFill>
              </a:rPr>
              <a:t>)</a:t>
            </a:r>
          </a:p>
        </p:txBody>
      </p:sp>
      <p:cxnSp>
        <p:nvCxnSpPr>
          <p:cNvPr id="40" name="Łącznik prosty ze strzałką 39"/>
          <p:cNvCxnSpPr>
            <a:stCxn id="18" idx="0"/>
          </p:cNvCxnSpPr>
          <p:nvPr/>
        </p:nvCxnSpPr>
        <p:spPr>
          <a:xfrm flipH="1" flipV="1">
            <a:off x="2836443" y="4394988"/>
            <a:ext cx="212794" cy="4312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 descr="MCj0411466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87838" y="1691183"/>
            <a:ext cx="1514741" cy="1574781"/>
          </a:xfrm>
          <a:prstGeom prst="rect">
            <a:avLst/>
          </a:prstGeom>
          <a:noFill/>
        </p:spPr>
      </p:pic>
      <p:pic>
        <p:nvPicPr>
          <p:cNvPr id="21" name="Picture 7" descr="MCj04158080000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78058" y="1673323"/>
            <a:ext cx="1443584" cy="1517271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883307" y="6273280"/>
            <a:ext cx="4113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</a:t>
            </a:r>
            <a:r>
              <a:rPr lang="en-US" sz="2400" b="1" dirty="0" err="1"/>
              <a:t>PoW</a:t>
            </a:r>
            <a:r>
              <a:rPr lang="en-US" sz="2400" dirty="0"/>
              <a:t> is used in Bitcoin.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52"/>
          <a:stretch/>
        </p:blipFill>
        <p:spPr>
          <a:xfrm>
            <a:off x="3007786" y="5887607"/>
            <a:ext cx="607671" cy="1233012"/>
          </a:xfrm>
          <a:prstGeom prst="rect">
            <a:avLst/>
          </a:prstGeom>
        </p:spPr>
      </p:pic>
      <p:sp>
        <p:nvSpPr>
          <p:cNvPr id="28" name="Objaśnienie prostokątne zaokrąglone 27"/>
          <p:cNvSpPr/>
          <p:nvPr/>
        </p:nvSpPr>
        <p:spPr>
          <a:xfrm>
            <a:off x="6664778" y="3143869"/>
            <a:ext cx="2274988" cy="2158076"/>
          </a:xfrm>
          <a:prstGeom prst="wedgeRoundRectCallout">
            <a:avLst>
              <a:gd name="adj1" fmla="val 17262"/>
              <a:gd name="adj2" fmla="val 65290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PoleTekstowe 21"/>
              <p:cNvSpPr txBox="1"/>
              <p:nvPr/>
            </p:nvSpPr>
            <p:spPr>
              <a:xfrm>
                <a:off x="6886847" y="3637894"/>
                <a:ext cx="1981205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checks if</a:t>
                </a:r>
              </a:p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starts with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n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>
                    <a:solidFill>
                      <a:srgbClr val="000000"/>
                    </a:solidFill>
                  </a:rPr>
                  <a:t>zeros</a:t>
                </a:r>
                <a:endParaRPr lang="en-US" sz="2400" b="1" dirty="0">
                  <a:solidFill>
                    <a:srgbClr val="000000"/>
                  </a:solidFill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2" name="PoleTekstowe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847" y="3637894"/>
                <a:ext cx="1981205" cy="1569660"/>
              </a:xfrm>
              <a:prstGeom prst="rect">
                <a:avLst/>
              </a:prstGeom>
              <a:blipFill rotWithShape="0">
                <a:blip r:embed="rId8"/>
                <a:stretch>
                  <a:fillRect l="-4923" t="-3113" r="-523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Tekstowe 5"/>
          <p:cNvSpPr txBox="1"/>
          <p:nvPr/>
        </p:nvSpPr>
        <p:spPr>
          <a:xfrm>
            <a:off x="6915726" y="3282742"/>
            <a:ext cx="11290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Verifier</a:t>
            </a:r>
          </a:p>
        </p:txBody>
      </p:sp>
    </p:spTree>
    <p:extLst>
      <p:ext uri="{BB962C8B-B14F-4D97-AF65-F5344CB8AC3E}">
        <p14:creationId xmlns:p14="http://schemas.microsoft.com/office/powerpoint/2010/main" val="2566427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7" grpId="0"/>
      <p:bldP spid="10" grpId="0" animBg="1"/>
      <p:bldP spid="12" grpId="0"/>
      <p:bldP spid="13" grpId="0" animBg="1"/>
      <p:bldP spid="14" grpId="0" animBg="1"/>
      <p:bldP spid="18" grpId="0" animBg="1"/>
      <p:bldP spid="26" grpId="0"/>
      <p:bldP spid="27" grpId="0"/>
      <p:bldP spid="3" grpId="0"/>
      <p:bldP spid="28" grpId="0" animBg="1"/>
      <p:bldP spid="22" grpId="0"/>
      <p:bldP spid="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07265"/>
            <a:ext cx="2088776" cy="61544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999" y="1032320"/>
            <a:ext cx="8537809" cy="16006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Computing typical hash functions is much faster when done in </a:t>
            </a:r>
            <a:r>
              <a:rPr lang="en-US" sz="2400" b="1" dirty="0">
                <a:solidFill>
                  <a:srgbClr val="FF0000"/>
                </a:solidFill>
              </a:rPr>
              <a:t>parallel</a:t>
            </a:r>
            <a:r>
              <a:rPr lang="en-US" sz="2400" dirty="0"/>
              <a:t> and in </a:t>
            </a:r>
            <a:r>
              <a:rPr lang="en-US" sz="2400" b="1" dirty="0">
                <a:solidFill>
                  <a:srgbClr val="FF0000"/>
                </a:solidFill>
              </a:rPr>
              <a:t>hardware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(this can give advantage to a powerful adversary).</a:t>
            </a:r>
          </a:p>
          <a:p>
            <a:pPr marL="0" indent="0">
              <a:buNone/>
            </a:pPr>
            <a:r>
              <a:rPr lang="en-US" sz="2400" dirty="0"/>
              <a:t>For example “</a:t>
            </a:r>
            <a:r>
              <a:rPr lang="en-US" sz="2400" b="1" dirty="0"/>
              <a:t>Bitcoin mining</a:t>
            </a:r>
            <a:r>
              <a:rPr lang="en-US" sz="2400" dirty="0"/>
              <a:t>” is done almost entirely on ASICs</a:t>
            </a:r>
          </a:p>
          <a:p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836" t="10316" r="24735" b="18218"/>
          <a:stretch/>
        </p:blipFill>
        <p:spPr>
          <a:xfrm>
            <a:off x="2337085" y="2898842"/>
            <a:ext cx="5014936" cy="363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995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999" y="207265"/>
            <a:ext cx="4219643" cy="615441"/>
          </a:xfrm>
        </p:spPr>
        <p:txBody>
          <a:bodyPr>
            <a:normAutofit fontScale="90000"/>
          </a:bodyPr>
          <a:lstStyle/>
          <a:p>
            <a:r>
              <a:rPr lang="en-US" dirty="0"/>
              <a:t>Idea for a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24648"/>
            <a:ext cx="8244052" cy="55641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500" dirty="0"/>
              <a:t>Design hash functions whose computation </a:t>
            </a:r>
            <a:r>
              <a:rPr lang="en-US" sz="2500" b="1" dirty="0">
                <a:solidFill>
                  <a:srgbClr val="7030A0"/>
                </a:solidFill>
              </a:rPr>
              <a:t>needs to lot of </a:t>
            </a:r>
            <a:r>
              <a:rPr lang="pl-PL" sz="2500" b="1" dirty="0">
                <a:solidFill>
                  <a:srgbClr val="7030A0"/>
                </a:solidFill>
              </a:rPr>
              <a:t>memory</a:t>
            </a:r>
            <a:r>
              <a:rPr lang="en-US" sz="2500" dirty="0"/>
              <a:t>, so it’s hard to implement it efficiently in hardware</a:t>
            </a:r>
            <a:endParaRPr lang="en-US" sz="25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r>
              <a:rPr lang="en-US" sz="2500" dirty="0"/>
              <a:t>Example: </a:t>
            </a:r>
            <a:r>
              <a:rPr lang="en-US" sz="2500" b="1" dirty="0" err="1">
                <a:solidFill>
                  <a:srgbClr val="FF0000"/>
                </a:solidFill>
              </a:rPr>
              <a:t>scrypt</a:t>
            </a:r>
            <a:r>
              <a:rPr lang="en-US" sz="2500" dirty="0">
                <a:solidFill>
                  <a:srgbClr val="FF0000"/>
                </a:solidFill>
              </a:rPr>
              <a:t> </a:t>
            </a:r>
            <a:r>
              <a:rPr lang="en-US" sz="2500" dirty="0"/>
              <a:t>hash function introduced in:</a:t>
            </a:r>
          </a:p>
          <a:p>
            <a:pPr marL="400050" lvl="1" indent="0">
              <a:buNone/>
            </a:pPr>
            <a:r>
              <a:rPr lang="en-US" sz="2500" b="1" dirty="0">
                <a:solidFill>
                  <a:srgbClr val="00B050"/>
                </a:solidFill>
              </a:rPr>
              <a:t>Colin Percival, </a:t>
            </a:r>
            <a:r>
              <a:rPr lang="en-US" sz="2500" b="1" i="1" dirty="0">
                <a:solidFill>
                  <a:srgbClr val="00B050"/>
                </a:solidFill>
              </a:rPr>
              <a:t>Stronger Key Derivation via Sequential Memory-Hard Functions</a:t>
            </a:r>
            <a:r>
              <a:rPr lang="en-US" sz="2500" b="1" dirty="0">
                <a:solidFill>
                  <a:srgbClr val="00B050"/>
                </a:solidFill>
              </a:rPr>
              <a:t>, 2009</a:t>
            </a:r>
            <a:r>
              <a:rPr lang="en-US" sz="2500" dirty="0"/>
              <a:t>.</a:t>
            </a:r>
          </a:p>
          <a:p>
            <a:pPr marL="0" indent="0">
              <a:buNone/>
            </a:pPr>
            <a:endParaRPr lang="en-US" sz="2500" b="1" u="sng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500" dirty="0"/>
              <a:t>Used in </a:t>
            </a:r>
            <a:r>
              <a:rPr lang="en-US" sz="2500" b="1" dirty="0" err="1"/>
              <a:t>Litecoin</a:t>
            </a:r>
            <a:endParaRPr lang="en-US" sz="2500" b="1" u="sng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500" dirty="0"/>
              <a:t>Has one practical drawback: it’s access pattern is </a:t>
            </a:r>
            <a:r>
              <a:rPr lang="en-US" sz="2500" b="1" dirty="0"/>
              <a:t>data-dependent</a:t>
            </a:r>
            <a:r>
              <a:rPr lang="en-US" sz="2500" dirty="0"/>
              <a:t> (hence: it reveals the input).</a:t>
            </a:r>
          </a:p>
        </p:txBody>
      </p:sp>
      <p:pic>
        <p:nvPicPr>
          <p:cNvPr id="8194" name="Picture 2" descr="http://www.reviewoutlaw.com/wp-content/uploads/2014/01/litecoin-new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118" y="3905664"/>
            <a:ext cx="762659" cy="762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ounded Rectangular Callout 3"/>
          <p:cNvSpPr/>
          <p:nvPr/>
        </p:nvSpPr>
        <p:spPr>
          <a:xfrm>
            <a:off x="4204808" y="5952348"/>
            <a:ext cx="3495555" cy="838354"/>
          </a:xfrm>
          <a:prstGeom prst="wedgeRoundRectCallout">
            <a:avLst>
              <a:gd name="adj1" fmla="val -22323"/>
              <a:gd name="adj2" fmla="val -87990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bad for the side-channel resilience</a:t>
            </a:r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3475999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802" y="219248"/>
            <a:ext cx="7886700" cy="837835"/>
          </a:xfrm>
        </p:spPr>
        <p:txBody>
          <a:bodyPr>
            <a:normAutofit/>
          </a:bodyPr>
          <a:lstStyle/>
          <a:p>
            <a:r>
              <a:rPr lang="en-US" dirty="0"/>
              <a:t>Password Hashing Competition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477" y="1477818"/>
            <a:ext cx="7886700" cy="172538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announced</a:t>
            </a:r>
            <a:r>
              <a:rPr lang="pl-PL" dirty="0"/>
              <a:t> in </a:t>
            </a:r>
            <a:r>
              <a:rPr lang="pl-PL" b="1" dirty="0">
                <a:solidFill>
                  <a:srgbClr val="FF0000"/>
                </a:solidFill>
              </a:rPr>
              <a:t>2013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run by an </a:t>
            </a:r>
            <a:r>
              <a:rPr lang="en-US" b="1" dirty="0"/>
              <a:t>independent panel </a:t>
            </a:r>
            <a:r>
              <a:rPr lang="en-US" dirty="0"/>
              <a:t>of experts</a:t>
            </a:r>
          </a:p>
          <a:p>
            <a:r>
              <a:rPr lang="en-US" b="1" dirty="0"/>
              <a:t>website</a:t>
            </a:r>
            <a:r>
              <a:rPr lang="en-US" dirty="0"/>
              <a:t>: password-hashing.net</a:t>
            </a:r>
          </a:p>
          <a:p>
            <a:r>
              <a:rPr lang="en-US" dirty="0"/>
              <a:t>winner (2015): </a:t>
            </a:r>
            <a:r>
              <a:rPr lang="en-US" b="1" dirty="0">
                <a:solidFill>
                  <a:srgbClr val="7030A0"/>
                </a:solidFill>
              </a:rPr>
              <a:t>Argon2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(by </a:t>
            </a:r>
            <a:r>
              <a:rPr lang="en-US" dirty="0" err="1"/>
              <a:t>Biryukov</a:t>
            </a:r>
            <a:r>
              <a:rPr lang="en-US" dirty="0"/>
              <a:t>, </a:t>
            </a:r>
            <a:r>
              <a:rPr lang="en-US" dirty="0" err="1"/>
              <a:t>Dinu</a:t>
            </a:r>
            <a:r>
              <a:rPr lang="en-US" dirty="0"/>
              <a:t>, and </a:t>
            </a:r>
            <a:r>
              <a:rPr lang="en-US" dirty="0" err="1"/>
              <a:t>Khovratovic</a:t>
            </a:r>
            <a:r>
              <a:rPr lang="en-US" dirty="0"/>
              <a:t>)</a:t>
            </a:r>
            <a:r>
              <a:rPr lang="pl-PL" dirty="0"/>
              <a:t> </a:t>
            </a:r>
            <a:endParaRPr lang="en-US" dirty="0"/>
          </a:p>
        </p:txBody>
      </p:sp>
      <p:sp>
        <p:nvSpPr>
          <p:cNvPr id="4" name="Rectangular Callout 3"/>
          <p:cNvSpPr/>
          <p:nvPr/>
        </p:nvSpPr>
        <p:spPr>
          <a:xfrm>
            <a:off x="507987" y="3130842"/>
            <a:ext cx="7665515" cy="1777747"/>
          </a:xfrm>
          <a:prstGeom prst="wedgeRectCallout">
            <a:avLst>
              <a:gd name="adj1" fmla="val -36141"/>
              <a:gd name="adj2" fmla="val -6892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dirty="0"/>
              <a:t>broken (together with several other competition finalists) by </a:t>
            </a:r>
          </a:p>
          <a:p>
            <a:r>
              <a:rPr lang="pl-PL" sz="2200" dirty="0" err="1">
                <a:solidFill>
                  <a:srgbClr val="00B050"/>
                </a:solidFill>
              </a:rPr>
              <a:t>Alwen</a:t>
            </a:r>
            <a:r>
              <a:rPr lang="en-US" sz="2200" dirty="0">
                <a:solidFill>
                  <a:srgbClr val="00B050"/>
                </a:solidFill>
              </a:rPr>
              <a:t>, </a:t>
            </a:r>
            <a:r>
              <a:rPr lang="pl-PL" sz="2200" dirty="0" err="1">
                <a:solidFill>
                  <a:srgbClr val="00B050"/>
                </a:solidFill>
              </a:rPr>
              <a:t>Gaži</a:t>
            </a:r>
            <a:r>
              <a:rPr lang="en-US" sz="2200" dirty="0">
                <a:solidFill>
                  <a:srgbClr val="00B050"/>
                </a:solidFill>
              </a:rPr>
              <a:t>,</a:t>
            </a:r>
            <a:r>
              <a:rPr lang="pl-PL" sz="2200" dirty="0">
                <a:solidFill>
                  <a:srgbClr val="00B050"/>
                </a:solidFill>
              </a:rPr>
              <a:t> </a:t>
            </a:r>
            <a:r>
              <a:rPr lang="pl-PL" sz="2200" dirty="0" err="1">
                <a:solidFill>
                  <a:srgbClr val="00B050"/>
                </a:solidFill>
              </a:rPr>
              <a:t>Kamath</a:t>
            </a:r>
            <a:r>
              <a:rPr lang="en-US" sz="2200" dirty="0">
                <a:solidFill>
                  <a:srgbClr val="00B050"/>
                </a:solidFill>
              </a:rPr>
              <a:t>,</a:t>
            </a:r>
            <a:r>
              <a:rPr lang="pl-PL" sz="2200" dirty="0">
                <a:solidFill>
                  <a:srgbClr val="00B050"/>
                </a:solidFill>
              </a:rPr>
              <a:t> Klein</a:t>
            </a:r>
            <a:r>
              <a:rPr lang="en-US" sz="2200" dirty="0">
                <a:solidFill>
                  <a:srgbClr val="00B050"/>
                </a:solidFill>
              </a:rPr>
              <a:t>, </a:t>
            </a:r>
            <a:r>
              <a:rPr lang="pl-PL" sz="2200" dirty="0" err="1">
                <a:solidFill>
                  <a:srgbClr val="00B050"/>
                </a:solidFill>
              </a:rPr>
              <a:t>Osang</a:t>
            </a:r>
            <a:r>
              <a:rPr lang="en-US" sz="2200" dirty="0">
                <a:solidFill>
                  <a:srgbClr val="00B050"/>
                </a:solidFill>
              </a:rPr>
              <a:t>, </a:t>
            </a:r>
            <a:r>
              <a:rPr lang="pl-PL" sz="2200" dirty="0">
                <a:solidFill>
                  <a:srgbClr val="00B050"/>
                </a:solidFill>
              </a:rPr>
              <a:t>Pietrzak</a:t>
            </a:r>
            <a:r>
              <a:rPr lang="en-US" sz="2200" dirty="0">
                <a:solidFill>
                  <a:srgbClr val="00B050"/>
                </a:solidFill>
              </a:rPr>
              <a:t>,</a:t>
            </a:r>
            <a:r>
              <a:rPr lang="pl-PL" sz="2200" dirty="0">
                <a:solidFill>
                  <a:srgbClr val="00B050"/>
                </a:solidFill>
              </a:rPr>
              <a:t> </a:t>
            </a:r>
            <a:r>
              <a:rPr lang="pl-PL" sz="2200" dirty="0" err="1">
                <a:solidFill>
                  <a:srgbClr val="00B050"/>
                </a:solidFill>
              </a:rPr>
              <a:t>Reyzin</a:t>
            </a:r>
            <a:r>
              <a:rPr lang="en-US" sz="2200" dirty="0">
                <a:solidFill>
                  <a:srgbClr val="00B050"/>
                </a:solidFill>
              </a:rPr>
              <a:t>, </a:t>
            </a:r>
            <a:r>
              <a:rPr lang="pl-PL" sz="2200" dirty="0" err="1">
                <a:solidFill>
                  <a:srgbClr val="00B050"/>
                </a:solidFill>
              </a:rPr>
              <a:t>Rolínek</a:t>
            </a:r>
            <a:r>
              <a:rPr lang="en-US" sz="2200" dirty="0">
                <a:solidFill>
                  <a:srgbClr val="00B050"/>
                </a:solidFill>
              </a:rPr>
              <a:t>, </a:t>
            </a:r>
            <a:r>
              <a:rPr lang="pl-PL" sz="2200" dirty="0" err="1">
                <a:solidFill>
                  <a:srgbClr val="00B050"/>
                </a:solidFill>
              </a:rPr>
              <a:t>Rybár</a:t>
            </a:r>
            <a:r>
              <a:rPr lang="en-US" sz="2200" dirty="0">
                <a:solidFill>
                  <a:srgbClr val="00B050"/>
                </a:solidFill>
              </a:rPr>
              <a:t>: </a:t>
            </a:r>
            <a:r>
              <a:rPr lang="pl-PL" sz="2200" b="1" dirty="0">
                <a:solidFill>
                  <a:srgbClr val="00B050"/>
                </a:solidFill>
              </a:rPr>
              <a:t>On the </a:t>
            </a:r>
            <a:r>
              <a:rPr lang="en-US" sz="2200" b="1" dirty="0">
                <a:solidFill>
                  <a:srgbClr val="00B050"/>
                </a:solidFill>
              </a:rPr>
              <a:t>Memory-Hardness of Data-Independent Password-Hashing Functions</a:t>
            </a:r>
            <a:r>
              <a:rPr lang="en-US" sz="2200" dirty="0">
                <a:solidFill>
                  <a:srgbClr val="00B050"/>
                </a:solidFill>
              </a:rPr>
              <a:t>, Aug 2016</a:t>
            </a:r>
            <a:endParaRPr lang="pl-PL" sz="2200" dirty="0">
              <a:solidFill>
                <a:srgbClr val="00B05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591" y="5329324"/>
            <a:ext cx="77355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Several improvements to </a:t>
            </a:r>
            <a:r>
              <a:rPr lang="en-US" sz="2200" b="1" dirty="0">
                <a:solidFill>
                  <a:srgbClr val="7030A0"/>
                </a:solidFill>
              </a:rPr>
              <a:t>Argon2 </a:t>
            </a:r>
            <a:r>
              <a:rPr lang="en-US" sz="2200" dirty="0"/>
              <a:t>(e.g.: “</a:t>
            </a:r>
            <a:r>
              <a:rPr lang="en-US" sz="2200" b="1" dirty="0">
                <a:solidFill>
                  <a:srgbClr val="7030A0"/>
                </a:solidFill>
              </a:rPr>
              <a:t>Argon2i 1.3</a:t>
            </a:r>
            <a:r>
              <a:rPr lang="en-US" sz="2200" dirty="0"/>
              <a:t>”</a:t>
            </a:r>
            <a:r>
              <a:rPr lang="pl-PL" sz="2200" dirty="0"/>
              <a:t>)</a:t>
            </a:r>
            <a:r>
              <a:rPr lang="en-US" sz="2200" dirty="0"/>
              <a:t> broken</a:t>
            </a:r>
            <a:endParaRPr lang="pl-PL" sz="2200" dirty="0"/>
          </a:p>
        </p:txBody>
      </p:sp>
    </p:spTree>
    <p:extLst>
      <p:ext uri="{BB962C8B-B14F-4D97-AF65-F5344CB8AC3E}">
        <p14:creationId xmlns:p14="http://schemas.microsoft.com/office/powerpoint/2010/main" val="295377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0148" y="1642219"/>
            <a:ext cx="6929486" cy="368776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Introduction and definitions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Hash function design paradigms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Other </a:t>
            </a:r>
            <a:r>
              <a:rPr lang="pl-PL" dirty="0"/>
              <a:t>uses of hash functions</a:t>
            </a:r>
            <a:endParaRPr lang="it-IT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Real-life constructions</a:t>
            </a:r>
            <a:endParaRPr lang="it-IT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554735" y="3039401"/>
            <a:ext cx="1214446" cy="71438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52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79944"/>
                <a:ext cx="7886700" cy="4597019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There exists a generic attack on any hash function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that finds a </a:t>
                </a:r>
                <a:r>
                  <a:rPr lang="en-US" b="1" dirty="0">
                    <a:solidFill>
                      <a:srgbClr val="7030A0"/>
                    </a:solidFill>
                  </a:rPr>
                  <a:t>collision 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and works in </a:t>
                </a:r>
                <a:r>
                  <a:rPr lang="en-US" b="1" dirty="0">
                    <a:solidFill>
                      <a:srgbClr val="0070C0"/>
                    </a:solidFill>
                  </a:rPr>
                  <a:t>time and space</a:t>
                </a:r>
                <a:r>
                  <a:rPr lang="en-US" dirty="0"/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f>
                              <m:fPr>
                                <m:ctrlP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num>
                              <m:den>
                                <m: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sup>
                        </m:sSup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It’s called a </a:t>
                </a:r>
                <a:r>
                  <a:rPr lang="en-US" b="1" dirty="0">
                    <a:solidFill>
                      <a:srgbClr val="FF0000"/>
                    </a:solidFill>
                  </a:rPr>
                  <a:t>birthday attack </a:t>
                </a:r>
                <a:r>
                  <a:rPr lang="en-US" dirty="0"/>
                  <a:t>and we will discuss it during the exercises.</a:t>
                </a: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b="1" u="sng" dirty="0">
                    <a:solidFill>
                      <a:srgbClr val="0070C0"/>
                    </a:solidFill>
                  </a:rPr>
                  <a:t>Consequence</a:t>
                </a:r>
                <a:r>
                  <a:rPr lang="en-US" dirty="0"/>
                  <a:t>: to achieve “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dirty="0"/>
                  <a:t> bits of security” one needs to set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pl-PL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79944"/>
                <a:ext cx="7886700" cy="4597019"/>
              </a:xfrm>
              <a:blipFill>
                <a:blip r:embed="rId2"/>
                <a:stretch>
                  <a:fillRect l="-1391" t="-3714" r="-77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3777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15888"/>
            <a:ext cx="7772400" cy="1143000"/>
          </a:xfrm>
        </p:spPr>
        <p:txBody>
          <a:bodyPr/>
          <a:lstStyle/>
          <a:p>
            <a:r>
              <a:rPr lang="en-GB" sz="3200">
                <a:solidFill>
                  <a:schemeClr val="tx1"/>
                </a:solidFill>
              </a:rPr>
              <a:t>MD5 (</a:t>
            </a:r>
            <a:r>
              <a:rPr lang="en-US" sz="3200">
                <a:solidFill>
                  <a:schemeClr val="tx1"/>
                </a:solidFill>
              </a:rPr>
              <a:t>Message-Digest Algorithm 5)</a:t>
            </a:r>
            <a:br>
              <a:rPr lang="en-US" sz="3200">
                <a:solidFill>
                  <a:schemeClr val="tx1"/>
                </a:solidFill>
              </a:rPr>
            </a:br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9916" y="1340768"/>
            <a:ext cx="8090234" cy="5110832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GB" sz="3200" dirty="0"/>
              <a:t>based on the </a:t>
            </a:r>
            <a:r>
              <a:rPr lang="en-GB" sz="3200" b="1" dirty="0" err="1">
                <a:solidFill>
                  <a:srgbClr val="00B050"/>
                </a:solidFill>
              </a:rPr>
              <a:t>Merkle-Damgard</a:t>
            </a:r>
            <a:r>
              <a:rPr lang="en-GB" sz="3200" b="1" dirty="0">
                <a:solidFill>
                  <a:srgbClr val="00B050"/>
                </a:solidFill>
              </a:rPr>
              <a:t> paradigm</a:t>
            </a:r>
          </a:p>
          <a:p>
            <a:pPr>
              <a:lnSpc>
                <a:spcPct val="80000"/>
              </a:lnSpc>
            </a:pPr>
            <a:r>
              <a:rPr lang="en-GB" sz="3200" b="1" dirty="0">
                <a:solidFill>
                  <a:srgbClr val="0070C0"/>
                </a:solidFill>
              </a:rPr>
              <a:t>output length</a:t>
            </a:r>
            <a:r>
              <a:rPr lang="en-GB" sz="3200" dirty="0"/>
              <a:t>: </a:t>
            </a:r>
            <a:r>
              <a:rPr lang="en-GB" sz="3200" b="1" dirty="0">
                <a:solidFill>
                  <a:srgbClr val="00B050"/>
                </a:solidFill>
              </a:rPr>
              <a:t>128 bits</a:t>
            </a:r>
            <a:r>
              <a:rPr lang="en-GB" sz="3200" dirty="0"/>
              <a:t>,</a:t>
            </a:r>
            <a:endParaRPr lang="en-US" sz="3200" dirty="0"/>
          </a:p>
          <a:p>
            <a:pPr>
              <a:lnSpc>
                <a:spcPct val="80000"/>
              </a:lnSpc>
            </a:pPr>
            <a:r>
              <a:rPr lang="en-US" sz="3200" b="1" dirty="0">
                <a:solidFill>
                  <a:srgbClr val="7030A0"/>
                </a:solidFill>
              </a:rPr>
              <a:t>designed</a:t>
            </a:r>
            <a:r>
              <a:rPr lang="en-US" sz="3200" dirty="0"/>
              <a:t> by </a:t>
            </a:r>
            <a:r>
              <a:rPr lang="en-US" sz="3200" b="1" dirty="0" err="1">
                <a:solidFill>
                  <a:srgbClr val="FF0000"/>
                </a:solidFill>
              </a:rPr>
              <a:t>Rivest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/>
              <a:t>in </a:t>
            </a:r>
            <a:r>
              <a:rPr lang="en-US" sz="3200" b="1" dirty="0">
                <a:solidFill>
                  <a:srgbClr val="00B050"/>
                </a:solidFill>
              </a:rPr>
              <a:t>1991</a:t>
            </a:r>
            <a:r>
              <a:rPr lang="en-US" sz="3200" dirty="0"/>
              <a:t>,</a:t>
            </a:r>
          </a:p>
          <a:p>
            <a:pPr>
              <a:lnSpc>
                <a:spcPct val="80000"/>
              </a:lnSpc>
            </a:pPr>
            <a:r>
              <a:rPr lang="en-US" sz="3200" dirty="0"/>
              <a:t>in </a:t>
            </a:r>
            <a:r>
              <a:rPr lang="en-US" sz="3200" b="1" dirty="0">
                <a:solidFill>
                  <a:srgbClr val="00B050"/>
                </a:solidFill>
              </a:rPr>
              <a:t>1996</a:t>
            </a:r>
            <a:r>
              <a:rPr lang="en-US" sz="3200" dirty="0">
                <a:solidFill>
                  <a:srgbClr val="000000"/>
                </a:solidFill>
              </a:rPr>
              <a:t>, </a:t>
            </a:r>
            <a:r>
              <a:rPr lang="en-US" sz="3200" b="1" dirty="0" err="1">
                <a:solidFill>
                  <a:srgbClr val="FF0000"/>
                </a:solidFill>
              </a:rPr>
              <a:t>Dobbertin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/>
              <a:t>found collisions in the compressing function of </a:t>
            </a:r>
            <a:r>
              <a:rPr lang="en-US" sz="3200" b="1" dirty="0"/>
              <a:t>MD5</a:t>
            </a:r>
            <a:r>
              <a:rPr lang="en-US" sz="3200" dirty="0"/>
              <a:t>,</a:t>
            </a:r>
          </a:p>
          <a:p>
            <a:pPr>
              <a:lnSpc>
                <a:spcPct val="80000"/>
              </a:lnSpc>
            </a:pPr>
            <a:r>
              <a:rPr lang="en-GB" sz="3200" dirty="0"/>
              <a:t>in </a:t>
            </a:r>
            <a:r>
              <a:rPr lang="en-GB" sz="3200" b="1" dirty="0">
                <a:solidFill>
                  <a:srgbClr val="00B050"/>
                </a:solidFill>
              </a:rPr>
              <a:t>2004</a:t>
            </a:r>
            <a:r>
              <a:rPr lang="en-GB" sz="3200" dirty="0">
                <a:solidFill>
                  <a:srgbClr val="00B050"/>
                </a:solidFill>
              </a:rPr>
              <a:t> </a:t>
            </a:r>
            <a:r>
              <a:rPr lang="en-GB" sz="3200" dirty="0"/>
              <a:t>a group of </a:t>
            </a:r>
            <a:r>
              <a:rPr lang="en-GB" sz="3200" b="1" dirty="0">
                <a:solidFill>
                  <a:srgbClr val="FF0000"/>
                </a:solidFill>
              </a:rPr>
              <a:t>Chinese mathematicians</a:t>
            </a:r>
            <a:r>
              <a:rPr lang="en-GB" sz="3200" dirty="0">
                <a:solidFill>
                  <a:srgbClr val="FF0000"/>
                </a:solidFill>
              </a:rPr>
              <a:t> </a:t>
            </a:r>
            <a:r>
              <a:rPr lang="en-GB" sz="3200" dirty="0"/>
              <a:t>designed a method for finding collisions in </a:t>
            </a:r>
            <a:r>
              <a:rPr lang="en-GB" sz="3200" b="1" dirty="0"/>
              <a:t>MD5</a:t>
            </a:r>
            <a:r>
              <a:rPr lang="en-GB" sz="3200" dirty="0"/>
              <a:t>,</a:t>
            </a:r>
            <a:endParaRPr lang="en-GB" sz="3200" b="1" dirty="0">
              <a:solidFill>
                <a:schemeClr val="accent2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GB" sz="32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18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77790"/>
            <a:ext cx="8640960" cy="1296144"/>
          </a:xfrm>
        </p:spPr>
        <p:txBody>
          <a:bodyPr>
            <a:noAutofit/>
          </a:bodyPr>
          <a:lstStyle/>
          <a:p>
            <a:r>
              <a:rPr lang="en-US" sz="2700" b="1" dirty="0">
                <a:solidFill>
                  <a:srgbClr val="00B050"/>
                </a:solidFill>
              </a:rPr>
              <a:t>June 2005</a:t>
            </a:r>
            <a:r>
              <a:rPr lang="en-US" sz="2700" dirty="0"/>
              <a:t>: researchers at the Bochum University produce 2 postscript documents with the same </a:t>
            </a:r>
            <a:r>
              <a:rPr lang="en-US" sz="2700" b="1" dirty="0">
                <a:solidFill>
                  <a:srgbClr val="FF0000"/>
                </a:solidFill>
              </a:rPr>
              <a:t>MD5</a:t>
            </a:r>
            <a:r>
              <a:rPr lang="en-US" sz="2700" dirty="0">
                <a:solidFill>
                  <a:srgbClr val="FF0000"/>
                </a:solidFill>
              </a:rPr>
              <a:t> </a:t>
            </a:r>
            <a:r>
              <a:rPr lang="en-US" sz="2700" dirty="0"/>
              <a:t>hash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7584" y="1340768"/>
            <a:ext cx="3528392" cy="45007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92080" y="1340768"/>
            <a:ext cx="3389479" cy="45007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/>
          <p:cNvSpPr txBox="1"/>
          <p:nvPr/>
        </p:nvSpPr>
        <p:spPr>
          <a:xfrm>
            <a:off x="251520" y="6165304"/>
            <a:ext cx="70417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This is done by exploiting the redundancy in postscript.</a:t>
            </a:r>
          </a:p>
        </p:txBody>
      </p:sp>
      <p:sp>
        <p:nvSpPr>
          <p:cNvPr id="7" name="32-Point Star 6"/>
          <p:cNvSpPr/>
          <p:nvPr/>
        </p:nvSpPr>
        <p:spPr>
          <a:xfrm>
            <a:off x="4139952" y="4797152"/>
            <a:ext cx="4104456" cy="1274440"/>
          </a:xfrm>
          <a:prstGeom prst="star32">
            <a:avLst>
              <a:gd name="adj" fmla="val 4203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both hash to </a:t>
            </a:r>
          </a:p>
          <a:p>
            <a:pPr algn="ctr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a25f7f0b 29ee0b39 68c86073 533a4b9</a:t>
            </a:r>
          </a:p>
        </p:txBody>
      </p:sp>
    </p:spTree>
    <p:extLst>
      <p:ext uri="{BB962C8B-B14F-4D97-AF65-F5344CB8AC3E}">
        <p14:creationId xmlns:p14="http://schemas.microsoft.com/office/powerpoint/2010/main" val="3310307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3592"/>
            <a:ext cx="7886700" cy="1064348"/>
          </a:xfrm>
        </p:spPr>
        <p:txBody>
          <a:bodyPr>
            <a:noAutofit/>
          </a:bodyPr>
          <a:lstStyle/>
          <a:p>
            <a:r>
              <a:rPr lang="en-US" sz="4000" dirty="0"/>
              <a:t>Colliding certificates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43211"/>
            <a:ext cx="8229600" cy="4209331"/>
          </a:xfrm>
        </p:spPr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2005 and 2006: A. </a:t>
            </a:r>
            <a:r>
              <a:rPr lang="en-GB" b="1" dirty="0" err="1">
                <a:solidFill>
                  <a:srgbClr val="00B050"/>
                </a:solidFill>
              </a:rPr>
              <a:t>Lenstra</a:t>
            </a:r>
            <a:r>
              <a:rPr lang="en-GB" b="1" dirty="0">
                <a:solidFill>
                  <a:srgbClr val="00B050"/>
                </a:solidFill>
              </a:rPr>
              <a:t>, X. Wang, and B. de </a:t>
            </a:r>
            <a:r>
              <a:rPr lang="en-GB" b="1" dirty="0" err="1">
                <a:solidFill>
                  <a:srgbClr val="00B050"/>
                </a:solidFill>
              </a:rPr>
              <a:t>Weger</a:t>
            </a:r>
            <a:r>
              <a:rPr lang="en-GB" b="1" dirty="0">
                <a:solidFill>
                  <a:srgbClr val="00B050"/>
                </a:solidFill>
              </a:rPr>
              <a:t> </a:t>
            </a:r>
            <a:r>
              <a:rPr lang="en-GB" dirty="0"/>
              <a:t>found </a:t>
            </a:r>
            <a:r>
              <a:rPr lang="en-US" b="1" dirty="0">
                <a:solidFill>
                  <a:srgbClr val="FF0000"/>
                </a:solidFill>
              </a:rPr>
              <a:t>X.509</a:t>
            </a:r>
            <a:r>
              <a:rPr lang="en-US" dirty="0"/>
              <a:t> certificates with different public keys and the same </a:t>
            </a:r>
            <a:r>
              <a:rPr lang="en-US" b="1" dirty="0">
                <a:solidFill>
                  <a:srgbClr val="FF0000"/>
                </a:solidFill>
              </a:rPr>
              <a:t>MD5</a:t>
            </a:r>
            <a:r>
              <a:rPr lang="en-US" dirty="0"/>
              <a:t> hash.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(we will discuss the </a:t>
            </a:r>
            <a:r>
              <a:rPr lang="en-US" b="1" dirty="0">
                <a:solidFill>
                  <a:srgbClr val="FF0000"/>
                </a:solidFill>
              </a:rPr>
              <a:t>X.509</a:t>
            </a:r>
            <a:r>
              <a:rPr lang="en-US" dirty="0"/>
              <a:t> certificates later)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Two certificates for </a:t>
            </a:r>
            <a:r>
              <a:rPr lang="en-US" b="1" dirty="0">
                <a:solidFill>
                  <a:srgbClr val="FF0000"/>
                </a:solidFill>
              </a:rPr>
              <a:t>different names </a:t>
            </a:r>
            <a:r>
              <a:rPr lang="en-US" dirty="0"/>
              <a:t>(“Arjen K. </a:t>
            </a:r>
            <a:r>
              <a:rPr lang="en-US" dirty="0" err="1"/>
              <a:t>Lenstra</a:t>
            </a:r>
            <a:r>
              <a:rPr lang="en-US" dirty="0"/>
              <a:t>” and “Marc Stevens”) </a:t>
            </a:r>
            <a:r>
              <a:rPr lang="en-US" b="1" dirty="0">
                <a:solidFill>
                  <a:srgbClr val="0070C0"/>
                </a:solidFill>
              </a:rPr>
              <a:t>and different public keys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92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795" y="130622"/>
            <a:ext cx="7886700" cy="1325563"/>
          </a:xfrm>
        </p:spPr>
        <p:txBody>
          <a:bodyPr/>
          <a:lstStyle/>
          <a:p>
            <a:r>
              <a:rPr lang="en-US" dirty="0"/>
              <a:t>Flame malware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795" y="1297868"/>
            <a:ext cx="8229600" cy="7486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attack on the Microsoft Windows Update Mechanism exploiting </a:t>
            </a:r>
            <a:r>
              <a:rPr lang="en-US" b="1" dirty="0">
                <a:solidFill>
                  <a:srgbClr val="FF0000"/>
                </a:solidFill>
              </a:rPr>
              <a:t>MD5 </a:t>
            </a:r>
            <a:r>
              <a:rPr lang="en-US" dirty="0"/>
              <a:t>collision</a:t>
            </a:r>
          </a:p>
        </p:txBody>
      </p:sp>
      <p:pic>
        <p:nvPicPr>
          <p:cNvPr id="2050" name="Picture 2" descr="http://i.telegraph.co.uk/multimedia/archive/02233/Flame-Malware-grap_2233225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636912"/>
            <a:ext cx="5905500" cy="369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23411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r>
              <a:rPr lang="en-GB" sz="4000"/>
              <a:t>SHA-1 (</a:t>
            </a:r>
            <a:r>
              <a:rPr lang="en-US" sz="4000"/>
              <a:t>Secure Hash Algorithm)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89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84213" y="1700213"/>
                <a:ext cx="7918450" cy="4616450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GB" dirty="0"/>
                  <a:t>based on the </a:t>
                </a:r>
                <a:r>
                  <a:rPr lang="en-GB" b="1" dirty="0" err="1">
                    <a:solidFill>
                      <a:srgbClr val="00B050"/>
                    </a:solidFill>
                  </a:rPr>
                  <a:t>Merkle-Damgard</a:t>
                </a:r>
                <a:r>
                  <a:rPr lang="en-GB" b="1" dirty="0">
                    <a:solidFill>
                      <a:srgbClr val="00B050"/>
                    </a:solidFill>
                  </a:rPr>
                  <a:t> paradigm</a:t>
                </a:r>
                <a:endParaRPr lang="en-GB" b="1" dirty="0">
                  <a:solidFill>
                    <a:srgbClr val="0070C0"/>
                  </a:solidFill>
                </a:endParaRPr>
              </a:p>
              <a:p>
                <a:pPr>
                  <a:lnSpc>
                    <a:spcPct val="80000"/>
                  </a:lnSpc>
                </a:pPr>
                <a:r>
                  <a:rPr lang="en-GB" b="1" dirty="0">
                    <a:solidFill>
                      <a:srgbClr val="0070C0"/>
                    </a:solidFill>
                  </a:rPr>
                  <a:t>output length</a:t>
                </a:r>
                <a:r>
                  <a:rPr lang="en-GB" dirty="0"/>
                  <a:t>: </a:t>
                </a:r>
                <a:r>
                  <a:rPr lang="en-GB" b="1" dirty="0">
                    <a:solidFill>
                      <a:srgbClr val="FF0000"/>
                    </a:solidFill>
                  </a:rPr>
                  <a:t>160 bits</a:t>
                </a:r>
                <a:r>
                  <a:rPr lang="en-GB" dirty="0"/>
                  <a:t>,</a:t>
                </a:r>
                <a:endParaRPr lang="en-US" dirty="0"/>
              </a:p>
              <a:p>
                <a:pPr>
                  <a:lnSpc>
                    <a:spcPct val="80000"/>
                  </a:lnSpc>
                </a:pPr>
                <a:r>
                  <a:rPr lang="en-GB" dirty="0"/>
                  <a:t>designed in </a:t>
                </a:r>
                <a:r>
                  <a:rPr lang="en-GB" b="1" dirty="0">
                    <a:solidFill>
                      <a:srgbClr val="008000"/>
                    </a:solidFill>
                  </a:rPr>
                  <a:t>1993</a:t>
                </a:r>
                <a:r>
                  <a:rPr lang="en-GB" dirty="0"/>
                  <a:t> by the </a:t>
                </a:r>
                <a:r>
                  <a:rPr lang="en-GB" b="1" dirty="0">
                    <a:solidFill>
                      <a:srgbClr val="FF0000"/>
                    </a:solidFill>
                  </a:rPr>
                  <a:t>NSA</a:t>
                </a:r>
                <a:r>
                  <a:rPr lang="en-GB" dirty="0"/>
                  <a:t>,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dirty="0"/>
                  <a:t>in </a:t>
                </a:r>
                <a:r>
                  <a:rPr lang="en-US" b="1" dirty="0">
                    <a:solidFill>
                      <a:srgbClr val="008000"/>
                    </a:solidFill>
                  </a:rPr>
                  <a:t>2005</a:t>
                </a:r>
                <a:r>
                  <a:rPr lang="en-US" dirty="0"/>
                  <a:t> </a:t>
                </a:r>
                <a:r>
                  <a:rPr lang="en-US" b="1" dirty="0" err="1">
                    <a:solidFill>
                      <a:srgbClr val="FF0000"/>
                    </a:solidFill>
                  </a:rPr>
                  <a:t>Xiaoyun</a:t>
                </a:r>
                <a:r>
                  <a:rPr lang="en-US" b="1" dirty="0">
                    <a:solidFill>
                      <a:srgbClr val="FF0000"/>
                    </a:solidFill>
                  </a:rPr>
                  <a:t> Wang, Andrew Yao and Frances Yao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presented an attack that runs in time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baseline="30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𝟔𝟑</m:t>
                    </m:r>
                  </m:oMath>
                </a14:m>
                <a:r>
                  <a:rPr lang="en-US" dirty="0"/>
                  <a:t>.</a:t>
                </a:r>
                <a:endParaRPr lang="en-GB" baseline="30000" dirty="0"/>
              </a:p>
              <a:p>
                <a:pPr>
                  <a:lnSpc>
                    <a:spcPct val="80000"/>
                  </a:lnSpc>
                </a:pPr>
                <a:r>
                  <a:rPr lang="en-US" dirty="0"/>
                  <a:t>Oct 2015: </a:t>
                </a:r>
                <a:r>
                  <a:rPr lang="en-US" b="1" dirty="0">
                    <a:solidFill>
                      <a:srgbClr val="00B050"/>
                    </a:solidFill>
                  </a:rPr>
                  <a:t>[Stevens, </a:t>
                </a:r>
                <a:r>
                  <a:rPr lang="en-US" b="1" dirty="0" err="1">
                    <a:solidFill>
                      <a:srgbClr val="00B050"/>
                    </a:solidFill>
                  </a:rPr>
                  <a:t>Karpman</a:t>
                </a:r>
                <a:r>
                  <a:rPr lang="en-US" b="1" dirty="0">
                    <a:solidFill>
                      <a:srgbClr val="00B050"/>
                    </a:solidFill>
                  </a:rPr>
                  <a:t>, and </a:t>
                </a:r>
                <a:r>
                  <a:rPr lang="en-US" b="1" dirty="0" err="1">
                    <a:solidFill>
                      <a:srgbClr val="00B050"/>
                    </a:solidFill>
                  </a:rPr>
                  <a:t>Peyrin</a:t>
                </a:r>
                <a:r>
                  <a:rPr lang="en-US" b="1" dirty="0">
                    <a:solidFill>
                      <a:srgbClr val="00B050"/>
                    </a:solidFill>
                  </a:rPr>
                  <a:t>: </a:t>
                </a:r>
                <a:r>
                  <a:rPr lang="en-US" b="1" dirty="0" err="1">
                    <a:solidFill>
                      <a:srgbClr val="00B050"/>
                    </a:solidFill>
                  </a:rPr>
                  <a:t>Freestart</a:t>
                </a:r>
                <a:r>
                  <a:rPr lang="en-US" b="1" dirty="0">
                    <a:solidFill>
                      <a:srgbClr val="00B050"/>
                    </a:solidFill>
                  </a:rPr>
                  <a:t> collision on full SHA-1]</a:t>
                </a:r>
                <a:br>
                  <a:rPr lang="en-US" b="1" dirty="0">
                    <a:solidFill>
                      <a:srgbClr val="00B050"/>
                    </a:solidFill>
                  </a:rPr>
                </a:br>
                <a:r>
                  <a:rPr lang="en-US" dirty="0"/>
                  <a:t>a collision in the compression function in </a:t>
                </a:r>
                <a:r>
                  <a:rPr lang="en-US" b="1" dirty="0">
                    <a:solidFill>
                      <a:srgbClr val="FF0000"/>
                    </a:solidFill>
                  </a:rPr>
                  <a:t>2</a:t>
                </a:r>
                <a:r>
                  <a:rPr lang="en-US" b="1" baseline="30000" dirty="0">
                    <a:solidFill>
                      <a:srgbClr val="FF0000"/>
                    </a:solidFill>
                  </a:rPr>
                  <a:t>57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b="1" dirty="0">
                    <a:solidFill>
                      <a:srgbClr val="0070C0"/>
                    </a:solidFill>
                  </a:rPr>
                  <a:t>SHA-1</a:t>
                </a:r>
                <a:r>
                  <a:rPr lang="en-US" dirty="0"/>
                  <a:t> evaluations.</a:t>
                </a:r>
                <a:endParaRPr lang="pl-PL" dirty="0"/>
              </a:p>
              <a:p>
                <a:pPr>
                  <a:lnSpc>
                    <a:spcPct val="80000"/>
                  </a:lnSpc>
                </a:pPr>
                <a:r>
                  <a:rPr lang="pl-PL" dirty="0" err="1"/>
                  <a:t>Feb</a:t>
                </a:r>
                <a:r>
                  <a:rPr lang="pl-PL" dirty="0"/>
                  <a:t> 2017: </a:t>
                </a:r>
                <a:r>
                  <a:rPr lang="en-US" b="1" dirty="0">
                    <a:solidFill>
                      <a:srgbClr val="00B050"/>
                    </a:solidFill>
                  </a:rPr>
                  <a:t>[</a:t>
                </a:r>
                <a:r>
                  <a:rPr lang="pl-PL" b="1" dirty="0">
                    <a:solidFill>
                      <a:srgbClr val="00B050"/>
                    </a:solidFill>
                  </a:rPr>
                  <a:t>Stevens, </a:t>
                </a:r>
                <a:r>
                  <a:rPr lang="pl-PL" b="1" dirty="0" err="1">
                    <a:solidFill>
                      <a:srgbClr val="00B050"/>
                    </a:solidFill>
                  </a:rPr>
                  <a:t>Bursztein</a:t>
                </a:r>
                <a:r>
                  <a:rPr lang="pl-PL" b="1" dirty="0">
                    <a:solidFill>
                      <a:srgbClr val="00B050"/>
                    </a:solidFill>
                  </a:rPr>
                  <a:t>, </a:t>
                </a:r>
                <a:r>
                  <a:rPr lang="pl-PL" b="1" dirty="0" err="1">
                    <a:solidFill>
                      <a:srgbClr val="00B050"/>
                    </a:solidFill>
                  </a:rPr>
                  <a:t>Karpman</a:t>
                </a:r>
                <a:r>
                  <a:rPr lang="pl-PL" b="1" dirty="0">
                    <a:solidFill>
                      <a:srgbClr val="00B050"/>
                    </a:solidFill>
                  </a:rPr>
                  <a:t>, Albertin</a:t>
                </a:r>
                <a:r>
                  <a:rPr lang="en-US" b="1" dirty="0" err="1">
                    <a:solidFill>
                      <a:srgbClr val="00B050"/>
                    </a:solidFill>
                  </a:rPr>
                  <a:t>i</a:t>
                </a:r>
                <a:r>
                  <a:rPr lang="pl-PL" b="1" dirty="0">
                    <a:solidFill>
                      <a:srgbClr val="00B050"/>
                    </a:solidFill>
                  </a:rPr>
                  <a:t> , </a:t>
                </a:r>
                <a:r>
                  <a:rPr lang="pl-PL" b="1" dirty="0" err="1">
                    <a:solidFill>
                      <a:srgbClr val="00B050"/>
                    </a:solidFill>
                  </a:rPr>
                  <a:t>Markov</a:t>
                </a:r>
                <a:r>
                  <a:rPr lang="en-US" b="1" dirty="0">
                    <a:solidFill>
                      <a:srgbClr val="00B050"/>
                    </a:solidFill>
                  </a:rPr>
                  <a:t>]</a:t>
                </a:r>
                <a:br>
                  <a:rPr lang="en-US" b="1" dirty="0">
                    <a:solidFill>
                      <a:srgbClr val="00B050"/>
                    </a:solidFill>
                  </a:rPr>
                </a:br>
                <a:r>
                  <a:rPr lang="en-US" dirty="0"/>
                  <a:t>a collision in full </a:t>
                </a:r>
                <a:r>
                  <a:rPr lang="en-US" b="1" dirty="0">
                    <a:solidFill>
                      <a:srgbClr val="0070C0"/>
                    </a:solidFill>
                  </a:rPr>
                  <a:t>SHA-1</a:t>
                </a:r>
                <a:endParaRPr lang="pl-PL" b="1" dirty="0">
                  <a:solidFill>
                    <a:srgbClr val="0070C0"/>
                  </a:solidFill>
                </a:endParaRPr>
              </a:p>
              <a:p>
                <a:r>
                  <a:rPr lang="pl-PL" dirty="0"/>
                  <a:t>Improved in </a:t>
                </a:r>
                <a:r>
                  <a:rPr lang="pl-PL" b="1" dirty="0">
                    <a:solidFill>
                      <a:srgbClr val="00B050"/>
                    </a:solidFill>
                  </a:rPr>
                  <a:t>[</a:t>
                </a:r>
                <a:r>
                  <a:rPr lang="en-US" b="1" dirty="0" err="1">
                    <a:solidFill>
                      <a:srgbClr val="00B050"/>
                    </a:solidFill>
                  </a:rPr>
                  <a:t>Leurent</a:t>
                </a:r>
                <a:r>
                  <a:rPr lang="en-US" b="1" dirty="0">
                    <a:solidFill>
                      <a:srgbClr val="00B050"/>
                    </a:solidFill>
                  </a:rPr>
                  <a:t> and </a:t>
                </a:r>
                <a:r>
                  <a:rPr lang="en-US" b="1" dirty="0" err="1">
                    <a:solidFill>
                      <a:srgbClr val="00B050"/>
                    </a:solidFill>
                  </a:rPr>
                  <a:t>Peyrin</a:t>
                </a:r>
                <a:r>
                  <a:rPr lang="pl-PL" b="1" dirty="0">
                    <a:solidFill>
                      <a:srgbClr val="00B050"/>
                    </a:solidFill>
                  </a:rPr>
                  <a:t> 2020]</a:t>
                </a:r>
                <a:endParaRPr lang="en-US" b="1" dirty="0">
                  <a:solidFill>
                    <a:srgbClr val="00B050"/>
                  </a:solidFill>
                </a:endParaRPr>
              </a:p>
              <a:p>
                <a:pPr>
                  <a:lnSpc>
                    <a:spcPct val="80000"/>
                  </a:lnSpc>
                </a:pPr>
                <a:endParaRPr lang="en-US" b="1" dirty="0">
                  <a:solidFill>
                    <a:srgbClr val="0070C0"/>
                  </a:solidFill>
                </a:endParaRPr>
              </a:p>
              <a:p>
                <a:pPr>
                  <a:lnSpc>
                    <a:spcPct val="8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16589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4213" y="1700213"/>
                <a:ext cx="7918450" cy="4616450"/>
              </a:xfrm>
              <a:blipFill>
                <a:blip r:embed="rId3"/>
                <a:stretch>
                  <a:fillRect l="-1155" t="-3699" r="-616" b="-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7944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387" y="307253"/>
            <a:ext cx="872483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The collision that was found in 2015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283" y="1844824"/>
            <a:ext cx="9003171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70734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635" y="538746"/>
            <a:ext cx="8532712" cy="1379759"/>
          </a:xfrm>
        </p:spPr>
        <p:txBody>
          <a:bodyPr>
            <a:noAutofit/>
          </a:bodyPr>
          <a:lstStyle/>
          <a:p>
            <a:r>
              <a:rPr lang="en-US" sz="3600" dirty="0"/>
              <a:t>Hardware</a:t>
            </a:r>
            <a:r>
              <a:rPr lang="pl-PL" sz="3600" dirty="0"/>
              <a:t> </a:t>
            </a:r>
            <a:r>
              <a:rPr lang="en-US" sz="3600" dirty="0"/>
              <a:t>used</a:t>
            </a:r>
            <a:r>
              <a:rPr lang="pl-PL" sz="3600" dirty="0"/>
              <a:t> in</a:t>
            </a:r>
            <a:r>
              <a:rPr lang="en-US" sz="3600" dirty="0"/>
              <a:t> </a:t>
            </a:r>
            <a:r>
              <a:rPr lang="en-US" sz="3600" b="1" dirty="0">
                <a:solidFill>
                  <a:srgbClr val="00B050"/>
                </a:solidFill>
              </a:rPr>
              <a:t>[Stevens, </a:t>
            </a:r>
            <a:r>
              <a:rPr lang="en-US" sz="3600" b="1" dirty="0" err="1">
                <a:solidFill>
                  <a:srgbClr val="00B050"/>
                </a:solidFill>
              </a:rPr>
              <a:t>Karpman</a:t>
            </a:r>
            <a:r>
              <a:rPr lang="en-US" sz="3600" b="1" dirty="0">
                <a:solidFill>
                  <a:srgbClr val="00B050"/>
                </a:solidFill>
              </a:rPr>
              <a:t>, and </a:t>
            </a:r>
            <a:r>
              <a:rPr lang="en-US" sz="3600" b="1" dirty="0" err="1">
                <a:solidFill>
                  <a:srgbClr val="00B050"/>
                </a:solidFill>
              </a:rPr>
              <a:t>Peyrin</a:t>
            </a:r>
            <a:r>
              <a:rPr lang="en-US" sz="3600" b="1" dirty="0">
                <a:solidFill>
                  <a:srgbClr val="00B050"/>
                </a:solidFill>
              </a:rPr>
              <a:t>: </a:t>
            </a:r>
            <a:r>
              <a:rPr lang="en-US" sz="3600" b="1" dirty="0" err="1">
                <a:solidFill>
                  <a:srgbClr val="00B050"/>
                </a:solidFill>
              </a:rPr>
              <a:t>Freestart</a:t>
            </a:r>
            <a:r>
              <a:rPr lang="en-US" sz="3600" b="1" dirty="0">
                <a:solidFill>
                  <a:srgbClr val="00B050"/>
                </a:solidFill>
              </a:rPr>
              <a:t> collision on full SHA-1]</a:t>
            </a:r>
            <a:r>
              <a:rPr lang="pl-PL" sz="3600" dirty="0"/>
              <a:t>:</a:t>
            </a:r>
            <a:br>
              <a:rPr lang="en-US" sz="3600" b="1" dirty="0">
                <a:solidFill>
                  <a:srgbClr val="00B050"/>
                </a:solidFill>
              </a:rPr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562" y="2115274"/>
            <a:ext cx="8229600" cy="175679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i="1" dirty="0"/>
              <a:t>“We have computed the SHA-1 </a:t>
            </a:r>
            <a:r>
              <a:rPr lang="en-US" i="1" dirty="0" err="1"/>
              <a:t>freestart</a:t>
            </a:r>
            <a:r>
              <a:rPr lang="en-US" i="1" dirty="0"/>
              <a:t> collision on </a:t>
            </a:r>
            <a:r>
              <a:rPr lang="en-US" b="1" i="1" dirty="0"/>
              <a:t>Kraken</a:t>
            </a:r>
            <a:r>
              <a:rPr lang="en-US" i="1" dirty="0"/>
              <a:t>, our 64-GPU cluster. More precisely Kraken is composed of 16 nodes, each node being made of simple, cheap and widely available hardware: 4 GTX-970 GPUs, 1 Haswell i5-4460 processor and 16GB of RAM.”</a:t>
            </a:r>
          </a:p>
          <a:p>
            <a:pPr marL="0" indent="0">
              <a:buNone/>
            </a:pPr>
            <a:endParaRPr lang="en-US" i="1" dirty="0"/>
          </a:p>
        </p:txBody>
      </p:sp>
      <p:pic>
        <p:nvPicPr>
          <p:cNvPr id="2050" name="Picture 2" descr="https://sites.google.com/site/itstheshappening/_/rsrc/1444284540652/home/Untitled%202.jpg?height=309&amp;width=4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721" y="4172673"/>
            <a:ext cx="3329711" cy="2389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95031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Reaction of the industry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25977" y="1510133"/>
            <a:ext cx="6563072" cy="131654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8421" t="9680" r="36061" b="9680"/>
          <a:stretch/>
        </p:blipFill>
        <p:spPr>
          <a:xfrm>
            <a:off x="2627784" y="2996952"/>
            <a:ext cx="4159458" cy="339836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76637729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attack from 2017</a:t>
            </a:r>
            <a:endParaRPr lang="pl-PL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0798" t="5910" r="13190" b="37921"/>
          <a:stretch/>
        </p:blipFill>
        <p:spPr>
          <a:xfrm>
            <a:off x="437971" y="2083376"/>
            <a:ext cx="8268058" cy="3436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84472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colliding pdf files:</a:t>
            </a:r>
            <a:endParaRPr lang="pl-PL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0921" r="11103" b="1462"/>
          <a:stretch/>
        </p:blipFill>
        <p:spPr>
          <a:xfrm>
            <a:off x="847082" y="2832931"/>
            <a:ext cx="3472476" cy="24683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11288" r="11657" b="798"/>
          <a:stretch/>
        </p:blipFill>
        <p:spPr>
          <a:xfrm>
            <a:off x="5065665" y="2856253"/>
            <a:ext cx="3399548" cy="2461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78227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979" y="365126"/>
            <a:ext cx="8705495" cy="1325563"/>
          </a:xfrm>
        </p:spPr>
        <p:txBody>
          <a:bodyPr/>
          <a:lstStyle/>
          <a:p>
            <a:r>
              <a:rPr lang="en-US" dirty="0"/>
              <a:t>An unexpected victim of this attack</a:t>
            </a:r>
            <a:endParaRPr lang="pl-PL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9080" t="11364" r="5705" b="15235"/>
          <a:stretch/>
        </p:blipFill>
        <p:spPr>
          <a:xfrm>
            <a:off x="182843" y="1969045"/>
            <a:ext cx="8741434" cy="423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78347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new hash algorithm: SHA-3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GB" dirty="0"/>
              <a:t>Selected by the </a:t>
            </a:r>
            <a:r>
              <a:rPr lang="en-GB" b="1" dirty="0">
                <a:solidFill>
                  <a:srgbClr val="0070C0"/>
                </a:solidFill>
              </a:rPr>
              <a:t>National Institute of Standards and Technology (NIST) </a:t>
            </a:r>
            <a:r>
              <a:rPr lang="en-GB" dirty="0"/>
              <a:t>in an open competition.</a:t>
            </a:r>
          </a:p>
          <a:p>
            <a:pPr>
              <a:lnSpc>
                <a:spcPct val="80000"/>
              </a:lnSpc>
              <a:buFontTx/>
              <a:buNone/>
            </a:pPr>
            <a:endParaRPr lang="en-GB" dirty="0"/>
          </a:p>
          <a:p>
            <a:pPr>
              <a:lnSpc>
                <a:spcPct val="80000"/>
              </a:lnSpc>
              <a:buNone/>
            </a:pPr>
            <a:r>
              <a:rPr lang="en-GB" dirty="0"/>
              <a:t>5 finalists: </a:t>
            </a:r>
            <a:r>
              <a:rPr lang="en-GB" b="1" dirty="0">
                <a:solidFill>
                  <a:srgbClr val="FF0000"/>
                </a:solidFill>
              </a:rPr>
              <a:t>BLAKE, </a:t>
            </a:r>
            <a:r>
              <a:rPr lang="en-GB" b="1" dirty="0" err="1">
                <a:solidFill>
                  <a:srgbClr val="FF0000"/>
                </a:solidFill>
              </a:rPr>
              <a:t>Grøstl</a:t>
            </a:r>
            <a:r>
              <a:rPr lang="en-GB" b="1" dirty="0">
                <a:solidFill>
                  <a:srgbClr val="FF0000"/>
                </a:solidFill>
              </a:rPr>
              <a:t>, JH, Keccak, Skein</a:t>
            </a:r>
            <a:r>
              <a:rPr lang="en-GB" dirty="0"/>
              <a:t>.</a:t>
            </a:r>
          </a:p>
          <a:p>
            <a:pPr>
              <a:lnSpc>
                <a:spcPct val="80000"/>
              </a:lnSpc>
              <a:buNone/>
            </a:pPr>
            <a:endParaRPr lang="en-GB" dirty="0"/>
          </a:p>
          <a:p>
            <a:pPr>
              <a:lnSpc>
                <a:spcPct val="80000"/>
              </a:lnSpc>
              <a:buNone/>
            </a:pPr>
            <a:r>
              <a:rPr lang="en-GB" dirty="0"/>
              <a:t>Winner (2012): </a:t>
            </a:r>
            <a:r>
              <a:rPr lang="en-GB" b="1" dirty="0">
                <a:solidFill>
                  <a:srgbClr val="00B050"/>
                </a:solidFill>
              </a:rPr>
              <a:t>Keccak</a:t>
            </a:r>
            <a:r>
              <a:rPr lang="en-GB" dirty="0"/>
              <a:t>.</a:t>
            </a:r>
          </a:p>
          <a:p>
            <a:pPr>
              <a:lnSpc>
                <a:spcPct val="80000"/>
              </a:lnSpc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14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813BF10-A8D9-4C82-BAE6-221C9189C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90" y="198871"/>
            <a:ext cx="8162059" cy="881783"/>
          </a:xfrm>
        </p:spPr>
        <p:txBody>
          <a:bodyPr/>
          <a:lstStyle/>
          <a:p>
            <a:r>
              <a:rPr lang="pl-PL" dirty="0" err="1"/>
              <a:t>Keccak</a:t>
            </a:r>
            <a:r>
              <a:rPr lang="pl-PL" dirty="0"/>
              <a:t> is </a:t>
            </a:r>
            <a:r>
              <a:rPr lang="en-US" dirty="0"/>
              <a:t>the</a:t>
            </a:r>
            <a:r>
              <a:rPr lang="pl-PL" dirty="0"/>
              <a:t> </a:t>
            </a:r>
            <a:r>
              <a:rPr lang="pl-PL" dirty="0" err="1"/>
              <a:t>new</a:t>
            </a:r>
            <a:r>
              <a:rPr lang="pl-PL" dirty="0"/>
              <a:t> standard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4D5B468-9DDD-4434-B6BC-C260114AF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291" y="1246910"/>
            <a:ext cx="8162059" cy="279515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Designers</a:t>
            </a:r>
            <a:r>
              <a:rPr lang="en-US" dirty="0"/>
              <a:t>: Guido </a:t>
            </a:r>
            <a:r>
              <a:rPr lang="en-US" dirty="0" err="1"/>
              <a:t>Bertoni</a:t>
            </a:r>
            <a:r>
              <a:rPr lang="en-US" dirty="0"/>
              <a:t>, Joan Daemen, Michaël </a:t>
            </a:r>
            <a:r>
              <a:rPr lang="en-US" dirty="0" err="1"/>
              <a:t>Peeters</a:t>
            </a:r>
            <a:r>
              <a:rPr lang="en-US" dirty="0"/>
              <a:t>, and Gilles Van </a:t>
            </a:r>
            <a:r>
              <a:rPr lang="en-US" dirty="0" err="1"/>
              <a:t>Assche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rgbClr val="FF0000"/>
                </a:solidFill>
              </a:rPr>
              <a:t>NIST standard </a:t>
            </a:r>
            <a:r>
              <a:rPr lang="en-US" dirty="0"/>
              <a:t>from 2015 (selected in an open competition).</a:t>
            </a:r>
          </a:p>
          <a:p>
            <a:r>
              <a:rPr lang="en-US" dirty="0"/>
              <a:t>Now called </a:t>
            </a:r>
            <a:r>
              <a:rPr lang="en-US" b="1" dirty="0">
                <a:solidFill>
                  <a:srgbClr val="0070C0"/>
                </a:solidFill>
              </a:rPr>
              <a:t>SHA-3</a:t>
            </a:r>
            <a:r>
              <a:rPr lang="en-US" dirty="0">
                <a:solidFill>
                  <a:srgbClr val="0070C0"/>
                </a:solidFill>
              </a:rPr>
              <a:t> (</a:t>
            </a:r>
            <a:r>
              <a:rPr lang="en-US" b="1" dirty="0">
                <a:solidFill>
                  <a:srgbClr val="0070C0"/>
                </a:solidFill>
              </a:rPr>
              <a:t>Secure Hash Algorithm 3</a:t>
            </a:r>
            <a:r>
              <a:rPr lang="en-US" dirty="0">
                <a:solidFill>
                  <a:srgbClr val="0070C0"/>
                </a:solidFill>
              </a:rPr>
              <a:t>)</a:t>
            </a:r>
            <a:r>
              <a:rPr lang="en-US" dirty="0"/>
              <a:t>.</a:t>
            </a:r>
          </a:p>
          <a:p>
            <a:r>
              <a:rPr lang="en-US" dirty="0"/>
              <a:t>Based on the </a:t>
            </a:r>
            <a:r>
              <a:rPr lang="en-US" b="1" dirty="0"/>
              <a:t>sponge construction</a:t>
            </a:r>
            <a:r>
              <a:rPr lang="en-US" dirty="0"/>
              <a:t>. Example of recommended parameters:</a:t>
            </a:r>
          </a:p>
          <a:p>
            <a:endParaRPr lang="pl-PL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1BB4AE5B-3274-42E2-9A4D-590E015A358E}"/>
              </a:ext>
            </a:extLst>
          </p:cNvPr>
          <p:cNvGraphicFramePr>
            <a:graphicFrameLocks noGrp="1"/>
          </p:cNvGraphicFramePr>
          <p:nvPr/>
        </p:nvGraphicFramePr>
        <p:xfrm>
          <a:off x="1153390" y="4374575"/>
          <a:ext cx="7065820" cy="2050810"/>
        </p:xfrm>
        <a:graphic>
          <a:graphicData uri="http://schemas.openxmlformats.org/drawingml/2006/table">
            <a:tbl>
              <a:tblPr/>
              <a:tblGrid>
                <a:gridCol w="1766455">
                  <a:extLst>
                    <a:ext uri="{9D8B030D-6E8A-4147-A177-3AD203B41FA5}">
                      <a16:colId xmlns:a16="http://schemas.microsoft.com/office/drawing/2014/main" val="3552026681"/>
                    </a:ext>
                  </a:extLst>
                </a:gridCol>
                <a:gridCol w="1766455">
                  <a:extLst>
                    <a:ext uri="{9D8B030D-6E8A-4147-A177-3AD203B41FA5}">
                      <a16:colId xmlns:a16="http://schemas.microsoft.com/office/drawing/2014/main" val="55835668"/>
                    </a:ext>
                  </a:extLst>
                </a:gridCol>
                <a:gridCol w="1766455">
                  <a:extLst>
                    <a:ext uri="{9D8B030D-6E8A-4147-A177-3AD203B41FA5}">
                      <a16:colId xmlns:a16="http://schemas.microsoft.com/office/drawing/2014/main" val="1695661688"/>
                    </a:ext>
                  </a:extLst>
                </a:gridCol>
                <a:gridCol w="1766455">
                  <a:extLst>
                    <a:ext uri="{9D8B030D-6E8A-4147-A177-3AD203B41FA5}">
                      <a16:colId xmlns:a16="http://schemas.microsoft.com/office/drawing/2014/main" val="1273908539"/>
                    </a:ext>
                  </a:extLst>
                </a:gridCol>
              </a:tblGrid>
              <a:tr h="259567">
                <a:tc>
                  <a:txBody>
                    <a:bodyPr/>
                    <a:lstStyle/>
                    <a:p>
                      <a:pPr algn="ctr"/>
                      <a:r>
                        <a:rPr lang="pl-PL" sz="2000" dirty="0">
                          <a:effectLst/>
                        </a:rPr>
                        <a:t>Instance</a:t>
                      </a:r>
                    </a:p>
                  </a:txBody>
                  <a:tcPr marL="44401" marR="44401" marT="22201" marB="22201"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000" dirty="0" err="1">
                          <a:effectLst/>
                        </a:rPr>
                        <a:t>Output</a:t>
                      </a:r>
                      <a:br>
                        <a:rPr lang="pl-PL" sz="2000" dirty="0">
                          <a:effectLst/>
                        </a:rPr>
                      </a:br>
                      <a:r>
                        <a:rPr lang="pl-PL" sz="2000" dirty="0" err="1">
                          <a:effectLst/>
                        </a:rPr>
                        <a:t>size</a:t>
                      </a:r>
                      <a:r>
                        <a:rPr lang="pl-PL" sz="2000" dirty="0">
                          <a:effectLst/>
                        </a:rPr>
                        <a:t> </a:t>
                      </a:r>
                      <a:r>
                        <a:rPr lang="pl-PL" sz="2000" i="1" dirty="0">
                          <a:effectLst/>
                        </a:rPr>
                        <a:t>d</a:t>
                      </a:r>
                      <a:endParaRPr lang="pl-PL" sz="2000" dirty="0">
                        <a:effectLst/>
                      </a:endParaRPr>
                    </a:p>
                  </a:txBody>
                  <a:tcPr marL="44401" marR="44401" marT="22201" marB="22201"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000">
                          <a:effectLst/>
                        </a:rPr>
                        <a:t>Rate </a:t>
                      </a:r>
                      <a:r>
                        <a:rPr lang="pl-PL" sz="2000" i="1">
                          <a:effectLst/>
                        </a:rPr>
                        <a:t>r</a:t>
                      </a:r>
                      <a:br>
                        <a:rPr lang="pl-PL" sz="2000">
                          <a:effectLst/>
                        </a:rPr>
                      </a:br>
                      <a:r>
                        <a:rPr lang="pl-PL" sz="2000">
                          <a:effectLst/>
                        </a:rPr>
                        <a:t>= block size</a:t>
                      </a:r>
                    </a:p>
                  </a:txBody>
                  <a:tcPr marL="44401" marR="44401" marT="22201" marB="22201"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000">
                          <a:effectLst/>
                        </a:rPr>
                        <a:t>Capacity </a:t>
                      </a:r>
                      <a:r>
                        <a:rPr lang="pl-PL" sz="2000" i="1">
                          <a:effectLst/>
                        </a:rPr>
                        <a:t>c</a:t>
                      </a:r>
                      <a:endParaRPr lang="pl-PL" sz="2000">
                        <a:effectLst/>
                      </a:endParaRPr>
                    </a:p>
                  </a:txBody>
                  <a:tcPr marL="44401" marR="44401" marT="22201" marB="22201"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700370"/>
                  </a:ext>
                </a:extLst>
              </a:tr>
              <a:tr h="241026">
                <a:tc>
                  <a:txBody>
                    <a:bodyPr/>
                    <a:lstStyle/>
                    <a:p>
                      <a:pPr algn="ctr"/>
                      <a:r>
                        <a:rPr lang="pl-PL" sz="2000" dirty="0">
                          <a:effectLst/>
                        </a:rPr>
                        <a:t>SHA3-224</a:t>
                      </a:r>
                    </a:p>
                  </a:txBody>
                  <a:tcPr marL="44401" marR="44401" marT="22201" marB="22201"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000">
                          <a:effectLst/>
                        </a:rPr>
                        <a:t>224</a:t>
                      </a:r>
                    </a:p>
                  </a:txBody>
                  <a:tcPr marL="44401" marR="44401" marT="22201" marB="22201"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000">
                          <a:effectLst/>
                        </a:rPr>
                        <a:t>1152</a:t>
                      </a:r>
                    </a:p>
                  </a:txBody>
                  <a:tcPr marL="44401" marR="44401" marT="22201" marB="22201"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000">
                          <a:effectLst/>
                        </a:rPr>
                        <a:t>448</a:t>
                      </a:r>
                    </a:p>
                  </a:txBody>
                  <a:tcPr marL="44401" marR="44401" marT="22201" marB="22201"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766766"/>
                  </a:ext>
                </a:extLst>
              </a:tr>
              <a:tr h="241026">
                <a:tc>
                  <a:txBody>
                    <a:bodyPr/>
                    <a:lstStyle/>
                    <a:p>
                      <a:pPr algn="ctr"/>
                      <a:r>
                        <a:rPr lang="pl-PL" sz="2000" dirty="0">
                          <a:effectLst/>
                        </a:rPr>
                        <a:t>SHA3-256</a:t>
                      </a:r>
                    </a:p>
                  </a:txBody>
                  <a:tcPr marL="44401" marR="44401" marT="22201" marB="22201"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000">
                          <a:effectLst/>
                        </a:rPr>
                        <a:t>256</a:t>
                      </a:r>
                    </a:p>
                  </a:txBody>
                  <a:tcPr marL="44401" marR="44401" marT="22201" marB="22201"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000">
                          <a:effectLst/>
                        </a:rPr>
                        <a:t>1088</a:t>
                      </a:r>
                    </a:p>
                  </a:txBody>
                  <a:tcPr marL="44401" marR="44401" marT="22201" marB="22201"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000">
                          <a:effectLst/>
                        </a:rPr>
                        <a:t>512</a:t>
                      </a:r>
                    </a:p>
                  </a:txBody>
                  <a:tcPr marL="44401" marR="44401" marT="22201" marB="22201"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072076"/>
                  </a:ext>
                </a:extLst>
              </a:tr>
              <a:tr h="241026">
                <a:tc>
                  <a:txBody>
                    <a:bodyPr/>
                    <a:lstStyle/>
                    <a:p>
                      <a:pPr algn="ctr"/>
                      <a:r>
                        <a:rPr lang="pl-PL" sz="2000" dirty="0">
                          <a:effectLst/>
                        </a:rPr>
                        <a:t>SHA3-384</a:t>
                      </a:r>
                    </a:p>
                  </a:txBody>
                  <a:tcPr marL="44401" marR="44401" marT="22201" marB="22201"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000">
                          <a:effectLst/>
                        </a:rPr>
                        <a:t>384</a:t>
                      </a:r>
                    </a:p>
                  </a:txBody>
                  <a:tcPr marL="44401" marR="44401" marT="22201" marB="22201"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000">
                          <a:effectLst/>
                        </a:rPr>
                        <a:t>832</a:t>
                      </a:r>
                    </a:p>
                  </a:txBody>
                  <a:tcPr marL="44401" marR="44401" marT="22201" marB="22201"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000">
                          <a:effectLst/>
                        </a:rPr>
                        <a:t>768</a:t>
                      </a:r>
                    </a:p>
                  </a:txBody>
                  <a:tcPr marL="44401" marR="44401" marT="22201" marB="22201"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167779"/>
                  </a:ext>
                </a:extLst>
              </a:tr>
              <a:tr h="241026">
                <a:tc>
                  <a:txBody>
                    <a:bodyPr/>
                    <a:lstStyle/>
                    <a:p>
                      <a:pPr algn="ctr"/>
                      <a:r>
                        <a:rPr lang="pl-PL" sz="2000" dirty="0">
                          <a:effectLst/>
                        </a:rPr>
                        <a:t>SHA3-512</a:t>
                      </a:r>
                    </a:p>
                  </a:txBody>
                  <a:tcPr marL="44401" marR="44401" marT="22201" marB="22201"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000">
                          <a:effectLst/>
                        </a:rPr>
                        <a:t>512</a:t>
                      </a:r>
                    </a:p>
                  </a:txBody>
                  <a:tcPr marL="44401" marR="44401" marT="22201" marB="22201"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000">
                          <a:effectLst/>
                        </a:rPr>
                        <a:t>576</a:t>
                      </a:r>
                    </a:p>
                  </a:txBody>
                  <a:tcPr marL="44401" marR="44401" marT="22201" marB="22201"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000" dirty="0">
                          <a:effectLst/>
                        </a:rPr>
                        <a:t>1024</a:t>
                      </a:r>
                    </a:p>
                  </a:txBody>
                  <a:tcPr marL="44401" marR="44401" marT="22201" marB="22201"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951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5509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5750" y="5429250"/>
            <a:ext cx="8429625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©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20</a:t>
            </a:r>
            <a:r>
              <a:rPr lang="pl-PL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25</a:t>
            </a:r>
            <a:r>
              <a:rPr lang="en-US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by Stefan Dziembowski. Permission to make digital or hard copies of part or all of this material is currently granted without fee </a:t>
            </a:r>
            <a:r>
              <a:rPr lang="en-US" i="1" dirty="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provided that copies are made only for personal or classroom use, are not distributed for profit or commercial advantage, and that new copies bear this notice and the full citation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319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Banded Edge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777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3825</Words>
  <Application>Microsoft Macintosh PowerPoint</Application>
  <PresentationFormat>On-screen Show (4:3)</PresentationFormat>
  <Paragraphs>806</Paragraphs>
  <Slides>78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5" baseType="lpstr">
      <vt:lpstr>Arial</vt:lpstr>
      <vt:lpstr>Calibri</vt:lpstr>
      <vt:lpstr>Cambria</vt:lpstr>
      <vt:lpstr>Cambria Math</vt:lpstr>
      <vt:lpstr>Consolas</vt:lpstr>
      <vt:lpstr>Times</vt:lpstr>
      <vt:lpstr>Office Theme</vt:lpstr>
      <vt:lpstr>Chapter 3 Hash Functions</vt:lpstr>
      <vt:lpstr>Secure communication</vt:lpstr>
      <vt:lpstr>Plan</vt:lpstr>
      <vt:lpstr>Hash functions</vt:lpstr>
      <vt:lpstr>Example of an application: file fingerprinting</vt:lpstr>
      <vt:lpstr>What properties should a hash function H have?</vt:lpstr>
      <vt:lpstr>Second preimage resistance may be in many cases be too weak </vt:lpstr>
      <vt:lpstr>Collision-resistant hash functions</vt:lpstr>
      <vt:lpstr>Collisions always exist</vt:lpstr>
      <vt:lpstr>“Practical definition”</vt:lpstr>
      <vt:lpstr>How to formally define “collision resistance”?</vt:lpstr>
      <vt:lpstr>Solution</vt:lpstr>
      <vt:lpstr>PowerPoint Presentation</vt:lpstr>
      <vt:lpstr>PowerPoint Presentation</vt:lpstr>
      <vt:lpstr>Hash functions – the functional definition</vt:lpstr>
      <vt:lpstr>Hash functions – the security definition [1/2]</vt:lpstr>
      <vt:lpstr>Hash functions – the security  definition [2/2]</vt:lpstr>
      <vt:lpstr>A weaker requirement: pre-image resistance </vt:lpstr>
      <vt:lpstr>Yet another requirement: second pre-image resistance </vt:lpstr>
      <vt:lpstr>Fact</vt:lpstr>
      <vt:lpstr>Do collision-resilient hash functions belong to minicrypt?</vt:lpstr>
      <vt:lpstr>Plan</vt:lpstr>
      <vt:lpstr>A common method for constructing hash functions</vt:lpstr>
      <vt:lpstr>An idea</vt:lpstr>
      <vt:lpstr>Why is it wrong?</vt:lpstr>
      <vt:lpstr>Merkle-Damgård transform</vt:lpstr>
      <vt:lpstr>This construction is secure</vt:lpstr>
      <vt:lpstr>What to do?</vt:lpstr>
      <vt:lpstr>PowerPoint Presentation</vt:lpstr>
      <vt:lpstr>How to compute a collision (x,y) in h from a collision (m,m’) in H?</vt:lpstr>
      <vt:lpstr>Case 1: |m|=|m’|</vt:lpstr>
      <vt:lpstr>|m|=|m’|</vt:lpstr>
      <vt:lpstr>|m|=|m’|</vt:lpstr>
      <vt:lpstr>PowerPoint Presentation</vt:lpstr>
      <vt:lpstr>PowerPoint Presentation</vt:lpstr>
      <vt:lpstr>So, we have found a collision!</vt:lpstr>
      <vt:lpstr>Case 2: |m|≠|m’|</vt:lpstr>
      <vt:lpstr>Plan</vt:lpstr>
      <vt:lpstr>Sponge construction</vt:lpstr>
      <vt:lpstr>Second step</vt:lpstr>
      <vt:lpstr>Plan</vt:lpstr>
      <vt:lpstr>Consider again file fingerprinting</vt:lpstr>
      <vt:lpstr>Fingerprinting large files</vt:lpstr>
      <vt:lpstr>Better solution: construct a Merkle tree:</vt:lpstr>
      <vt:lpstr>File sharing</vt:lpstr>
      <vt:lpstr>Plan</vt:lpstr>
      <vt:lpstr>How the outputs of hash functions look in real life?</vt:lpstr>
      <vt:lpstr>Example of how this property is used: deriving “uniformly random keys” from “non-uniform randomness"</vt:lpstr>
      <vt:lpstr>Example: password-based encryption</vt:lpstr>
      <vt:lpstr>Random oracle model</vt:lpstr>
      <vt:lpstr>Remember the pseudorandom functions?</vt:lpstr>
      <vt:lpstr>PowerPoint Presentation</vt:lpstr>
      <vt:lpstr>How would we use it in the proof?</vt:lpstr>
      <vt:lpstr>Criticism of the Random Oracle Model</vt:lpstr>
      <vt:lpstr>Terminology</vt:lpstr>
      <vt:lpstr>Plan</vt:lpstr>
      <vt:lpstr>Password storage</vt:lpstr>
      <vt:lpstr>Proofs of work</vt:lpstr>
      <vt:lpstr>A simple hash-based PoW</vt:lpstr>
      <vt:lpstr>Problem</vt:lpstr>
      <vt:lpstr>Idea for a solution</vt:lpstr>
      <vt:lpstr>Password Hashing Competition</vt:lpstr>
      <vt:lpstr>Plan</vt:lpstr>
      <vt:lpstr>Fact</vt:lpstr>
      <vt:lpstr>MD5 (Message-Digest Algorithm 5) </vt:lpstr>
      <vt:lpstr>June 2005: researchers at the Bochum University produce 2 postscript documents with the same MD5 hash</vt:lpstr>
      <vt:lpstr>Colliding certificates</vt:lpstr>
      <vt:lpstr>Flame malware</vt:lpstr>
      <vt:lpstr>SHA-1 (Secure Hash Algorithm)</vt:lpstr>
      <vt:lpstr>The collision that was found in 2015</vt:lpstr>
      <vt:lpstr>Hardware used in [Stevens, Karpman, and Peyrin: Freestart collision on full SHA-1]: </vt:lpstr>
      <vt:lpstr>Reaction of the industry</vt:lpstr>
      <vt:lpstr>The attack from 2017</vt:lpstr>
      <vt:lpstr>Two colliding pdf files:</vt:lpstr>
      <vt:lpstr>An unexpected victim of this attack</vt:lpstr>
      <vt:lpstr>A new hash algorithm: SHA-3</vt:lpstr>
      <vt:lpstr>Keccak is the new standard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 Dziembowski</dc:creator>
  <cp:lastModifiedBy>Stefan Dziembowski</cp:lastModifiedBy>
  <cp:revision>620</cp:revision>
  <dcterms:created xsi:type="dcterms:W3CDTF">2015-07-03T16:44:25Z</dcterms:created>
  <dcterms:modified xsi:type="dcterms:W3CDTF">2025-11-03T11:24:51Z</dcterms:modified>
</cp:coreProperties>
</file>