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ink/ink1.xml" ContentType="application/inkml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256" r:id="rId2"/>
    <p:sldId id="333" r:id="rId3"/>
    <p:sldId id="406" r:id="rId4"/>
    <p:sldId id="334" r:id="rId5"/>
    <p:sldId id="335" r:id="rId6"/>
    <p:sldId id="336" r:id="rId7"/>
    <p:sldId id="390" r:id="rId8"/>
    <p:sldId id="340" r:id="rId9"/>
    <p:sldId id="337" r:id="rId10"/>
    <p:sldId id="338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407" r:id="rId19"/>
    <p:sldId id="348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415" r:id="rId35"/>
    <p:sldId id="392" r:id="rId36"/>
    <p:sldId id="393" r:id="rId37"/>
    <p:sldId id="367" r:id="rId38"/>
    <p:sldId id="368" r:id="rId39"/>
    <p:sldId id="369" r:id="rId40"/>
    <p:sldId id="370" r:id="rId41"/>
    <p:sldId id="371" r:id="rId42"/>
    <p:sldId id="372" r:id="rId43"/>
    <p:sldId id="373" r:id="rId44"/>
    <p:sldId id="394" r:id="rId45"/>
    <p:sldId id="374" r:id="rId46"/>
    <p:sldId id="416" r:id="rId47"/>
    <p:sldId id="396" r:id="rId48"/>
    <p:sldId id="397" r:id="rId49"/>
    <p:sldId id="412" r:id="rId50"/>
    <p:sldId id="398" r:id="rId51"/>
    <p:sldId id="399" r:id="rId52"/>
    <p:sldId id="417" r:id="rId53"/>
    <p:sldId id="400" r:id="rId54"/>
    <p:sldId id="401" r:id="rId55"/>
    <p:sldId id="402" r:id="rId56"/>
    <p:sldId id="403" r:id="rId57"/>
    <p:sldId id="404" r:id="rId58"/>
    <p:sldId id="332" r:id="rId59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11" autoAdjust="0"/>
    <p:restoredTop sz="94660"/>
  </p:normalViewPr>
  <p:slideViewPr>
    <p:cSldViewPr snapToGrid="0">
      <p:cViewPr varScale="1">
        <p:scale>
          <a:sx n="184" d="100"/>
          <a:sy n="184" d="100"/>
        </p:scale>
        <p:origin x="48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11T12:29:39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21324 8794 218 0,'0'0'150'0,"0"0"879"0,0 0-691 15,0 0-120-15,0 0-46 0,0 0-26 16,0 0-43-16,0 0-15 0,0 0-27 16,8-23-9-16,-4 20-4 0,1-2 13 15,-1 5-12-15,4 0-24 0,-4 0-8 16,4 0-15-16,1 0 1 0,-5 0 23 16,4 0-1-16,-4 0-12 0,0 5 7 15,0-2 15-15,5 2 7 0,-5 2 15 16,4-1-2-16,-4 2 12 0,5 1-6 15,-1 5-10-15,8-5-9 0,-12 3-1 16,9 2-6-16,-1 0-16 0,1-2 16 16,-5 2 3-16,8-2-12 0,-7 2-14 15,3-2 14-15,1 2 9 0,-1 4 6 16,-4-1 10-16,5 1-1 16,-9-1-2-16,4 4-7 0,-4-2-13 15,0 7 0-15,0-3 4 0,1 3-17 16,-1-5-11-16,-4 5 18 0,0 2-10 15,0-2 7-15,0 1 6 0,0 2-6 16,0-1 6-16,0 2 0 0,-4-4 0 16,4 5 1-16,-5-1-10 0,5 1-1 15,-4-4 4-15,0 4 0 0,0 0-16 16,0-1 13-16,0 5-4 0,0 0-10 16,-1 0 14-16,-7 1-4 15,4-1-10-15,0 5 0 0,-1-1 1 16,1 1 10-16,4-2-11 0,-9 2 1 15,9-1-2-15,-8-3 2 0,0 3-1 16,-1-3 11-16,-3-4-10 0,7 3 13 16,-11-9-13-16,3 0 9 0,1 0 1 15,3 0-10-15,-7-5-3 0,-1-2-16 16,4-1-121-16,-3-1-86 0,-1 1-134 16,9-10-621-16,-22 6-1188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A9543F3-0831-4635-AD48-8E4410E9648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BBDC37B-729A-4393-B484-407F8F0BF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3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59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06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56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75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14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70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07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37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12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58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157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28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15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2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23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62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153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180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41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245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162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663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236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253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998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00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030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698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486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203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565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141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3E71AE-72D7-4F48-8808-C52CFA8C5557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355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1FFE-71C2-45B8-9648-BEE3CE3993A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750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1FFE-71C2-45B8-9648-BEE3CE3993A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080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1FFE-71C2-45B8-9648-BEE3CE3993A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978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1FFE-71C2-45B8-9648-BEE3CE3993A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636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1FFE-71C2-45B8-9648-BEE3CE3993A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253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963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702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A5961-DB99-4BD1-B0C0-A6DD6FA262BE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61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670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8765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6974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923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051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454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7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FABD3-5AFF-4669-BE74-12D79B49C21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ypto.edu.pl/Dziembowsk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wm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0.png"/><Relationship Id="rId13" Type="http://schemas.openxmlformats.org/officeDocument/2006/relationships/image" Target="../media/image27.png"/><Relationship Id="rId3" Type="http://schemas.openxmlformats.org/officeDocument/2006/relationships/image" Target="../media/image3.wmf"/><Relationship Id="rId7" Type="http://schemas.openxmlformats.org/officeDocument/2006/relationships/image" Target="../media/image4.wmf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5.wmf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34.png"/><Relationship Id="rId3" Type="http://schemas.openxmlformats.org/officeDocument/2006/relationships/image" Target="../media/image3.wmf"/><Relationship Id="rId7" Type="http://schemas.openxmlformats.org/officeDocument/2006/relationships/image" Target="../media/image4.wmf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2.png"/><Relationship Id="rId5" Type="http://schemas.openxmlformats.org/officeDocument/2006/relationships/image" Target="../media/image270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5.wmf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7.wmf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4.wmf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3.wmf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5.wmf"/><Relationship Id="rId9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102.png"/><Relationship Id="rId3" Type="http://schemas.openxmlformats.org/officeDocument/2006/relationships/image" Target="../media/image94.png"/><Relationship Id="rId7" Type="http://schemas.openxmlformats.org/officeDocument/2006/relationships/image" Target="../media/image97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0.png"/><Relationship Id="rId5" Type="http://schemas.openxmlformats.org/officeDocument/2006/relationships/image" Target="../media/image78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95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76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26" Type="http://schemas.openxmlformats.org/officeDocument/2006/relationships/image" Target="../media/image141.png"/><Relationship Id="rId3" Type="http://schemas.openxmlformats.org/officeDocument/2006/relationships/image" Target="../media/image118.png"/><Relationship Id="rId21" Type="http://schemas.openxmlformats.org/officeDocument/2006/relationships/image" Target="../media/image136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40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29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139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8.png"/><Relationship Id="rId28" Type="http://schemas.openxmlformats.org/officeDocument/2006/relationships/image" Target="../media/image143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31" Type="http://schemas.openxmlformats.org/officeDocument/2006/relationships/image" Target="../media/image146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81.png"/><Relationship Id="rId22" Type="http://schemas.openxmlformats.org/officeDocument/2006/relationships/image" Target="../media/image137.png"/><Relationship Id="rId27" Type="http://schemas.openxmlformats.org/officeDocument/2006/relationships/image" Target="../media/image142.png"/><Relationship Id="rId30" Type="http://schemas.openxmlformats.org/officeDocument/2006/relationships/image" Target="../media/image1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5.png"/><Relationship Id="rId18" Type="http://schemas.openxmlformats.org/officeDocument/2006/relationships/image" Target="../media/image160.png"/><Relationship Id="rId3" Type="http://schemas.openxmlformats.org/officeDocument/2006/relationships/tags" Target="../tags/tag3.xml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17" Type="http://schemas.openxmlformats.org/officeDocument/2006/relationships/image" Target="../media/image44.png"/><Relationship Id="rId2" Type="http://schemas.openxmlformats.org/officeDocument/2006/relationships/tags" Target="../tags/tag2.xml"/><Relationship Id="rId16" Type="http://schemas.openxmlformats.org/officeDocument/2006/relationships/image" Target="../media/image158.png"/><Relationship Id="rId1" Type="http://schemas.openxmlformats.org/officeDocument/2006/relationships/tags" Target="../tags/tag1.xml"/><Relationship Id="rId6" Type="http://schemas.openxmlformats.org/officeDocument/2006/relationships/notesSlide" Target="../notesSlides/notesSlide30.xml"/><Relationship Id="rId11" Type="http://schemas.openxmlformats.org/officeDocument/2006/relationships/image" Target="../media/image153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157.png"/><Relationship Id="rId10" Type="http://schemas.openxmlformats.org/officeDocument/2006/relationships/image" Target="../media/image152.png"/><Relationship Id="rId19" Type="http://schemas.openxmlformats.org/officeDocument/2006/relationships/image" Target="../media/image161.png"/><Relationship Id="rId4" Type="http://schemas.openxmlformats.org/officeDocument/2006/relationships/tags" Target="../tags/tag4.xml"/><Relationship Id="rId9" Type="http://schemas.openxmlformats.org/officeDocument/2006/relationships/image" Target="../media/image151.png"/><Relationship Id="rId14" Type="http://schemas.openxmlformats.org/officeDocument/2006/relationships/image" Target="../media/image15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58.png"/><Relationship Id="rId3" Type="http://schemas.openxmlformats.org/officeDocument/2006/relationships/tags" Target="../tags/tag7.xml"/><Relationship Id="rId7" Type="http://schemas.openxmlformats.org/officeDocument/2006/relationships/image" Target="../media/image162.png"/><Relationship Id="rId12" Type="http://schemas.openxmlformats.org/officeDocument/2006/relationships/image" Target="../media/image157.png"/><Relationship Id="rId2" Type="http://schemas.openxmlformats.org/officeDocument/2006/relationships/tags" Target="../tags/tag6.xml"/><Relationship Id="rId16" Type="http://schemas.openxmlformats.org/officeDocument/2006/relationships/image" Target="../media/image168.png"/><Relationship Id="rId1" Type="http://schemas.openxmlformats.org/officeDocument/2006/relationships/tags" Target="../tags/tag5.xml"/><Relationship Id="rId6" Type="http://schemas.openxmlformats.org/officeDocument/2006/relationships/notesSlide" Target="../notesSlides/notesSlide31.xml"/><Relationship Id="rId11" Type="http://schemas.openxmlformats.org/officeDocument/2006/relationships/image" Target="../media/image166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167.png"/><Relationship Id="rId10" Type="http://schemas.openxmlformats.org/officeDocument/2006/relationships/image" Target="../media/image165.png"/><Relationship Id="rId4" Type="http://schemas.openxmlformats.org/officeDocument/2006/relationships/tags" Target="../tags/tag8.xml"/><Relationship Id="rId9" Type="http://schemas.openxmlformats.org/officeDocument/2006/relationships/image" Target="../media/image164.png"/><Relationship Id="rId1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4.png"/><Relationship Id="rId18" Type="http://schemas.openxmlformats.org/officeDocument/2006/relationships/image" Target="../media/image179.png"/><Relationship Id="rId3" Type="http://schemas.openxmlformats.org/officeDocument/2006/relationships/tags" Target="../tags/tag11.xml"/><Relationship Id="rId21" Type="http://schemas.openxmlformats.org/officeDocument/2006/relationships/image" Target="../media/image4.wmf"/><Relationship Id="rId7" Type="http://schemas.openxmlformats.org/officeDocument/2006/relationships/image" Target="../media/image169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tags" Target="../tags/tag10.xml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1" Type="http://schemas.openxmlformats.org/officeDocument/2006/relationships/tags" Target="../tags/tag9.xml"/><Relationship Id="rId6" Type="http://schemas.openxmlformats.org/officeDocument/2006/relationships/notesSlide" Target="../notesSlides/notesSlide32.xml"/><Relationship Id="rId11" Type="http://schemas.openxmlformats.org/officeDocument/2006/relationships/image" Target="../media/image172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176.png"/><Relationship Id="rId10" Type="http://schemas.openxmlformats.org/officeDocument/2006/relationships/image" Target="../media/image171.png"/><Relationship Id="rId19" Type="http://schemas.openxmlformats.org/officeDocument/2006/relationships/image" Target="../media/image180.png"/><Relationship Id="rId4" Type="http://schemas.openxmlformats.org/officeDocument/2006/relationships/tags" Target="../tags/tag12.xml"/><Relationship Id="rId9" Type="http://schemas.openxmlformats.org/officeDocument/2006/relationships/image" Target="../media/image44.png"/><Relationship Id="rId14" Type="http://schemas.openxmlformats.org/officeDocument/2006/relationships/image" Target="../media/image175.png"/><Relationship Id="rId22" Type="http://schemas.openxmlformats.org/officeDocument/2006/relationships/image" Target="../media/image18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196.png"/><Relationship Id="rId18" Type="http://schemas.openxmlformats.org/officeDocument/2006/relationships/image" Target="../media/image201.png"/><Relationship Id="rId3" Type="http://schemas.openxmlformats.org/officeDocument/2006/relationships/image" Target="../media/image186.png"/><Relationship Id="rId7" Type="http://schemas.openxmlformats.org/officeDocument/2006/relationships/image" Target="../media/image129.png"/><Relationship Id="rId12" Type="http://schemas.openxmlformats.org/officeDocument/2006/relationships/image" Target="../media/image195.png"/><Relationship Id="rId17" Type="http://schemas.openxmlformats.org/officeDocument/2006/relationships/image" Target="../media/image200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99.png"/><Relationship Id="rId20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11" Type="http://schemas.openxmlformats.org/officeDocument/2006/relationships/image" Target="../media/image147.png"/><Relationship Id="rId5" Type="http://schemas.openxmlformats.org/officeDocument/2006/relationships/image" Target="../media/image188.png"/><Relationship Id="rId15" Type="http://schemas.openxmlformats.org/officeDocument/2006/relationships/image" Target="../media/image198.png"/><Relationship Id="rId10" Type="http://schemas.openxmlformats.org/officeDocument/2006/relationships/image" Target="../media/image193.png"/><Relationship Id="rId19" Type="http://schemas.openxmlformats.org/officeDocument/2006/relationships/image" Target="../media/image4.wmf"/><Relationship Id="rId4" Type="http://schemas.openxmlformats.org/officeDocument/2006/relationships/image" Target="../media/image187.png"/><Relationship Id="rId9" Type="http://schemas.openxmlformats.org/officeDocument/2006/relationships/image" Target="../media/image192.png"/><Relationship Id="rId14" Type="http://schemas.openxmlformats.org/officeDocument/2006/relationships/image" Target="../media/image19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4.png"/><Relationship Id="rId3" Type="http://schemas.openxmlformats.org/officeDocument/2006/relationships/image" Target="../media/image204.png"/><Relationship Id="rId7" Type="http://schemas.openxmlformats.org/officeDocument/2006/relationships/image" Target="../media/image208.png"/><Relationship Id="rId12" Type="http://schemas.openxmlformats.org/officeDocument/2006/relationships/image" Target="../media/image2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5" Type="http://schemas.openxmlformats.org/officeDocument/2006/relationships/image" Target="../media/image206.png"/><Relationship Id="rId10" Type="http://schemas.openxmlformats.org/officeDocument/2006/relationships/image" Target="../media/image211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Relationship Id="rId14" Type="http://schemas.openxmlformats.org/officeDocument/2006/relationships/image" Target="../media/image2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12" Type="http://schemas.openxmlformats.org/officeDocument/2006/relationships/image" Target="../media/image2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png"/><Relationship Id="rId11" Type="http://schemas.openxmlformats.org/officeDocument/2006/relationships/image" Target="../media/image230.png"/><Relationship Id="rId5" Type="http://schemas.openxmlformats.org/officeDocument/2006/relationships/image" Target="../media/image224.png"/><Relationship Id="rId10" Type="http://schemas.openxmlformats.org/officeDocument/2006/relationships/image" Target="../media/image229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8.png"/><Relationship Id="rId4" Type="http://schemas.openxmlformats.org/officeDocument/2006/relationships/customXml" Target="../ink/ink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3" Type="http://schemas.openxmlformats.org/officeDocument/2006/relationships/image" Target="../media/image159.png"/><Relationship Id="rId7" Type="http://schemas.openxmlformats.org/officeDocument/2006/relationships/image" Target="../media/image238.png"/><Relationship Id="rId12" Type="http://schemas.openxmlformats.org/officeDocument/2006/relationships/image" Target="../media/image2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5" Type="http://schemas.openxmlformats.org/officeDocument/2006/relationships/image" Target="../media/image184.png"/><Relationship Id="rId10" Type="http://schemas.openxmlformats.org/officeDocument/2006/relationships/image" Target="../media/image241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2606" y="508723"/>
            <a:ext cx="7901650" cy="2360755"/>
          </a:xfrm>
        </p:spPr>
        <p:txBody>
          <a:bodyPr>
            <a:noAutofit/>
          </a:bodyPr>
          <a:lstStyle/>
          <a:p>
            <a:r>
              <a:rPr lang="pl-PL" sz="4600" b="1" dirty="0" err="1"/>
              <a:t>Chapter</a:t>
            </a:r>
            <a:r>
              <a:rPr lang="pl-PL" sz="4600" b="1" dirty="0"/>
              <a:t> 4</a:t>
            </a:r>
            <a:br>
              <a:rPr lang="en-US" sz="4600" b="1" dirty="0"/>
            </a:br>
            <a:br>
              <a:rPr lang="pl-PL" sz="1000" dirty="0"/>
            </a:br>
            <a:r>
              <a:rPr lang="pl-PL" sz="5400" b="1" dirty="0">
                <a:solidFill>
                  <a:srgbClr val="0070C0"/>
                </a:solidFill>
              </a:rPr>
              <a:t>Message </a:t>
            </a:r>
            <a:r>
              <a:rPr lang="en-US" sz="5400" b="1" dirty="0">
                <a:solidFill>
                  <a:srgbClr val="0070C0"/>
                </a:solidFill>
              </a:rPr>
              <a:t>Authentication</a:t>
            </a:r>
            <a:br>
              <a:rPr lang="en-US" sz="4600" b="1">
                <a:solidFill>
                  <a:srgbClr val="0070C0"/>
                </a:solidFill>
              </a:rPr>
            </a:br>
            <a:endParaRPr lang="en-US" sz="4600" b="1" dirty="0">
              <a:solidFill>
                <a:srgbClr val="0070C0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652231" y="3398014"/>
            <a:ext cx="3962400" cy="177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FF0000"/>
                </a:solidFill>
              </a:rPr>
              <a:t>Stefan</a:t>
            </a:r>
            <a:r>
              <a:rPr lang="en-US" sz="3000" dirty="0">
                <a:solidFill>
                  <a:srgbClr val="FF0000"/>
                </a:solidFill>
              </a:rPr>
              <a:t> </a:t>
            </a:r>
            <a:r>
              <a:rPr lang="en-US" sz="3000" b="1" dirty="0">
                <a:solidFill>
                  <a:srgbClr val="FF0000"/>
                </a:solidFill>
              </a:rPr>
              <a:t>Dziembowski</a:t>
            </a:r>
            <a:br>
              <a:rPr lang="en-US" sz="3000" b="1" dirty="0">
                <a:solidFill>
                  <a:srgbClr val="FF0000"/>
                </a:solidFill>
              </a:rPr>
            </a:br>
            <a:r>
              <a:rPr lang="en-US" sz="1800" dirty="0">
                <a:solidFill>
                  <a:srgbClr val="FF0000"/>
                </a:solidFill>
                <a:hlinkClick r:id="rId3"/>
              </a:rPr>
              <a:t>www.crypto.edu.pl/Dziembowski</a:t>
            </a:r>
            <a:br>
              <a:rPr lang="en-US" sz="1800" dirty="0">
                <a:solidFill>
                  <a:srgbClr val="FF0000"/>
                </a:solidFill>
              </a:rPr>
            </a:b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600" b="1" dirty="0">
                <a:solidFill>
                  <a:schemeClr val="tx1"/>
                </a:solidFill>
              </a:rPr>
              <a:t>University of Warsaw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r="58267"/>
          <a:stretch/>
        </p:blipFill>
        <p:spPr>
          <a:xfrm>
            <a:off x="3785290" y="4944439"/>
            <a:ext cx="1418989" cy="152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2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725470"/>
          </a:xfrm>
        </p:spPr>
        <p:txBody>
          <a:bodyPr>
            <a:normAutofit/>
          </a:bodyPr>
          <a:lstStyle/>
          <a:p>
            <a:r>
              <a:rPr lang="en-US" dirty="0"/>
              <a:t>Secure communication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5918" y="2714620"/>
          <a:ext cx="6643734" cy="192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6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encryption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authentication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85">
                <a:tc>
                  <a:txBody>
                    <a:bodyPr/>
                    <a:lstStyle/>
                    <a:p>
                      <a:r>
                        <a:rPr lang="en-US" b="1" dirty="0"/>
                        <a:t>private</a:t>
                      </a:r>
                      <a:r>
                        <a:rPr lang="en-US" b="1" baseline="0" dirty="0"/>
                        <a:t> key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private</a:t>
                      </a:r>
                      <a:r>
                        <a:rPr lang="en-US" baseline="0" dirty="0"/>
                        <a:t> key encryption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private</a:t>
                      </a:r>
                      <a:r>
                        <a:rPr lang="en-US" baseline="0" dirty="0"/>
                        <a:t> key authentication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699">
                <a:tc>
                  <a:txBody>
                    <a:bodyPr/>
                    <a:lstStyle/>
                    <a:p>
                      <a:r>
                        <a:rPr lang="en-US" b="1" dirty="0"/>
                        <a:t>public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public key</a:t>
                      </a:r>
                      <a:br>
                        <a:rPr lang="en-US" dirty="0"/>
                      </a:br>
                      <a:r>
                        <a:rPr lang="en-US" dirty="0"/>
                        <a:t>encryption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071934" y="3500438"/>
            <a:ext cx="301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1934" y="4143380"/>
            <a:ext cx="301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12" y="3500438"/>
            <a:ext cx="301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6512" y="4143380"/>
            <a:ext cx="301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pic>
        <p:nvPicPr>
          <p:cNvPr id="12" name="Picture 2" descr="C:\Users\Stefan\AppData\Local\Microsoft\Windows\Temporary Internet Files\Content.IE5\VFSGDNK1\MCj0434663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6446" y="3143248"/>
            <a:ext cx="563561" cy="744131"/>
          </a:xfrm>
          <a:prstGeom prst="rect">
            <a:avLst/>
          </a:prstGeom>
          <a:noFill/>
        </p:spPr>
      </p:pic>
      <p:sp>
        <p:nvSpPr>
          <p:cNvPr id="10" name="Notched Right Arrow 9"/>
          <p:cNvSpPr/>
          <p:nvPr/>
        </p:nvSpPr>
        <p:spPr>
          <a:xfrm rot="12334705">
            <a:off x="8148680" y="3496777"/>
            <a:ext cx="770645" cy="554001"/>
          </a:xfrm>
          <a:prstGeom prst="notch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3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148" y="1626988"/>
            <a:ext cx="6929486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to Message Authentication Codes (MACs).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of MACs 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Authenticated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Outlook</a:t>
            </a:r>
          </a:p>
        </p:txBody>
      </p:sp>
      <p:sp>
        <p:nvSpPr>
          <p:cNvPr id="4" name="Left Arrow 3"/>
          <p:cNvSpPr/>
          <p:nvPr/>
        </p:nvSpPr>
        <p:spPr>
          <a:xfrm flipH="1">
            <a:off x="414366" y="1551674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0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80F2-78EF-44EE-AA04-49B92A689416}" type="slidenum">
              <a:rPr lang="it-IT"/>
              <a:pPr/>
              <a:t>4</a:t>
            </a:fld>
            <a:endParaRPr lang="it-IT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6252" y="-13448"/>
            <a:ext cx="7772400" cy="1143000"/>
          </a:xfrm>
        </p:spPr>
        <p:txBody>
          <a:bodyPr/>
          <a:lstStyle/>
          <a:p>
            <a:r>
              <a:rPr lang="it-IT" dirty="0"/>
              <a:t>Message Authentication</a:t>
            </a:r>
          </a:p>
        </p:txBody>
      </p:sp>
      <p:pic>
        <p:nvPicPr>
          <p:cNvPr id="76804" name="Picture 4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2209800"/>
            <a:ext cx="1401763" cy="1457325"/>
          </a:xfrm>
          <a:prstGeom prst="rect">
            <a:avLst/>
          </a:prstGeom>
          <a:noFill/>
        </p:spPr>
      </p:pic>
      <p:sp>
        <p:nvSpPr>
          <p:cNvPr id="768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7772400" cy="41148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GB" dirty="0"/>
              <a:t>Integrity:</a:t>
            </a:r>
            <a:endParaRPr lang="en-US" dirty="0"/>
          </a:p>
        </p:txBody>
      </p:sp>
      <p:pic>
        <p:nvPicPr>
          <p:cNvPr id="76806" name="Picture 6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0298" y="4643446"/>
            <a:ext cx="1841500" cy="1273175"/>
          </a:xfrm>
          <a:prstGeom prst="rect">
            <a:avLst/>
          </a:prstGeom>
          <a:noFill/>
        </p:spPr>
      </p:pic>
      <p:pic>
        <p:nvPicPr>
          <p:cNvPr id="76807" name="Picture 7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66800" y="2209800"/>
            <a:ext cx="1368425" cy="1438275"/>
          </a:xfrm>
          <a:prstGeom prst="rect">
            <a:avLst/>
          </a:prstGeom>
          <a:noFill/>
        </p:spPr>
      </p:pic>
      <p:sp>
        <p:nvSpPr>
          <p:cNvPr id="76808" name="Line 8"/>
          <p:cNvSpPr>
            <a:spLocks noChangeShapeType="1"/>
          </p:cNvSpPr>
          <p:nvPr/>
        </p:nvSpPr>
        <p:spPr bwMode="auto">
          <a:xfrm>
            <a:off x="2819400" y="2819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9" name="Text Box 9"/>
              <p:cNvSpPr txBox="1">
                <a:spLocks noChangeArrowheads="1"/>
              </p:cNvSpPr>
              <p:nvPr/>
            </p:nvSpPr>
            <p:spPr bwMode="auto">
              <a:xfrm>
                <a:off x="4343400" y="2667000"/>
                <a:ext cx="44595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sz="18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80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400" y="2667000"/>
                <a:ext cx="44595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810" name="AutoShape 10"/>
          <p:cNvCxnSpPr>
            <a:cxnSpLocks noChangeShapeType="1"/>
            <a:stCxn id="76809" idx="2"/>
            <a:endCxn id="76806" idx="0"/>
          </p:cNvCxnSpPr>
          <p:nvPr/>
        </p:nvCxnSpPr>
        <p:spPr bwMode="auto">
          <a:xfrm rot="5400000">
            <a:off x="3190156" y="3267224"/>
            <a:ext cx="1607114" cy="114533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76811" name="Text Box 11"/>
          <p:cNvSpPr txBox="1">
            <a:spLocks noChangeArrowheads="1"/>
          </p:cNvSpPr>
          <p:nvPr/>
        </p:nvSpPr>
        <p:spPr bwMode="auto">
          <a:xfrm>
            <a:off x="2809852" y="3220989"/>
            <a:ext cx="3286148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/>
              <a:t>interferes with the transmission</a:t>
            </a:r>
          </a:p>
          <a:p>
            <a:r>
              <a:rPr lang="en-GB" dirty="0"/>
              <a:t>(modifies the message, or inserts a new one)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12" name="Text Box 12"/>
              <p:cNvSpPr txBox="1">
                <a:spLocks noChangeArrowheads="1"/>
              </p:cNvSpPr>
              <p:nvPr/>
            </p:nvSpPr>
            <p:spPr bwMode="auto">
              <a:xfrm>
                <a:off x="1295400" y="3200400"/>
                <a:ext cx="80182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𝐀𝐥𝐢𝐜𝐞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812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3200400"/>
                <a:ext cx="80182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813" name="Text Box 13"/>
              <p:cNvSpPr txBox="1">
                <a:spLocks noChangeArrowheads="1"/>
              </p:cNvSpPr>
              <p:nvPr/>
            </p:nvSpPr>
            <p:spPr bwMode="auto">
              <a:xfrm>
                <a:off x="6781800" y="3200400"/>
                <a:ext cx="631825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𝐁𝐨𝐛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81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1800" y="3200400"/>
                <a:ext cx="631825" cy="36988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814" name="AutoShape 14"/>
              <p:cNvSpPr>
                <a:spLocks noChangeArrowheads="1"/>
              </p:cNvSpPr>
              <p:nvPr/>
            </p:nvSpPr>
            <p:spPr bwMode="auto">
              <a:xfrm>
                <a:off x="5262548" y="4605975"/>
                <a:ext cx="3581400" cy="762000"/>
              </a:xfrm>
              <a:prstGeom prst="wedgeRectCallout">
                <a:avLst>
                  <a:gd name="adj1" fmla="val 4542"/>
                  <a:gd name="adj2" fmla="val -187250"/>
                </a:avLst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US" sz="2000" dirty="0"/>
                  <a:t>How can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𝐁𝐨𝐛</m:t>
                    </m:r>
                    <m:r>
                      <a:rPr lang="en-US" sz="20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sure that </a:t>
                </a:r>
                <a:br>
                  <a:rPr lang="pl-PL" sz="2000" dirty="0"/>
                </a:b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000" b="1" dirty="0"/>
                  <a:t> really come</a:t>
                </a:r>
                <a:r>
                  <a:rPr lang="pl-PL" sz="2000" b="1" dirty="0"/>
                  <a:t>s</a:t>
                </a:r>
                <a:r>
                  <a:rPr lang="en-US" sz="2000" b="1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𝐀𝐥𝐢𝐜𝐞</m:t>
                    </m:r>
                  </m:oMath>
                </a14:m>
                <a:r>
                  <a:rPr lang="en-US" sz="2000" dirty="0"/>
                  <a:t>?</a:t>
                </a:r>
              </a:p>
            </p:txBody>
          </p:sp>
        </mc:Choice>
        <mc:Fallback xmlns="">
          <p:sp>
            <p:nvSpPr>
              <p:cNvPr id="76814" name="AutoShap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2548" y="4605975"/>
                <a:ext cx="3581400" cy="762000"/>
              </a:xfrm>
              <a:prstGeom prst="wedgeRectCallout">
                <a:avLst>
                  <a:gd name="adj1" fmla="val 4542"/>
                  <a:gd name="adj2" fmla="val -187250"/>
                </a:avLst>
              </a:prstGeom>
              <a:blipFill rotWithShape="0">
                <a:blip r:embed="rId9"/>
                <a:stretch>
                  <a:fillRect b="-234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93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8" grpId="0" animBg="1"/>
      <p:bldP spid="76809" grpId="0" animBg="1"/>
      <p:bldP spid="76811" grpId="0" animBg="1"/>
      <p:bldP spid="76812" grpId="0" animBg="1"/>
      <p:bldP spid="76813" grpId="0" animBg="1"/>
      <p:bldP spid="768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C875E-32EF-494C-B5CE-0961FDB471A1}" type="slidenum">
              <a:rPr lang="it-IT"/>
              <a:pPr/>
              <a:t>5</a:t>
            </a:fld>
            <a:endParaRPr lang="it-IT"/>
          </a:p>
        </p:txBody>
      </p:sp>
      <p:sp>
        <p:nvSpPr>
          <p:cNvPr id="77845" name="AutoShape 21"/>
          <p:cNvSpPr>
            <a:spLocks noChangeArrowheads="1"/>
          </p:cNvSpPr>
          <p:nvPr/>
        </p:nvSpPr>
        <p:spPr bwMode="auto">
          <a:xfrm>
            <a:off x="2514600" y="1676400"/>
            <a:ext cx="3810000" cy="2438400"/>
          </a:xfrm>
          <a:prstGeom prst="cloudCallout">
            <a:avLst>
              <a:gd name="adj1" fmla="val -11250"/>
              <a:gd name="adj2" fmla="val 66343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US"/>
          </a:p>
        </p:txBody>
      </p:sp>
      <p:pic>
        <p:nvPicPr>
          <p:cNvPr id="77839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1981200"/>
            <a:ext cx="1889125" cy="1528763"/>
          </a:xfrm>
          <a:prstGeom prst="rect">
            <a:avLst/>
          </a:prstGeom>
          <a:noFill/>
        </p:spPr>
      </p:pic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Sometimes</a:t>
            </a:r>
            <a:r>
              <a:rPr lang="pl-PL" dirty="0"/>
              <a:t> </a:t>
            </a:r>
            <a:r>
              <a:rPr lang="en-US" dirty="0"/>
              <a:t>more important than secrecy</a:t>
            </a:r>
            <a:r>
              <a:rPr lang="pl-PL" dirty="0"/>
              <a:t>!</a:t>
            </a:r>
            <a:endParaRPr lang="it-IT" dirty="0"/>
          </a:p>
        </p:txBody>
      </p:sp>
      <p:pic>
        <p:nvPicPr>
          <p:cNvPr id="77829" name="Picture 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0" y="4114800"/>
            <a:ext cx="1841500" cy="1273175"/>
          </a:xfrm>
          <a:prstGeom prst="rect">
            <a:avLst/>
          </a:prstGeom>
          <a:noFill/>
        </p:spPr>
      </p:pic>
      <p:pic>
        <p:nvPicPr>
          <p:cNvPr id="77830" name="Picture 6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66800" y="2209800"/>
            <a:ext cx="1368425" cy="1438275"/>
          </a:xfrm>
          <a:prstGeom prst="rect">
            <a:avLst/>
          </a:prstGeom>
          <a:noFill/>
        </p:spPr>
      </p:pic>
      <p:sp>
        <p:nvSpPr>
          <p:cNvPr id="77835" name="Text Box 11"/>
          <p:cNvSpPr txBox="1">
            <a:spLocks noChangeArrowheads="1"/>
          </p:cNvSpPr>
          <p:nvPr/>
        </p:nvSpPr>
        <p:spPr bwMode="auto">
          <a:xfrm>
            <a:off x="1295400" y="3200400"/>
            <a:ext cx="733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</a:rPr>
              <a:t>Alice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77836" name="Text Box 12"/>
          <p:cNvSpPr txBox="1">
            <a:spLocks noChangeArrowheads="1"/>
          </p:cNvSpPr>
          <p:nvPr/>
        </p:nvSpPr>
        <p:spPr bwMode="auto">
          <a:xfrm>
            <a:off x="6781800" y="3200400"/>
            <a:ext cx="762000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</a:rPr>
              <a:t>Bank</a:t>
            </a:r>
            <a:endParaRPr lang="en-US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41" name="Text Box 17"/>
              <p:cNvSpPr txBox="1">
                <a:spLocks noChangeArrowheads="1"/>
              </p:cNvSpPr>
              <p:nvPr/>
            </p:nvSpPr>
            <p:spPr bwMode="auto">
              <a:xfrm>
                <a:off x="3048000" y="3048000"/>
                <a:ext cx="26670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r>
                  <a:rPr lang="en-GB" sz="1800" dirty="0"/>
                  <a:t>transfer</a:t>
                </a:r>
                <a:r>
                  <a:rPr lang="en-GB" sz="18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l-PL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pl-PL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GB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1800" dirty="0"/>
                  <a:t>to</a:t>
                </a:r>
                <a:r>
                  <a:rPr lang="en-GB" sz="18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1800" b="1" dirty="0">
                    <a:solidFill>
                      <a:srgbClr val="FF0000"/>
                    </a:solidFill>
                  </a:rPr>
                  <a:t>Eve</a:t>
                </a:r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84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0" y="3048000"/>
                <a:ext cx="2667000" cy="369888"/>
              </a:xfrm>
              <a:prstGeom prst="rect">
                <a:avLst/>
              </a:prstGeom>
              <a:blipFill rotWithShape="0">
                <a:blip r:embed="rId6"/>
                <a:stretch>
                  <a:fillRect l="-1591"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32" name="Text Box 8"/>
              <p:cNvSpPr txBox="1">
                <a:spLocks noChangeArrowheads="1"/>
              </p:cNvSpPr>
              <p:nvPr/>
            </p:nvSpPr>
            <p:spPr bwMode="auto">
              <a:xfrm>
                <a:off x="3048000" y="2362200"/>
                <a:ext cx="2667000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r>
                  <a:rPr lang="en-GB" sz="1800" dirty="0"/>
                  <a:t>transfer</a:t>
                </a:r>
                <a:r>
                  <a:rPr lang="pl-PL" sz="1800" dirty="0"/>
                  <a:t> </a:t>
                </a:r>
                <a14:m>
                  <m:oMath xmlns:m="http://schemas.openxmlformats.org/officeDocument/2006/math"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𝟏𝟎𝟎𝟎</m:t>
                    </m:r>
                  </m:oMath>
                </a14:m>
                <a:r>
                  <a:rPr lang="en-GB" sz="18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1800" dirty="0"/>
                  <a:t>to</a:t>
                </a:r>
                <a:r>
                  <a:rPr lang="en-GB" sz="18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1800" b="1" dirty="0">
                    <a:solidFill>
                      <a:srgbClr val="FF0000"/>
                    </a:solidFill>
                  </a:rPr>
                  <a:t>Bob</a:t>
                </a:r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83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0" y="2362200"/>
                <a:ext cx="2667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591" t="-9677" b="-2096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46" name="Line 22"/>
          <p:cNvSpPr>
            <a:spLocks noChangeShapeType="1"/>
          </p:cNvSpPr>
          <p:nvPr/>
        </p:nvSpPr>
        <p:spPr bwMode="auto">
          <a:xfrm>
            <a:off x="2514600" y="2590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847" name="Line 23"/>
          <p:cNvSpPr>
            <a:spLocks noChangeShapeType="1"/>
          </p:cNvSpPr>
          <p:nvPr/>
        </p:nvSpPr>
        <p:spPr bwMode="auto">
          <a:xfrm>
            <a:off x="2514600" y="3276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848" name="Line 24"/>
          <p:cNvSpPr>
            <a:spLocks noChangeShapeType="1"/>
          </p:cNvSpPr>
          <p:nvPr/>
        </p:nvSpPr>
        <p:spPr bwMode="auto">
          <a:xfrm>
            <a:off x="5715000" y="2590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849" name="Line 25"/>
          <p:cNvSpPr>
            <a:spLocks noChangeShapeType="1"/>
          </p:cNvSpPr>
          <p:nvPr/>
        </p:nvSpPr>
        <p:spPr bwMode="auto">
          <a:xfrm>
            <a:off x="5715000" y="3200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850" name="Text Box 26"/>
          <p:cNvSpPr txBox="1">
            <a:spLocks noChangeArrowheads="1"/>
          </p:cNvSpPr>
          <p:nvPr/>
        </p:nvSpPr>
        <p:spPr bwMode="auto">
          <a:xfrm>
            <a:off x="381000" y="5867400"/>
            <a:ext cx="75032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pl-PL" sz="2400" b="1" dirty="0"/>
              <a:t>Of course</a:t>
            </a:r>
            <a:r>
              <a:rPr lang="pl-PL" sz="2400" dirty="0"/>
              <a:t>: usually we want both </a:t>
            </a:r>
            <a:r>
              <a:rPr lang="pl-PL" sz="2400" b="1" dirty="0">
                <a:solidFill>
                  <a:srgbClr val="0070C0"/>
                </a:solidFill>
              </a:rPr>
              <a:t>secrecy</a:t>
            </a:r>
            <a:r>
              <a:rPr lang="pl-PL" sz="2400" dirty="0"/>
              <a:t> and </a:t>
            </a:r>
            <a:r>
              <a:rPr lang="pl-PL" sz="2400" b="1" dirty="0">
                <a:solidFill>
                  <a:srgbClr val="0070C0"/>
                </a:solidFill>
              </a:rPr>
              <a:t>integrity</a:t>
            </a:r>
            <a:r>
              <a:rPr lang="pl-PL" sz="2400" dirty="0"/>
              <a:t>.</a:t>
            </a:r>
            <a:endParaRPr lang="en-US" sz="2400" dirty="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181090" y="2225675"/>
            <a:ext cx="2438400" cy="685800"/>
            <a:chOff x="2016" y="1872"/>
            <a:chExt cx="1536" cy="432"/>
          </a:xfrm>
        </p:grpSpPr>
        <p:sp>
          <p:nvSpPr>
            <p:cNvPr id="77842" name="Line 18"/>
            <p:cNvSpPr>
              <a:spLocks noChangeShapeType="1"/>
            </p:cNvSpPr>
            <p:nvPr/>
          </p:nvSpPr>
          <p:spPr bwMode="auto">
            <a:xfrm>
              <a:off x="2016" y="1872"/>
              <a:ext cx="1536" cy="43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843" name="Line 19"/>
            <p:cNvSpPr>
              <a:spLocks noChangeShapeType="1"/>
            </p:cNvSpPr>
            <p:nvPr/>
          </p:nvSpPr>
          <p:spPr bwMode="auto">
            <a:xfrm flipH="1">
              <a:off x="2016" y="1872"/>
              <a:ext cx="1536" cy="43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810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1" grpId="0" animBg="1"/>
      <p:bldP spid="77847" grpId="0" animBg="1"/>
      <p:bldP spid="77849" grpId="0" animBg="1"/>
      <p:bldP spid="778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56FC3-7CAA-46D5-BF25-C0A650EC52C1}" type="slidenum">
              <a:rPr lang="it-IT"/>
              <a:pPr/>
              <a:t>6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98" name="Rectangle 2"/>
              <p:cNvSpPr>
                <a:spLocks noChangeArrowheads="1"/>
              </p:cNvSpPr>
              <p:nvPr/>
            </p:nvSpPr>
            <p:spPr bwMode="auto">
              <a:xfrm>
                <a:off x="0" y="859987"/>
                <a:ext cx="9144000" cy="24288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lIns="274320" anchor="ctr"/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400" b="1" u="sng" dirty="0"/>
                  <a:t>Idea</a:t>
                </a:r>
                <a:r>
                  <a:rPr lang="en-US" sz="2400" b="1" dirty="0"/>
                  <a:t>: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endParaRPr lang="en-US" sz="2400" dirty="0"/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pl-PL" sz="2400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Alice</a:t>
                </a:r>
                <a:r>
                  <a:rPr lang="en-US" sz="2400" dirty="0"/>
                  <a:t> encrypts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400" dirty="0"/>
                  <a:t> and sends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to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Bob</a:t>
                </a:r>
                <a:r>
                  <a:rPr lang="en-US" sz="2400" dirty="0"/>
                  <a:t>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pl-PL" sz="2400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Bob</a:t>
                </a:r>
                <a:r>
                  <a:rPr lang="en-US" sz="2400" dirty="0"/>
                  <a:t> computes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sz="2400" dirty="0"/>
                  <a:t>, </a:t>
                </a:r>
                <a:r>
                  <a:rPr lang="en-US" sz="2400" dirty="0"/>
                  <a:t>and if it “</a:t>
                </a:r>
                <a:r>
                  <a:rPr lang="en-US" sz="2400" i="1" dirty="0"/>
                  <a:t>makes sense</a:t>
                </a:r>
                <a:r>
                  <a:rPr lang="en-US" sz="2400" dirty="0"/>
                  <a:t>” </a:t>
                </a:r>
                <a:r>
                  <a:rPr lang="en-US" sz="2400" b="1" dirty="0"/>
                  <a:t>accepts it</a:t>
                </a:r>
                <a:r>
                  <a:rPr lang="en-US" sz="2400" dirty="0"/>
                  <a:t>.</a:t>
                </a:r>
                <a:br>
                  <a:rPr lang="en-US" sz="2400" dirty="0"/>
                </a:br>
                <a:r>
                  <a:rPr lang="en-US" sz="2400" dirty="0"/>
                  <a:t> 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pl-PL" sz="2400" b="1" u="sng" dirty="0" err="1"/>
                  <a:t>Hope</a:t>
                </a:r>
                <a:r>
                  <a:rPr lang="en-US" sz="2400" dirty="0"/>
                  <a:t>: only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Alice</a:t>
                </a:r>
                <a:r>
                  <a:rPr lang="en-US" sz="2400" dirty="0"/>
                  <a:t> knows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dirty="0"/>
                  <a:t>, so nobody else can produce a valid </a:t>
                </a:r>
                <a:r>
                  <a:rPr lang="en-US" sz="2400" dirty="0" err="1"/>
                  <a:t>ciphertext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80898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859987"/>
                <a:ext cx="9144000" cy="242889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899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762000"/>
          </a:xfrm>
        </p:spPr>
        <p:txBody>
          <a:bodyPr/>
          <a:lstStyle/>
          <a:p>
            <a:r>
              <a:rPr lang="en-US" sz="2800"/>
              <a:t>Does encryption guarantee message integrity?</a:t>
            </a:r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7158" y="3259567"/>
            <a:ext cx="8101042" cy="1236233"/>
          </a:xfrm>
        </p:spPr>
        <p:txBody>
          <a:bodyPr>
            <a:normAutofit fontScale="92500" lnSpcReduction="20000"/>
          </a:bodyPr>
          <a:lstStyle/>
          <a:p>
            <a:pPr marL="609600" indent="-609600">
              <a:lnSpc>
                <a:spcPct val="80000"/>
              </a:lnSpc>
              <a:buFontTx/>
              <a:buNone/>
            </a:pPr>
            <a:endParaRPr lang="en-US" sz="2000" dirty="0"/>
          </a:p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pl-PL" sz="2200" b="1" u="sng" dirty="0" err="1">
                <a:solidFill>
                  <a:srgbClr val="FF0000"/>
                </a:solidFill>
              </a:rPr>
              <a:t>This</a:t>
            </a:r>
            <a:r>
              <a:rPr lang="pl-PL" sz="2200" b="1" u="sng" dirty="0">
                <a:solidFill>
                  <a:srgbClr val="FF0000"/>
                </a:solidFill>
              </a:rPr>
              <a:t> </a:t>
            </a:r>
            <a:r>
              <a:rPr lang="en-US" sz="2200" b="1" u="sng" dirty="0">
                <a:solidFill>
                  <a:srgbClr val="FF0000"/>
                </a:solidFill>
              </a:rPr>
              <a:t>does</a:t>
            </a:r>
            <a:r>
              <a:rPr lang="pl-PL" sz="2200" b="1" u="sng" dirty="0" err="1">
                <a:solidFill>
                  <a:srgbClr val="FF0000"/>
                </a:solidFill>
              </a:rPr>
              <a:t>n’t</a:t>
            </a:r>
            <a:r>
              <a:rPr lang="pl-PL" sz="2200" b="1" u="sng" dirty="0">
                <a:solidFill>
                  <a:srgbClr val="FF0000"/>
                </a:solidFill>
              </a:rPr>
              <a:t> </a:t>
            </a:r>
            <a:r>
              <a:rPr lang="en-US" sz="2200" b="1" u="sng" dirty="0">
                <a:solidFill>
                  <a:srgbClr val="FF0000"/>
                </a:solidFill>
              </a:rPr>
              <a:t>work!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US" sz="2000" b="1" u="sng" dirty="0">
              <a:solidFill>
                <a:srgbClr val="9933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US" sz="2400" b="1" u="sng" dirty="0"/>
              <a:t>Example</a:t>
            </a:r>
            <a:r>
              <a:rPr lang="en-US" sz="2400" dirty="0"/>
              <a:t>: one-time pad.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US" sz="2000" dirty="0"/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US" sz="2000" dirty="0"/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901" name="Text Box 5"/>
              <p:cNvSpPr txBox="1">
                <a:spLocks noChangeArrowheads="1"/>
              </p:cNvSpPr>
              <p:nvPr/>
            </p:nvSpPr>
            <p:spPr bwMode="auto">
              <a:xfrm>
                <a:off x="1828800" y="4800600"/>
                <a:ext cx="2667000" cy="369888"/>
              </a:xfrm>
              <a:prstGeom prst="rect">
                <a:avLst/>
              </a:prstGeom>
              <a:solidFill>
                <a:schemeClr val="bg1">
                  <a:alpha val="50999"/>
                </a:schemeClr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GB" sz="1800" dirty="0"/>
                  <a:t>transfer</a:t>
                </a:r>
                <a:r>
                  <a:rPr lang="en-GB" sz="18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l-PL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en-GB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𝟏𝟎𝟎𝟎</m:t>
                    </m:r>
                  </m:oMath>
                </a14:m>
                <a:r>
                  <a:rPr lang="en-GB" sz="18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1800" dirty="0"/>
                  <a:t>to</a:t>
                </a:r>
                <a:r>
                  <a:rPr lang="en-GB" sz="18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1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𝐁𝐨𝐛</m:t>
                    </m:r>
                  </m:oMath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90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8800" y="4800600"/>
                <a:ext cx="2667000" cy="369888"/>
              </a:xfrm>
              <a:prstGeom prst="rect">
                <a:avLst/>
              </a:prstGeom>
              <a:blipFill rotWithShape="0">
                <a:blip r:embed="rId4"/>
                <a:stretch>
                  <a:fillRect l="-1822" t="-11475" b="-2131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1828800" y="5410200"/>
            <a:ext cx="26670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endParaRPr lang="en-US" sz="1800" b="1">
              <a:solidFill>
                <a:srgbClr val="993300"/>
              </a:solidFill>
            </a:endParaRPr>
          </a:p>
        </p:txBody>
      </p:sp>
      <p:sp>
        <p:nvSpPr>
          <p:cNvPr id="80904" name="Line 8"/>
          <p:cNvSpPr>
            <a:spLocks noChangeShapeType="1"/>
          </p:cNvSpPr>
          <p:nvPr/>
        </p:nvSpPr>
        <p:spPr bwMode="auto">
          <a:xfrm>
            <a:off x="1828800" y="6019800"/>
            <a:ext cx="2667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905" name="Rectangle 9"/>
              <p:cNvSpPr>
                <a:spLocks noChangeArrowheads="1"/>
              </p:cNvSpPr>
              <p:nvPr/>
            </p:nvSpPr>
            <p:spPr bwMode="auto">
              <a:xfrm>
                <a:off x="914400" y="5334000"/>
                <a:ext cx="78053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key</a:t>
                </a:r>
                <a:r>
                  <a:rPr lang="pl-PL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905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5334000"/>
                <a:ext cx="780535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7813" t="-7576" b="-2575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06" name="Text Box 10"/>
          <p:cNvSpPr txBox="1">
            <a:spLocks noChangeArrowheads="1"/>
          </p:cNvSpPr>
          <p:nvPr/>
        </p:nvSpPr>
        <p:spPr bwMode="auto">
          <a:xfrm>
            <a:off x="1828800" y="6248400"/>
            <a:ext cx="2667000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endParaRPr lang="en-US" sz="1800" b="1">
              <a:solidFill>
                <a:srgbClr val="9933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907" name="Rectangle 11"/>
              <p:cNvSpPr>
                <a:spLocks noChangeArrowheads="1"/>
              </p:cNvSpPr>
              <p:nvPr/>
            </p:nvSpPr>
            <p:spPr bwMode="auto">
              <a:xfrm>
                <a:off x="228600" y="6246835"/>
                <a:ext cx="1539875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pl-PL" sz="2000" dirty="0"/>
                  <a:t>ciphertext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US" sz="20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907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6246835"/>
                <a:ext cx="1539875" cy="396875"/>
              </a:xfrm>
              <a:prstGeom prst="rect">
                <a:avLst/>
              </a:prstGeom>
              <a:blipFill rotWithShape="0">
                <a:blip r:embed="rId6"/>
                <a:stretch>
                  <a:fillRect l="-4365" t="-9231" b="-2769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22" name="Text Box 26"/>
              <p:cNvSpPr txBox="1">
                <a:spLocks noChangeArrowheads="1"/>
              </p:cNvSpPr>
              <p:nvPr/>
            </p:nvSpPr>
            <p:spPr bwMode="auto">
              <a:xfrm>
                <a:off x="357158" y="4800600"/>
                <a:ext cx="144097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plaintext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922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58" y="4800600"/>
                <a:ext cx="1440972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4661" t="-9231" b="-2615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23" name="Text Box 27"/>
          <p:cNvSpPr txBox="1">
            <a:spLocks noChangeArrowheads="1"/>
          </p:cNvSpPr>
          <p:nvPr/>
        </p:nvSpPr>
        <p:spPr bwMode="auto">
          <a:xfrm>
            <a:off x="1042988" y="5805488"/>
            <a:ext cx="5794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/>
              <a:t>xor</a:t>
            </a:r>
          </a:p>
        </p:txBody>
      </p:sp>
      <p:pic>
        <p:nvPicPr>
          <p:cNvPr id="23" name="Picture 9" descr="MCj0435941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58016" y="3857628"/>
            <a:ext cx="1841500" cy="12731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Left Arrow 23"/>
              <p:cNvSpPr/>
              <p:nvPr/>
            </p:nvSpPr>
            <p:spPr>
              <a:xfrm>
                <a:off x="4643438" y="4857736"/>
                <a:ext cx="4286280" cy="2000264"/>
              </a:xfrm>
              <a:prstGeom prst="lef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If </a:t>
                </a:r>
                <a:r>
                  <a:rPr lang="en-US" b="1" dirty="0"/>
                  <a:t>Eve</a:t>
                </a:r>
                <a:r>
                  <a:rPr lang="en-US" dirty="0"/>
                  <a:t> knows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dirty="0"/>
                  <a:t> then she can calculate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 and produce a </a:t>
                </a:r>
                <a:r>
                  <a:rPr lang="en-US" dirty="0" err="1"/>
                  <a:t>ciphertext</a:t>
                </a:r>
                <a:r>
                  <a:rPr lang="en-US" dirty="0"/>
                  <a:t> of any other message </a:t>
                </a:r>
              </a:p>
            </p:txBody>
          </p:sp>
        </mc:Choice>
        <mc:Fallback xmlns="">
          <p:sp>
            <p:nvSpPr>
              <p:cNvPr id="24" name="Left Arrow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438" y="4857736"/>
                <a:ext cx="4286280" cy="2000264"/>
              </a:xfrm>
              <a:prstGeom prst="leftArrow">
                <a:avLst/>
              </a:prstGeom>
              <a:blipFill rotWithShape="0">
                <a:blip r:embed="rId9"/>
                <a:stretch>
                  <a:fillRect r="-28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75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1" grpId="0" animBg="1"/>
      <p:bldP spid="80903" grpId="0" animBg="1"/>
      <p:bldP spid="80904" grpId="0" animBg="1"/>
      <p:bldP spid="80905" grpId="0"/>
      <p:bldP spid="80906" grpId="0" animBg="1"/>
      <p:bldP spid="80907" grpId="0"/>
      <p:bldP spid="80922" grpId="0"/>
      <p:bldP spid="80923" grpId="0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23" y="236034"/>
            <a:ext cx="7886700" cy="1325563"/>
          </a:xfrm>
        </p:spPr>
        <p:txBody>
          <a:bodyPr/>
          <a:lstStyle/>
          <a:p>
            <a:r>
              <a:rPr lang="en-US" dirty="0"/>
              <a:t>What do we need?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2131" y="1561597"/>
                <a:ext cx="8386259" cy="38817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separate tool for </a:t>
                </a:r>
                <a:r>
                  <a:rPr lang="en-US" b="1" dirty="0">
                    <a:solidFill>
                      <a:srgbClr val="00B050"/>
                    </a:solidFill>
                  </a:rPr>
                  <a:t>authenticating messages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tool will be called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Message Authentication Codes</a:t>
                </a:r>
                <a:br>
                  <a:rPr lang="en-US" b="1" dirty="0">
                    <a:solidFill>
                      <a:srgbClr val="0070C0"/>
                    </a:solidFill>
                  </a:rPr>
                </a:br>
                <a:r>
                  <a:rPr lang="en-US" b="1" dirty="0">
                    <a:solidFill>
                      <a:srgbClr val="0070C0"/>
                    </a:solidFill>
                  </a:rPr>
                  <a:t>(MACs)</a:t>
                </a:r>
              </a:p>
              <a:p>
                <a:pPr marL="0" indent="0" algn="ctr">
                  <a:buNone/>
                </a:pPr>
                <a:endParaRPr lang="en-US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en-US" b="1" dirty="0">
                    <a:solidFill>
                      <a:srgbClr val="0070C0"/>
                    </a:solidFill>
                  </a:rPr>
                  <a:t>MAC</a:t>
                </a:r>
                <a:r>
                  <a:rPr lang="en-US" dirty="0"/>
                  <a:t> is a pair of algorithms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0070C0"/>
                  </a:solidFill>
                </a:endParaRPr>
              </a:p>
              <a:p>
                <a:pPr marL="0" indent="0" algn="ctr">
                  <a:buNone/>
                </a:pPr>
                <a:endParaRPr lang="en-US" b="1" dirty="0">
                  <a:solidFill>
                    <a:schemeClr val="accent2"/>
                  </a:solidFill>
                </a:endParaRPr>
              </a:p>
              <a:p>
                <a:pPr marL="0" indent="0" algn="ctr">
                  <a:buNone/>
                </a:pPr>
                <a:endParaRPr 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131" y="1561597"/>
                <a:ext cx="8386259" cy="3881772"/>
              </a:xfrm>
              <a:blipFill rotWithShape="0">
                <a:blip r:embed="rId2"/>
                <a:stretch>
                  <a:fillRect l="-1453" t="-266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576207" y="5680038"/>
            <a:ext cx="3668357" cy="612648"/>
          </a:xfrm>
          <a:prstGeom prst="wedgeRectCallout">
            <a:avLst>
              <a:gd name="adj1" fmla="val 44123"/>
              <a:gd name="adj2" fmla="val -10870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“tagging” algorithm</a:t>
            </a:r>
            <a:endParaRPr lang="pl-PL" sz="2400" b="1" dirty="0"/>
          </a:p>
        </p:txBody>
      </p:sp>
      <p:sp>
        <p:nvSpPr>
          <p:cNvPr id="5" name="Rectangular Callout 4"/>
          <p:cNvSpPr/>
          <p:nvPr/>
        </p:nvSpPr>
        <p:spPr>
          <a:xfrm>
            <a:off x="4422066" y="5680038"/>
            <a:ext cx="3668357" cy="612648"/>
          </a:xfrm>
          <a:prstGeom prst="wedgeRectCallout">
            <a:avLst>
              <a:gd name="adj1" fmla="val -42827"/>
              <a:gd name="adj2" fmla="val -10694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“verification algorithm”</a:t>
            </a:r>
            <a:endParaRPr lang="pl-PL" sz="2400" b="1" dirty="0"/>
          </a:p>
        </p:txBody>
      </p:sp>
    </p:spTree>
    <p:extLst>
      <p:ext uri="{BB962C8B-B14F-4D97-AF65-F5344CB8AC3E}">
        <p14:creationId xmlns:p14="http://schemas.microsoft.com/office/powerpoint/2010/main" val="408881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0"/>
            <a:ext cx="8433654" cy="1143000"/>
          </a:xfrm>
        </p:spPr>
        <p:txBody>
          <a:bodyPr/>
          <a:lstStyle/>
          <a:p>
            <a:r>
              <a:rPr lang="en-GB" dirty="0"/>
              <a:t>A mathematical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173" y="1477746"/>
            <a:ext cx="8429684" cy="1301415"/>
          </a:xfrm>
          <a:solidFill>
            <a:schemeClr val="bg1"/>
          </a:solidFill>
          <a:effectLst>
            <a:glow rad="228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Lucida Calligraphy"/>
                <a:cs typeface="Lucida Calligraphy"/>
              </a:rPr>
              <a:t>K</a:t>
            </a:r>
            <a:r>
              <a:rPr lang="en-US" sz="2400" b="1" i="1" dirty="0"/>
              <a:t> </a:t>
            </a:r>
            <a:r>
              <a:rPr lang="en-US" sz="2400" dirty="0"/>
              <a:t> </a:t>
            </a:r>
            <a:r>
              <a:rPr lang="pl-PL" sz="2400" dirty="0"/>
              <a:t>– </a:t>
            </a:r>
            <a:r>
              <a:rPr lang="pl-PL" sz="2400" b="1" dirty="0">
                <a:solidFill>
                  <a:srgbClr val="0070C0"/>
                </a:solidFill>
              </a:rPr>
              <a:t>key</a:t>
            </a:r>
            <a:r>
              <a:rPr lang="pl-PL" sz="2400" dirty="0">
                <a:solidFill>
                  <a:srgbClr val="0070C0"/>
                </a:solidFill>
              </a:rPr>
              <a:t> </a:t>
            </a:r>
            <a:r>
              <a:rPr lang="pl-PL" sz="2400" dirty="0"/>
              <a:t>space</a:t>
            </a:r>
          </a:p>
          <a:p>
            <a:pPr>
              <a:buNone/>
            </a:pPr>
            <a:r>
              <a:rPr lang="pl-PL" sz="2400" b="1" dirty="0">
                <a:solidFill>
                  <a:srgbClr val="FF0000"/>
                </a:solidFill>
                <a:latin typeface="Lucida Calligraphy"/>
              </a:rPr>
              <a:t>M</a:t>
            </a:r>
            <a:r>
              <a:rPr lang="pl-PL" sz="2400" b="1" i="1" dirty="0">
                <a:solidFill>
                  <a:srgbClr val="FF0000"/>
                </a:solidFill>
              </a:rPr>
              <a:t> </a:t>
            </a:r>
            <a:r>
              <a:rPr lang="pl-PL" sz="2400" dirty="0"/>
              <a:t>– </a:t>
            </a:r>
            <a:r>
              <a:rPr lang="pl-PL" sz="2400" b="1" dirty="0">
                <a:solidFill>
                  <a:srgbClr val="0070C0"/>
                </a:solidFill>
              </a:rPr>
              <a:t>plaintext</a:t>
            </a:r>
            <a:r>
              <a:rPr lang="pl-PL" sz="2400" dirty="0">
                <a:solidFill>
                  <a:srgbClr val="0070C0"/>
                </a:solidFill>
              </a:rPr>
              <a:t> </a:t>
            </a:r>
            <a:r>
              <a:rPr lang="pl-PL" sz="2400" dirty="0"/>
              <a:t>space</a:t>
            </a:r>
          </a:p>
          <a:p>
            <a:pPr>
              <a:buNone/>
            </a:pPr>
            <a:r>
              <a:rPr lang="it-IT" sz="2400" b="1" dirty="0">
                <a:solidFill>
                  <a:srgbClr val="FF0000"/>
                </a:solidFill>
                <a:latin typeface="Lucida Calligraphy"/>
              </a:rPr>
              <a:t>T</a:t>
            </a:r>
            <a:r>
              <a:rPr lang="pl-PL" sz="2400" b="1" i="1" dirty="0">
                <a:solidFill>
                  <a:srgbClr val="FF0000"/>
                </a:solidFill>
              </a:rPr>
              <a:t> </a:t>
            </a:r>
            <a:r>
              <a:rPr lang="pl-PL" sz="2400" dirty="0"/>
              <a:t> - </a:t>
            </a:r>
            <a:r>
              <a:rPr lang="it-IT" sz="2400" dirty="0"/>
              <a:t>set </a:t>
            </a:r>
            <a:r>
              <a:rPr lang="it-IT" sz="2400" dirty="0" err="1"/>
              <a:t>of</a:t>
            </a:r>
            <a:r>
              <a:rPr lang="it-IT" sz="2400" dirty="0"/>
              <a:t> </a:t>
            </a:r>
            <a:r>
              <a:rPr lang="it-IT" sz="2400" b="1" dirty="0" err="1">
                <a:solidFill>
                  <a:srgbClr val="0070C0"/>
                </a:solidFill>
              </a:rPr>
              <a:t>tags</a:t>
            </a:r>
            <a:endParaRPr lang="pl-PL" sz="2400" b="1" dirty="0">
              <a:solidFill>
                <a:srgbClr val="0070C0"/>
              </a:solidFill>
              <a:latin typeface="Gill Sans MT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355173" y="3064913"/>
                <a:ext cx="8433654" cy="1357322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normAutofit fontScale="92500" lnSpcReduction="20000"/>
              </a:bodyPr>
              <a:lstStyle/>
              <a:p>
                <a:pPr marL="365760" indent="-283464">
                  <a:spcBef>
                    <a:spcPts val="600"/>
                  </a:spcBef>
                  <a:buClr>
                    <a:schemeClr val="accent1"/>
                  </a:buClr>
                  <a:buSzPct val="80000"/>
                  <a:defRPr/>
                </a:pPr>
                <a:r>
                  <a:rPr lang="pl-PL" sz="2400" dirty="0"/>
                  <a:t>A </a:t>
                </a:r>
                <a:r>
                  <a:rPr lang="pl-PL" sz="2400" b="1" dirty="0">
                    <a:solidFill>
                      <a:srgbClr val="0070C0"/>
                    </a:solidFill>
                  </a:rPr>
                  <a:t>Message Authentication Code (</a:t>
                </a:r>
                <a:r>
                  <a:rPr kumimoji="0" lang="it-IT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MAC) </a:t>
                </a:r>
                <a:r>
                  <a:rPr kumimoji="0" lang="pl-PL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scheme </a:t>
                </a:r>
                <a:r>
                  <a:rPr kumimoji="0" lang="pl-PL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is a pair </a:t>
                </a:r>
                <a14:m>
                  <m:oMath xmlns:m="http://schemas.openxmlformats.org/officeDocument/2006/math"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it-IT" sz="2400" b="1" i="0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𝐓𝐚𝐠</m:t>
                    </m:r>
                    <m:r>
                      <a:rPr kumimoji="0" lang="it-IT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 </m:t>
                    </m:r>
                    <m:r>
                      <a:rPr kumimoji="0" lang="it-IT" sz="2400" b="1" i="0" u="none" strike="noStrike" kern="1200" cap="none" spc="0" normalizeH="0" baseline="0" noProof="0" dirty="0" err="1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𝐕𝐫𝐟𝐲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, w</a:t>
                </a:r>
                <a:r>
                  <a:rPr kumimoji="0" lang="pl-PL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here</a:t>
                </a:r>
                <a:endParaRPr kumimoji="0" lang="pl-PL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365760" marR="0" lvl="0" indent="-283464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2"/>
                  <a:buChar char=""/>
                  <a:tabLst/>
                  <a:defRPr/>
                </a:pPr>
                <a:r>
                  <a:rPr kumimoji="0" lang="it-IT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Tag</a:t>
                </a:r>
                <a:r>
                  <a:rPr kumimoji="0" lang="pl-PL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: </a:t>
                </a:r>
                <a:r>
                  <a:rPr kumimoji="0" lang="pl-PL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Lucida Calligraphy"/>
                  </a:rPr>
                  <a:t>K</a:t>
                </a:r>
                <a:r>
                  <a:rPr kumimoji="0" lang="pl-PL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 × </a:t>
                </a:r>
                <a:r>
                  <a:rPr kumimoji="0" lang="pl-PL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Lucida Calligraphy"/>
                  </a:rPr>
                  <a:t>M</a:t>
                </a:r>
                <a:r>
                  <a:rPr kumimoji="0" lang="pl-PL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 → </a:t>
                </a:r>
                <a:r>
                  <a:rPr kumimoji="0" lang="it-IT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Lucida Calligraphy"/>
                  </a:rPr>
                  <a:t>T</a:t>
                </a:r>
                <a:r>
                  <a:rPr kumimoji="0" lang="pl-PL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Lucida Calligraphy"/>
                  </a:rPr>
                  <a:t> </a:t>
                </a:r>
                <a:r>
                  <a:rPr kumimoji="0" lang="en-US" sz="2400" b="0" i="0" u="none" strike="noStrike" kern="1200" cap="none" spc="0" normalizeH="0" baseline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is</a:t>
                </a:r>
                <a:r>
                  <a:rPr kumimoji="0" lang="pl-PL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 a </a:t>
                </a:r>
                <a:r>
                  <a:rPr kumimoji="0" lang="en-US" sz="2400" b="1" i="0" u="none" strike="noStrike" kern="1200" cap="none" spc="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tagging</a:t>
                </a:r>
                <a:r>
                  <a:rPr kumimoji="0" lang="it-IT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 </a:t>
                </a:r>
                <a:r>
                  <a:rPr kumimoji="0" lang="pl-PL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algorithm,</a:t>
                </a:r>
                <a:endParaRPr kumimoji="0" lang="pl-PL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  <a:p>
                <a:pPr marL="365760" lvl="0" indent="-283464"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/>
                </a:pPr>
                <a:r>
                  <a:rPr kumimoji="0" lang="it-IT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Vrfy</a:t>
                </a:r>
                <a:r>
                  <a:rPr kumimoji="0" lang="pl-PL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Gill Sans MT" pitchFamily="34" charset="0"/>
                    <a:ea typeface="+mn-ea"/>
                    <a:cs typeface="+mn-cs"/>
                  </a:rPr>
                  <a:t>:</a:t>
                </a:r>
                <a:r>
                  <a:rPr kumimoji="0" lang="pl-PL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</a:t>
                </a:r>
                <a:r>
                  <a:rPr kumimoji="0" lang="pl-PL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Lucida Calligraphy"/>
                  </a:rPr>
                  <a:t>K</a:t>
                </a:r>
                <a:r>
                  <a:rPr kumimoji="0" lang="pl-PL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</a:t>
                </a:r>
                <a:r>
                  <a:rPr lang="pl-PL" sz="2400" b="1" i="1" dirty="0">
                    <a:solidFill>
                      <a:srgbClr val="FF0000"/>
                    </a:solidFill>
                  </a:rPr>
                  <a:t>× </a:t>
                </a:r>
                <a:r>
                  <a:rPr lang="pl-PL" sz="2400" b="1" dirty="0">
                    <a:solidFill>
                      <a:srgbClr val="FF0000"/>
                    </a:solidFill>
                    <a:latin typeface="Lucida Calligraphy"/>
                  </a:rPr>
                  <a:t>M </a:t>
                </a:r>
                <a:r>
                  <a:rPr lang="it-IT" sz="2400" b="1" dirty="0">
                    <a:solidFill>
                      <a:srgbClr val="FF0000"/>
                    </a:solidFill>
                    <a:latin typeface="Lucida Calligraphy"/>
                  </a:rPr>
                  <a:t> </a:t>
                </a:r>
                <a:r>
                  <a:rPr kumimoji="0" lang="pl-PL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× </a:t>
                </a:r>
                <a:r>
                  <a:rPr kumimoji="0" lang="it-IT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Lucida Calligraphy"/>
                  </a:rPr>
                  <a:t>T</a:t>
                </a:r>
                <a:r>
                  <a:rPr kumimoji="0" lang="pl-PL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</a:t>
                </a:r>
                <a:r>
                  <a:rPr kumimoji="0" lang="pl-PL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→ </a:t>
                </a:r>
                <a:r>
                  <a:rPr lang="en-US" sz="2400" b="1" dirty="0">
                    <a:solidFill>
                      <a:srgbClr val="FF0000"/>
                    </a:solidFill>
                    <a:cs typeface="Arial" pitchFamily="34" charset="0"/>
                  </a:rPr>
                  <a:t>{yes, no}</a:t>
                </a:r>
                <a:r>
                  <a:rPr kumimoji="0" lang="pl-PL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</a:t>
                </a:r>
                <a:r>
                  <a:rPr kumimoji="0" lang="pl-PL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is a </a:t>
                </a:r>
                <a:r>
                  <a:rPr kumimoji="0" lang="en-US" sz="2400" b="1" i="0" u="none" strike="noStrike" kern="1200" cap="none" spc="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verification</a:t>
                </a:r>
                <a:r>
                  <a:rPr kumimoji="0" lang="it-IT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</a:t>
                </a:r>
                <a:r>
                  <a:rPr kumimoji="0" lang="pl-PL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algorithm.</a:t>
                </a: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73" y="3064913"/>
                <a:ext cx="8433654" cy="13573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355173" y="4707987"/>
                <a:ext cx="8433654" cy="857256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365760" marR="0" lvl="0" indent="-283464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2"/>
                  <a:buNone/>
                  <a:tabLst/>
                  <a:defRPr/>
                </a:pPr>
                <a:r>
                  <a:rPr kumimoji="0" lang="pl-PL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We will sometimes write </a:t>
                </a:r>
                <a14:m>
                  <m:oMath xmlns:m="http://schemas.openxmlformats.org/officeDocument/2006/math">
                    <m:r>
                      <a:rPr kumimoji="0" lang="it-IT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𝐓𝐚𝐠</m:t>
                    </m:r>
                    <m:r>
                      <a:rPr kumimoji="0" lang="pl-PL" sz="2400" b="1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𝒌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𝒎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r>
                      <a:rPr kumimoji="0" lang="pl-PL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pl-PL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it-IT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𝐕𝐫𝐟𝐲</m:t>
                    </m:r>
                    <m:r>
                      <a:rPr kumimoji="0" lang="pl-PL" sz="2400" b="1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𝒌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𝒎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r>
                      <a:rPr kumimoji="0" lang="pl-PL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pl-PL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instead of </a:t>
                </a:r>
                <a14:m>
                  <m:oMath xmlns:m="http://schemas.openxmlformats.org/officeDocument/2006/math">
                    <m:r>
                      <a:rPr kumimoji="0" lang="it-IT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𝐓𝐚𝐠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𝒌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𝒎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r>
                      <a:rPr kumimoji="0" lang="pl-PL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pl-PL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it-IT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𝐕𝐫𝐟𝐲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𝒌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𝒎</m:t>
                    </m:r>
                    <m:r>
                      <a:rPr kumimoji="0" lang="it-IT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it-IT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𝒕</m:t>
                    </m:r>
                    <m:r>
                      <a:rPr kumimoji="0" lang="pl-PL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  <a:endParaRPr kumimoji="0" lang="pl-P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73" y="4707987"/>
                <a:ext cx="8433654" cy="8572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14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72613" y="-31095"/>
            <a:ext cx="7772400" cy="1143000"/>
          </a:xfrm>
        </p:spPr>
        <p:txBody>
          <a:bodyPr/>
          <a:lstStyle/>
          <a:p>
            <a:r>
              <a:rPr lang="en-US" dirty="0"/>
              <a:t>Message Authentication Codes</a:t>
            </a:r>
          </a:p>
        </p:txBody>
      </p:sp>
      <p:pic>
        <p:nvPicPr>
          <p:cNvPr id="81923" name="Picture 3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9354" y="2918568"/>
            <a:ext cx="1401763" cy="1457325"/>
          </a:xfrm>
          <a:prstGeom prst="rect">
            <a:avLst/>
          </a:prstGeom>
          <a:noFill/>
        </p:spPr>
      </p:pic>
      <p:pic>
        <p:nvPicPr>
          <p:cNvPr id="81924" name="Picture 4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5706" y="2863978"/>
            <a:ext cx="1368425" cy="1438275"/>
          </a:xfrm>
          <a:prstGeom prst="rect">
            <a:avLst/>
          </a:prstGeom>
          <a:noFill/>
        </p:spPr>
      </p:pic>
      <p:sp>
        <p:nvSpPr>
          <p:cNvPr id="81925" name="Line 5"/>
          <p:cNvSpPr>
            <a:spLocks noChangeShapeType="1"/>
          </p:cNvSpPr>
          <p:nvPr/>
        </p:nvSpPr>
        <p:spPr bwMode="auto">
          <a:xfrm>
            <a:off x="2304131" y="3500471"/>
            <a:ext cx="2775223" cy="46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6" name="Text Box 6"/>
              <p:cNvSpPr txBox="1">
                <a:spLocks noChangeArrowheads="1"/>
              </p:cNvSpPr>
              <p:nvPr/>
            </p:nvSpPr>
            <p:spPr bwMode="auto">
              <a:xfrm>
                <a:off x="1164306" y="3854578"/>
                <a:ext cx="80182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𝐀𝐥𝐢𝐜𝐞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2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64306" y="3854578"/>
                <a:ext cx="80182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5719363" y="3907025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</a:rPr>
              <a:t>Bob</a:t>
            </a:r>
            <a:endParaRPr lang="en-US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8" name="Text Box 8"/>
              <p:cNvSpPr txBox="1">
                <a:spLocks noChangeArrowheads="1"/>
              </p:cNvSpPr>
              <p:nvPr/>
            </p:nvSpPr>
            <p:spPr bwMode="auto">
              <a:xfrm>
                <a:off x="2615367" y="3269166"/>
                <a:ext cx="2152751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28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5367" y="3269166"/>
                <a:ext cx="2152751" cy="400110"/>
              </a:xfrm>
              <a:prstGeom prst="rect">
                <a:avLst/>
              </a:prstGeom>
              <a:blipFill>
                <a:blip r:embed="rId6"/>
                <a:stretch>
                  <a:fillRect l="-2254" b="-1617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29" name="Picture 9" descr="MCj043594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988809" y="1514065"/>
            <a:ext cx="1841500" cy="12731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1930" name="Text Box 10"/>
              <p:cNvSpPr txBox="1">
                <a:spLocks noChangeArrowheads="1"/>
              </p:cNvSpPr>
              <p:nvPr/>
            </p:nvSpPr>
            <p:spPr bwMode="auto">
              <a:xfrm>
                <a:off x="2877670" y="1183617"/>
                <a:ext cx="4463481" cy="132343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2000" b="1" dirty="0">
                    <a:solidFill>
                      <a:srgbClr val="FF0000"/>
                    </a:solidFill>
                  </a:rPr>
                  <a:t>Eve</a:t>
                </a:r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000" dirty="0"/>
                  <a:t>can see</a:t>
                </a:r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𝐓𝐚𝐠</m:t>
                    </m:r>
                    <m:r>
                      <a:rPr lang="en-GB" sz="20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GB" sz="2000" b="1" dirty="0">
                  <a:solidFill>
                    <a:srgbClr val="FF0000"/>
                  </a:solidFill>
                </a:endParaRPr>
              </a:p>
              <a:p>
                <a:endParaRPr lang="en-GB" sz="2000" b="1" dirty="0">
                  <a:solidFill>
                    <a:srgbClr val="993300"/>
                  </a:solidFill>
                </a:endParaRPr>
              </a:p>
              <a:p>
                <a:r>
                  <a:rPr lang="en-GB" sz="2000" dirty="0"/>
                  <a:t>She should not be able to compute a valid tag</a:t>
                </a:r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GB" sz="2000" dirty="0"/>
                  <a:t>on any other message</a:t>
                </a:r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sz="2000" dirty="0"/>
                  <a:t>.</a:t>
                </a:r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:endParaRPr lang="en-US" sz="2000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8193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7670" y="1183617"/>
                <a:ext cx="4463481" cy="1323439"/>
              </a:xfrm>
              <a:prstGeom prst="rect">
                <a:avLst/>
              </a:prstGeom>
              <a:blipFill rotWithShape="0">
                <a:blip r:embed="rId8"/>
                <a:stretch>
                  <a:fillRect l="-1226" t="-1826" b="-684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31" name="Text Box 11"/>
              <p:cNvSpPr txBox="1">
                <a:spLocks noChangeArrowheads="1"/>
              </p:cNvSpPr>
              <p:nvPr/>
            </p:nvSpPr>
            <p:spPr bwMode="auto">
              <a:xfrm>
                <a:off x="1392906" y="4768978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3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2906" y="4768978"/>
                <a:ext cx="3770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32" name="Text Box 12"/>
              <p:cNvSpPr txBox="1">
                <a:spLocks noChangeArrowheads="1"/>
              </p:cNvSpPr>
              <p:nvPr/>
            </p:nvSpPr>
            <p:spPr bwMode="auto">
              <a:xfrm>
                <a:off x="5647137" y="4745225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32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47137" y="4745225"/>
                <a:ext cx="37702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33" name="Text Box 13"/>
              <p:cNvSpPr txBox="1">
                <a:spLocks noChangeArrowheads="1"/>
              </p:cNvSpPr>
              <p:nvPr/>
            </p:nvSpPr>
            <p:spPr bwMode="auto">
              <a:xfrm>
                <a:off x="173706" y="3397378"/>
                <a:ext cx="450764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93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706" y="3397378"/>
                <a:ext cx="4507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34" name="Line 14"/>
          <p:cNvSpPr>
            <a:spLocks noChangeShapeType="1"/>
          </p:cNvSpPr>
          <p:nvPr/>
        </p:nvSpPr>
        <p:spPr bwMode="auto">
          <a:xfrm flipV="1">
            <a:off x="624470" y="3616115"/>
            <a:ext cx="31123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35" name="Line 15"/>
          <p:cNvSpPr>
            <a:spLocks noChangeShapeType="1"/>
          </p:cNvSpPr>
          <p:nvPr/>
        </p:nvSpPr>
        <p:spPr bwMode="auto">
          <a:xfrm flipV="1">
            <a:off x="1545306" y="431177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36" name="Line 16"/>
          <p:cNvSpPr>
            <a:spLocks noChangeShapeType="1"/>
          </p:cNvSpPr>
          <p:nvPr/>
        </p:nvSpPr>
        <p:spPr bwMode="auto">
          <a:xfrm flipV="1">
            <a:off x="5849187" y="43642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37" name="Text Box 17"/>
              <p:cNvSpPr txBox="1">
                <a:spLocks noChangeArrowheads="1"/>
              </p:cNvSpPr>
              <p:nvPr/>
            </p:nvSpPr>
            <p:spPr bwMode="auto">
              <a:xfrm>
                <a:off x="5929944" y="3145025"/>
                <a:ext cx="2969110" cy="70788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checks</a:t>
                </a:r>
                <a:r>
                  <a:rPr lang="pl-PL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if</a:t>
                </a:r>
                <a:br>
                  <a:rPr lang="pl-PL" sz="2000" b="1" dirty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{</m:t>
                      </m:r>
                      <m:r>
                        <a:rPr lang="pl-PL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𝐲𝐞𝐬</m:t>
                      </m:r>
                      <m:r>
                        <a:rPr lang="pl-PL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pl-PL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𝐧𝐨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</m:oMath>
                  </m:oMathPara>
                </a14:m>
                <a:endParaRPr lang="ru-RU" sz="20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1937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29944" y="3145025"/>
                <a:ext cx="2969110" cy="707886"/>
              </a:xfrm>
              <a:prstGeom prst="rect">
                <a:avLst/>
              </a:prstGeom>
              <a:blipFill>
                <a:blip r:embed="rId12"/>
                <a:stretch>
                  <a:fillRect t="-4237" b="-847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26"/>
              <p:cNvSpPr txBox="1">
                <a:spLocks noChangeArrowheads="1"/>
              </p:cNvSpPr>
              <p:nvPr/>
            </p:nvSpPr>
            <p:spPr bwMode="auto">
              <a:xfrm>
                <a:off x="2422341" y="5050986"/>
                <a:ext cx="2328907" cy="64633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it-IT" b="1" dirty="0">
                    <a:solidFill>
                      <a:srgbClr val="993300"/>
                    </a:solidFill>
                  </a:rPr>
                  <a:t> </a:t>
                </a:r>
                <a:r>
                  <a:rPr lang="en-US" dirty="0"/>
                  <a:t>is chosen randomly </a:t>
                </a:r>
                <a:br>
                  <a:rPr lang="en-US" dirty="0"/>
                </a:br>
                <a:r>
                  <a:rPr lang="en-US" dirty="0"/>
                  <a:t>from some set </a:t>
                </a:r>
                <a:r>
                  <a:rPr lang="it-IT" b="1" dirty="0">
                    <a:solidFill>
                      <a:srgbClr val="FF0000"/>
                    </a:solidFill>
                    <a:latin typeface="Lucida Calligraphy"/>
                  </a:rPr>
                  <a:t>K</a:t>
                </a:r>
                <a:r>
                  <a:rPr lang="pl-PL" b="1" i="1" dirty="0"/>
                  <a:t> </a:t>
                </a:r>
                <a:endParaRPr lang="en-US" b="1" baseline="300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21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2341" y="5050986"/>
                <a:ext cx="2328907" cy="646331"/>
              </a:xfrm>
              <a:prstGeom prst="rect">
                <a:avLst/>
              </a:prstGeom>
              <a:blipFill>
                <a:blip r:embed="rId13"/>
                <a:stretch>
                  <a:fillRect t="-5556" r="-1563" b="-1388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AutoShape 28"/>
          <p:cNvCxnSpPr>
            <a:cxnSpLocks noChangeShapeType="1"/>
            <a:stCxn id="21" idx="1"/>
            <a:endCxn id="81931" idx="2"/>
          </p:cNvCxnSpPr>
          <p:nvPr/>
        </p:nvCxnSpPr>
        <p:spPr bwMode="auto">
          <a:xfrm rot="10800000">
            <a:off x="1581419" y="5138310"/>
            <a:ext cx="840922" cy="23584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3" name="AutoShape 29"/>
          <p:cNvCxnSpPr>
            <a:cxnSpLocks noChangeShapeType="1"/>
            <a:stCxn id="21" idx="3"/>
            <a:endCxn id="81932" idx="2"/>
          </p:cNvCxnSpPr>
          <p:nvPr/>
        </p:nvCxnSpPr>
        <p:spPr bwMode="auto">
          <a:xfrm flipV="1">
            <a:off x="4751248" y="5114557"/>
            <a:ext cx="1084402" cy="25959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01B7CF-3150-4870-9763-608BF1C43247}"/>
                  </a:ext>
                </a:extLst>
              </p:cNvPr>
              <p:cNvSpPr txBox="1"/>
              <p:nvPr/>
            </p:nvSpPr>
            <p:spPr>
              <a:xfrm>
                <a:off x="5136106" y="5653675"/>
                <a:ext cx="3888143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glow rad="139700">
                  <a:schemeClr val="accent3">
                    <a:satMod val="175000"/>
                    <a:alpha val="40000"/>
                  </a:schemeClr>
                </a:glow>
                <a:outerShdw blurRad="63500" dist="25400" dir="5400000" rotWithShape="0">
                  <a:srgbClr val="000000">
                    <a:alpha val="43137"/>
                  </a:srgbClr>
                </a:outerShdw>
              </a:effec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pl-PL" sz="2000" b="1" u="sng" dirty="0">
                    <a:solidFill>
                      <a:srgbClr val="7030A0"/>
                    </a:solidFill>
                  </a:rPr>
                  <a:t>Correctness</a:t>
                </a:r>
                <a:endParaRPr lang="pl-PL" sz="1050" u="sng" dirty="0">
                  <a:solidFill>
                    <a:srgbClr val="7030A0"/>
                  </a:solidFill>
                </a:endParaRPr>
              </a:p>
              <a:p>
                <a:pPr algn="ctr"/>
                <a:r>
                  <a:rPr lang="it-IT" sz="2000" dirty="0">
                    <a:cs typeface="Arial" pitchFamily="34" charset="0"/>
                  </a:rPr>
                  <a:t>i</a:t>
                </a:r>
                <a:r>
                  <a:rPr lang="pl-PL" sz="2000" dirty="0">
                    <a:cs typeface="Arial" pitchFamily="34" charset="0"/>
                  </a:rPr>
                  <a:t>t </a:t>
                </a:r>
                <a:r>
                  <a:rPr lang="pl-PL" sz="2000" dirty="0" err="1">
                    <a:cs typeface="Arial" pitchFamily="34" charset="0"/>
                  </a:rPr>
                  <a:t>always</a:t>
                </a:r>
                <a:r>
                  <a:rPr lang="pl-PL" sz="2000" dirty="0">
                    <a:cs typeface="Arial" pitchFamily="34" charset="0"/>
                  </a:rPr>
                  <a:t> holds that:</a:t>
                </a:r>
                <a:br>
                  <a:rPr lang="pl-PL" sz="2000" dirty="0">
                    <a:cs typeface="Arial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𝐕𝐫𝐟𝐲</m:t>
                    </m:r>
                    <m:r>
                      <a:rPr lang="en-US" sz="20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𝒌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  <m:r>
                      <a:rPr lang="en-US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000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𝐓𝐚𝐠</m:t>
                    </m:r>
                    <m:r>
                      <a:rPr lang="en-US" sz="20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𝒌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)) = </m:t>
                    </m:r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𝐲𝐞𝐬</m:t>
                    </m:r>
                  </m:oMath>
                </a14:m>
                <a:r>
                  <a:rPr lang="pl-PL" sz="2000" dirty="0">
                    <a:solidFill>
                      <a:schemeClr val="tx1"/>
                    </a:solidFill>
                    <a:latin typeface="Gill Sans MT" pitchFamily="34" charset="0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01B7CF-3150-4870-9763-608BF1C43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106" y="5653675"/>
                <a:ext cx="3888143" cy="101566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effectLst>
                <a:glow rad="139700">
                  <a:schemeClr val="accent3">
                    <a:satMod val="175000"/>
                    <a:alpha val="40000"/>
                  </a:schemeClr>
                </a:glow>
                <a:outerShdw blurRad="63500" dist="25400" dir="5400000" rotWithShape="0">
                  <a:srgbClr val="000000">
                    <a:alpha val="43137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39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animBg="1"/>
      <p:bldP spid="81926" grpId="0" animBg="1"/>
      <p:bldP spid="81927" grpId="0" animBg="1"/>
      <p:bldP spid="81928" grpId="0" animBg="1"/>
      <p:bldP spid="81930" grpId="0" animBg="1"/>
      <p:bldP spid="81931" grpId="0" animBg="1"/>
      <p:bldP spid="81932" grpId="0" animBg="1"/>
      <p:bldP spid="81933" grpId="0" animBg="1"/>
      <p:bldP spid="81934" grpId="0" animBg="1"/>
      <p:bldP spid="81935" grpId="0" animBg="1"/>
      <p:bldP spid="81936" grpId="0" animBg="1"/>
      <p:bldP spid="81937" grpId="0" animBg="1"/>
      <p:bldP spid="21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3E2DC-8CE9-468A-9D98-D93701DC2AAA}" type="slidenum">
              <a:rPr lang="it-IT"/>
              <a:pPr/>
              <a:t>10</a:t>
            </a:fld>
            <a:endParaRPr lang="it-IT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198" y="123826"/>
            <a:ext cx="8896574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Message authentication – multiple messages</a:t>
            </a:r>
          </a:p>
        </p:txBody>
      </p:sp>
      <p:pic>
        <p:nvPicPr>
          <p:cNvPr id="83971" name="Picture 3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1308" y="1896547"/>
            <a:ext cx="1401763" cy="1457325"/>
          </a:xfrm>
          <a:prstGeom prst="rect">
            <a:avLst/>
          </a:prstGeom>
          <a:noFill/>
        </p:spPr>
      </p:pic>
      <p:pic>
        <p:nvPicPr>
          <p:cNvPr id="83972" name="Picture 4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0124" y="1896547"/>
            <a:ext cx="1368425" cy="1438275"/>
          </a:xfrm>
          <a:prstGeom prst="rect">
            <a:avLst/>
          </a:prstGeom>
          <a:noFill/>
        </p:spPr>
      </p:pic>
      <p:sp>
        <p:nvSpPr>
          <p:cNvPr id="83973" name="Line 5"/>
          <p:cNvSpPr>
            <a:spLocks noChangeShapeType="1"/>
          </p:cNvSpPr>
          <p:nvPr/>
        </p:nvSpPr>
        <p:spPr bwMode="auto">
          <a:xfrm>
            <a:off x="3117924" y="1896547"/>
            <a:ext cx="35833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4" name="Text Box 6"/>
              <p:cNvSpPr txBox="1">
                <a:spLocks noChangeArrowheads="1"/>
              </p:cNvSpPr>
              <p:nvPr/>
            </p:nvSpPr>
            <p:spPr bwMode="auto">
              <a:xfrm>
                <a:off x="1898724" y="2887147"/>
                <a:ext cx="80182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𝐀𝐥𝐢𝐜𝐞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97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8724" y="2887147"/>
                <a:ext cx="801823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7158508" y="2887147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</a:rPr>
              <a:t>Bob</a:t>
            </a:r>
            <a:endParaRPr lang="en-US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6" name="Text Box 8"/>
              <p:cNvSpPr txBox="1">
                <a:spLocks noChangeArrowheads="1"/>
              </p:cNvSpPr>
              <p:nvPr/>
            </p:nvSpPr>
            <p:spPr bwMode="auto">
              <a:xfrm>
                <a:off x="3800549" y="1711881"/>
                <a:ext cx="1805301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pl-PL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1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97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0549" y="1711881"/>
                <a:ext cx="1805301" cy="369332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977" name="Picture 9" descr="MCj043594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948061" y="5299976"/>
            <a:ext cx="1841500" cy="12731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3978" name="Text Box 10"/>
              <p:cNvSpPr txBox="1">
                <a:spLocks noChangeArrowheads="1"/>
              </p:cNvSpPr>
              <p:nvPr/>
            </p:nvSpPr>
            <p:spPr bwMode="auto">
              <a:xfrm>
                <a:off x="4299021" y="4792145"/>
                <a:ext cx="3200400" cy="10156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r>
                  <a:rPr lang="en-GB" sz="2000" b="1" dirty="0">
                    <a:solidFill>
                      <a:srgbClr val="FF0000"/>
                    </a:solidFill>
                  </a:rPr>
                  <a:t>Eve </a:t>
                </a:r>
                <a:r>
                  <a:rPr lang="en-GB" sz="2000" dirty="0"/>
                  <a:t>should not be able to compute a valid tag</a:t>
                </a:r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000" dirty="0"/>
                  <a:t>on any other message</a:t>
                </a:r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sz="2000" dirty="0"/>
                  <a:t>.</a:t>
                </a:r>
                <a:r>
                  <a:rPr lang="en-GB" sz="2000" b="1" dirty="0">
                    <a:solidFill>
                      <a:srgbClr val="993300"/>
                    </a:solidFill>
                  </a:rPr>
                  <a:t> </a:t>
                </a:r>
                <a:endParaRPr lang="en-US" sz="2000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8397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9021" y="4792145"/>
                <a:ext cx="3200400" cy="1015663"/>
              </a:xfrm>
              <a:prstGeom prst="rect">
                <a:avLst/>
              </a:prstGeom>
              <a:blipFill rotWithShape="0">
                <a:blip r:embed="rId8"/>
                <a:stretch>
                  <a:fillRect l="-1708" t="-2367" b="-887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979" name="Text Box 11"/>
              <p:cNvSpPr txBox="1">
                <a:spLocks noChangeArrowheads="1"/>
              </p:cNvSpPr>
              <p:nvPr/>
            </p:nvSpPr>
            <p:spPr bwMode="auto">
              <a:xfrm>
                <a:off x="2127324" y="3801547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97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7324" y="3801547"/>
                <a:ext cx="377026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980" name="Text Box 12"/>
              <p:cNvSpPr txBox="1">
                <a:spLocks noChangeArrowheads="1"/>
              </p:cNvSpPr>
              <p:nvPr/>
            </p:nvSpPr>
            <p:spPr bwMode="auto">
              <a:xfrm>
                <a:off x="7310908" y="3725347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98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10908" y="3725347"/>
                <a:ext cx="377026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82" name="Line 14"/>
          <p:cNvSpPr>
            <a:spLocks noChangeShapeType="1"/>
          </p:cNvSpPr>
          <p:nvPr/>
        </p:nvSpPr>
        <p:spPr bwMode="auto">
          <a:xfrm>
            <a:off x="1289124" y="1896547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3983" name="Line 15"/>
          <p:cNvSpPr>
            <a:spLocks noChangeShapeType="1"/>
          </p:cNvSpPr>
          <p:nvPr/>
        </p:nvSpPr>
        <p:spPr bwMode="auto">
          <a:xfrm flipV="1">
            <a:off x="2279724" y="3344347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3984" name="Line 16"/>
          <p:cNvSpPr>
            <a:spLocks noChangeShapeType="1"/>
          </p:cNvSpPr>
          <p:nvPr/>
        </p:nvSpPr>
        <p:spPr bwMode="auto">
          <a:xfrm flipV="1">
            <a:off x="7463308" y="3344347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3986" name="Line 18"/>
          <p:cNvSpPr>
            <a:spLocks noChangeShapeType="1"/>
          </p:cNvSpPr>
          <p:nvPr/>
        </p:nvSpPr>
        <p:spPr bwMode="auto">
          <a:xfrm>
            <a:off x="3117924" y="2353747"/>
            <a:ext cx="35833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87" name="Text Box 19"/>
              <p:cNvSpPr txBox="1">
                <a:spLocks noChangeArrowheads="1"/>
              </p:cNvSpPr>
              <p:nvPr/>
            </p:nvSpPr>
            <p:spPr bwMode="auto">
              <a:xfrm>
                <a:off x="3800549" y="2169081"/>
                <a:ext cx="1754005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it-IT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l-PL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1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987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0549" y="2169081"/>
                <a:ext cx="1754005" cy="369332"/>
              </a:xfrm>
              <a:prstGeom prst="rect">
                <a:avLst/>
              </a:prstGeom>
              <a:blipFill>
                <a:blip r:embed="rId11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89" name="Line 21"/>
          <p:cNvSpPr>
            <a:spLocks noChangeShapeType="1"/>
          </p:cNvSpPr>
          <p:nvPr/>
        </p:nvSpPr>
        <p:spPr bwMode="auto">
          <a:xfrm>
            <a:off x="1289124" y="2353747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88" name="Text Box 20"/>
              <p:cNvSpPr txBox="1">
                <a:spLocks noChangeArrowheads="1"/>
              </p:cNvSpPr>
              <p:nvPr/>
            </p:nvSpPr>
            <p:spPr bwMode="auto">
              <a:xfrm>
                <a:off x="908124" y="2125147"/>
                <a:ext cx="524503" cy="36298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98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8124" y="2125147"/>
                <a:ext cx="524503" cy="362984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981" name="Text Box 13"/>
              <p:cNvSpPr txBox="1">
                <a:spLocks noChangeArrowheads="1"/>
              </p:cNvSpPr>
              <p:nvPr/>
            </p:nvSpPr>
            <p:spPr bwMode="auto">
              <a:xfrm>
                <a:off x="908124" y="1667947"/>
                <a:ext cx="524503" cy="36298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98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8124" y="1667947"/>
                <a:ext cx="524503" cy="362984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90" name="Line 22"/>
          <p:cNvSpPr>
            <a:spLocks noChangeShapeType="1"/>
          </p:cNvSpPr>
          <p:nvPr/>
        </p:nvSpPr>
        <p:spPr bwMode="auto">
          <a:xfrm>
            <a:off x="3117924" y="3420546"/>
            <a:ext cx="3583384" cy="211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91" name="Text Box 23"/>
              <p:cNvSpPr txBox="1">
                <a:spLocks noChangeArrowheads="1"/>
              </p:cNvSpPr>
              <p:nvPr/>
            </p:nvSpPr>
            <p:spPr bwMode="auto">
              <a:xfrm>
                <a:off x="3800549" y="3235881"/>
                <a:ext cx="1856470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pl-PL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1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991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0549" y="3235881"/>
                <a:ext cx="1856470" cy="369332"/>
              </a:xfrm>
              <a:prstGeom prst="rect">
                <a:avLst/>
              </a:prstGeom>
              <a:blipFill>
                <a:blip r:embed="rId14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92" name="Line 24"/>
          <p:cNvSpPr>
            <a:spLocks noChangeShapeType="1"/>
          </p:cNvSpPr>
          <p:nvPr/>
        </p:nvSpPr>
        <p:spPr bwMode="auto">
          <a:xfrm>
            <a:off x="1289124" y="3420547"/>
            <a:ext cx="381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93" name="Text Box 25"/>
              <p:cNvSpPr txBox="1">
                <a:spLocks noChangeArrowheads="1"/>
              </p:cNvSpPr>
              <p:nvPr/>
            </p:nvSpPr>
            <p:spPr bwMode="auto">
              <a:xfrm>
                <a:off x="908124" y="3191947"/>
                <a:ext cx="542925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1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993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8124" y="3191947"/>
                <a:ext cx="542925" cy="369888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94" name="Text Box 26"/>
          <p:cNvSpPr txBox="1">
            <a:spLocks noChangeArrowheads="1"/>
          </p:cNvSpPr>
          <p:nvPr/>
        </p:nvSpPr>
        <p:spPr bwMode="auto">
          <a:xfrm rot="5400000">
            <a:off x="907330" y="2581554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993300"/>
                </a:solidFill>
              </a:rPr>
              <a:t>. . .</a:t>
            </a:r>
          </a:p>
        </p:txBody>
      </p:sp>
      <p:sp>
        <p:nvSpPr>
          <p:cNvPr id="83995" name="Text Box 27"/>
          <p:cNvSpPr txBox="1">
            <a:spLocks noChangeArrowheads="1"/>
          </p:cNvSpPr>
          <p:nvPr/>
        </p:nvSpPr>
        <p:spPr bwMode="auto">
          <a:xfrm rot="5400000">
            <a:off x="4566583" y="2745622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189064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3" grpId="0" animBg="1"/>
      <p:bldP spid="83976" grpId="0" animBg="1"/>
      <p:bldP spid="83978" grpId="0" animBg="1"/>
      <p:bldP spid="83982" grpId="0" animBg="1"/>
      <p:bldP spid="83986" grpId="0" animBg="1"/>
      <p:bldP spid="83987" grpId="0" animBg="1"/>
      <p:bldP spid="83989" grpId="0" animBg="1"/>
      <p:bldP spid="83988" grpId="0" animBg="1"/>
      <p:bldP spid="83981" grpId="0" animBg="1"/>
      <p:bldP spid="83990" grpId="0" animBg="1"/>
      <p:bldP spid="83991" grpId="0" animBg="1"/>
      <p:bldP spid="83992" grpId="0" animBg="1"/>
      <p:bldP spid="83993" grpId="0" animBg="1"/>
      <p:bldP spid="83994" grpId="0"/>
      <p:bldP spid="8399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647968" cy="1143000"/>
          </a:xfrm>
        </p:spPr>
        <p:txBody>
          <a:bodyPr/>
          <a:lstStyle/>
          <a:p>
            <a:r>
              <a:rPr lang="en-US" dirty="0"/>
              <a:t>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5786" y="3397939"/>
            <a:ext cx="7286675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cs typeface="Arial" pitchFamily="34" charset="0"/>
              </a:rPr>
              <a:t>If </a:t>
            </a:r>
            <a:r>
              <a:rPr lang="en-US" sz="2800" b="1" dirty="0">
                <a:solidFill>
                  <a:srgbClr val="FF0000"/>
                </a:solidFill>
                <a:cs typeface="Arial" pitchFamily="34" charset="0"/>
              </a:rPr>
              <a:t>Tag</a:t>
            </a:r>
            <a:r>
              <a:rPr lang="en-US" sz="2800" dirty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sz="2800" dirty="0">
                <a:cs typeface="Arial" pitchFamily="34" charset="0"/>
              </a:rPr>
              <a:t>is </a:t>
            </a:r>
            <a:r>
              <a:rPr lang="en-US" sz="2800" b="1" dirty="0">
                <a:solidFill>
                  <a:srgbClr val="7030A0"/>
                </a:solidFill>
                <a:cs typeface="Arial" pitchFamily="34" charset="0"/>
              </a:rPr>
              <a:t>deterministic</a:t>
            </a:r>
            <a:r>
              <a:rPr lang="en-US" sz="2800" dirty="0">
                <a:cs typeface="Arial" pitchFamily="34" charset="0"/>
              </a:rPr>
              <a:t>, then </a:t>
            </a:r>
            <a:r>
              <a:rPr lang="en-US" sz="2800" b="1" dirty="0" err="1">
                <a:solidFill>
                  <a:srgbClr val="FF0000"/>
                </a:solidFill>
                <a:cs typeface="Arial" pitchFamily="34" charset="0"/>
              </a:rPr>
              <a:t>Vrfy</a:t>
            </a:r>
            <a:r>
              <a:rPr lang="en-US" sz="2800" b="1" dirty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sz="2800" dirty="0">
                <a:cs typeface="Arial" pitchFamily="34" charset="0"/>
              </a:rPr>
              <a:t>just computes </a:t>
            </a:r>
            <a:r>
              <a:rPr lang="en-US" sz="2800" b="1" dirty="0">
                <a:solidFill>
                  <a:srgbClr val="FF0000"/>
                </a:solidFill>
                <a:cs typeface="Arial" pitchFamily="34" charset="0"/>
              </a:rPr>
              <a:t>Tag </a:t>
            </a:r>
            <a:r>
              <a:rPr lang="en-US" sz="2800" dirty="0">
                <a:cs typeface="Arial" pitchFamily="34" charset="0"/>
              </a:rPr>
              <a:t>and compares the result.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 dirty="0"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cs typeface="Arial" pitchFamily="34" charset="0"/>
              </a:rPr>
              <a:t>In this case we do not need to define </a:t>
            </a:r>
            <a:r>
              <a:rPr lang="en-US" sz="2800" b="1" dirty="0" err="1">
                <a:solidFill>
                  <a:srgbClr val="FF0000"/>
                </a:solidFill>
                <a:cs typeface="Arial" pitchFamily="34" charset="0"/>
              </a:rPr>
              <a:t>Vrfy</a:t>
            </a:r>
            <a:r>
              <a:rPr lang="en-US" sz="2800" b="1" dirty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sz="2800" dirty="0">
                <a:cs typeface="Arial" pitchFamily="34" charset="0"/>
              </a:rPr>
              <a:t>explicitly.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5786" y="1754865"/>
                <a:ext cx="7251847" cy="9541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cs typeface="Arial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𝐕𝐫𝐟𝐲</m:t>
                    </m:r>
                    <m:r>
                      <a:rPr lang="en-US" sz="28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𝒌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  <m:r>
                      <a:rPr lang="en-US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𝒕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)=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𝐲𝐞𝐬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  <a:cs typeface="Arial" pitchFamily="34" charset="0"/>
                  </a:rPr>
                  <a:t> then we say that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𝒕</m:t>
                    </m:r>
                  </m:oMath>
                </a14:m>
                <a:r>
                  <a:rPr lang="en-US" sz="2800" b="1" dirty="0">
                    <a:latin typeface="Cambria" panose="02040503050406030204" pitchFamily="18" charset="0"/>
                    <a:cs typeface="Arial" pitchFamily="34" charset="0"/>
                  </a:rPr>
                  <a:t> </a:t>
                </a:r>
                <a:r>
                  <a:rPr lang="en-US" sz="2800" dirty="0">
                    <a:latin typeface="Cambria" panose="02040503050406030204" pitchFamily="18" charset="0"/>
                    <a:cs typeface="Arial" pitchFamily="34" charset="0"/>
                  </a:rPr>
                  <a:t>is a </a:t>
                </a:r>
                <a:r>
                  <a:rPr lang="en-US" sz="2800" b="1" dirty="0">
                    <a:solidFill>
                      <a:srgbClr val="0070C0"/>
                    </a:solidFill>
                    <a:latin typeface="Cambria" panose="02040503050406030204" pitchFamily="18" charset="0"/>
                    <a:cs typeface="Arial" pitchFamily="34" charset="0"/>
                  </a:rPr>
                  <a:t>valid tag on the message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</m:oMath>
                </a14:m>
                <a:r>
                  <a:rPr lang="en-US" sz="2800" b="1" dirty="0">
                    <a:latin typeface="Cambria" panose="02040503050406030204" pitchFamily="18" charset="0"/>
                    <a:cs typeface="Arial" pitchFamily="34" charset="0"/>
                  </a:rPr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86" y="1754865"/>
                <a:ext cx="7251847" cy="95410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81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DB35D-6BEF-410C-852A-62E9872381CD}" type="slidenum">
              <a:rPr lang="it-IT"/>
              <a:pPr/>
              <a:t>12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044" name="Rectangle 4"/>
              <p:cNvSpPr>
                <a:spLocks noChangeArrowheads="1"/>
              </p:cNvSpPr>
              <p:nvPr/>
            </p:nvSpPr>
            <p:spPr bwMode="auto">
              <a:xfrm>
                <a:off x="0" y="4346089"/>
                <a:ext cx="9144000" cy="256032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360000" anchor="ctr"/>
              <a:lstStyle/>
              <a:p>
                <a:pPr marL="609600" indent="-609600" algn="ctr">
                  <a:lnSpc>
                    <a:spcPct val="80000"/>
                  </a:lnSpc>
                  <a:buFontTx/>
                  <a:buNone/>
                </a:pPr>
                <a:r>
                  <a:rPr lang="en-US" sz="2600" b="1" dirty="0">
                    <a:solidFill>
                      <a:srgbClr val="7030A0"/>
                    </a:solidFill>
                  </a:rPr>
                  <a:t>We assume that:</a:t>
                </a:r>
              </a:p>
              <a:p>
                <a:pPr marL="609600" indent="-609600" algn="ctr">
                  <a:lnSpc>
                    <a:spcPct val="80000"/>
                  </a:lnSpc>
                  <a:buFontTx/>
                  <a:buNone/>
                </a:pPr>
                <a:endParaRPr lang="en-US" sz="2600" b="1" dirty="0"/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600" dirty="0"/>
                  <a:t>The adversary is allowed to chose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sz="2600" dirty="0">
                    <a:solidFill>
                      <a:schemeClr val="tx1"/>
                    </a:solidFill>
                  </a:rPr>
                  <a:t> .</a:t>
                </a:r>
                <a:endParaRPr lang="en-US" sz="2600" baseline="-25000" dirty="0">
                  <a:solidFill>
                    <a:srgbClr val="993300"/>
                  </a:solidFill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endParaRPr lang="en-US" sz="2600" b="1" baseline="-25000" dirty="0">
                  <a:solidFill>
                    <a:srgbClr val="993300"/>
                  </a:solidFill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600" dirty="0"/>
                  <a:t>The goal of the adversary is to produce a valid tag on</a:t>
                </a:r>
                <a:br>
                  <a:rPr lang="en-US" sz="2600" dirty="0"/>
                </a:br>
                <a:r>
                  <a:rPr lang="en-US" sz="2600" b="1" dirty="0"/>
                  <a:t>some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600" dirty="0"/>
                  <a:t> such that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’∉{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6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l-PL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pl-PL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pl-PL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600" b="1" i="0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>
                    <a:solidFill>
                      <a:schemeClr val="tx1"/>
                    </a:solidFill>
                  </a:rPr>
                  <a:t>.</a:t>
                </a:r>
                <a:endParaRPr lang="en-US" sz="2600" dirty="0"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704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346089"/>
                <a:ext cx="9144000" cy="25603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69925"/>
            <a:ext cx="7772400" cy="1143000"/>
          </a:xfrm>
        </p:spPr>
        <p:txBody>
          <a:bodyPr/>
          <a:lstStyle/>
          <a:p>
            <a:r>
              <a:rPr lang="en-US"/>
              <a:t>How to define security?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0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165970"/>
                <a:ext cx="8305800" cy="2781304"/>
              </a:xfrm>
            </p:spPr>
            <p:txBody>
              <a:bodyPr>
                <a:noAutofit/>
              </a:bodyPr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600" b="1" dirty="0"/>
                  <a:t>We need to specify</a:t>
                </a:r>
                <a:r>
                  <a:rPr lang="en-US" sz="2600" dirty="0"/>
                  <a:t>:</a:t>
                </a:r>
                <a:br>
                  <a:rPr lang="en-US" sz="2600" dirty="0"/>
                </a:br>
                <a:endParaRPr lang="en-US" sz="2600" dirty="0"/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600" dirty="0"/>
                  <a:t>how the messages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6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6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are chosen,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endParaRPr lang="en-US" sz="2600" dirty="0"/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US" sz="2600" dirty="0"/>
                  <a:t>what is the goal of the adversary.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endParaRPr lang="en-US" sz="2600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sz="2600" b="1" dirty="0">
                    <a:solidFill>
                      <a:srgbClr val="0070C0"/>
                    </a:solidFill>
                  </a:rPr>
                  <a:t>Good tradition:</a:t>
                </a:r>
                <a:r>
                  <a:rPr lang="en-US" sz="2600" dirty="0">
                    <a:solidFill>
                      <a:srgbClr val="0070C0"/>
                    </a:solidFill>
                  </a:rPr>
                  <a:t> </a:t>
                </a:r>
                <a:r>
                  <a:rPr lang="en-US" sz="2600" dirty="0"/>
                  <a:t>be as pessimistic as possible!</a:t>
                </a:r>
              </a:p>
            </p:txBody>
          </p:sp>
        </mc:Choice>
        <mc:Fallback xmlns="">
          <p:sp>
            <p:nvSpPr>
              <p:cNvPr id="870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165970"/>
                <a:ext cx="8305800" cy="2781304"/>
              </a:xfrm>
              <a:blipFill rotWithShape="0">
                <a:blip r:embed="rId4"/>
                <a:stretch>
                  <a:fillRect l="-1322" t="-4814" b="-1137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39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85" name="Line 21"/>
          <p:cNvSpPr>
            <a:spLocks noChangeShapeType="1"/>
          </p:cNvSpPr>
          <p:nvPr/>
        </p:nvSpPr>
        <p:spPr bwMode="auto">
          <a:xfrm flipH="1">
            <a:off x="2743200" y="3869152"/>
            <a:ext cx="3200400" cy="116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88084" name="Line 20"/>
          <p:cNvSpPr>
            <a:spLocks noChangeShapeType="1"/>
          </p:cNvSpPr>
          <p:nvPr/>
        </p:nvSpPr>
        <p:spPr bwMode="auto">
          <a:xfrm flipH="1" flipV="1">
            <a:off x="2743200" y="2100432"/>
            <a:ext cx="3200400" cy="116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30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72264" y="642918"/>
            <a:ext cx="2002325" cy="1837853"/>
          </a:xfrm>
          <a:prstGeom prst="rect">
            <a:avLst/>
          </a:prstGeom>
          <a:noFill/>
        </p:spPr>
      </p:pic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7566-3992-4176-80A0-CD6518FF5D43}" type="slidenum">
              <a:rPr lang="it-IT"/>
              <a:pPr/>
              <a:t>13</a:t>
            </a:fld>
            <a:endParaRPr lang="it-IT"/>
          </a:p>
        </p:txBody>
      </p:sp>
      <p:pic>
        <p:nvPicPr>
          <p:cNvPr id="88068" name="Picture 4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609600"/>
            <a:ext cx="1676400" cy="11588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8070" name="Text Box 6"/>
              <p:cNvSpPr txBox="1">
                <a:spLocks noChangeArrowheads="1"/>
              </p:cNvSpPr>
              <p:nvPr/>
            </p:nvSpPr>
            <p:spPr bwMode="auto">
              <a:xfrm>
                <a:off x="3233712" y="427804"/>
                <a:ext cx="2066976" cy="64633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 eaLnBrk="1" hangingPunct="1"/>
                <a:r>
                  <a:rPr lang="pl-PL" sz="1800" dirty="0"/>
                  <a:t>security parameter</a:t>
                </a:r>
              </a:p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sz="18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18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807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3712" y="427804"/>
                <a:ext cx="2066976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2047" t="-4630" r="-204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71" name="Line 7"/>
          <p:cNvSpPr>
            <a:spLocks noChangeShapeType="1"/>
          </p:cNvSpPr>
          <p:nvPr/>
        </p:nvSpPr>
        <p:spPr bwMode="auto">
          <a:xfrm flipH="1">
            <a:off x="1752600" y="7620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072" name="Line 8"/>
          <p:cNvSpPr>
            <a:spLocks noChangeShapeType="1"/>
          </p:cNvSpPr>
          <p:nvPr/>
        </p:nvSpPr>
        <p:spPr bwMode="auto">
          <a:xfrm>
            <a:off x="5334000" y="8382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73" name="Text Box 9"/>
              <p:cNvSpPr txBox="1">
                <a:spLocks noChangeArrowheads="1"/>
              </p:cNvSpPr>
              <p:nvPr/>
            </p:nvSpPr>
            <p:spPr bwMode="auto">
              <a:xfrm>
                <a:off x="5943600" y="581061"/>
                <a:ext cx="3016783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342900" indent="-342900" algn="ctr" eaLnBrk="1" hangingPunct="1"/>
                <a:r>
                  <a:rPr lang="en-US" sz="1800" dirty="0"/>
                  <a:t>selects a random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𝟎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,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𝟏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}</m:t>
                    </m:r>
                    <m:r>
                      <a:rPr lang="it-IT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𝒏</m:t>
                    </m:r>
                  </m:oMath>
                </a14:m>
                <a:endParaRPr lang="en-US" sz="24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807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3600" y="581061"/>
                <a:ext cx="3016783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74" name="Text Box 10"/>
          <p:cNvSpPr txBox="1">
            <a:spLocks noChangeArrowheads="1"/>
          </p:cNvSpPr>
          <p:nvPr/>
        </p:nvSpPr>
        <p:spPr bwMode="auto">
          <a:xfrm>
            <a:off x="7391400" y="2133600"/>
            <a:ext cx="8096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hangingPunct="1"/>
            <a:r>
              <a:rPr lang="pl-PL" sz="1800"/>
              <a:t>oracle</a:t>
            </a:r>
            <a:endParaRPr lang="en-US" sz="1800"/>
          </a:p>
        </p:txBody>
      </p:sp>
      <p:sp>
        <p:nvSpPr>
          <p:cNvPr id="88075" name="Line 11"/>
          <p:cNvSpPr>
            <a:spLocks noChangeShapeType="1"/>
          </p:cNvSpPr>
          <p:nvPr/>
        </p:nvSpPr>
        <p:spPr bwMode="auto">
          <a:xfrm>
            <a:off x="4648200" y="1676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78" name="Text Box 14"/>
              <p:cNvSpPr txBox="1">
                <a:spLocks noChangeArrowheads="1"/>
              </p:cNvSpPr>
              <p:nvPr/>
            </p:nvSpPr>
            <p:spPr bwMode="auto">
              <a:xfrm>
                <a:off x="4191000" y="1447800"/>
                <a:ext cx="533400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8078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1447800"/>
                <a:ext cx="533400" cy="3698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79" name="Line 15"/>
          <p:cNvSpPr>
            <a:spLocks noChangeShapeType="1"/>
          </p:cNvSpPr>
          <p:nvPr/>
        </p:nvSpPr>
        <p:spPr bwMode="auto">
          <a:xfrm>
            <a:off x="4648200" y="3276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80" name="Text Box 16"/>
              <p:cNvSpPr txBox="1">
                <a:spLocks noChangeArrowheads="1"/>
              </p:cNvSpPr>
              <p:nvPr/>
            </p:nvSpPr>
            <p:spPr bwMode="auto">
              <a:xfrm>
                <a:off x="4191000" y="3124200"/>
                <a:ext cx="595314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1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8080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3124200"/>
                <a:ext cx="595314" cy="36988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81" name="Text Box 17"/>
          <p:cNvSpPr txBox="1">
            <a:spLocks noChangeArrowheads="1"/>
          </p:cNvSpPr>
          <p:nvPr/>
        </p:nvSpPr>
        <p:spPr bwMode="auto">
          <a:xfrm rot="5400000">
            <a:off x="4303064" y="2557741"/>
            <a:ext cx="45429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993300"/>
                </a:solidFill>
              </a:rPr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82" name="Text Box 18"/>
              <p:cNvSpPr txBox="1">
                <a:spLocks noChangeArrowheads="1"/>
              </p:cNvSpPr>
              <p:nvPr/>
            </p:nvSpPr>
            <p:spPr bwMode="auto">
              <a:xfrm>
                <a:off x="3273734" y="1905000"/>
                <a:ext cx="2254143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1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pl-PL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808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3734" y="1905000"/>
                <a:ext cx="2254143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083" name="Text Box 19"/>
              <p:cNvSpPr txBox="1">
                <a:spLocks noChangeArrowheads="1"/>
              </p:cNvSpPr>
              <p:nvPr/>
            </p:nvSpPr>
            <p:spPr bwMode="auto">
              <a:xfrm>
                <a:off x="3349389" y="3657600"/>
                <a:ext cx="231653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l-PL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pl-PL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1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8083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9389" y="3657600"/>
                <a:ext cx="2316532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111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86" name="Line 22"/>
          <p:cNvSpPr>
            <a:spLocks noChangeShapeType="1"/>
          </p:cNvSpPr>
          <p:nvPr/>
        </p:nvSpPr>
        <p:spPr bwMode="auto">
          <a:xfrm>
            <a:off x="2743200" y="1676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88087" name="Line 23"/>
          <p:cNvSpPr>
            <a:spLocks noChangeShapeType="1"/>
          </p:cNvSpPr>
          <p:nvPr/>
        </p:nvSpPr>
        <p:spPr bwMode="auto">
          <a:xfrm>
            <a:off x="2743200" y="3276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88089" name="Text Box 25"/>
          <p:cNvSpPr txBox="1">
            <a:spLocks noChangeArrowheads="1"/>
          </p:cNvSpPr>
          <p:nvPr/>
        </p:nvSpPr>
        <p:spPr bwMode="auto">
          <a:xfrm>
            <a:off x="914400" y="48768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90" name="Text Box 26"/>
              <p:cNvSpPr txBox="1">
                <a:spLocks noChangeArrowheads="1"/>
              </p:cNvSpPr>
              <p:nvPr/>
            </p:nvSpPr>
            <p:spPr bwMode="auto">
              <a:xfrm>
                <a:off x="285720" y="4500570"/>
                <a:ext cx="8382000" cy="19389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 wrap="square">
                <a:spAutoFit/>
              </a:bodyPr>
              <a:lstStyle/>
              <a:p>
                <a:pPr marL="457200" indent="-457200" algn="ctr"/>
                <a:r>
                  <a:rPr lang="en-US" sz="2400" dirty="0"/>
                  <a:t>We say that the adversary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breaks the MAC scheme </a:t>
                </a:r>
                <a:r>
                  <a:rPr lang="en-US" sz="2400" dirty="0"/>
                  <a:t>at the end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she outputs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’,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such that</a:t>
                </a:r>
              </a:p>
              <a:p>
                <a:pPr marL="457200" indent="-4572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’,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 =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𝐲𝐞𝐬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457200" indent="-457200" algn="ctr"/>
                <a:r>
                  <a:rPr lang="en-US" sz="2400" dirty="0"/>
                  <a:t>and</a:t>
                </a:r>
              </a:p>
              <a:p>
                <a:pPr marL="457200" indent="-457200" algn="ctr"/>
                <a:r>
                  <a:rPr lang="en-US" sz="24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∉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{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8090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720" y="4500570"/>
                <a:ext cx="8382000" cy="193899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91" name="Text Box 27"/>
          <p:cNvSpPr txBox="1">
            <a:spLocks noChangeArrowheads="1"/>
          </p:cNvSpPr>
          <p:nvPr/>
        </p:nvSpPr>
        <p:spPr bwMode="auto">
          <a:xfrm>
            <a:off x="228600" y="1676400"/>
            <a:ext cx="1190625" cy="3698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800" dirty="0"/>
              <a:t>adversary</a:t>
            </a:r>
          </a:p>
        </p:txBody>
      </p:sp>
    </p:spTree>
    <p:extLst>
      <p:ext uri="{BB962C8B-B14F-4D97-AF65-F5344CB8AC3E}">
        <p14:creationId xmlns:p14="http://schemas.microsoft.com/office/powerpoint/2010/main" val="19591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85" grpId="0" animBg="1"/>
      <p:bldP spid="88084" grpId="0" animBg="1"/>
      <p:bldP spid="88075" grpId="0" animBg="1"/>
      <p:bldP spid="88078" grpId="0" animBg="1"/>
      <p:bldP spid="88079" grpId="0" animBg="1"/>
      <p:bldP spid="88080" grpId="0" animBg="1"/>
      <p:bldP spid="88081" grpId="0"/>
      <p:bldP spid="88082" grpId="0" animBg="1"/>
      <p:bldP spid="88083" grpId="0" animBg="1"/>
      <p:bldP spid="88086" grpId="0" animBg="1"/>
      <p:bldP spid="88086" grpId="1" animBg="1"/>
      <p:bldP spid="88087" grpId="0" animBg="1"/>
      <p:bldP spid="88090" grpId="0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EC42-6DD8-425B-B0C9-C5C833A7EE7A}" type="slidenum">
              <a:rPr lang="it-IT"/>
              <a:pPr/>
              <a:t>14</a:t>
            </a:fld>
            <a:endParaRPr lang="it-IT"/>
          </a:p>
        </p:txBody>
      </p:sp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0" y="2786058"/>
            <a:ext cx="9144000" cy="2786066"/>
          </a:xfrm>
          <a:prstGeom prst="rect">
            <a:avLst/>
          </a:prstGeom>
          <a:solidFill>
            <a:schemeClr val="bg2"/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The security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638906"/>
              </a:xfrm>
            </p:spPr>
            <p:txBody>
              <a:bodyPr/>
              <a:lstStyle/>
              <a:p>
                <a:pPr>
                  <a:buFontTx/>
                  <a:buNone/>
                </a:pPr>
                <a:r>
                  <a:rPr lang="en-US" dirty="0"/>
                  <a:t>We say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𝐓𝐚𝐠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𝐕𝐫𝐟𝐲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b="1" dirty="0"/>
                  <a:t>secure</a:t>
                </a:r>
                <a:r>
                  <a:rPr lang="en-US" dirty="0"/>
                  <a:t> if</a:t>
                </a:r>
              </a:p>
            </p:txBody>
          </p:sp>
        </mc:Choice>
        <mc:Fallback xmlns="">
          <p:sp>
            <p:nvSpPr>
              <p:cNvPr id="921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638906"/>
              </a:xfrm>
              <a:blipFill rotWithShape="0">
                <a:blip r:embed="rId3"/>
                <a:stretch>
                  <a:fillRect l="-1546" t="-16190" b="-9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164" name="Text Box 4"/>
              <p:cNvSpPr txBox="1">
                <a:spLocks noChangeArrowheads="1"/>
              </p:cNvSpPr>
              <p:nvPr/>
            </p:nvSpPr>
            <p:spPr bwMode="auto">
              <a:xfrm>
                <a:off x="1098624" y="2704349"/>
                <a:ext cx="1436612" cy="18620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10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216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8624" y="2704349"/>
                <a:ext cx="1436612" cy="18620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590750" y="4419600"/>
            <a:ext cx="236180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polynomial-time</a:t>
            </a:r>
            <a:br>
              <a:rPr lang="en-US" sz="2400" dirty="0"/>
            </a:br>
            <a:r>
              <a:rPr lang="en-US" sz="2400" dirty="0"/>
              <a:t>adversary </a:t>
            </a:r>
            <a:r>
              <a:rPr lang="en-US" sz="2400" b="1" i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2167" name="Text Box 7"/>
          <p:cNvSpPr txBox="1">
            <a:spLocks noChangeArrowheads="1"/>
          </p:cNvSpPr>
          <p:nvPr/>
        </p:nvSpPr>
        <p:spPr bwMode="auto">
          <a:xfrm>
            <a:off x="2895600" y="3530600"/>
            <a:ext cx="5362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P(</a:t>
            </a:r>
            <a:r>
              <a:rPr lang="en-US" sz="2800" b="1" i="1" dirty="0">
                <a:solidFill>
                  <a:srgbClr val="FF0000"/>
                </a:solidFill>
              </a:rPr>
              <a:t>A</a:t>
            </a:r>
            <a:r>
              <a:rPr lang="en-US" sz="2800" b="1" dirty="0">
                <a:solidFill>
                  <a:srgbClr val="FF0000"/>
                </a:solidFill>
              </a:rPr>
              <a:t> breaks it)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is negligible (in</a:t>
            </a:r>
            <a:r>
              <a:rPr lang="en-US" sz="2800" b="1" dirty="0"/>
              <a:t> </a:t>
            </a:r>
            <a:r>
              <a:rPr lang="en-US" sz="2800" b="1" i="1" dirty="0">
                <a:solidFill>
                  <a:srgbClr val="FF0000"/>
                </a:solidFill>
              </a:rPr>
              <a:t>n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151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8" grpId="0" animBg="1"/>
      <p:bldP spid="92164" grpId="0"/>
      <p:bldP spid="92165" grpId="0"/>
      <p:bldP spid="9216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21" name="Rectangle 9"/>
          <p:cNvSpPr>
            <a:spLocks noChangeArrowheads="1"/>
          </p:cNvSpPr>
          <p:nvPr/>
        </p:nvSpPr>
        <p:spPr bwMode="auto">
          <a:xfrm>
            <a:off x="0" y="2314127"/>
            <a:ext cx="9144000" cy="9366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63071" y="168145"/>
            <a:ext cx="7772400" cy="1143000"/>
          </a:xfrm>
        </p:spPr>
        <p:txBody>
          <a:bodyPr/>
          <a:lstStyle/>
          <a:p>
            <a:r>
              <a:rPr lang="en-US" dirty="0"/>
              <a:t>Aren’t we too paranoid?</a:t>
            </a:r>
            <a:r>
              <a:rPr lang="pl-PL" dirty="0"/>
              <a:t> </a:t>
            </a:r>
            <a:endParaRPr lang="en-US" dirty="0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3071" y="1737865"/>
            <a:ext cx="8641080" cy="4395787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pl-PL" sz="2400" dirty="0"/>
              <a:t>Maybe </a:t>
            </a:r>
            <a:r>
              <a:rPr lang="en-US" sz="2400" dirty="0"/>
              <a:t>it would be enough to require that: </a:t>
            </a:r>
            <a:endParaRPr lang="pl-PL" sz="2400" dirty="0"/>
          </a:p>
          <a:p>
            <a:pPr>
              <a:lnSpc>
                <a:spcPct val="80000"/>
              </a:lnSpc>
              <a:buFontTx/>
              <a:buNone/>
            </a:pPr>
            <a:endParaRPr lang="pl-PL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/>
              <a:t>the</a:t>
            </a:r>
            <a:r>
              <a:rPr lang="pl-PL" sz="2400" b="1" dirty="0"/>
              <a:t> adversary succeds</a:t>
            </a:r>
            <a:r>
              <a:rPr lang="en-US" sz="2400" b="1" dirty="0"/>
              <a:t> only if he forges a message that “</a:t>
            </a:r>
            <a:r>
              <a:rPr lang="en-US" sz="2400" b="1" i="1" dirty="0"/>
              <a:t>makes sense</a:t>
            </a:r>
            <a:r>
              <a:rPr lang="en-US" sz="2400" b="1" dirty="0"/>
              <a:t>”.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b="1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(e.g.: forging a message that consists of </a:t>
            </a:r>
            <a:r>
              <a:rPr lang="en-US" sz="2400" b="1" dirty="0"/>
              <a:t>random noise</a:t>
            </a:r>
            <a:r>
              <a:rPr lang="en-US" sz="2400" dirty="0"/>
              <a:t> should not count)</a:t>
            </a:r>
            <a:endParaRPr lang="pl-PL" sz="2400" dirty="0"/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0070C0"/>
                </a:solidFill>
              </a:rPr>
              <a:t>Bad idea</a:t>
            </a:r>
            <a:r>
              <a:rPr lang="en-US" sz="2400" dirty="0"/>
              <a:t>:</a:t>
            </a:r>
          </a:p>
          <a:p>
            <a:pPr>
              <a:lnSpc>
                <a:spcPct val="80000"/>
              </a:lnSpc>
              <a:buFontTx/>
              <a:buNone/>
            </a:pPr>
            <a:endParaRPr lang="pl-PL" sz="2400" dirty="0"/>
          </a:p>
          <a:p>
            <a:pPr>
              <a:lnSpc>
                <a:spcPct val="80000"/>
              </a:lnSpc>
            </a:pPr>
            <a:r>
              <a:rPr lang="pl-PL" sz="2400" dirty="0"/>
              <a:t>hard to define,</a:t>
            </a:r>
          </a:p>
          <a:p>
            <a:pPr>
              <a:lnSpc>
                <a:spcPct val="80000"/>
              </a:lnSpc>
            </a:pPr>
            <a:r>
              <a:rPr lang="pl-PL" sz="2400" dirty="0"/>
              <a:t>is application-dependent</a:t>
            </a:r>
            <a:r>
              <a:rPr lang="en-US" sz="2400" dirty="0"/>
              <a:t>.</a:t>
            </a:r>
            <a:endParaRPr lang="pl-PL" sz="2400" dirty="0"/>
          </a:p>
          <a:p>
            <a:pPr>
              <a:lnSpc>
                <a:spcPct val="80000"/>
              </a:lnSpc>
              <a:buFontTx/>
              <a:buNone/>
            </a:pPr>
            <a:endParaRPr lang="pl-PL" sz="2400" dirty="0"/>
          </a:p>
          <a:p>
            <a:pPr>
              <a:lnSpc>
                <a:spcPct val="80000"/>
              </a:lnSpc>
            </a:pPr>
            <a:endParaRPr lang="en-US" sz="2400" dirty="0"/>
          </a:p>
        </p:txBody>
      </p:sp>
      <p:pic>
        <p:nvPicPr>
          <p:cNvPr id="90117" name="Picture 5" descr="MCj0433819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16071" y="4609652"/>
            <a:ext cx="1524000" cy="152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484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2D51-66E0-480B-848E-1BAF1A01E0F3}" type="slidenum">
              <a:rPr lang="it-IT"/>
              <a:pPr/>
              <a:t>16</a:t>
            </a:fld>
            <a:endParaRPr lang="it-IT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Warning</a:t>
            </a:r>
            <a:r>
              <a:rPr lang="en-US" sz="3200" dirty="0"/>
              <a:t>: MACs do not offer protection against the “replay attacks”.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6419" y="1068593"/>
            <a:ext cx="7772400" cy="533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</p:txBody>
      </p:sp>
      <p:pic>
        <p:nvPicPr>
          <p:cNvPr id="89092" name="Picture 4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26019" y="1449593"/>
            <a:ext cx="1401763" cy="1457325"/>
          </a:xfrm>
          <a:prstGeom prst="rect">
            <a:avLst/>
          </a:prstGeom>
          <a:noFill/>
        </p:spPr>
      </p:pic>
      <p:pic>
        <p:nvPicPr>
          <p:cNvPr id="89093" name="Picture 5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1619" y="1449593"/>
            <a:ext cx="1368425" cy="1438275"/>
          </a:xfrm>
          <a:prstGeom prst="rect">
            <a:avLst/>
          </a:prstGeom>
          <a:noFill/>
        </p:spPr>
      </p:pic>
      <p:sp>
        <p:nvSpPr>
          <p:cNvPr id="89094" name="Line 6"/>
          <p:cNvSpPr>
            <a:spLocks noChangeShapeType="1"/>
          </p:cNvSpPr>
          <p:nvPr/>
        </p:nvSpPr>
        <p:spPr bwMode="auto">
          <a:xfrm>
            <a:off x="1849419" y="1906793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095" name="Text Box 7"/>
              <p:cNvSpPr txBox="1">
                <a:spLocks noChangeArrowheads="1"/>
              </p:cNvSpPr>
              <p:nvPr/>
            </p:nvSpPr>
            <p:spPr bwMode="auto">
              <a:xfrm>
                <a:off x="553275" y="2440193"/>
                <a:ext cx="80182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𝐀𝐥𝐢𝐜𝐞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909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275" y="2440193"/>
                <a:ext cx="801823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096" name="Text Box 8"/>
              <p:cNvSpPr txBox="1">
                <a:spLocks noChangeArrowheads="1"/>
              </p:cNvSpPr>
              <p:nvPr/>
            </p:nvSpPr>
            <p:spPr bwMode="auto">
              <a:xfrm>
                <a:off x="5583219" y="2440193"/>
                <a:ext cx="631825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𝐁𝐨𝐛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909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3219" y="2440193"/>
                <a:ext cx="631825" cy="369888"/>
              </a:xfrm>
              <a:prstGeom prst="rect">
                <a:avLst/>
              </a:prstGeom>
              <a:blipFill rotWithShape="0">
                <a:blip r:embed="rId6"/>
                <a:stretch>
                  <a:fillRect l="-190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097" name="Text Box 9"/>
              <p:cNvSpPr txBox="1">
                <a:spLocks noChangeArrowheads="1"/>
              </p:cNvSpPr>
              <p:nvPr/>
            </p:nvSpPr>
            <p:spPr bwMode="auto">
              <a:xfrm>
                <a:off x="3068619" y="1678194"/>
                <a:ext cx="938213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909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8619" y="1678194"/>
                <a:ext cx="938213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098" name="Picture 10" descr="MCj0435941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11219" y="3811793"/>
            <a:ext cx="1841500" cy="1273175"/>
          </a:xfrm>
          <a:prstGeom prst="rect">
            <a:avLst/>
          </a:prstGeom>
          <a:noFill/>
        </p:spPr>
      </p:pic>
      <p:cxnSp>
        <p:nvCxnSpPr>
          <p:cNvPr id="89104" name="AutoShape 16"/>
          <p:cNvCxnSpPr>
            <a:cxnSpLocks noChangeShapeType="1"/>
            <a:stCxn id="89097" idx="2"/>
          </p:cNvCxnSpPr>
          <p:nvPr/>
        </p:nvCxnSpPr>
        <p:spPr bwMode="auto">
          <a:xfrm rot="5400000">
            <a:off x="1852717" y="2126783"/>
            <a:ext cx="1764267" cy="1605753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grpSp>
        <p:nvGrpSpPr>
          <p:cNvPr id="2" name="Group 20"/>
          <p:cNvGrpSpPr>
            <a:grpSpLocks/>
          </p:cNvGrpSpPr>
          <p:nvPr/>
        </p:nvGrpSpPr>
        <p:grpSpPr bwMode="auto">
          <a:xfrm rot="-2330412">
            <a:off x="2154722" y="3022636"/>
            <a:ext cx="3200400" cy="369888"/>
            <a:chOff x="2496" y="3535"/>
            <a:chExt cx="2016" cy="233"/>
          </a:xfrm>
        </p:grpSpPr>
        <p:sp>
          <p:nvSpPr>
            <p:cNvPr id="89105" name="Line 17"/>
            <p:cNvSpPr>
              <a:spLocks noChangeShapeType="1"/>
            </p:cNvSpPr>
            <p:nvPr/>
          </p:nvSpPr>
          <p:spPr bwMode="auto">
            <a:xfrm>
              <a:off x="2496" y="3648"/>
              <a:ext cx="2016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106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3264" y="3535"/>
                  <a:ext cx="591" cy="23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9106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4" y="3535"/>
                  <a:ext cx="591" cy="233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685"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1"/>
          <p:cNvGrpSpPr>
            <a:grpSpLocks/>
          </p:cNvGrpSpPr>
          <p:nvPr/>
        </p:nvGrpSpPr>
        <p:grpSpPr bwMode="auto">
          <a:xfrm rot="-2330412">
            <a:off x="2459522" y="3403636"/>
            <a:ext cx="3200400" cy="369888"/>
            <a:chOff x="2496" y="3535"/>
            <a:chExt cx="2016" cy="233"/>
          </a:xfrm>
        </p:grpSpPr>
        <p:sp>
          <p:nvSpPr>
            <p:cNvPr id="89110" name="Line 22"/>
            <p:cNvSpPr>
              <a:spLocks noChangeShapeType="1"/>
            </p:cNvSpPr>
            <p:nvPr/>
          </p:nvSpPr>
          <p:spPr bwMode="auto">
            <a:xfrm>
              <a:off x="2496" y="3648"/>
              <a:ext cx="2016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111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264" y="3535"/>
                  <a:ext cx="591" cy="23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9111" name="Text 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4" y="3535"/>
                  <a:ext cx="591" cy="233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680"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24"/>
          <p:cNvGrpSpPr>
            <a:grpSpLocks/>
          </p:cNvGrpSpPr>
          <p:nvPr/>
        </p:nvGrpSpPr>
        <p:grpSpPr bwMode="auto">
          <a:xfrm rot="-2330412">
            <a:off x="2764322" y="3784636"/>
            <a:ext cx="3200400" cy="369888"/>
            <a:chOff x="2496" y="3535"/>
            <a:chExt cx="2016" cy="233"/>
          </a:xfrm>
        </p:grpSpPr>
        <p:sp>
          <p:nvSpPr>
            <p:cNvPr id="89113" name="Line 25"/>
            <p:cNvSpPr>
              <a:spLocks noChangeShapeType="1"/>
            </p:cNvSpPr>
            <p:nvPr/>
          </p:nvSpPr>
          <p:spPr bwMode="auto">
            <a:xfrm>
              <a:off x="2496" y="3648"/>
              <a:ext cx="2016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11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264" y="3535"/>
                  <a:ext cx="591" cy="233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9114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4" y="3535"/>
                  <a:ext cx="591" cy="233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685"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9115" name="Text Box 27"/>
          <p:cNvSpPr txBox="1">
            <a:spLocks noChangeArrowheads="1"/>
          </p:cNvSpPr>
          <p:nvPr/>
        </p:nvSpPr>
        <p:spPr bwMode="auto">
          <a:xfrm rot="2876186">
            <a:off x="4558371" y="4124244"/>
            <a:ext cx="647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116" name="AutoShape 28"/>
              <p:cNvSpPr>
                <a:spLocks noChangeArrowheads="1"/>
              </p:cNvSpPr>
              <p:nvPr/>
            </p:nvSpPr>
            <p:spPr bwMode="auto">
              <a:xfrm>
                <a:off x="5278419" y="3430793"/>
                <a:ext cx="3733800" cy="1676400"/>
              </a:xfrm>
              <a:prstGeom prst="wedgeRoundRectCallout">
                <a:avLst>
                  <a:gd name="adj1" fmla="val -21597"/>
                  <a:gd name="adj2" fmla="val -98958"/>
                  <a:gd name="adj3" fmla="val 16667"/>
                </a:avLst>
              </a:prstGeom>
              <a:solidFill>
                <a:schemeClr val="bg2"/>
              </a:solidFill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:r>
                  <a:rPr lang="en-US" sz="2000" dirty="0"/>
                  <a:t>Since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Vrfy</a:t>
                </a:r>
                <a:r>
                  <a:rPr lang="en-US" sz="2000" b="1" dirty="0"/>
                  <a:t> </a:t>
                </a:r>
                <a:r>
                  <a:rPr lang="en-US" sz="2000" dirty="0"/>
                  <a:t>is stateless there is no way to detect that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not fresh!</a:t>
                </a:r>
              </a:p>
            </p:txBody>
          </p:sp>
        </mc:Choice>
        <mc:Fallback xmlns="">
          <p:sp>
            <p:nvSpPr>
              <p:cNvPr id="89116" name="AutoShap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8419" y="3430793"/>
                <a:ext cx="3733800" cy="1676400"/>
              </a:xfrm>
              <a:prstGeom prst="wedgeRoundRectCallout">
                <a:avLst>
                  <a:gd name="adj1" fmla="val -21597"/>
                  <a:gd name="adj2" fmla="val -98958"/>
                  <a:gd name="adj3" fmla="val 16667"/>
                </a:avLst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118" name="Rectangle 30"/>
          <p:cNvSpPr>
            <a:spLocks noChangeArrowheads="1"/>
          </p:cNvSpPr>
          <p:nvPr/>
        </p:nvSpPr>
        <p:spPr bwMode="auto">
          <a:xfrm>
            <a:off x="0" y="5486400"/>
            <a:ext cx="9144000" cy="1371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252000" anchor="ctr"/>
          <a:lstStyle/>
          <a:p>
            <a:r>
              <a:rPr lang="en-US" sz="2600" dirty="0"/>
              <a:t>This problem has to be solved by the higher-level application</a:t>
            </a:r>
          </a:p>
          <a:p>
            <a:r>
              <a:rPr lang="en-US" sz="2600" dirty="0"/>
              <a:t>(methods: </a:t>
            </a:r>
            <a:r>
              <a:rPr lang="en-US" sz="2600" b="1" dirty="0">
                <a:solidFill>
                  <a:srgbClr val="0070C0"/>
                </a:solidFill>
              </a:rPr>
              <a:t>time-stamping</a:t>
            </a:r>
            <a:r>
              <a:rPr lang="en-US" sz="2600" dirty="0"/>
              <a:t>, </a:t>
            </a:r>
            <a:r>
              <a:rPr lang="en-US" sz="2600" b="1" dirty="0" err="1">
                <a:solidFill>
                  <a:srgbClr val="0070C0"/>
                </a:solidFill>
              </a:rPr>
              <a:t>nonces</a:t>
            </a:r>
            <a:r>
              <a:rPr lang="en-US" sz="2600" dirty="0"/>
              <a:t>...).</a:t>
            </a:r>
          </a:p>
        </p:txBody>
      </p:sp>
    </p:spTree>
    <p:extLst>
      <p:ext uri="{BB962C8B-B14F-4D97-AF65-F5344CB8AC3E}">
        <p14:creationId xmlns:p14="http://schemas.microsoft.com/office/powerpoint/2010/main" val="177017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4" grpId="0" animBg="1"/>
      <p:bldP spid="89097" grpId="0" animBg="1"/>
      <p:bldP spid="89116" grpId="0" animBg="1"/>
      <p:bldP spid="891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19A5-CEF1-400D-B1FB-90847888D923}" type="slidenum">
              <a:rPr lang="it-IT"/>
              <a:pPr/>
              <a:t>17</a:t>
            </a:fld>
            <a:endParaRPr lang="it-IT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363070" y="0"/>
            <a:ext cx="7772400" cy="1143000"/>
          </a:xfrm>
        </p:spPr>
        <p:txBody>
          <a:bodyPr/>
          <a:lstStyle/>
          <a:p>
            <a:r>
              <a:rPr lang="en-US" dirty="0"/>
              <a:t>Constructing a MAC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382000" cy="4876800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There exist </a:t>
            </a:r>
            <a:r>
              <a:rPr lang="en-US" sz="2400" b="1" dirty="0">
                <a:solidFill>
                  <a:srgbClr val="0070C0"/>
                </a:solidFill>
              </a:rPr>
              <a:t>MACs</a:t>
            </a:r>
            <a:r>
              <a:rPr lang="en-US" sz="2400" dirty="0"/>
              <a:t> that are secure even if the adversary is </a:t>
            </a:r>
            <a:r>
              <a:rPr lang="en-US" sz="2400" b="1" dirty="0">
                <a:solidFill>
                  <a:srgbClr val="FF0000"/>
                </a:solidFill>
              </a:rPr>
              <a:t>infinitely-powerful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These constructions are </a:t>
            </a:r>
            <a:r>
              <a:rPr lang="en-US" sz="2400" b="1" dirty="0">
                <a:solidFill>
                  <a:srgbClr val="7030A0"/>
                </a:solidFill>
              </a:rPr>
              <a:t>not practical</a:t>
            </a:r>
            <a:r>
              <a:rPr lang="en-US" sz="2400" dirty="0"/>
              <a:t>.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en-US" sz="2400" dirty="0"/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MACs</a:t>
            </a:r>
            <a:r>
              <a:rPr lang="en-US" sz="2400" dirty="0"/>
              <a:t> can be constructed from the block-ciphers.  </a:t>
            </a:r>
            <a:br>
              <a:rPr lang="en-US" sz="2400" dirty="0"/>
            </a:br>
            <a:r>
              <a:rPr lang="en-US" sz="2400" dirty="0"/>
              <a:t> We will now discuss to constructions:</a:t>
            </a:r>
          </a:p>
          <a:p>
            <a:pPr marL="838200" lvl="1" indent="-381000">
              <a:lnSpc>
                <a:spcPct val="90000"/>
              </a:lnSpc>
            </a:pPr>
            <a:r>
              <a:rPr lang="en-US" sz="2000" b="1" dirty="0">
                <a:solidFill>
                  <a:srgbClr val="00B050"/>
                </a:solidFill>
              </a:rPr>
              <a:t>simple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(and </a:t>
            </a:r>
            <a:r>
              <a:rPr lang="en-US" sz="2000" b="1" dirty="0">
                <a:solidFill>
                  <a:srgbClr val="00B050"/>
                </a:solidFill>
              </a:rPr>
              <a:t>not practical</a:t>
            </a:r>
            <a:r>
              <a:rPr lang="en-US" sz="2000" dirty="0"/>
              <a:t>),</a:t>
            </a:r>
          </a:p>
          <a:p>
            <a:pPr marL="838200" lvl="1" indent="-381000">
              <a:lnSpc>
                <a:spcPct val="90000"/>
              </a:lnSpc>
            </a:pPr>
            <a:r>
              <a:rPr lang="en-US" sz="2000" dirty="0"/>
              <a:t>a little bit </a:t>
            </a:r>
            <a:r>
              <a:rPr lang="en-US" sz="2000" b="1" dirty="0">
                <a:solidFill>
                  <a:srgbClr val="00B050"/>
                </a:solidFill>
              </a:rPr>
              <a:t>more complicated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(and </a:t>
            </a:r>
            <a:r>
              <a:rPr lang="en-US" sz="2000" b="1" dirty="0">
                <a:solidFill>
                  <a:srgbClr val="00B050"/>
                </a:solidFill>
              </a:rPr>
              <a:t>practical</a:t>
            </a:r>
            <a:r>
              <a:rPr lang="en-US" sz="2000" dirty="0"/>
              <a:t>) </a:t>
            </a:r>
            <a:r>
              <a:rPr lang="pl-PL" sz="2000" dirty="0"/>
              <a:t>–</a:t>
            </a:r>
            <a:r>
              <a:rPr lang="en-US" sz="2000" dirty="0"/>
              <a:t> a </a:t>
            </a:r>
            <a:r>
              <a:rPr lang="en-US" sz="2000" b="1" dirty="0">
                <a:solidFill>
                  <a:srgbClr val="0070C0"/>
                </a:solidFill>
              </a:rPr>
              <a:t>CBC-MAC</a:t>
            </a:r>
            <a:r>
              <a:rPr lang="pl-PL" sz="2000" b="1" dirty="0">
                <a:solidFill>
                  <a:srgbClr val="0070C0"/>
                </a:solidFill>
              </a:rPr>
              <a:t> </a:t>
            </a:r>
            <a:endParaRPr lang="en-US" sz="2000" b="1" dirty="0">
              <a:solidFill>
                <a:srgbClr val="0070C0"/>
              </a:solidFill>
            </a:endParaRPr>
          </a:p>
          <a:p>
            <a:pPr marL="457200" indent="-457200">
              <a:lnSpc>
                <a:spcPct val="90000"/>
              </a:lnSpc>
            </a:pPr>
            <a:endParaRPr lang="en-US" sz="2400" dirty="0"/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MACs</a:t>
            </a:r>
            <a:r>
              <a:rPr lang="en-US" sz="2400" dirty="0"/>
              <a:t> can also be constructed from the hash functions  </a:t>
            </a:r>
            <a:br>
              <a:rPr lang="en-US" sz="2400" dirty="0"/>
            </a:br>
            <a:r>
              <a:rPr lang="en-US" sz="2400" dirty="0"/>
              <a:t> (</a:t>
            </a:r>
            <a:r>
              <a:rPr lang="en-US" sz="2400" b="1" dirty="0">
                <a:solidFill>
                  <a:srgbClr val="0070C0"/>
                </a:solidFill>
              </a:rPr>
              <a:t>NMAC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HMAC</a:t>
            </a:r>
            <a:r>
              <a:rPr lang="en-US" sz="2400" dirty="0"/>
              <a:t>).  </a:t>
            </a:r>
          </a:p>
        </p:txBody>
      </p:sp>
    </p:spTree>
    <p:extLst>
      <p:ext uri="{BB962C8B-B14F-4D97-AF65-F5344CB8AC3E}">
        <p14:creationId xmlns:p14="http://schemas.microsoft.com/office/powerpoint/2010/main" val="272914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835" y="1619551"/>
            <a:ext cx="6929486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to Message Authentication Codes (MACs).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of MACs </a:t>
            </a:r>
            <a:endParaRPr lang="pl-PL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Constructions from 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Constructions from hash functions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Authenticated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Outlook</a:t>
            </a:r>
          </a:p>
        </p:txBody>
      </p:sp>
      <p:sp>
        <p:nvSpPr>
          <p:cNvPr id="4" name="Left Arrow 3"/>
          <p:cNvSpPr/>
          <p:nvPr/>
        </p:nvSpPr>
        <p:spPr>
          <a:xfrm flipH="1">
            <a:off x="500034" y="2782643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16" y="6215082"/>
            <a:ext cx="2133600" cy="365125"/>
          </a:xfrm>
        </p:spPr>
        <p:txBody>
          <a:bodyPr/>
          <a:lstStyle/>
          <a:p>
            <a:fld id="{A1B7BF16-3170-49F9-B96E-D204EEC0EB51}" type="slidenum">
              <a:rPr lang="it-IT"/>
              <a:pPr/>
              <a:t>19</a:t>
            </a:fld>
            <a:endParaRPr lang="it-IT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077" y="-50341"/>
            <a:ext cx="8492661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 simple construction from a block cipher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21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14281" y="1142984"/>
                <a:ext cx="5680909" cy="5357850"/>
              </a:xfrm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Let </a:t>
                </a: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:{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× {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𝒏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→ {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𝒏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endParaRPr lang="en-US" sz="2400" b="1" baseline="30000" dirty="0">
                  <a:solidFill>
                    <a:srgbClr val="A50021"/>
                  </a:solidFill>
                  <a:cs typeface="Arial" pitchFamily="34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>
                    <a:cs typeface="Arial" pitchFamily="34" charset="0"/>
                  </a:rPr>
                  <a:t>be a </a:t>
                </a:r>
                <a:r>
                  <a:rPr lang="en-US" sz="2400" b="1" dirty="0">
                    <a:solidFill>
                      <a:srgbClr val="0070C0"/>
                    </a:solidFill>
                    <a:cs typeface="Arial" pitchFamily="34" charset="0"/>
                  </a:rPr>
                  <a:t>block cipher </a:t>
                </a:r>
                <a:r>
                  <a:rPr lang="en-US" sz="2400" dirty="0"/>
                  <a:t>(a </a:t>
                </a:r>
                <a:r>
                  <a:rPr lang="en-US" sz="2400" b="1" dirty="0">
                    <a:solidFill>
                      <a:srgbClr val="0070C0"/>
                    </a:solidFill>
                    <a:cs typeface="Arial" pitchFamily="34" charset="0"/>
                  </a:rPr>
                  <a:t>PRF</a:t>
                </a:r>
                <a:r>
                  <a:rPr lang="en-US" sz="2400" dirty="0"/>
                  <a:t>)</a:t>
                </a:r>
                <a:r>
                  <a:rPr lang="en-US" sz="2400" dirty="0">
                    <a:cs typeface="Arial" pitchFamily="34" charset="0"/>
                  </a:rPr>
                  <a:t>. 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>
                  <a:cs typeface="Arial" pitchFamily="34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>
                    <a:cs typeface="Arial" pitchFamily="34" charset="0"/>
                  </a:rPr>
                  <a:t>We can now define a </a:t>
                </a:r>
                <a:r>
                  <a:rPr lang="en-US" sz="2400" b="1" dirty="0">
                    <a:solidFill>
                      <a:srgbClr val="0070C0"/>
                    </a:solidFill>
                    <a:cs typeface="Arial" pitchFamily="34" charset="0"/>
                  </a:rPr>
                  <a:t>MAC</a:t>
                </a:r>
                <a:r>
                  <a:rPr lang="en-US" sz="2400" dirty="0">
                    <a:cs typeface="Arial" pitchFamily="34" charset="0"/>
                  </a:rPr>
                  <a:t> scheme that works only for  messages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  <m:r>
                      <a:rPr lang="en-US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∈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{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sz="24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𝒏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as follows:</a:t>
                </a:r>
                <a:br>
                  <a:rPr lang="en-US" sz="2400" dirty="0">
                    <a:cs typeface="Arial" pitchFamily="34" charset="0"/>
                  </a:rPr>
                </a:br>
                <a:endParaRPr lang="en-US" sz="2400" dirty="0">
                  <a:cs typeface="Arial" pitchFamily="34" charset="0"/>
                </a:endParaRP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𝐓𝐚𝐠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𝒌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) = 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𝑭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𝒌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>
                  <a:lnSpc>
                    <a:spcPct val="80000"/>
                  </a:lnSpc>
                </a:pPr>
                <a:endParaRPr lang="en-US" sz="2400" b="1" dirty="0">
                  <a:solidFill>
                    <a:srgbClr val="A50021"/>
                  </a:solidFill>
                  <a:cs typeface="Arial" pitchFamily="34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>
                    <a:cs typeface="Arial" pitchFamily="34" charset="0"/>
                  </a:rPr>
                  <a:t>It can be proven that it is a secure </a:t>
                </a:r>
                <a:r>
                  <a:rPr lang="en-US" sz="2400" b="1" dirty="0">
                    <a:solidFill>
                      <a:srgbClr val="0070C0"/>
                    </a:solidFill>
                    <a:cs typeface="Arial" pitchFamily="34" charset="0"/>
                  </a:rPr>
                  <a:t>MAC</a:t>
                </a:r>
                <a:r>
                  <a:rPr lang="en-US" sz="2400" dirty="0"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>
                  <a:cs typeface="Arial" pitchFamily="34" charset="0"/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US" sz="2400" dirty="0">
                    <a:cs typeface="Arial" pitchFamily="34" charset="0"/>
                  </a:rPr>
                  <a:t>How to generalize it to longer messages?</a:t>
                </a:r>
              </a:p>
            </p:txBody>
          </p:sp>
        </mc:Choice>
        <mc:Fallback xmlns="">
          <p:sp>
            <p:nvSpPr>
              <p:cNvPr id="942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4281" y="1142984"/>
                <a:ext cx="5680909" cy="5357850"/>
              </a:xfrm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212" name="Rectangle 4"/>
              <p:cNvSpPr>
                <a:spLocks noChangeArrowheads="1"/>
              </p:cNvSpPr>
              <p:nvPr/>
            </p:nvSpPr>
            <p:spPr bwMode="auto">
              <a:xfrm>
                <a:off x="7010400" y="2619364"/>
                <a:ext cx="1676400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21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2619364"/>
                <a:ext cx="1676400" cy="14478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214" name="Line 6"/>
          <p:cNvSpPr>
            <a:spLocks noChangeShapeType="1"/>
          </p:cNvSpPr>
          <p:nvPr/>
        </p:nvSpPr>
        <p:spPr bwMode="auto">
          <a:xfrm flipV="1">
            <a:off x="7848600" y="406716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4216" name="Line 8"/>
          <p:cNvSpPr>
            <a:spLocks noChangeShapeType="1"/>
          </p:cNvSpPr>
          <p:nvPr/>
        </p:nvSpPr>
        <p:spPr bwMode="auto">
          <a:xfrm>
            <a:off x="6477000" y="3305164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220" name="Rectangle 12"/>
              <p:cNvSpPr>
                <a:spLocks noChangeArrowheads="1"/>
              </p:cNvSpPr>
              <p:nvPr/>
            </p:nvSpPr>
            <p:spPr bwMode="auto">
              <a:xfrm>
                <a:off x="6172200" y="2619364"/>
                <a:ext cx="304800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220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2200" y="2619364"/>
                <a:ext cx="304800" cy="1447800"/>
              </a:xfrm>
              <a:prstGeom prst="rect">
                <a:avLst/>
              </a:prstGeom>
              <a:blipFill rotWithShape="0">
                <a:blip r:embed="rId5"/>
                <a:stretch>
                  <a:fillRect r="-192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221" name="Rectangle 13"/>
              <p:cNvSpPr>
                <a:spLocks noChangeArrowheads="1"/>
              </p:cNvSpPr>
              <p:nvPr/>
            </p:nvSpPr>
            <p:spPr bwMode="auto">
              <a:xfrm>
                <a:off x="7010400" y="4448164"/>
                <a:ext cx="1676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221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4448164"/>
                <a:ext cx="1676400" cy="304800"/>
              </a:xfrm>
              <a:prstGeom prst="rect">
                <a:avLst/>
              </a:prstGeom>
              <a:blipFill rotWithShape="0">
                <a:blip r:embed="rId6"/>
                <a:stretch>
                  <a:fillRect b="-192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222" name="Rectangle 14"/>
              <p:cNvSpPr>
                <a:spLocks noChangeArrowheads="1"/>
              </p:cNvSpPr>
              <p:nvPr/>
            </p:nvSpPr>
            <p:spPr bwMode="auto">
              <a:xfrm>
                <a:off x="7010400" y="1857364"/>
                <a:ext cx="16764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222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1857364"/>
                <a:ext cx="1676400" cy="381000"/>
              </a:xfrm>
              <a:prstGeom prst="rect">
                <a:avLst/>
              </a:prstGeom>
              <a:blipFill rotWithShape="0">
                <a:blip r:embed="rId7"/>
                <a:stretch>
                  <a:fillRect b="-2031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223" name="Line 15"/>
          <p:cNvSpPr>
            <a:spLocks noChangeShapeType="1"/>
          </p:cNvSpPr>
          <p:nvPr/>
        </p:nvSpPr>
        <p:spPr bwMode="auto">
          <a:xfrm flipV="1">
            <a:off x="7848600" y="223836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5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animBg="1"/>
      <p:bldP spid="94214" grpId="0" animBg="1"/>
      <p:bldP spid="94216" grpId="0" animBg="1"/>
      <p:bldP spid="94220" grpId="0" animBg="1"/>
      <p:bldP spid="94221" grpId="0" animBg="1"/>
      <p:bldP spid="94222" grpId="0" animBg="1"/>
      <p:bldP spid="942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6BC3-1E56-420B-9A03-4536DFE97C6C}" type="slidenum">
              <a:rPr lang="it-IT"/>
              <a:pPr/>
              <a:t>20</a:t>
            </a:fld>
            <a:endParaRPr lang="it-IT"/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6743" y="176339"/>
            <a:ext cx="8232981" cy="898264"/>
          </a:xfrm>
        </p:spPr>
        <p:txBody>
          <a:bodyPr/>
          <a:lstStyle/>
          <a:p>
            <a:r>
              <a:rPr lang="it-IT" dirty="0"/>
              <a:t>Idea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07" name="Rectangle 3"/>
              <p:cNvSpPr>
                <a:spLocks noChangeArrowheads="1"/>
              </p:cNvSpPr>
              <p:nvPr/>
            </p:nvSpPr>
            <p:spPr bwMode="auto">
              <a:xfrm>
                <a:off x="971550" y="3095625"/>
                <a:ext cx="2376488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907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3095625"/>
                <a:ext cx="2376488" cy="1447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908" name="Line 4"/>
          <p:cNvSpPr>
            <a:spLocks noChangeShapeType="1"/>
          </p:cNvSpPr>
          <p:nvPr/>
        </p:nvSpPr>
        <p:spPr bwMode="auto">
          <a:xfrm flipV="1">
            <a:off x="2122488" y="45656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09" name="Rectangle 5"/>
              <p:cNvSpPr>
                <a:spLocks noChangeArrowheads="1"/>
              </p:cNvSpPr>
              <p:nvPr/>
            </p:nvSpPr>
            <p:spPr bwMode="auto">
              <a:xfrm>
                <a:off x="971550" y="4924424"/>
                <a:ext cx="2376488" cy="3619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90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4924424"/>
                <a:ext cx="2376488" cy="361963"/>
              </a:xfrm>
              <a:prstGeom prst="rect">
                <a:avLst/>
              </a:prstGeom>
              <a:blipFill rotWithShape="0">
                <a:blip r:embed="rId4"/>
                <a:stretch>
                  <a:fillRect b="-1967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10" name="Rectangle 6"/>
              <p:cNvSpPr>
                <a:spLocks noChangeArrowheads="1"/>
              </p:cNvSpPr>
              <p:nvPr/>
            </p:nvSpPr>
            <p:spPr bwMode="auto">
              <a:xfrm>
                <a:off x="971550" y="2333625"/>
                <a:ext cx="2376488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91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2333625"/>
                <a:ext cx="2376488" cy="381000"/>
              </a:xfrm>
              <a:prstGeom prst="rect">
                <a:avLst/>
              </a:prstGeom>
              <a:blipFill rotWithShape="0">
                <a:blip r:embed="rId5"/>
                <a:stretch>
                  <a:fillRect b="-2031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911" name="Line 7"/>
          <p:cNvSpPr>
            <a:spLocks noChangeShapeType="1"/>
          </p:cNvSpPr>
          <p:nvPr/>
        </p:nvSpPr>
        <p:spPr bwMode="auto">
          <a:xfrm flipV="1">
            <a:off x="2122488" y="269398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12" name="Rectangle 8"/>
              <p:cNvSpPr>
                <a:spLocks noChangeArrowheads="1"/>
              </p:cNvSpPr>
              <p:nvPr/>
            </p:nvSpPr>
            <p:spPr bwMode="auto">
              <a:xfrm>
                <a:off x="5580063" y="3095625"/>
                <a:ext cx="2376487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912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3095625"/>
                <a:ext cx="2376487" cy="14478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913" name="Line 9"/>
          <p:cNvSpPr>
            <a:spLocks noChangeShapeType="1"/>
          </p:cNvSpPr>
          <p:nvPr/>
        </p:nvSpPr>
        <p:spPr bwMode="auto">
          <a:xfrm flipV="1">
            <a:off x="6731000" y="45656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14" name="Rectangle 10"/>
              <p:cNvSpPr>
                <a:spLocks noChangeArrowheads="1"/>
              </p:cNvSpPr>
              <p:nvPr/>
            </p:nvSpPr>
            <p:spPr bwMode="auto">
              <a:xfrm>
                <a:off x="5580063" y="4924424"/>
                <a:ext cx="2376487" cy="3619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914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4924424"/>
                <a:ext cx="2376487" cy="361963"/>
              </a:xfrm>
              <a:prstGeom prst="rect">
                <a:avLst/>
              </a:prstGeom>
              <a:blipFill rotWithShape="0">
                <a:blip r:embed="rId7"/>
                <a:stretch>
                  <a:fillRect b="-2131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915" name="Rectangle 11"/>
              <p:cNvSpPr>
                <a:spLocks noChangeArrowheads="1"/>
              </p:cNvSpPr>
              <p:nvPr/>
            </p:nvSpPr>
            <p:spPr bwMode="auto">
              <a:xfrm>
                <a:off x="5580063" y="2333625"/>
                <a:ext cx="2376487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l-PL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915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2333625"/>
                <a:ext cx="2376487" cy="381000"/>
              </a:xfrm>
              <a:prstGeom prst="rect">
                <a:avLst/>
              </a:prstGeom>
              <a:blipFill>
                <a:blip r:embed="rId8"/>
                <a:stretch>
                  <a:fillRect b="-2031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916" name="Line 12"/>
          <p:cNvSpPr>
            <a:spLocks noChangeShapeType="1"/>
          </p:cNvSpPr>
          <p:nvPr/>
        </p:nvSpPr>
        <p:spPr bwMode="auto">
          <a:xfrm flipV="1">
            <a:off x="6731000" y="269398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917" name="Text Box 13"/>
          <p:cNvSpPr txBox="1">
            <a:spLocks noChangeArrowheads="1"/>
          </p:cNvSpPr>
          <p:nvPr/>
        </p:nvSpPr>
        <p:spPr bwMode="auto">
          <a:xfrm>
            <a:off x="4161631" y="3486877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/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18" name="Text Box 14"/>
              <p:cNvSpPr txBox="1">
                <a:spLocks noChangeArrowheads="1"/>
              </p:cNvSpPr>
              <p:nvPr/>
            </p:nvSpPr>
            <p:spPr bwMode="auto">
              <a:xfrm>
                <a:off x="401414" y="1121628"/>
                <a:ext cx="5480218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buFontTx/>
                  <a:buChar char="•"/>
                </a:pPr>
                <a:r>
                  <a:rPr lang="it-IT" sz="2400" dirty="0"/>
                  <a:t> divide the </a:t>
                </a:r>
                <a:r>
                  <a:rPr lang="en-US" sz="2400" dirty="0"/>
                  <a:t>message</a:t>
                </a:r>
                <a:r>
                  <a:rPr lang="it-IT" sz="2400" dirty="0"/>
                  <a:t> in blocks</a:t>
                </a:r>
                <a:r>
                  <a:rPr lang="pl-PL" sz="2400" dirty="0"/>
                  <a:t>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pl-PL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𝒎𝒅</m:t>
                    </m:r>
                  </m:oMath>
                </a14:m>
                <a:endParaRPr lang="it-IT" sz="2400" b="1" dirty="0">
                  <a:solidFill>
                    <a:srgbClr val="FF0000"/>
                  </a:solidFill>
                </a:endParaRPr>
              </a:p>
              <a:p>
                <a:pPr>
                  <a:buFontTx/>
                  <a:buChar char="•"/>
                </a:pPr>
                <a:r>
                  <a:rPr lang="it-IT" sz="2400" dirty="0"/>
                  <a:t> and </a:t>
                </a:r>
                <a:r>
                  <a:rPr lang="en-US" sz="2400" dirty="0"/>
                  <a:t>authenticate each </a:t>
                </a:r>
                <a:r>
                  <a:rPr lang="it-IT" sz="2400" dirty="0"/>
                  <a:t>block separately</a:t>
                </a:r>
              </a:p>
            </p:txBody>
          </p:sp>
        </mc:Choice>
        <mc:Fallback xmlns="">
          <p:sp>
            <p:nvSpPr>
              <p:cNvPr id="123918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414" y="1121628"/>
                <a:ext cx="5480218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669" t="-5882" r="-556" b="-1617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919" name="Text Box 15"/>
          <p:cNvSpPr txBox="1">
            <a:spLocks noChangeArrowheads="1"/>
          </p:cNvSpPr>
          <p:nvPr/>
        </p:nvSpPr>
        <p:spPr bwMode="auto">
          <a:xfrm>
            <a:off x="5500694" y="5786454"/>
            <a:ext cx="26164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This doesn’t work</a:t>
            </a:r>
            <a:r>
              <a:rPr lang="it-IT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4210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animBg="1"/>
      <p:bldP spid="123908" grpId="0" animBg="1"/>
      <p:bldP spid="123909" grpId="0" animBg="1"/>
      <p:bldP spid="123910" grpId="0" animBg="1"/>
      <p:bldP spid="123911" grpId="0" animBg="1"/>
      <p:bldP spid="123912" grpId="0" animBg="1"/>
      <p:bldP spid="123913" grpId="0" animBg="1"/>
      <p:bldP spid="123914" grpId="0" animBg="1"/>
      <p:bldP spid="123915" grpId="0" animBg="1"/>
      <p:bldP spid="123916" grpId="0" animBg="1"/>
      <p:bldP spid="123917" grpId="0"/>
      <p:bldP spid="1239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B9C32-290B-42FD-BA01-F17F31DCF164}" type="slidenum">
              <a:rPr lang="it-IT"/>
              <a:pPr/>
              <a:t>21</a:t>
            </a:fld>
            <a:endParaRPr lang="it-IT"/>
          </a:p>
        </p:txBody>
      </p:sp>
      <p:sp>
        <p:nvSpPr>
          <p:cNvPr id="99338" name="Rectangle 10"/>
          <p:cNvSpPr>
            <a:spLocks noChangeArrowheads="1"/>
          </p:cNvSpPr>
          <p:nvPr/>
        </p:nvSpPr>
        <p:spPr bwMode="auto">
          <a:xfrm>
            <a:off x="2590800" y="2057400"/>
            <a:ext cx="9144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39" name="Rectangle 11" descr="Wide downward diagonal"/>
          <p:cNvSpPr>
            <a:spLocks noChangeArrowheads="1"/>
          </p:cNvSpPr>
          <p:nvPr/>
        </p:nvSpPr>
        <p:spPr bwMode="auto">
          <a:xfrm>
            <a:off x="2590800" y="2743200"/>
            <a:ext cx="914400" cy="304800"/>
          </a:xfrm>
          <a:prstGeom prst="rect">
            <a:avLst/>
          </a:prstGeom>
          <a:pattFill prst="wdDnDiag">
            <a:fgClr>
              <a:srgbClr val="FF00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340" name="Text Box 12"/>
              <p:cNvSpPr txBox="1">
                <a:spLocks noChangeArrowheads="1"/>
              </p:cNvSpPr>
              <p:nvPr/>
            </p:nvSpPr>
            <p:spPr bwMode="auto">
              <a:xfrm>
                <a:off x="405214" y="2636838"/>
                <a:ext cx="209033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934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214" y="2636838"/>
                <a:ext cx="2090336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846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341" name="Text Box 13"/>
              <p:cNvSpPr txBox="1">
                <a:spLocks noChangeArrowheads="1"/>
              </p:cNvSpPr>
              <p:nvPr/>
            </p:nvSpPr>
            <p:spPr bwMode="auto">
              <a:xfrm>
                <a:off x="1039682" y="1992312"/>
                <a:ext cx="1455868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934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682" y="1992312"/>
                <a:ext cx="1455868" cy="3968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342" name="Rectangle 14"/>
          <p:cNvSpPr>
            <a:spLocks noChangeArrowheads="1"/>
          </p:cNvSpPr>
          <p:nvPr/>
        </p:nvSpPr>
        <p:spPr bwMode="auto">
          <a:xfrm>
            <a:off x="3505200" y="2057400"/>
            <a:ext cx="9144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B3FBB6"/>
              </a:solidFill>
            </a:endParaRPr>
          </a:p>
        </p:txBody>
      </p:sp>
      <p:sp>
        <p:nvSpPr>
          <p:cNvPr id="99343" name="Rectangle 15"/>
          <p:cNvSpPr>
            <a:spLocks noChangeArrowheads="1"/>
          </p:cNvSpPr>
          <p:nvPr/>
        </p:nvSpPr>
        <p:spPr bwMode="auto">
          <a:xfrm>
            <a:off x="4419600" y="2057400"/>
            <a:ext cx="914400" cy="304800"/>
          </a:xfrm>
          <a:prstGeom prst="rect">
            <a:avLst/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44" name="Rectangle 16"/>
          <p:cNvSpPr>
            <a:spLocks noChangeArrowheads="1"/>
          </p:cNvSpPr>
          <p:nvPr/>
        </p:nvSpPr>
        <p:spPr bwMode="auto">
          <a:xfrm>
            <a:off x="5334000" y="2057400"/>
            <a:ext cx="914400" cy="304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45" name="Rectangle 17"/>
          <p:cNvSpPr>
            <a:spLocks noChangeArrowheads="1"/>
          </p:cNvSpPr>
          <p:nvPr/>
        </p:nvSpPr>
        <p:spPr bwMode="auto">
          <a:xfrm>
            <a:off x="6248400" y="2057400"/>
            <a:ext cx="914400" cy="304800"/>
          </a:xfrm>
          <a:prstGeom prst="rect">
            <a:avLst/>
          </a:prstGeom>
          <a:solidFill>
            <a:srgbClr val="99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47" name="Rectangle 19" descr="Wide downward diagonal"/>
          <p:cNvSpPr>
            <a:spLocks noChangeArrowheads="1"/>
          </p:cNvSpPr>
          <p:nvPr/>
        </p:nvSpPr>
        <p:spPr bwMode="auto">
          <a:xfrm>
            <a:off x="3505200" y="2743200"/>
            <a:ext cx="914400" cy="304800"/>
          </a:xfrm>
          <a:prstGeom prst="rect">
            <a:avLst/>
          </a:prstGeom>
          <a:pattFill prst="wdDnDiag">
            <a:fgClr>
              <a:srgbClr val="0000FF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48" name="Rectangle 20" descr="Wide downward diagonal"/>
          <p:cNvSpPr>
            <a:spLocks noChangeArrowheads="1"/>
          </p:cNvSpPr>
          <p:nvPr/>
        </p:nvSpPr>
        <p:spPr bwMode="auto">
          <a:xfrm>
            <a:off x="4419600" y="2743200"/>
            <a:ext cx="914400" cy="304800"/>
          </a:xfrm>
          <a:prstGeom prst="rect">
            <a:avLst/>
          </a:prstGeom>
          <a:pattFill prst="wdDnDiag">
            <a:fgClr>
              <a:srgbClr val="0099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49" name="Rectangle 21" descr="Wide downward diagonal"/>
          <p:cNvSpPr>
            <a:spLocks noChangeArrowheads="1"/>
          </p:cNvSpPr>
          <p:nvPr/>
        </p:nvSpPr>
        <p:spPr bwMode="auto">
          <a:xfrm>
            <a:off x="5334000" y="2743200"/>
            <a:ext cx="914400" cy="3048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50" name="Rectangle 22" descr="Wide downward diagonal"/>
          <p:cNvSpPr>
            <a:spLocks noChangeArrowheads="1"/>
          </p:cNvSpPr>
          <p:nvPr/>
        </p:nvSpPr>
        <p:spPr bwMode="auto">
          <a:xfrm>
            <a:off x="6248400" y="2743200"/>
            <a:ext cx="914400" cy="304800"/>
          </a:xfrm>
          <a:prstGeom prst="rect">
            <a:avLst/>
          </a:prstGeom>
          <a:pattFill prst="wdDnDiag">
            <a:fgClr>
              <a:srgbClr val="9966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51" name="Rectangle 23"/>
          <p:cNvSpPr>
            <a:spLocks noChangeArrowheads="1"/>
          </p:cNvSpPr>
          <p:nvPr/>
        </p:nvSpPr>
        <p:spPr bwMode="auto">
          <a:xfrm>
            <a:off x="3505200" y="3886200"/>
            <a:ext cx="9144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52" name="Rectangle 24" descr="Wide downward diagonal"/>
          <p:cNvSpPr>
            <a:spLocks noChangeArrowheads="1"/>
          </p:cNvSpPr>
          <p:nvPr/>
        </p:nvSpPr>
        <p:spPr bwMode="auto">
          <a:xfrm>
            <a:off x="3505200" y="4572000"/>
            <a:ext cx="914400" cy="304800"/>
          </a:xfrm>
          <a:prstGeom prst="rect">
            <a:avLst/>
          </a:prstGeom>
          <a:pattFill prst="wdDnDiag">
            <a:fgClr>
              <a:srgbClr val="FF00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353" name="Text Box 25"/>
              <p:cNvSpPr txBox="1">
                <a:spLocks noChangeArrowheads="1"/>
              </p:cNvSpPr>
              <p:nvPr/>
            </p:nvSpPr>
            <p:spPr bwMode="auto">
              <a:xfrm>
                <a:off x="423816" y="4495800"/>
                <a:ext cx="2071734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 = </m:t>
                      </m:r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𝐩𝐞𝐫𝐦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9353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816" y="4495800"/>
                <a:ext cx="2071734" cy="396875"/>
              </a:xfrm>
              <a:prstGeom prst="rect">
                <a:avLst/>
              </a:prstGeom>
              <a:blipFill rotWithShape="0">
                <a:blip r:embed="rId5"/>
                <a:stretch>
                  <a:fillRect b="-1846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354" name="Text Box 26"/>
              <p:cNvSpPr txBox="1">
                <a:spLocks noChangeArrowheads="1"/>
              </p:cNvSpPr>
              <p:nvPr/>
            </p:nvSpPr>
            <p:spPr bwMode="auto">
              <a:xfrm>
                <a:off x="225911" y="3810000"/>
                <a:ext cx="2288689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 = </m:t>
                      </m:r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𝐩𝐞𝐫𝐦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935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11" y="3810000"/>
                <a:ext cx="2288689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355" name="Rectangle 27"/>
          <p:cNvSpPr>
            <a:spLocks noChangeArrowheads="1"/>
          </p:cNvSpPr>
          <p:nvPr/>
        </p:nvSpPr>
        <p:spPr bwMode="auto">
          <a:xfrm>
            <a:off x="6248400" y="3886200"/>
            <a:ext cx="914400" cy="3048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B3FBB6"/>
              </a:solidFill>
            </a:endParaRPr>
          </a:p>
        </p:txBody>
      </p:sp>
      <p:sp>
        <p:nvSpPr>
          <p:cNvPr id="99356" name="Rectangle 28"/>
          <p:cNvSpPr>
            <a:spLocks noChangeArrowheads="1"/>
          </p:cNvSpPr>
          <p:nvPr/>
        </p:nvSpPr>
        <p:spPr bwMode="auto">
          <a:xfrm>
            <a:off x="2590800" y="3886200"/>
            <a:ext cx="914400" cy="304800"/>
          </a:xfrm>
          <a:prstGeom prst="rect">
            <a:avLst/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57" name="Rectangle 29"/>
          <p:cNvSpPr>
            <a:spLocks noChangeArrowheads="1"/>
          </p:cNvSpPr>
          <p:nvPr/>
        </p:nvSpPr>
        <p:spPr bwMode="auto">
          <a:xfrm>
            <a:off x="5334000" y="3886200"/>
            <a:ext cx="914400" cy="304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58" name="Rectangle 30"/>
          <p:cNvSpPr>
            <a:spLocks noChangeArrowheads="1"/>
          </p:cNvSpPr>
          <p:nvPr/>
        </p:nvSpPr>
        <p:spPr bwMode="auto">
          <a:xfrm>
            <a:off x="4419600" y="3886200"/>
            <a:ext cx="914400" cy="304800"/>
          </a:xfrm>
          <a:prstGeom prst="rect">
            <a:avLst/>
          </a:prstGeom>
          <a:solidFill>
            <a:srgbClr val="99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59" name="Rectangle 31" descr="Wide downward diagonal"/>
          <p:cNvSpPr>
            <a:spLocks noChangeArrowheads="1"/>
          </p:cNvSpPr>
          <p:nvPr/>
        </p:nvSpPr>
        <p:spPr bwMode="auto">
          <a:xfrm>
            <a:off x="6248400" y="4572000"/>
            <a:ext cx="914400" cy="304800"/>
          </a:xfrm>
          <a:prstGeom prst="rect">
            <a:avLst/>
          </a:prstGeom>
          <a:pattFill prst="wdDnDiag">
            <a:fgClr>
              <a:srgbClr val="0000FF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60" name="Rectangle 32" descr="Wide downward diagonal"/>
          <p:cNvSpPr>
            <a:spLocks noChangeArrowheads="1"/>
          </p:cNvSpPr>
          <p:nvPr/>
        </p:nvSpPr>
        <p:spPr bwMode="auto">
          <a:xfrm>
            <a:off x="2590800" y="4572000"/>
            <a:ext cx="914400" cy="304800"/>
          </a:xfrm>
          <a:prstGeom prst="rect">
            <a:avLst/>
          </a:prstGeom>
          <a:pattFill prst="wdDnDiag">
            <a:fgClr>
              <a:srgbClr val="0099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61" name="Rectangle 33" descr="Wide downward diagonal"/>
          <p:cNvSpPr>
            <a:spLocks noChangeArrowheads="1"/>
          </p:cNvSpPr>
          <p:nvPr/>
        </p:nvSpPr>
        <p:spPr bwMode="auto">
          <a:xfrm>
            <a:off x="5334000" y="4572000"/>
            <a:ext cx="914400" cy="30480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62" name="Rectangle 34" descr="Wide downward diagonal"/>
          <p:cNvSpPr>
            <a:spLocks noChangeArrowheads="1"/>
          </p:cNvSpPr>
          <p:nvPr/>
        </p:nvSpPr>
        <p:spPr bwMode="auto">
          <a:xfrm>
            <a:off x="4419600" y="4572000"/>
            <a:ext cx="914400" cy="304800"/>
          </a:xfrm>
          <a:prstGeom prst="rect">
            <a:avLst/>
          </a:prstGeom>
          <a:pattFill prst="wdDnDiag">
            <a:fgClr>
              <a:srgbClr val="9966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363" name="Line 35"/>
          <p:cNvSpPr>
            <a:spLocks noChangeShapeType="1"/>
          </p:cNvSpPr>
          <p:nvPr/>
        </p:nvSpPr>
        <p:spPr bwMode="auto">
          <a:xfrm flipH="1">
            <a:off x="3048000" y="3200400"/>
            <a:ext cx="1828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64" name="Line 36"/>
          <p:cNvSpPr>
            <a:spLocks noChangeShapeType="1"/>
          </p:cNvSpPr>
          <p:nvPr/>
        </p:nvSpPr>
        <p:spPr bwMode="auto">
          <a:xfrm>
            <a:off x="3886200" y="3124200"/>
            <a:ext cx="2895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65" name="Line 37"/>
          <p:cNvSpPr>
            <a:spLocks noChangeShapeType="1"/>
          </p:cNvSpPr>
          <p:nvPr/>
        </p:nvSpPr>
        <p:spPr bwMode="auto">
          <a:xfrm>
            <a:off x="3048000" y="31242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66" name="Line 38"/>
          <p:cNvSpPr>
            <a:spLocks noChangeShapeType="1"/>
          </p:cNvSpPr>
          <p:nvPr/>
        </p:nvSpPr>
        <p:spPr bwMode="auto">
          <a:xfrm flipH="1">
            <a:off x="4800600" y="3200400"/>
            <a:ext cx="2057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67" name="Line 39"/>
          <p:cNvSpPr>
            <a:spLocks noChangeShapeType="1"/>
          </p:cNvSpPr>
          <p:nvPr/>
        </p:nvSpPr>
        <p:spPr bwMode="auto">
          <a:xfrm>
            <a:off x="5791200" y="3200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9368" name="Text Box 40"/>
          <p:cNvSpPr txBox="1">
            <a:spLocks noChangeArrowheads="1"/>
          </p:cNvSpPr>
          <p:nvPr/>
        </p:nvSpPr>
        <p:spPr bwMode="auto">
          <a:xfrm>
            <a:off x="4356100" y="3213100"/>
            <a:ext cx="821059" cy="400110"/>
          </a:xfrm>
          <a:prstGeom prst="rect">
            <a:avLst/>
          </a:prstGeom>
          <a:solidFill>
            <a:srgbClr val="FDFFE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cs typeface="Arial" pitchFamily="34" charset="0"/>
              </a:rPr>
              <a:t>perm</a:t>
            </a:r>
            <a:endParaRPr lang="el-GR" sz="2000" b="1" dirty="0">
              <a:solidFill>
                <a:srgbClr val="FF0000"/>
              </a:solidFill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369" name="Rectangle 41"/>
              <p:cNvSpPr>
                <a:spLocks noChangeArrowheads="1"/>
              </p:cNvSpPr>
              <p:nvPr/>
            </p:nvSpPr>
            <p:spPr bwMode="auto">
              <a:xfrm>
                <a:off x="304800" y="5715000"/>
                <a:ext cx="7010400" cy="381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342900" indent="-342900" eaLnBrk="1" hangingPunct="1">
                  <a:lnSpc>
                    <a:spcPct val="80000"/>
                  </a:lnSpc>
                  <a:spcBef>
                    <a:spcPct val="20000"/>
                  </a:spcBef>
                </a:pPr>
                <a:r>
                  <a:rPr lang="en-US" sz="2400" dirty="0"/>
                  <a:t>Then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t’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is a valid tag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342900" indent="-342900" eaLnBrk="1" hangingPunct="1">
                  <a:lnSpc>
                    <a:spcPct val="80000"/>
                  </a:lnSpc>
                  <a:spcBef>
                    <a:spcPct val="20000"/>
                  </a:spcBef>
                </a:pP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9369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5715000"/>
                <a:ext cx="7010400" cy="381000"/>
              </a:xfrm>
              <a:prstGeom prst="rect">
                <a:avLst/>
              </a:prstGeom>
              <a:blipFill rotWithShape="0">
                <a:blip r:embed="rId7"/>
                <a:stretch>
                  <a:fillRect l="-1304" t="-32258" b="-370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371" name="Rectangle 43"/>
          <p:cNvSpPr>
            <a:spLocks noChangeArrowheads="1"/>
          </p:cNvSpPr>
          <p:nvPr/>
        </p:nvSpPr>
        <p:spPr bwMode="auto">
          <a:xfrm>
            <a:off x="381000" y="487422"/>
            <a:ext cx="7010400" cy="905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4800"/>
              <a:t>What goes wrong?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4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8445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F4204-4FEC-455D-840A-C44049CAB146}" type="slidenum">
              <a:rPr lang="it-IT"/>
              <a:pPr/>
              <a:t>22</a:t>
            </a:fld>
            <a:endParaRPr lang="it-IT"/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61483" y="92075"/>
            <a:ext cx="7772400" cy="1143000"/>
          </a:xfrm>
        </p:spPr>
        <p:txBody>
          <a:bodyPr/>
          <a:lstStyle/>
          <a:p>
            <a:r>
              <a:rPr lang="it-IT" dirty="0"/>
              <a:t>Idea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884" name="Rectangle 4"/>
              <p:cNvSpPr>
                <a:spLocks noChangeArrowheads="1"/>
              </p:cNvSpPr>
              <p:nvPr/>
            </p:nvSpPr>
            <p:spPr bwMode="auto">
              <a:xfrm>
                <a:off x="971550" y="2822575"/>
                <a:ext cx="2376488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88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2822575"/>
                <a:ext cx="2376488" cy="1447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885" name="Line 5"/>
          <p:cNvSpPr>
            <a:spLocks noChangeShapeType="1"/>
          </p:cNvSpPr>
          <p:nvPr/>
        </p:nvSpPr>
        <p:spPr bwMode="auto">
          <a:xfrm flipV="1">
            <a:off x="2122488" y="4292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888" name="Rectangle 8"/>
              <p:cNvSpPr>
                <a:spLocks noChangeArrowheads="1"/>
              </p:cNvSpPr>
              <p:nvPr/>
            </p:nvSpPr>
            <p:spPr bwMode="auto">
              <a:xfrm>
                <a:off x="971550" y="4668838"/>
                <a:ext cx="2376488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888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4668838"/>
                <a:ext cx="2376488" cy="304800"/>
              </a:xfrm>
              <a:prstGeom prst="rect">
                <a:avLst/>
              </a:prstGeom>
              <a:blipFill rotWithShape="0">
                <a:blip r:embed="rId4"/>
                <a:stretch>
                  <a:fillRect b="-1538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889" name="Rectangle 9"/>
              <p:cNvSpPr>
                <a:spLocks noChangeArrowheads="1"/>
              </p:cNvSpPr>
              <p:nvPr/>
            </p:nvSpPr>
            <p:spPr bwMode="auto">
              <a:xfrm>
                <a:off x="971550" y="2060575"/>
                <a:ext cx="2376488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889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2060575"/>
                <a:ext cx="2376488" cy="381000"/>
              </a:xfrm>
              <a:prstGeom prst="rect">
                <a:avLst/>
              </a:prstGeom>
              <a:blipFill rotWithShape="0">
                <a:blip r:embed="rId5"/>
                <a:stretch>
                  <a:fillRect b="-1846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890" name="Line 10"/>
          <p:cNvSpPr>
            <a:spLocks noChangeShapeType="1"/>
          </p:cNvSpPr>
          <p:nvPr/>
        </p:nvSpPr>
        <p:spPr bwMode="auto">
          <a:xfrm flipV="1">
            <a:off x="2122488" y="24209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01" name="Rectangle 21"/>
              <p:cNvSpPr>
                <a:spLocks noChangeArrowheads="1"/>
              </p:cNvSpPr>
              <p:nvPr/>
            </p:nvSpPr>
            <p:spPr bwMode="auto">
              <a:xfrm>
                <a:off x="5580063" y="2822575"/>
                <a:ext cx="2376487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901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2822575"/>
                <a:ext cx="2376487" cy="14478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02" name="Line 22"/>
          <p:cNvSpPr>
            <a:spLocks noChangeShapeType="1"/>
          </p:cNvSpPr>
          <p:nvPr/>
        </p:nvSpPr>
        <p:spPr bwMode="auto">
          <a:xfrm flipV="1">
            <a:off x="6731000" y="4292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03" name="Rectangle 23"/>
              <p:cNvSpPr>
                <a:spLocks noChangeArrowheads="1"/>
              </p:cNvSpPr>
              <p:nvPr/>
            </p:nvSpPr>
            <p:spPr bwMode="auto">
              <a:xfrm>
                <a:off x="5580063" y="4668838"/>
                <a:ext cx="2376487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903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4668838"/>
                <a:ext cx="2376487" cy="304800"/>
              </a:xfrm>
              <a:prstGeom prst="rect">
                <a:avLst/>
              </a:prstGeom>
              <a:blipFill rotWithShape="0">
                <a:blip r:embed="rId7"/>
                <a:stretch>
                  <a:fillRect b="-1730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04" name="Rectangle 24"/>
              <p:cNvSpPr>
                <a:spLocks noChangeArrowheads="1"/>
              </p:cNvSpPr>
              <p:nvPr/>
            </p:nvSpPr>
            <p:spPr bwMode="auto">
              <a:xfrm>
                <a:off x="5580063" y="2060575"/>
                <a:ext cx="2376487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l-PL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904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2060575"/>
                <a:ext cx="2376487" cy="381000"/>
              </a:xfrm>
              <a:prstGeom prst="rect">
                <a:avLst/>
              </a:prstGeom>
              <a:blipFill>
                <a:blip r:embed="rId8"/>
                <a:stretch>
                  <a:fillRect b="-1846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05" name="Line 25"/>
          <p:cNvSpPr>
            <a:spLocks noChangeShapeType="1"/>
          </p:cNvSpPr>
          <p:nvPr/>
        </p:nvSpPr>
        <p:spPr bwMode="auto">
          <a:xfrm flipV="1">
            <a:off x="6731000" y="24209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2906" name="Text Box 26"/>
          <p:cNvSpPr txBox="1">
            <a:spLocks noChangeArrowheads="1"/>
          </p:cNvSpPr>
          <p:nvPr/>
        </p:nvSpPr>
        <p:spPr bwMode="auto">
          <a:xfrm>
            <a:off x="4140200" y="3068638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/>
              <a:t>. . .</a:t>
            </a:r>
          </a:p>
        </p:txBody>
      </p:sp>
      <p:sp>
        <p:nvSpPr>
          <p:cNvPr id="122918" name="Text Box 38"/>
          <p:cNvSpPr txBox="1">
            <a:spLocks noChangeArrowheads="1"/>
          </p:cNvSpPr>
          <p:nvPr/>
        </p:nvSpPr>
        <p:spPr bwMode="auto">
          <a:xfrm>
            <a:off x="424874" y="1235075"/>
            <a:ext cx="32559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sz="2000" dirty="0"/>
              <a:t>Add a counter to each block.</a:t>
            </a:r>
          </a:p>
        </p:txBody>
      </p:sp>
      <p:sp>
        <p:nvSpPr>
          <p:cNvPr id="122919" name="Text Box 39"/>
          <p:cNvSpPr txBox="1">
            <a:spLocks noChangeArrowheads="1"/>
          </p:cNvSpPr>
          <p:nvPr/>
        </p:nvSpPr>
        <p:spPr bwMode="auto">
          <a:xfrm>
            <a:off x="457353" y="6028279"/>
            <a:ext cx="29185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sz="2000" dirty="0"/>
              <a:t>This doesn’t work either!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20" name="Rectangle 40"/>
              <p:cNvSpPr>
                <a:spLocks noChangeArrowheads="1"/>
              </p:cNvSpPr>
              <p:nvPr/>
            </p:nvSpPr>
            <p:spPr bwMode="auto">
              <a:xfrm>
                <a:off x="971550" y="4668838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920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4668838"/>
                <a:ext cx="533400" cy="304800"/>
              </a:xfrm>
              <a:prstGeom prst="rect">
                <a:avLst/>
              </a:prstGeom>
              <a:blipFill rotWithShape="0">
                <a:blip r:embed="rId9"/>
                <a:stretch>
                  <a:fillRect b="-76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21" name="Rectangle 41"/>
              <p:cNvSpPr>
                <a:spLocks noChangeArrowheads="1"/>
              </p:cNvSpPr>
              <p:nvPr/>
            </p:nvSpPr>
            <p:spPr bwMode="auto">
              <a:xfrm>
                <a:off x="5580063" y="4668838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921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4668838"/>
                <a:ext cx="533400" cy="304800"/>
              </a:xfrm>
              <a:prstGeom prst="rect">
                <a:avLst/>
              </a:prstGeom>
              <a:blipFill rotWithShape="0">
                <a:blip r:embed="rId10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22" name="AutoShape 42"/>
          <p:cNvSpPr>
            <a:spLocks/>
          </p:cNvSpPr>
          <p:nvPr/>
        </p:nvSpPr>
        <p:spPr bwMode="auto">
          <a:xfrm rot="16200000">
            <a:off x="2007394" y="4060539"/>
            <a:ext cx="304800" cy="2376488"/>
          </a:xfrm>
          <a:prstGeom prst="leftBrace">
            <a:avLst>
              <a:gd name="adj1" fmla="val 6497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23" name="Text Box 43"/>
              <p:cNvSpPr txBox="1">
                <a:spLocks noChangeArrowheads="1"/>
              </p:cNvSpPr>
              <p:nvPr/>
            </p:nvSpPr>
            <p:spPr bwMode="auto">
              <a:xfrm>
                <a:off x="1916631" y="5351606"/>
                <a:ext cx="490839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923" name="Text 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6631" y="5351606"/>
                <a:ext cx="490839" cy="400110"/>
              </a:xfrm>
              <a:prstGeom prst="rect">
                <a:avLst/>
              </a:prstGeom>
              <a:blipFill rotWithShape="0">
                <a:blip r:embed="rId11"/>
                <a:stretch>
                  <a:fillRect b="-15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24" name="AutoShape 44"/>
          <p:cNvSpPr>
            <a:spLocks/>
          </p:cNvSpPr>
          <p:nvPr/>
        </p:nvSpPr>
        <p:spPr bwMode="auto">
          <a:xfrm rot="16200000">
            <a:off x="6615907" y="4056046"/>
            <a:ext cx="304800" cy="2376487"/>
          </a:xfrm>
          <a:prstGeom prst="leftBrace">
            <a:avLst>
              <a:gd name="adj1" fmla="val 6497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25" name="Text Box 45"/>
              <p:cNvSpPr txBox="1">
                <a:spLocks noChangeArrowheads="1"/>
              </p:cNvSpPr>
              <p:nvPr/>
            </p:nvSpPr>
            <p:spPr bwMode="auto">
              <a:xfrm>
                <a:off x="6566610" y="5349876"/>
                <a:ext cx="49885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925" name="Text 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6610" y="5349876"/>
                <a:ext cx="498855" cy="400110"/>
              </a:xfrm>
              <a:prstGeom prst="rect">
                <a:avLst/>
              </a:prstGeom>
              <a:blipFill rotWithShape="0">
                <a:blip r:embed="rId12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989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 animBg="1"/>
      <p:bldP spid="122885" grpId="0" animBg="1"/>
      <p:bldP spid="122888" grpId="0" animBg="1"/>
      <p:bldP spid="122889" grpId="0" animBg="1"/>
      <p:bldP spid="122890" grpId="0" animBg="1"/>
      <p:bldP spid="122901" grpId="0" animBg="1"/>
      <p:bldP spid="122902" grpId="0" animBg="1"/>
      <p:bldP spid="122903" grpId="0" animBg="1"/>
      <p:bldP spid="122904" grpId="0" animBg="1"/>
      <p:bldP spid="122905" grpId="0" animBg="1"/>
      <p:bldP spid="122906" grpId="0"/>
      <p:bldP spid="122919" grpId="0"/>
      <p:bldP spid="122920" grpId="0" animBg="1"/>
      <p:bldP spid="122921" grpId="0" animBg="1"/>
      <p:bldP spid="122922" grpId="0" animBg="1"/>
      <p:bldP spid="122923" grpId="0"/>
      <p:bldP spid="122924" grpId="0" animBg="1"/>
      <p:bldP spid="1229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2" name="AutoShape 8"/>
          <p:cNvSpPr>
            <a:spLocks/>
          </p:cNvSpPr>
          <p:nvPr/>
        </p:nvSpPr>
        <p:spPr bwMode="auto">
          <a:xfrm rot="16200000">
            <a:off x="7333652" y="-105582"/>
            <a:ext cx="304800" cy="2374900"/>
          </a:xfrm>
          <a:prstGeom prst="leftBrace">
            <a:avLst>
              <a:gd name="adj1" fmla="val 6493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313" name="Text Box 9"/>
              <p:cNvSpPr txBox="1">
                <a:spLocks noChangeArrowheads="1"/>
              </p:cNvSpPr>
              <p:nvPr/>
            </p:nvSpPr>
            <p:spPr bwMode="auto">
              <a:xfrm>
                <a:off x="7272692" y="1205713"/>
                <a:ext cx="42672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31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72692" y="1205713"/>
                <a:ext cx="42672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315" name="Rectangle 11"/>
          <p:cNvSpPr>
            <a:spLocks noChangeArrowheads="1"/>
          </p:cNvSpPr>
          <p:nvPr/>
        </p:nvSpPr>
        <p:spPr bwMode="auto">
          <a:xfrm>
            <a:off x="2564802" y="1965305"/>
            <a:ext cx="37338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8316" name="Rectangle 12" descr="Wide downward diagonal"/>
          <p:cNvSpPr>
            <a:spLocks noChangeArrowheads="1"/>
          </p:cNvSpPr>
          <p:nvPr/>
        </p:nvSpPr>
        <p:spPr bwMode="auto">
          <a:xfrm>
            <a:off x="2564802" y="2879705"/>
            <a:ext cx="3733800" cy="304800"/>
          </a:xfrm>
          <a:prstGeom prst="rect">
            <a:avLst/>
          </a:prstGeom>
          <a:pattFill prst="wdDnDiag">
            <a:fgClr>
              <a:srgbClr val="FF00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317" name="Text Box 13"/>
              <p:cNvSpPr txBox="1">
                <a:spLocks noChangeArrowheads="1"/>
              </p:cNvSpPr>
              <p:nvPr/>
            </p:nvSpPr>
            <p:spPr bwMode="auto">
              <a:xfrm>
                <a:off x="2412402" y="1431905"/>
                <a:ext cx="6858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31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2402" y="1431905"/>
                <a:ext cx="685800" cy="3968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318" name="Text Box 14"/>
              <p:cNvSpPr txBox="1">
                <a:spLocks noChangeArrowheads="1"/>
              </p:cNvSpPr>
              <p:nvPr/>
            </p:nvSpPr>
            <p:spPr bwMode="auto">
              <a:xfrm>
                <a:off x="2412402" y="2422505"/>
                <a:ext cx="19812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318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2402" y="2422505"/>
                <a:ext cx="1981200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818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319" name="Rectangle 15"/>
          <p:cNvSpPr>
            <a:spLocks noChangeArrowheads="1"/>
          </p:cNvSpPr>
          <p:nvPr/>
        </p:nvSpPr>
        <p:spPr bwMode="auto">
          <a:xfrm>
            <a:off x="2564802" y="4175105"/>
            <a:ext cx="37338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8320" name="Rectangle 16" descr="Wide downward diagonal"/>
          <p:cNvSpPr>
            <a:spLocks noChangeArrowheads="1"/>
          </p:cNvSpPr>
          <p:nvPr/>
        </p:nvSpPr>
        <p:spPr bwMode="auto">
          <a:xfrm>
            <a:off x="2564802" y="5089505"/>
            <a:ext cx="3733800" cy="304800"/>
          </a:xfrm>
          <a:prstGeom prst="rect">
            <a:avLst/>
          </a:prstGeom>
          <a:pattFill prst="wdDnDiag">
            <a:fgClr>
              <a:srgbClr val="FF00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321" name="Text Box 17"/>
              <p:cNvSpPr txBox="1">
                <a:spLocks noChangeArrowheads="1"/>
              </p:cNvSpPr>
              <p:nvPr/>
            </p:nvSpPr>
            <p:spPr bwMode="auto">
              <a:xfrm>
                <a:off x="2412402" y="3671868"/>
                <a:ext cx="2346325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 a prefix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000" dirty="0"/>
                  <a:t>:</a:t>
                </a:r>
              </a:p>
            </p:txBody>
          </p:sp>
        </mc:Choice>
        <mc:Fallback xmlns="">
          <p:sp>
            <p:nvSpPr>
              <p:cNvPr id="9832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2402" y="3671868"/>
                <a:ext cx="2346325" cy="396875"/>
              </a:xfrm>
              <a:prstGeom prst="rect">
                <a:avLst/>
              </a:prstGeom>
              <a:blipFill rotWithShape="0">
                <a:blip r:embed="rId6"/>
                <a:stretch>
                  <a:fillRect t="-7692" b="-2769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322" name="Text Box 18"/>
              <p:cNvSpPr txBox="1">
                <a:spLocks noChangeArrowheads="1"/>
              </p:cNvSpPr>
              <p:nvPr/>
            </p:nvSpPr>
            <p:spPr bwMode="auto">
              <a:xfrm>
                <a:off x="2428912" y="4616430"/>
                <a:ext cx="1981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 a prefix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dirty="0"/>
                  <a:t>:</a:t>
                </a:r>
              </a:p>
            </p:txBody>
          </p:sp>
        </mc:Choice>
        <mc:Fallback xmlns="">
          <p:sp>
            <p:nvSpPr>
              <p:cNvPr id="9832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8912" y="4616430"/>
                <a:ext cx="1981200" cy="396875"/>
              </a:xfrm>
              <a:prstGeom prst="rect">
                <a:avLst/>
              </a:prstGeom>
              <a:blipFill rotWithShape="0">
                <a:blip r:embed="rId7"/>
                <a:stretch>
                  <a:fillRect t="-7692" b="-2769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323" name="Rectangle 19"/>
          <p:cNvSpPr>
            <a:spLocks noChangeArrowheads="1"/>
          </p:cNvSpPr>
          <p:nvPr/>
        </p:nvSpPr>
        <p:spPr bwMode="auto">
          <a:xfrm>
            <a:off x="4622202" y="3870305"/>
            <a:ext cx="1905000" cy="175260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8324" name="Line 20"/>
          <p:cNvSpPr>
            <a:spLocks noChangeShapeType="1"/>
          </p:cNvSpPr>
          <p:nvPr/>
        </p:nvSpPr>
        <p:spPr bwMode="auto">
          <a:xfrm>
            <a:off x="4622202" y="1584305"/>
            <a:ext cx="0" cy="42672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330" name="Rectangle 26"/>
              <p:cNvSpPr>
                <a:spLocks noChangeArrowheads="1"/>
              </p:cNvSpPr>
              <p:nvPr/>
            </p:nvSpPr>
            <p:spPr bwMode="auto">
              <a:xfrm>
                <a:off x="310178" y="6143939"/>
                <a:ext cx="7010400" cy="381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342900" indent="-342900" eaLnBrk="1" hangingPunct="1">
                  <a:lnSpc>
                    <a:spcPct val="80000"/>
                  </a:lnSpc>
                  <a:spcBef>
                    <a:spcPct val="20000"/>
                  </a:spcBef>
                </a:pPr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a valid tag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342900" indent="-342900" eaLnBrk="1" hangingPunct="1">
                  <a:lnSpc>
                    <a:spcPct val="80000"/>
                  </a:lnSpc>
                  <a:spcBef>
                    <a:spcPct val="20000"/>
                  </a:spcBef>
                </a:pP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8330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178" y="6143939"/>
                <a:ext cx="7010400" cy="381000"/>
              </a:xfrm>
              <a:prstGeom prst="rect">
                <a:avLst/>
              </a:prstGeom>
              <a:blipFill rotWithShape="0">
                <a:blip r:embed="rId8"/>
                <a:stretch>
                  <a:fillRect l="-1391" t="-32258" b="-3871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331" name="Rectangle 27"/>
              <p:cNvSpPr>
                <a:spLocks noChangeArrowheads="1"/>
              </p:cNvSpPr>
              <p:nvPr/>
            </p:nvSpPr>
            <p:spPr bwMode="auto">
              <a:xfrm>
                <a:off x="6298602" y="504018"/>
                <a:ext cx="2376488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331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8602" y="504018"/>
                <a:ext cx="2376488" cy="304800"/>
              </a:xfrm>
              <a:prstGeom prst="rect">
                <a:avLst/>
              </a:prstGeom>
              <a:blipFill rotWithShape="0">
                <a:blip r:embed="rId9"/>
                <a:stretch>
                  <a:fillRect b="-1538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332" name="Rectangle 28"/>
              <p:cNvSpPr>
                <a:spLocks noChangeArrowheads="1"/>
              </p:cNvSpPr>
              <p:nvPr/>
            </p:nvSpPr>
            <p:spPr bwMode="auto">
              <a:xfrm>
                <a:off x="6298602" y="504018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332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8602" y="504018"/>
                <a:ext cx="533400" cy="304800"/>
              </a:xfrm>
              <a:prstGeom prst="rect">
                <a:avLst/>
              </a:prstGeom>
              <a:blipFill rotWithShape="0">
                <a:blip r:embed="rId10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553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5" grpId="0" animBg="1"/>
      <p:bldP spid="98316" grpId="0" animBg="1"/>
      <p:bldP spid="98317" grpId="0"/>
      <p:bldP spid="98318" grpId="0"/>
      <p:bldP spid="98319" grpId="0" animBg="1"/>
      <p:bldP spid="98320" grpId="0" animBg="1"/>
      <p:bldP spid="98321" grpId="0"/>
      <p:bldP spid="98322" grpId="0"/>
      <p:bldP spid="98323" grpId="0" animBg="1"/>
      <p:bldP spid="98324" grpId="0" animBg="1"/>
      <p:bldP spid="983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29210" y="0"/>
            <a:ext cx="7772400" cy="1143000"/>
          </a:xfrm>
        </p:spPr>
        <p:txBody>
          <a:bodyPr/>
          <a:lstStyle/>
          <a:p>
            <a:r>
              <a:rPr lang="it-IT" dirty="0"/>
              <a:t>Idea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31" name="Rectangle 3"/>
              <p:cNvSpPr>
                <a:spLocks noChangeArrowheads="1"/>
              </p:cNvSpPr>
              <p:nvPr/>
            </p:nvSpPr>
            <p:spPr bwMode="auto">
              <a:xfrm>
                <a:off x="971550" y="2822575"/>
                <a:ext cx="2376488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931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2822575"/>
                <a:ext cx="2376488" cy="1447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932" name="Line 4"/>
          <p:cNvSpPr>
            <a:spLocks noChangeShapeType="1"/>
          </p:cNvSpPr>
          <p:nvPr/>
        </p:nvSpPr>
        <p:spPr bwMode="auto">
          <a:xfrm flipV="1">
            <a:off x="2122488" y="4292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33" name="Rectangle 5"/>
              <p:cNvSpPr>
                <a:spLocks noChangeArrowheads="1"/>
              </p:cNvSpPr>
              <p:nvPr/>
            </p:nvSpPr>
            <p:spPr bwMode="auto">
              <a:xfrm>
                <a:off x="971550" y="4668838"/>
                <a:ext cx="2376488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93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4668838"/>
                <a:ext cx="2376488" cy="304800"/>
              </a:xfrm>
              <a:prstGeom prst="rect">
                <a:avLst/>
              </a:prstGeom>
              <a:blipFill rotWithShape="0">
                <a:blip r:embed="rId4"/>
                <a:stretch>
                  <a:fillRect b="-1730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34" name="Rectangle 6"/>
              <p:cNvSpPr>
                <a:spLocks noChangeArrowheads="1"/>
              </p:cNvSpPr>
              <p:nvPr/>
            </p:nvSpPr>
            <p:spPr bwMode="auto">
              <a:xfrm>
                <a:off x="971550" y="2060575"/>
                <a:ext cx="2376488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934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2060575"/>
                <a:ext cx="2376488" cy="381000"/>
              </a:xfrm>
              <a:prstGeom prst="rect">
                <a:avLst/>
              </a:prstGeom>
              <a:blipFill rotWithShape="0">
                <a:blip r:embed="rId5"/>
                <a:stretch>
                  <a:fillRect b="-1846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935" name="Line 7"/>
          <p:cNvSpPr>
            <a:spLocks noChangeShapeType="1"/>
          </p:cNvSpPr>
          <p:nvPr/>
        </p:nvSpPr>
        <p:spPr bwMode="auto">
          <a:xfrm flipV="1">
            <a:off x="2122488" y="24209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36" name="Rectangle 8"/>
              <p:cNvSpPr>
                <a:spLocks noChangeArrowheads="1"/>
              </p:cNvSpPr>
              <p:nvPr/>
            </p:nvSpPr>
            <p:spPr bwMode="auto">
              <a:xfrm>
                <a:off x="5580063" y="2822575"/>
                <a:ext cx="2376487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936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2822575"/>
                <a:ext cx="2376487" cy="14478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937" name="Line 9"/>
          <p:cNvSpPr>
            <a:spLocks noChangeShapeType="1"/>
          </p:cNvSpPr>
          <p:nvPr/>
        </p:nvSpPr>
        <p:spPr bwMode="auto">
          <a:xfrm flipV="1">
            <a:off x="6731000" y="4292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38" name="Rectangle 10"/>
              <p:cNvSpPr>
                <a:spLocks noChangeArrowheads="1"/>
              </p:cNvSpPr>
              <p:nvPr/>
            </p:nvSpPr>
            <p:spPr bwMode="auto">
              <a:xfrm>
                <a:off x="5580063" y="4668838"/>
                <a:ext cx="2376487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938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4668838"/>
                <a:ext cx="2376487" cy="304800"/>
              </a:xfrm>
              <a:prstGeom prst="rect">
                <a:avLst/>
              </a:prstGeom>
              <a:blipFill rotWithShape="0">
                <a:blip r:embed="rId7"/>
                <a:stretch>
                  <a:fillRect b="-1730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39" name="Rectangle 11"/>
              <p:cNvSpPr>
                <a:spLocks noChangeArrowheads="1"/>
              </p:cNvSpPr>
              <p:nvPr/>
            </p:nvSpPr>
            <p:spPr bwMode="auto">
              <a:xfrm>
                <a:off x="5580063" y="2060575"/>
                <a:ext cx="2376487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l-PL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939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2060575"/>
                <a:ext cx="2376487" cy="381000"/>
              </a:xfrm>
              <a:prstGeom prst="rect">
                <a:avLst/>
              </a:prstGeom>
              <a:blipFill>
                <a:blip r:embed="rId8"/>
                <a:stretch>
                  <a:fillRect b="-1846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940" name="Line 12"/>
          <p:cNvSpPr>
            <a:spLocks noChangeShapeType="1"/>
          </p:cNvSpPr>
          <p:nvPr/>
        </p:nvSpPr>
        <p:spPr bwMode="auto">
          <a:xfrm flipV="1">
            <a:off x="6731000" y="24209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941" name="Text Box 13"/>
          <p:cNvSpPr txBox="1">
            <a:spLocks noChangeArrowheads="1"/>
          </p:cNvSpPr>
          <p:nvPr/>
        </p:nvSpPr>
        <p:spPr bwMode="auto">
          <a:xfrm>
            <a:off x="4140200" y="3068638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/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42" name="Text Box 14"/>
              <p:cNvSpPr txBox="1">
                <a:spLocks noChangeArrowheads="1"/>
              </p:cNvSpPr>
              <p:nvPr/>
            </p:nvSpPr>
            <p:spPr bwMode="auto">
              <a:xfrm>
                <a:off x="500033" y="1142984"/>
                <a:ext cx="466363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Add</a:t>
                </a:r>
                <a:r>
                  <a:rPr lang="it-IT" sz="2400" dirty="0"/>
                  <a:t>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it-IT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to each </a:t>
                </a:r>
                <a:r>
                  <a:rPr lang="it-IT" sz="2400" dirty="0"/>
                  <a:t>block</a:t>
                </a:r>
              </a:p>
            </p:txBody>
          </p:sp>
        </mc:Choice>
        <mc:Fallback xmlns="">
          <p:sp>
            <p:nvSpPr>
              <p:cNvPr id="12494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033" y="1142984"/>
                <a:ext cx="4663637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1961" t="-10526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943" name="Text Box 15"/>
          <p:cNvSpPr txBox="1">
            <a:spLocks noChangeArrowheads="1"/>
          </p:cNvSpPr>
          <p:nvPr/>
        </p:nvSpPr>
        <p:spPr bwMode="auto">
          <a:xfrm>
            <a:off x="4962866" y="5985811"/>
            <a:ext cx="33108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sz="2400"/>
              <a:t>This doesn’t work either!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44" name="Rectangle 16"/>
              <p:cNvSpPr>
                <a:spLocks noChangeArrowheads="1"/>
              </p:cNvSpPr>
              <p:nvPr/>
            </p:nvSpPr>
            <p:spPr bwMode="auto">
              <a:xfrm>
                <a:off x="1476375" y="4668838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944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375" y="4668838"/>
                <a:ext cx="533400" cy="304800"/>
              </a:xfrm>
              <a:prstGeom prst="rect">
                <a:avLst/>
              </a:prstGeom>
              <a:blipFill rotWithShape="0">
                <a:blip r:embed="rId10"/>
                <a:stretch>
                  <a:fillRect b="-76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45" name="Rectangle 17"/>
              <p:cNvSpPr>
                <a:spLocks noChangeArrowheads="1"/>
              </p:cNvSpPr>
              <p:nvPr/>
            </p:nvSpPr>
            <p:spPr bwMode="auto">
              <a:xfrm>
                <a:off x="6084888" y="4668838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945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84888" y="4668838"/>
                <a:ext cx="533400" cy="304800"/>
              </a:xfrm>
              <a:prstGeom prst="rect">
                <a:avLst/>
              </a:prstGeom>
              <a:blipFill rotWithShape="0">
                <a:blip r:embed="rId11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46" name="Rectangle 18"/>
              <p:cNvSpPr>
                <a:spLocks noChangeArrowheads="1"/>
              </p:cNvSpPr>
              <p:nvPr/>
            </p:nvSpPr>
            <p:spPr bwMode="auto">
              <a:xfrm>
                <a:off x="971550" y="4668838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Script MT Bold" pitchFamily="66" charset="0"/>
                </a:endParaRPr>
              </a:p>
            </p:txBody>
          </p:sp>
        </mc:Choice>
        <mc:Fallback xmlns="">
          <p:sp>
            <p:nvSpPr>
              <p:cNvPr id="124946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4668838"/>
                <a:ext cx="533400" cy="304800"/>
              </a:xfrm>
              <a:prstGeom prst="rect">
                <a:avLst/>
              </a:prstGeom>
              <a:blipFill rotWithShape="0">
                <a:blip r:embed="rId12"/>
                <a:stretch>
                  <a:fillRect b="-192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47" name="Rectangle 19"/>
              <p:cNvSpPr>
                <a:spLocks noChangeArrowheads="1"/>
              </p:cNvSpPr>
              <p:nvPr/>
            </p:nvSpPr>
            <p:spPr bwMode="auto">
              <a:xfrm>
                <a:off x="5580063" y="4668838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Script MT Bold" pitchFamily="66" charset="0"/>
                </a:endParaRPr>
              </a:p>
            </p:txBody>
          </p:sp>
        </mc:Choice>
        <mc:Fallback xmlns="">
          <p:sp>
            <p:nvSpPr>
              <p:cNvPr id="124947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4668838"/>
                <a:ext cx="533400" cy="304800"/>
              </a:xfrm>
              <a:prstGeom prst="rect">
                <a:avLst/>
              </a:prstGeom>
              <a:blipFill rotWithShape="0">
                <a:blip r:embed="rId13"/>
                <a:stretch>
                  <a:fillRect b="-192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948" name="AutoShape 20"/>
          <p:cNvSpPr>
            <a:spLocks/>
          </p:cNvSpPr>
          <p:nvPr/>
        </p:nvSpPr>
        <p:spPr bwMode="auto">
          <a:xfrm rot="16200000">
            <a:off x="2007394" y="4053030"/>
            <a:ext cx="304800" cy="2376488"/>
          </a:xfrm>
          <a:prstGeom prst="leftBrace">
            <a:avLst>
              <a:gd name="adj1" fmla="val 6497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49" name="Text Box 21"/>
              <p:cNvSpPr txBox="1">
                <a:spLocks noChangeArrowheads="1"/>
              </p:cNvSpPr>
              <p:nvPr/>
            </p:nvSpPr>
            <p:spPr bwMode="auto">
              <a:xfrm>
                <a:off x="1947340" y="5349876"/>
                <a:ext cx="490839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949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7340" y="5349876"/>
                <a:ext cx="490839" cy="400110"/>
              </a:xfrm>
              <a:prstGeom prst="rect">
                <a:avLst/>
              </a:prstGeom>
              <a:blipFill rotWithShape="0">
                <a:blip r:embed="rId14"/>
                <a:stretch>
                  <a:fillRect b="-307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952" name="AutoShape 24"/>
          <p:cNvSpPr>
            <a:spLocks/>
          </p:cNvSpPr>
          <p:nvPr/>
        </p:nvSpPr>
        <p:spPr bwMode="auto">
          <a:xfrm rot="16200000">
            <a:off x="6615907" y="4057792"/>
            <a:ext cx="304800" cy="2376487"/>
          </a:xfrm>
          <a:prstGeom prst="leftBrace">
            <a:avLst>
              <a:gd name="adj1" fmla="val 6497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53" name="Text Box 25"/>
              <p:cNvSpPr txBox="1">
                <a:spLocks noChangeArrowheads="1"/>
              </p:cNvSpPr>
              <p:nvPr/>
            </p:nvSpPr>
            <p:spPr bwMode="auto">
              <a:xfrm>
                <a:off x="6579232" y="5349876"/>
                <a:ext cx="49885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953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9232" y="5349876"/>
                <a:ext cx="498855" cy="400110"/>
              </a:xfrm>
              <a:prstGeom prst="rect">
                <a:avLst/>
              </a:prstGeom>
              <a:blipFill rotWithShape="0">
                <a:blip r:embed="rId15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52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nimBg="1"/>
      <p:bldP spid="124932" grpId="0" animBg="1"/>
      <p:bldP spid="124933" grpId="0" animBg="1"/>
      <p:bldP spid="124934" grpId="0" animBg="1"/>
      <p:bldP spid="124935" grpId="0" animBg="1"/>
      <p:bldP spid="124936" grpId="0" animBg="1"/>
      <p:bldP spid="124937" grpId="0" animBg="1"/>
      <p:bldP spid="124938" grpId="0" animBg="1"/>
      <p:bldP spid="124939" grpId="0" animBg="1"/>
      <p:bldP spid="124940" grpId="0" animBg="1"/>
      <p:bldP spid="124941" grpId="0"/>
      <p:bldP spid="124943" grpId="0"/>
      <p:bldP spid="124944" grpId="0" animBg="1"/>
      <p:bldP spid="124945" grpId="0" animBg="1"/>
      <p:bldP spid="124946" grpId="0" animBg="1"/>
      <p:bldP spid="124947" grpId="0" animBg="1"/>
      <p:bldP spid="124948" grpId="0" animBg="1"/>
      <p:bldP spid="124949" grpId="0"/>
      <p:bldP spid="124952" grpId="0" animBg="1"/>
      <p:bldP spid="12495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C54C-F531-4B00-9F99-944DDA0A6C08}" type="slidenum">
              <a:rPr lang="it-IT"/>
              <a:pPr/>
              <a:t>25</a:t>
            </a:fld>
            <a:endParaRPr lang="it-IT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549" y="1295400"/>
            <a:ext cx="7239000" cy="4572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What goes wrong? </a:t>
            </a:r>
          </a:p>
        </p:txBody>
      </p:sp>
      <p:sp>
        <p:nvSpPr>
          <p:cNvPr id="97288" name="AutoShape 8"/>
          <p:cNvSpPr>
            <a:spLocks/>
          </p:cNvSpPr>
          <p:nvPr/>
        </p:nvSpPr>
        <p:spPr bwMode="auto">
          <a:xfrm rot="16200000">
            <a:off x="4638675" y="-382587"/>
            <a:ext cx="369887" cy="2376488"/>
          </a:xfrm>
          <a:prstGeom prst="leftBrace">
            <a:avLst>
              <a:gd name="adj1" fmla="val 5354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289" name="Text Box 9"/>
              <p:cNvSpPr txBox="1">
                <a:spLocks noChangeArrowheads="1"/>
              </p:cNvSpPr>
              <p:nvPr/>
            </p:nvSpPr>
            <p:spPr bwMode="auto">
              <a:xfrm>
                <a:off x="4631690" y="881618"/>
                <a:ext cx="42672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28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1690" y="881618"/>
                <a:ext cx="42672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292" name="Rectangle 12"/>
          <p:cNvSpPr>
            <a:spLocks noChangeArrowheads="1"/>
          </p:cNvSpPr>
          <p:nvPr/>
        </p:nvSpPr>
        <p:spPr bwMode="auto">
          <a:xfrm>
            <a:off x="381000" y="2362200"/>
            <a:ext cx="37338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293" name="Rectangle 13"/>
          <p:cNvSpPr>
            <a:spLocks noChangeArrowheads="1"/>
          </p:cNvSpPr>
          <p:nvPr/>
        </p:nvSpPr>
        <p:spPr bwMode="auto">
          <a:xfrm>
            <a:off x="4648200" y="4648200"/>
            <a:ext cx="19050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294" name="Rectangle 14" descr="Wide downward diagonal"/>
          <p:cNvSpPr>
            <a:spLocks noChangeArrowheads="1"/>
          </p:cNvSpPr>
          <p:nvPr/>
        </p:nvSpPr>
        <p:spPr bwMode="auto">
          <a:xfrm>
            <a:off x="381000" y="3276600"/>
            <a:ext cx="3733800" cy="30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7295" name="Rectangle 15" descr="Wide downward diagonal"/>
          <p:cNvSpPr>
            <a:spLocks noChangeArrowheads="1"/>
          </p:cNvSpPr>
          <p:nvPr/>
        </p:nvSpPr>
        <p:spPr bwMode="auto">
          <a:xfrm>
            <a:off x="4876800" y="3276600"/>
            <a:ext cx="3733800" cy="30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97296" name="Rectangle 16"/>
          <p:cNvSpPr>
            <a:spLocks noChangeArrowheads="1"/>
          </p:cNvSpPr>
          <p:nvPr/>
        </p:nvSpPr>
        <p:spPr bwMode="auto">
          <a:xfrm>
            <a:off x="2819400" y="4648200"/>
            <a:ext cx="1828800" cy="304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297" name="Rectangle 17"/>
          <p:cNvSpPr>
            <a:spLocks noChangeArrowheads="1"/>
          </p:cNvSpPr>
          <p:nvPr/>
        </p:nvSpPr>
        <p:spPr bwMode="auto">
          <a:xfrm>
            <a:off x="4876800" y="2362200"/>
            <a:ext cx="37338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298" name="Rectangle 18" descr="Wide downward diagonal"/>
          <p:cNvSpPr>
            <a:spLocks noChangeArrowheads="1"/>
          </p:cNvSpPr>
          <p:nvPr/>
        </p:nvSpPr>
        <p:spPr bwMode="auto">
          <a:xfrm>
            <a:off x="2819400" y="5181600"/>
            <a:ext cx="1828800" cy="30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7299" name="Rectangle 19" descr="Wide downward diagonal"/>
          <p:cNvSpPr>
            <a:spLocks noChangeArrowheads="1"/>
          </p:cNvSpPr>
          <p:nvPr/>
        </p:nvSpPr>
        <p:spPr bwMode="auto">
          <a:xfrm>
            <a:off x="4648200" y="5181600"/>
            <a:ext cx="1905000" cy="30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7300" name="Line 20"/>
          <p:cNvSpPr>
            <a:spLocks noChangeShapeType="1"/>
          </p:cNvSpPr>
          <p:nvPr/>
        </p:nvSpPr>
        <p:spPr bwMode="auto">
          <a:xfrm flipH="1">
            <a:off x="2268538" y="2133600"/>
            <a:ext cx="17462" cy="180022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7302" name="Line 22"/>
          <p:cNvSpPr>
            <a:spLocks noChangeShapeType="1"/>
          </p:cNvSpPr>
          <p:nvPr/>
        </p:nvSpPr>
        <p:spPr bwMode="auto">
          <a:xfrm>
            <a:off x="6781800" y="2133600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7304" name="AutoShape 24"/>
          <p:cNvSpPr>
            <a:spLocks noChangeArrowheads="1"/>
          </p:cNvSpPr>
          <p:nvPr/>
        </p:nvSpPr>
        <p:spPr bwMode="auto">
          <a:xfrm flipV="1">
            <a:off x="1066800" y="4038600"/>
            <a:ext cx="1295400" cy="12192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305" name="AutoShape 25"/>
          <p:cNvSpPr>
            <a:spLocks noChangeArrowheads="1"/>
          </p:cNvSpPr>
          <p:nvPr/>
        </p:nvSpPr>
        <p:spPr bwMode="auto">
          <a:xfrm flipH="1" flipV="1">
            <a:off x="6781800" y="4114800"/>
            <a:ext cx="1295400" cy="12192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306" name="Text Box 26"/>
              <p:cNvSpPr txBox="1">
                <a:spLocks noChangeArrowheads="1"/>
              </p:cNvSpPr>
              <p:nvPr/>
            </p:nvSpPr>
            <p:spPr bwMode="auto">
              <a:xfrm>
                <a:off x="381000" y="1828800"/>
                <a:ext cx="6858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000" dirty="0"/>
                  <a:t>:</a:t>
                </a:r>
              </a:p>
            </p:txBody>
          </p:sp>
        </mc:Choice>
        <mc:Fallback xmlns="">
          <p:sp>
            <p:nvSpPr>
              <p:cNvPr id="97306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1828800"/>
                <a:ext cx="685800" cy="396875"/>
              </a:xfrm>
              <a:prstGeom prst="rect">
                <a:avLst/>
              </a:prstGeom>
              <a:blipFill rotWithShape="0">
                <a:blip r:embed="rId4"/>
                <a:stretch>
                  <a:fillRect t="-7692" b="-2769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307" name="Text Box 27"/>
              <p:cNvSpPr txBox="1">
                <a:spLocks noChangeArrowheads="1"/>
              </p:cNvSpPr>
              <p:nvPr/>
            </p:nvSpPr>
            <p:spPr bwMode="auto">
              <a:xfrm>
                <a:off x="278337" y="2771745"/>
                <a:ext cx="188968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307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337" y="2771745"/>
                <a:ext cx="1889685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846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308" name="Text Box 28"/>
              <p:cNvSpPr txBox="1">
                <a:spLocks noChangeArrowheads="1"/>
              </p:cNvSpPr>
              <p:nvPr/>
            </p:nvSpPr>
            <p:spPr bwMode="auto">
              <a:xfrm>
                <a:off x="4876800" y="1828800"/>
                <a:ext cx="6858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pl-PL" sz="2000" dirty="0"/>
                  <a:t>:</a:t>
                </a:r>
                <a:endParaRPr lang="en-US" sz="2000" dirty="0"/>
              </a:p>
            </p:txBody>
          </p:sp>
        </mc:Choice>
        <mc:Fallback xmlns="">
          <p:sp>
            <p:nvSpPr>
              <p:cNvPr id="97308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1828800"/>
                <a:ext cx="685800" cy="396875"/>
              </a:xfrm>
              <a:prstGeom prst="rect">
                <a:avLst/>
              </a:prstGeom>
              <a:blipFill rotWithShape="0">
                <a:blip r:embed="rId6"/>
                <a:stretch>
                  <a:fillRect t="-7692" b="-2769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310" name="Text Box 30"/>
              <p:cNvSpPr txBox="1">
                <a:spLocks noChangeArrowheads="1"/>
              </p:cNvSpPr>
              <p:nvPr/>
            </p:nvSpPr>
            <p:spPr bwMode="auto">
              <a:xfrm>
                <a:off x="2168022" y="4114800"/>
                <a:ext cx="5236078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’’=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first half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second half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310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022" y="4114800"/>
                <a:ext cx="5236078" cy="396875"/>
              </a:xfrm>
              <a:prstGeom prst="rect">
                <a:avLst/>
              </a:prstGeom>
              <a:blipFill rotWithShape="0">
                <a:blip r:embed="rId7"/>
                <a:stretch>
                  <a:fillRect t="-7692" b="-2769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312" name="Text Box 32"/>
              <p:cNvSpPr txBox="1">
                <a:spLocks noChangeArrowheads="1"/>
              </p:cNvSpPr>
              <p:nvPr/>
            </p:nvSpPr>
            <p:spPr bwMode="auto">
              <a:xfrm>
                <a:off x="2276172" y="5578446"/>
                <a:ext cx="474405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’’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first half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en-US" sz="2000" dirty="0"/>
                  <a:t> second half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312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6172" y="5578446"/>
                <a:ext cx="4744056" cy="400110"/>
              </a:xfrm>
              <a:prstGeom prst="rect">
                <a:avLst/>
              </a:prstGeom>
              <a:blipFill rotWithShape="0">
                <a:blip r:embed="rId8"/>
                <a:stretch>
                  <a:fillRect t="-7576" b="-2575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313" name="Text Box 33"/>
              <p:cNvSpPr txBox="1">
                <a:spLocks noChangeArrowheads="1"/>
              </p:cNvSpPr>
              <p:nvPr/>
            </p:nvSpPr>
            <p:spPr bwMode="auto">
              <a:xfrm>
                <a:off x="278337" y="6118727"/>
                <a:ext cx="3215239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Then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’’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a valid tag 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’’</m:t>
                    </m:r>
                  </m:oMath>
                </a14:m>
                <a:r>
                  <a:rPr lang="pl-PL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97313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337" y="6118727"/>
                <a:ext cx="3215239" cy="400110"/>
              </a:xfrm>
              <a:prstGeom prst="rect">
                <a:avLst/>
              </a:prstGeom>
              <a:blipFill rotWithShape="0">
                <a:blip r:embed="rId9"/>
                <a:stretch>
                  <a:fillRect l="-2087" t="-9231" r="-1139" b="-2769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314" name="Rectangle 34"/>
          <p:cNvSpPr>
            <a:spLocks noChangeArrowheads="1"/>
          </p:cNvSpPr>
          <p:nvPr/>
        </p:nvSpPr>
        <p:spPr bwMode="auto">
          <a:xfrm>
            <a:off x="2286000" y="2133600"/>
            <a:ext cx="1905000" cy="1752600"/>
          </a:xfrm>
          <a:prstGeom prst="rect">
            <a:avLst/>
          </a:prstGeom>
          <a:solidFill>
            <a:schemeClr val="bg1">
              <a:alpha val="84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316" name="Rectangle 36"/>
          <p:cNvSpPr>
            <a:spLocks noChangeArrowheads="1"/>
          </p:cNvSpPr>
          <p:nvPr/>
        </p:nvSpPr>
        <p:spPr bwMode="auto">
          <a:xfrm>
            <a:off x="4724400" y="2209800"/>
            <a:ext cx="2057400" cy="685800"/>
          </a:xfrm>
          <a:prstGeom prst="rect">
            <a:avLst/>
          </a:prstGeom>
          <a:solidFill>
            <a:schemeClr val="bg1">
              <a:alpha val="84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317" name="Rectangle 37"/>
          <p:cNvSpPr>
            <a:spLocks noChangeArrowheads="1"/>
          </p:cNvSpPr>
          <p:nvPr/>
        </p:nvSpPr>
        <p:spPr bwMode="auto">
          <a:xfrm>
            <a:off x="4724400" y="3124200"/>
            <a:ext cx="2057400" cy="685800"/>
          </a:xfrm>
          <a:prstGeom prst="rect">
            <a:avLst/>
          </a:prstGeom>
          <a:solidFill>
            <a:schemeClr val="bg1">
              <a:alpha val="84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318" name="Rectangle 38"/>
              <p:cNvSpPr>
                <a:spLocks noChangeArrowheads="1"/>
              </p:cNvSpPr>
              <p:nvPr/>
            </p:nvSpPr>
            <p:spPr bwMode="auto">
              <a:xfrm>
                <a:off x="3635375" y="260350"/>
                <a:ext cx="2376488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318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375" y="260350"/>
                <a:ext cx="2376488" cy="304800"/>
              </a:xfrm>
              <a:prstGeom prst="rect">
                <a:avLst/>
              </a:prstGeom>
              <a:blipFill rotWithShape="0">
                <a:blip r:embed="rId10"/>
                <a:stretch>
                  <a:fillRect b="-1730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319" name="Rectangle 39"/>
              <p:cNvSpPr>
                <a:spLocks noChangeArrowheads="1"/>
              </p:cNvSpPr>
              <p:nvPr/>
            </p:nvSpPr>
            <p:spPr bwMode="auto">
              <a:xfrm>
                <a:off x="4140200" y="26035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319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0200" y="260350"/>
                <a:ext cx="533400" cy="304800"/>
              </a:xfrm>
              <a:prstGeom prst="rect">
                <a:avLst/>
              </a:prstGeom>
              <a:blipFill rotWithShape="0">
                <a:blip r:embed="rId11"/>
                <a:stretch>
                  <a:fillRect b="-76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320" name="Rectangle 40"/>
              <p:cNvSpPr>
                <a:spLocks noChangeArrowheads="1"/>
              </p:cNvSpPr>
              <p:nvPr/>
            </p:nvSpPr>
            <p:spPr bwMode="auto">
              <a:xfrm>
                <a:off x="3635375" y="26035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Script MT Bold" pitchFamily="66" charset="0"/>
                </a:endParaRPr>
              </a:p>
            </p:txBody>
          </p:sp>
        </mc:Choice>
        <mc:Fallback xmlns="">
          <p:sp>
            <p:nvSpPr>
              <p:cNvPr id="97320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375" y="260350"/>
                <a:ext cx="533400" cy="304800"/>
              </a:xfrm>
              <a:prstGeom prst="rect">
                <a:avLst/>
              </a:prstGeom>
              <a:blipFill rotWithShape="0">
                <a:blip r:embed="rId12"/>
                <a:stretch>
                  <a:fillRect b="-192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309" name="Text Box 29"/>
              <p:cNvSpPr txBox="1">
                <a:spLocks noChangeArrowheads="1"/>
              </p:cNvSpPr>
              <p:nvPr/>
            </p:nvSpPr>
            <p:spPr bwMode="auto">
              <a:xfrm>
                <a:off x="4510088" y="2759075"/>
                <a:ext cx="22860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’=</m:t>
                      </m:r>
                      <m:r>
                        <a:rPr lang="en-US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309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0088" y="2759075"/>
                <a:ext cx="2286000" cy="400110"/>
              </a:xfrm>
              <a:prstGeom prst="rect">
                <a:avLst/>
              </a:prstGeom>
              <a:blipFill rotWithShape="0">
                <a:blip r:embed="rId13"/>
                <a:stretch>
                  <a:fillRect b="-1846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60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92" grpId="0" animBg="1"/>
      <p:bldP spid="97293" grpId="0" animBg="1"/>
      <p:bldP spid="97294" grpId="0" animBg="1"/>
      <p:bldP spid="97295" grpId="0" animBg="1"/>
      <p:bldP spid="97296" grpId="0" animBg="1"/>
      <p:bldP spid="97297" grpId="0" animBg="1"/>
      <p:bldP spid="97298" grpId="0" animBg="1"/>
      <p:bldP spid="97299" grpId="0" animBg="1"/>
      <p:bldP spid="97300" grpId="0" animBg="1"/>
      <p:bldP spid="97302" grpId="0" animBg="1"/>
      <p:bldP spid="97304" grpId="0" animBg="1"/>
      <p:bldP spid="97305" grpId="0" animBg="1"/>
      <p:bldP spid="97306" grpId="0"/>
      <p:bldP spid="97307" grpId="0"/>
      <p:bldP spid="97308" grpId="0"/>
      <p:bldP spid="97310" grpId="0"/>
      <p:bldP spid="97312" grpId="0"/>
      <p:bldP spid="97313" grpId="0"/>
      <p:bldP spid="97314" grpId="0" animBg="1"/>
      <p:bldP spid="97316" grpId="0" animBg="1"/>
      <p:bldP spid="97317" grpId="0" animBg="1"/>
      <p:bldP spid="9730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4EA58-5773-49A5-A09F-C8F8DC9A473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43000"/>
          </a:xfrm>
        </p:spPr>
        <p:txBody>
          <a:bodyPr/>
          <a:lstStyle/>
          <a:p>
            <a:r>
              <a:rPr lang="en-US" dirty="0"/>
              <a:t>Idea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55" name="Rectangle 3"/>
              <p:cNvSpPr>
                <a:spLocks noChangeArrowheads="1"/>
              </p:cNvSpPr>
              <p:nvPr/>
            </p:nvSpPr>
            <p:spPr bwMode="auto">
              <a:xfrm>
                <a:off x="971550" y="2822575"/>
                <a:ext cx="2376488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955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2822575"/>
                <a:ext cx="2376488" cy="1447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956" name="Line 4"/>
          <p:cNvSpPr>
            <a:spLocks noChangeShapeType="1"/>
          </p:cNvSpPr>
          <p:nvPr/>
        </p:nvSpPr>
        <p:spPr bwMode="auto">
          <a:xfrm flipV="1">
            <a:off x="2122488" y="4292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58" name="Rectangle 6"/>
              <p:cNvSpPr>
                <a:spLocks noChangeArrowheads="1"/>
              </p:cNvSpPr>
              <p:nvPr/>
            </p:nvSpPr>
            <p:spPr bwMode="auto">
              <a:xfrm>
                <a:off x="971550" y="2060575"/>
                <a:ext cx="2376488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95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2060575"/>
                <a:ext cx="2376488" cy="381000"/>
              </a:xfrm>
              <a:prstGeom prst="rect">
                <a:avLst/>
              </a:prstGeom>
              <a:blipFill rotWithShape="0">
                <a:blip r:embed="rId4"/>
                <a:stretch>
                  <a:fillRect b="-1846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959" name="Line 7"/>
          <p:cNvSpPr>
            <a:spLocks noChangeShapeType="1"/>
          </p:cNvSpPr>
          <p:nvPr/>
        </p:nvSpPr>
        <p:spPr bwMode="auto">
          <a:xfrm flipV="1">
            <a:off x="2122488" y="24209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60" name="Rectangle 8"/>
              <p:cNvSpPr>
                <a:spLocks noChangeArrowheads="1"/>
              </p:cNvSpPr>
              <p:nvPr/>
            </p:nvSpPr>
            <p:spPr bwMode="auto">
              <a:xfrm>
                <a:off x="5580063" y="2822575"/>
                <a:ext cx="2376487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960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2822575"/>
                <a:ext cx="2376487" cy="14478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961" name="Line 9"/>
          <p:cNvSpPr>
            <a:spLocks noChangeShapeType="1"/>
          </p:cNvSpPr>
          <p:nvPr/>
        </p:nvSpPr>
        <p:spPr bwMode="auto">
          <a:xfrm flipV="1">
            <a:off x="6731000" y="4292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25962" name="Rectangle 10"/>
          <p:cNvSpPr>
            <a:spLocks noChangeArrowheads="1"/>
          </p:cNvSpPr>
          <p:nvPr/>
        </p:nvSpPr>
        <p:spPr bwMode="auto">
          <a:xfrm>
            <a:off x="5580063" y="4652963"/>
            <a:ext cx="2376487" cy="311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r"/>
            <a:r>
              <a:rPr lang="en-US" sz="2000" b="1" i="1" dirty="0">
                <a:solidFill>
                  <a:srgbClr val="FF0000"/>
                </a:solidFill>
              </a:rPr>
              <a:t>      m</a:t>
            </a:r>
            <a:r>
              <a:rPr lang="en-US" sz="2000" b="1" i="1" baseline="-25000" dirty="0">
                <a:solidFill>
                  <a:srgbClr val="FF0000"/>
                </a:solidFill>
              </a:rPr>
              <a:t>d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63" name="Rectangle 11"/>
              <p:cNvSpPr>
                <a:spLocks noChangeArrowheads="1"/>
              </p:cNvSpPr>
              <p:nvPr/>
            </p:nvSpPr>
            <p:spPr bwMode="auto">
              <a:xfrm>
                <a:off x="5580063" y="2060575"/>
                <a:ext cx="2376487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l-PL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963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2060575"/>
                <a:ext cx="2376487" cy="381000"/>
              </a:xfrm>
              <a:prstGeom prst="rect">
                <a:avLst/>
              </a:prstGeom>
              <a:blipFill>
                <a:blip r:embed="rId6"/>
                <a:stretch>
                  <a:fillRect b="-1846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964" name="Line 12"/>
          <p:cNvSpPr>
            <a:spLocks noChangeShapeType="1"/>
          </p:cNvSpPr>
          <p:nvPr/>
        </p:nvSpPr>
        <p:spPr bwMode="auto">
          <a:xfrm flipV="1">
            <a:off x="6731000" y="24209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25965" name="Text Box 13"/>
          <p:cNvSpPr txBox="1">
            <a:spLocks noChangeArrowheads="1"/>
          </p:cNvSpPr>
          <p:nvPr/>
        </p:nvSpPr>
        <p:spPr bwMode="auto">
          <a:xfrm>
            <a:off x="4140200" y="3068638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/>
              <a:t>. . .</a:t>
            </a:r>
          </a:p>
        </p:txBody>
      </p:sp>
      <p:sp>
        <p:nvSpPr>
          <p:cNvPr id="125966" name="Text Box 14"/>
          <p:cNvSpPr txBox="1">
            <a:spLocks noChangeArrowheads="1"/>
          </p:cNvSpPr>
          <p:nvPr/>
        </p:nvSpPr>
        <p:spPr bwMode="auto">
          <a:xfrm>
            <a:off x="468313" y="1125538"/>
            <a:ext cx="54210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Add a fresh random value to each block!</a:t>
            </a:r>
          </a:p>
        </p:txBody>
      </p:sp>
      <p:sp>
        <p:nvSpPr>
          <p:cNvPr id="125967" name="Text Box 15"/>
          <p:cNvSpPr txBox="1">
            <a:spLocks noChangeArrowheads="1"/>
          </p:cNvSpPr>
          <p:nvPr/>
        </p:nvSpPr>
        <p:spPr bwMode="auto">
          <a:xfrm>
            <a:off x="6572264" y="6072206"/>
            <a:ext cx="17271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This works!</a:t>
            </a:r>
          </a:p>
        </p:txBody>
      </p:sp>
      <p:sp>
        <p:nvSpPr>
          <p:cNvPr id="125969" name="Rectangle 17"/>
          <p:cNvSpPr>
            <a:spLocks noChangeArrowheads="1"/>
          </p:cNvSpPr>
          <p:nvPr/>
        </p:nvSpPr>
        <p:spPr bwMode="auto">
          <a:xfrm>
            <a:off x="6804025" y="4652963"/>
            <a:ext cx="533400" cy="311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25971" name="Rectangle 19"/>
          <p:cNvSpPr>
            <a:spLocks noChangeArrowheads="1"/>
          </p:cNvSpPr>
          <p:nvPr/>
        </p:nvSpPr>
        <p:spPr bwMode="auto">
          <a:xfrm>
            <a:off x="6227763" y="4652963"/>
            <a:ext cx="576262" cy="311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Script MT Bold" pitchFamily="66" charset="0"/>
              </a:rPr>
              <a:t>l</a:t>
            </a:r>
          </a:p>
        </p:txBody>
      </p:sp>
      <p:sp>
        <p:nvSpPr>
          <p:cNvPr id="125972" name="AutoShape 20"/>
          <p:cNvSpPr>
            <a:spLocks/>
          </p:cNvSpPr>
          <p:nvPr/>
        </p:nvSpPr>
        <p:spPr bwMode="auto">
          <a:xfrm rot="16200000">
            <a:off x="2007394" y="4037012"/>
            <a:ext cx="304800" cy="2376488"/>
          </a:xfrm>
          <a:prstGeom prst="leftBrace">
            <a:avLst>
              <a:gd name="adj1" fmla="val 6497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73" name="Text Box 21"/>
              <p:cNvSpPr txBox="1">
                <a:spLocks noChangeArrowheads="1"/>
              </p:cNvSpPr>
              <p:nvPr/>
            </p:nvSpPr>
            <p:spPr bwMode="auto">
              <a:xfrm>
                <a:off x="1946085" y="5398859"/>
                <a:ext cx="51110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l-PL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973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6085" y="5398859"/>
                <a:ext cx="511101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974" name="AutoShape 22"/>
          <p:cNvSpPr>
            <a:spLocks/>
          </p:cNvSpPr>
          <p:nvPr/>
        </p:nvSpPr>
        <p:spPr bwMode="auto">
          <a:xfrm rot="16200000">
            <a:off x="6615907" y="4037012"/>
            <a:ext cx="304800" cy="2376487"/>
          </a:xfrm>
          <a:prstGeom prst="leftBrace">
            <a:avLst>
              <a:gd name="adj1" fmla="val 6497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75" name="Text Box 23"/>
              <p:cNvSpPr txBox="1">
                <a:spLocks noChangeArrowheads="1"/>
              </p:cNvSpPr>
              <p:nvPr/>
            </p:nvSpPr>
            <p:spPr bwMode="auto">
              <a:xfrm>
                <a:off x="6554597" y="5398859"/>
                <a:ext cx="49885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975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4597" y="5398859"/>
                <a:ext cx="498855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46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977" name="Rectangle 25"/>
          <p:cNvSpPr>
            <a:spLocks noChangeArrowheads="1"/>
          </p:cNvSpPr>
          <p:nvPr/>
        </p:nvSpPr>
        <p:spPr bwMode="auto">
          <a:xfrm>
            <a:off x="5580063" y="4652963"/>
            <a:ext cx="647700" cy="311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25978" name="Rectangle 26"/>
          <p:cNvSpPr>
            <a:spLocks noChangeArrowheads="1"/>
          </p:cNvSpPr>
          <p:nvPr/>
        </p:nvSpPr>
        <p:spPr bwMode="auto">
          <a:xfrm>
            <a:off x="971550" y="4652963"/>
            <a:ext cx="2376488" cy="311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r"/>
            <a:r>
              <a:rPr lang="en-US" sz="2000" b="1" i="1" dirty="0">
                <a:solidFill>
                  <a:srgbClr val="FF0000"/>
                </a:solidFill>
              </a:rPr>
              <a:t>      m</a:t>
            </a:r>
            <a:r>
              <a:rPr lang="pl-PL" sz="2000" b="1" baseline="-25000" dirty="0">
                <a:solidFill>
                  <a:srgbClr val="FF0000"/>
                </a:solidFill>
              </a:rPr>
              <a:t>1</a:t>
            </a:r>
            <a:r>
              <a:rPr lang="en-US" sz="2000" b="1" baseline="-25000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125979" name="Rectangle 27"/>
          <p:cNvSpPr>
            <a:spLocks noChangeArrowheads="1"/>
          </p:cNvSpPr>
          <p:nvPr/>
        </p:nvSpPr>
        <p:spPr bwMode="auto">
          <a:xfrm>
            <a:off x="2195513" y="4652963"/>
            <a:ext cx="533400" cy="311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l-PL" sz="2000" b="1" dirty="0">
                <a:solidFill>
                  <a:srgbClr val="FF0000"/>
                </a:solidFill>
              </a:rPr>
              <a:t>1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25980" name="Rectangle 28"/>
          <p:cNvSpPr>
            <a:spLocks noChangeArrowheads="1"/>
          </p:cNvSpPr>
          <p:nvPr/>
        </p:nvSpPr>
        <p:spPr bwMode="auto">
          <a:xfrm>
            <a:off x="1619250" y="4652963"/>
            <a:ext cx="576263" cy="311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Script MT Bold" pitchFamily="66" charset="0"/>
              </a:rPr>
              <a:t>l</a:t>
            </a:r>
          </a:p>
        </p:txBody>
      </p:sp>
      <p:sp>
        <p:nvSpPr>
          <p:cNvPr id="125981" name="Rectangle 29"/>
          <p:cNvSpPr>
            <a:spLocks noChangeArrowheads="1"/>
          </p:cNvSpPr>
          <p:nvPr/>
        </p:nvSpPr>
        <p:spPr bwMode="auto">
          <a:xfrm>
            <a:off x="971550" y="4652963"/>
            <a:ext cx="647700" cy="311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45231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animBg="1"/>
      <p:bldP spid="125956" grpId="0" animBg="1"/>
      <p:bldP spid="125958" grpId="0" animBg="1"/>
      <p:bldP spid="125959" grpId="0" animBg="1"/>
      <p:bldP spid="125960" grpId="0" animBg="1"/>
      <p:bldP spid="125961" grpId="0" animBg="1"/>
      <p:bldP spid="125962" grpId="0" animBg="1"/>
      <p:bldP spid="125963" grpId="0" animBg="1"/>
      <p:bldP spid="125964" grpId="0" animBg="1"/>
      <p:bldP spid="125965" grpId="0"/>
      <p:bldP spid="125967" grpId="0"/>
      <p:bldP spid="125969" grpId="0" animBg="1"/>
      <p:bldP spid="125971" grpId="0" animBg="1"/>
      <p:bldP spid="125972" grpId="0" animBg="1"/>
      <p:bldP spid="125973" grpId="0"/>
      <p:bldP spid="125974" grpId="0" animBg="1"/>
      <p:bldP spid="125975" grpId="0"/>
      <p:bldP spid="125977" grpId="0" animBg="1"/>
      <p:bldP spid="125978" grpId="0" animBg="1"/>
      <p:bldP spid="125979" grpId="0" animBg="1"/>
      <p:bldP spid="125980" grpId="0" animBg="1"/>
      <p:bldP spid="12598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26F3-F346-40EA-9C98-17E4441D8F25}" type="slidenum">
              <a:rPr lang="it-IT"/>
              <a:pPr/>
              <a:t>27</a:t>
            </a:fld>
            <a:endParaRPr lang="it-IT"/>
          </a:p>
        </p:txBody>
      </p:sp>
      <p:sp>
        <p:nvSpPr>
          <p:cNvPr id="102403" name="AutoShape 3"/>
          <p:cNvSpPr>
            <a:spLocks noChangeArrowheads="1"/>
          </p:cNvSpPr>
          <p:nvPr/>
        </p:nvSpPr>
        <p:spPr bwMode="auto">
          <a:xfrm>
            <a:off x="152400" y="838200"/>
            <a:ext cx="8763000" cy="685800"/>
          </a:xfrm>
          <a:prstGeom prst="wedgeRoundRectCallout">
            <a:avLst>
              <a:gd name="adj1" fmla="val 15542"/>
              <a:gd name="adj2" fmla="val -104861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US" b="1">
              <a:solidFill>
                <a:srgbClr val="990000"/>
              </a:solidFill>
            </a:endParaRPr>
          </a:p>
        </p:txBody>
      </p:sp>
      <p:sp>
        <p:nvSpPr>
          <p:cNvPr id="102404" name="AutoShape 4"/>
          <p:cNvSpPr>
            <a:spLocks noChangeArrowheads="1"/>
          </p:cNvSpPr>
          <p:nvPr/>
        </p:nvSpPr>
        <p:spPr bwMode="auto">
          <a:xfrm rot="16200000">
            <a:off x="-457200" y="2209800"/>
            <a:ext cx="2362200" cy="838200"/>
          </a:xfrm>
          <a:custGeom>
            <a:avLst/>
            <a:gdLst>
              <a:gd name="G0" fmla="+- 15503 0 0"/>
              <a:gd name="G1" fmla="+- 4663 0 0"/>
              <a:gd name="G2" fmla="+- 12158 0 4663"/>
              <a:gd name="G3" fmla="+- G2 0 4663"/>
              <a:gd name="G4" fmla="*/ G3 32768 32059"/>
              <a:gd name="G5" fmla="*/ G4 1 2"/>
              <a:gd name="G6" fmla="+- 21600 0 15503"/>
              <a:gd name="G7" fmla="*/ G6 4663 6079"/>
              <a:gd name="G8" fmla="+- G7 15503 0"/>
              <a:gd name="T0" fmla="*/ 15503 w 21600"/>
              <a:gd name="T1" fmla="*/ 0 h 21600"/>
              <a:gd name="T2" fmla="*/ 15503 w 21600"/>
              <a:gd name="T3" fmla="*/ 12158 h 21600"/>
              <a:gd name="T4" fmla="*/ 1448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503" y="0"/>
                </a:lnTo>
                <a:lnTo>
                  <a:pt x="15503" y="4663"/>
                </a:lnTo>
                <a:lnTo>
                  <a:pt x="12427" y="4663"/>
                </a:lnTo>
                <a:cubicBezTo>
                  <a:pt x="5564" y="4663"/>
                  <a:pt x="0" y="8019"/>
                  <a:pt x="0" y="12158"/>
                </a:cubicBezTo>
                <a:lnTo>
                  <a:pt x="0" y="21600"/>
                </a:lnTo>
                <a:lnTo>
                  <a:pt x="2895" y="21600"/>
                </a:lnTo>
                <a:lnTo>
                  <a:pt x="2895" y="12158"/>
                </a:lnTo>
                <a:cubicBezTo>
                  <a:pt x="2895" y="9583"/>
                  <a:pt x="7163" y="7495"/>
                  <a:pt x="12427" y="7495"/>
                </a:cubicBezTo>
                <a:lnTo>
                  <a:pt x="15503" y="7495"/>
                </a:lnTo>
                <a:lnTo>
                  <a:pt x="15503" y="12158"/>
                </a:lnTo>
                <a:close/>
              </a:path>
            </a:pathLst>
          </a:cu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05" name="Rectangle 5"/>
              <p:cNvSpPr>
                <a:spLocks noChangeArrowheads="1"/>
              </p:cNvSpPr>
              <p:nvPr/>
            </p:nvSpPr>
            <p:spPr bwMode="auto">
              <a:xfrm>
                <a:off x="914400" y="1752600"/>
                <a:ext cx="2133600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05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1752600"/>
                <a:ext cx="2133600" cy="1447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06" name="Line 6"/>
          <p:cNvSpPr>
            <a:spLocks noChangeShapeType="1"/>
          </p:cNvSpPr>
          <p:nvPr/>
        </p:nvSpPr>
        <p:spPr bwMode="auto">
          <a:xfrm flipV="1">
            <a:off x="19812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07" name="Rectangle 7"/>
              <p:cNvSpPr>
                <a:spLocks noChangeArrowheads="1"/>
              </p:cNvSpPr>
              <p:nvPr/>
            </p:nvSpPr>
            <p:spPr bwMode="auto">
              <a:xfrm>
                <a:off x="914400" y="990600"/>
                <a:ext cx="21336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0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990600"/>
                <a:ext cx="2133600" cy="381000"/>
              </a:xfrm>
              <a:prstGeom prst="rect">
                <a:avLst/>
              </a:prstGeom>
              <a:blipFill rotWithShape="0">
                <a:blip r:embed="rId4"/>
                <a:stretch>
                  <a:fillRect b="-2031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08" name="Line 8"/>
          <p:cNvSpPr>
            <a:spLocks noChangeShapeType="1"/>
          </p:cNvSpPr>
          <p:nvPr/>
        </p:nvSpPr>
        <p:spPr bwMode="auto">
          <a:xfrm flipV="1">
            <a:off x="2057400" y="1371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09" name="Rectangle 9"/>
              <p:cNvSpPr>
                <a:spLocks noChangeArrowheads="1"/>
              </p:cNvSpPr>
              <p:nvPr/>
            </p:nvSpPr>
            <p:spPr bwMode="auto">
              <a:xfrm>
                <a:off x="3124200" y="5486400"/>
                <a:ext cx="5105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09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4200" y="5486400"/>
                <a:ext cx="5105400" cy="304800"/>
              </a:xfrm>
              <a:prstGeom prst="rect">
                <a:avLst/>
              </a:prstGeom>
              <a:blipFill rotWithShape="0">
                <a:blip r:embed="rId5"/>
                <a:stretch>
                  <a:fillRect b="-192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10" name="Rectangle 10"/>
              <p:cNvSpPr>
                <a:spLocks noChangeArrowheads="1"/>
              </p:cNvSpPr>
              <p:nvPr/>
            </p:nvSpPr>
            <p:spPr bwMode="auto">
              <a:xfrm>
                <a:off x="19812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10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3581400"/>
                <a:ext cx="533400" cy="304800"/>
              </a:xfrm>
              <a:prstGeom prst="rect">
                <a:avLst/>
              </a:prstGeom>
              <a:blipFill rotWithShape="0">
                <a:blip r:embed="rId6"/>
                <a:stretch>
                  <a:fillRect b="-76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11" name="Rectangle 11"/>
              <p:cNvSpPr>
                <a:spLocks noChangeArrowheads="1"/>
              </p:cNvSpPr>
              <p:nvPr/>
            </p:nvSpPr>
            <p:spPr bwMode="auto">
              <a:xfrm>
                <a:off x="14478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Script MT Bold" pitchFamily="66" charset="0"/>
                </a:endParaRPr>
              </a:p>
            </p:txBody>
          </p:sp>
        </mc:Choice>
        <mc:Fallback xmlns="">
          <p:sp>
            <p:nvSpPr>
              <p:cNvPr id="102411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7800" y="3581400"/>
                <a:ext cx="533400" cy="304800"/>
              </a:xfrm>
              <a:prstGeom prst="rect">
                <a:avLst/>
              </a:prstGeom>
              <a:blipFill rotWithShape="0">
                <a:blip r:embed="rId7"/>
                <a:stretch>
                  <a:fillRect b="-192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12" name="Rectangle 12"/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12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3581400"/>
                <a:ext cx="533400" cy="3048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13" name="Rectangle 13"/>
              <p:cNvSpPr>
                <a:spLocks noChangeArrowheads="1"/>
              </p:cNvSpPr>
              <p:nvPr/>
            </p:nvSpPr>
            <p:spPr bwMode="auto">
              <a:xfrm>
                <a:off x="3276600" y="1752600"/>
                <a:ext cx="2133600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13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6600" y="1752600"/>
                <a:ext cx="2133600" cy="144780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14" name="Line 14"/>
          <p:cNvSpPr>
            <a:spLocks noChangeShapeType="1"/>
          </p:cNvSpPr>
          <p:nvPr/>
        </p:nvSpPr>
        <p:spPr bwMode="auto">
          <a:xfrm flipV="1">
            <a:off x="43434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15" name="Rectangle 15"/>
              <p:cNvSpPr>
                <a:spLocks noChangeArrowheads="1"/>
              </p:cNvSpPr>
              <p:nvPr/>
            </p:nvSpPr>
            <p:spPr bwMode="auto">
              <a:xfrm>
                <a:off x="3276600" y="990600"/>
                <a:ext cx="21336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15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6600" y="990600"/>
                <a:ext cx="2133600" cy="381000"/>
              </a:xfrm>
              <a:prstGeom prst="rect">
                <a:avLst/>
              </a:prstGeom>
              <a:blipFill rotWithShape="0">
                <a:blip r:embed="rId10"/>
                <a:stretch>
                  <a:fillRect b="-2031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16" name="Line 16"/>
          <p:cNvSpPr>
            <a:spLocks noChangeShapeType="1"/>
          </p:cNvSpPr>
          <p:nvPr/>
        </p:nvSpPr>
        <p:spPr bwMode="auto">
          <a:xfrm flipV="1">
            <a:off x="4419600" y="1371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17" name="Rectangle 17"/>
              <p:cNvSpPr>
                <a:spLocks noChangeArrowheads="1"/>
              </p:cNvSpPr>
              <p:nvPr/>
            </p:nvSpPr>
            <p:spPr bwMode="auto">
              <a:xfrm>
                <a:off x="48768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17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3581400"/>
                <a:ext cx="533400" cy="304800"/>
              </a:xfrm>
              <a:prstGeom prst="rect">
                <a:avLst/>
              </a:prstGeom>
              <a:blipFill rotWithShape="0">
                <a:blip r:embed="rId11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18" name="Rectangle 18"/>
              <p:cNvSpPr>
                <a:spLocks noChangeArrowheads="1"/>
              </p:cNvSpPr>
              <p:nvPr/>
            </p:nvSpPr>
            <p:spPr bwMode="auto">
              <a:xfrm>
                <a:off x="43434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18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400" y="3581400"/>
                <a:ext cx="533400" cy="304800"/>
              </a:xfrm>
              <a:prstGeom prst="rect">
                <a:avLst/>
              </a:prstGeom>
              <a:blipFill rotWithShape="0">
                <a:blip r:embed="rId12"/>
                <a:stretch>
                  <a:fillRect b="-76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19" name="Rectangle 19"/>
              <p:cNvSpPr>
                <a:spLocks noChangeArrowheads="1"/>
              </p:cNvSpPr>
              <p:nvPr/>
            </p:nvSpPr>
            <p:spPr bwMode="auto">
              <a:xfrm>
                <a:off x="32766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19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6600" y="3581400"/>
                <a:ext cx="533400" cy="3048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20" name="Rectangle 20"/>
              <p:cNvSpPr>
                <a:spLocks noChangeArrowheads="1"/>
              </p:cNvSpPr>
              <p:nvPr/>
            </p:nvSpPr>
            <p:spPr bwMode="auto">
              <a:xfrm>
                <a:off x="6705600" y="1752600"/>
                <a:ext cx="2133600" cy="1447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20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600" y="1752600"/>
                <a:ext cx="2133600" cy="1447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1" name="Line 21"/>
          <p:cNvSpPr>
            <a:spLocks noChangeShapeType="1"/>
          </p:cNvSpPr>
          <p:nvPr/>
        </p:nvSpPr>
        <p:spPr bwMode="auto">
          <a:xfrm flipV="1">
            <a:off x="77724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22" name="Rectangle 22"/>
              <p:cNvSpPr>
                <a:spLocks noChangeArrowheads="1"/>
              </p:cNvSpPr>
              <p:nvPr/>
            </p:nvSpPr>
            <p:spPr bwMode="auto">
              <a:xfrm>
                <a:off x="6705600" y="990600"/>
                <a:ext cx="21336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l-PL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22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600" y="990600"/>
                <a:ext cx="2133600" cy="381000"/>
              </a:xfrm>
              <a:prstGeom prst="rect">
                <a:avLst/>
              </a:prstGeom>
              <a:blipFill>
                <a:blip r:embed="rId14"/>
                <a:stretch>
                  <a:fillRect b="-2031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3" name="Line 23"/>
          <p:cNvSpPr>
            <a:spLocks noChangeShapeType="1"/>
          </p:cNvSpPr>
          <p:nvPr/>
        </p:nvSpPr>
        <p:spPr bwMode="auto">
          <a:xfrm flipV="1">
            <a:off x="7848600" y="1371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24" name="Rectangle 24"/>
              <p:cNvSpPr>
                <a:spLocks noChangeArrowheads="1"/>
              </p:cNvSpPr>
              <p:nvPr/>
            </p:nvSpPr>
            <p:spPr bwMode="auto">
              <a:xfrm>
                <a:off x="83058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1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24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05800" y="3581400"/>
                <a:ext cx="533400" cy="304800"/>
              </a:xfrm>
              <a:prstGeom prst="rect">
                <a:avLst/>
              </a:prstGeom>
              <a:blipFill rotWithShape="0">
                <a:blip r:embed="rId15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25" name="Rectangle 25"/>
              <p:cNvSpPr>
                <a:spLocks noChangeArrowheads="1"/>
              </p:cNvSpPr>
              <p:nvPr/>
            </p:nvSpPr>
            <p:spPr bwMode="auto">
              <a:xfrm>
                <a:off x="77724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25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2400" y="3581400"/>
                <a:ext cx="533400" cy="304800"/>
              </a:xfrm>
              <a:prstGeom prst="rect">
                <a:avLst/>
              </a:prstGeom>
              <a:blipFill rotWithShape="0">
                <a:blip r:embed="rId16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6" name="Rectangle 26"/>
          <p:cNvSpPr>
            <a:spLocks noChangeArrowheads="1"/>
          </p:cNvSpPr>
          <p:nvPr/>
        </p:nvSpPr>
        <p:spPr bwMode="auto">
          <a:xfrm>
            <a:off x="6781800" y="3581400"/>
            <a:ext cx="457200" cy="304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27" name="Rectangle 27"/>
              <p:cNvSpPr>
                <a:spLocks noChangeArrowheads="1"/>
              </p:cNvSpPr>
              <p:nvPr/>
            </p:nvSpPr>
            <p:spPr bwMode="auto">
              <a:xfrm>
                <a:off x="3124200" y="51816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27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4200" y="5181600"/>
                <a:ext cx="533400" cy="304800"/>
              </a:xfrm>
              <a:prstGeom prst="rect">
                <a:avLst/>
              </a:prstGeom>
              <a:blipFill rotWithShape="0">
                <a:blip r:embed="rId17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28" name="Rectangle 28"/>
              <p:cNvSpPr>
                <a:spLocks noChangeArrowheads="1"/>
              </p:cNvSpPr>
              <p:nvPr/>
            </p:nvSpPr>
            <p:spPr bwMode="auto">
              <a:xfrm>
                <a:off x="3657600" y="51816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2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5181600"/>
                <a:ext cx="533400" cy="304800"/>
              </a:xfrm>
              <a:prstGeom prst="rect">
                <a:avLst/>
              </a:prstGeom>
              <a:blipFill rotWithShape="0">
                <a:blip r:embed="rId18"/>
                <a:stretch>
                  <a:fillRect b="-76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0" name="Rectangle 30"/>
              <p:cNvSpPr>
                <a:spLocks noChangeArrowheads="1"/>
              </p:cNvSpPr>
              <p:nvPr/>
            </p:nvSpPr>
            <p:spPr bwMode="auto">
              <a:xfrm>
                <a:off x="8077200" y="51816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30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7200" y="5181600"/>
                <a:ext cx="533400" cy="304800"/>
              </a:xfrm>
              <a:prstGeom prst="rect">
                <a:avLst/>
              </a:prstGeom>
              <a:blipFill rotWithShape="0">
                <a:blip r:embed="rId19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431" name="AutoShape 31"/>
          <p:cNvCxnSpPr>
            <a:cxnSpLocks noChangeShapeType="1"/>
            <a:stCxn id="102427" idx="0"/>
            <a:endCxn id="102438" idx="2"/>
          </p:cNvCxnSpPr>
          <p:nvPr/>
        </p:nvCxnSpPr>
        <p:spPr bwMode="auto">
          <a:xfrm flipH="1" flipV="1">
            <a:off x="2781300" y="3886200"/>
            <a:ext cx="609600" cy="1295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2432" name="AutoShape 32"/>
          <p:cNvCxnSpPr>
            <a:cxnSpLocks noChangeShapeType="1"/>
            <a:stCxn id="102428" idx="0"/>
            <a:endCxn id="102417" idx="2"/>
          </p:cNvCxnSpPr>
          <p:nvPr/>
        </p:nvCxnSpPr>
        <p:spPr bwMode="auto">
          <a:xfrm flipV="1">
            <a:off x="3924300" y="3886200"/>
            <a:ext cx="1219200" cy="1295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2434" name="AutoShape 34"/>
          <p:cNvCxnSpPr>
            <a:cxnSpLocks noChangeShapeType="1"/>
            <a:stCxn id="102430" idx="0"/>
            <a:endCxn id="102424" idx="2"/>
          </p:cNvCxnSpPr>
          <p:nvPr/>
        </p:nvCxnSpPr>
        <p:spPr bwMode="auto">
          <a:xfrm flipV="1">
            <a:off x="8343900" y="3886200"/>
            <a:ext cx="228600" cy="1295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02435" name="Text Box 35"/>
          <p:cNvSpPr txBox="1">
            <a:spLocks noChangeArrowheads="1"/>
          </p:cNvSpPr>
          <p:nvPr/>
        </p:nvSpPr>
        <p:spPr bwMode="auto">
          <a:xfrm>
            <a:off x="4953000" y="5029200"/>
            <a:ext cx="692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990000"/>
                </a:solidFill>
              </a:rPr>
              <a:t>. . . </a:t>
            </a:r>
          </a:p>
        </p:txBody>
      </p:sp>
      <p:sp>
        <p:nvSpPr>
          <p:cNvPr id="102436" name="Text Box 36"/>
          <p:cNvSpPr txBox="1">
            <a:spLocks noChangeArrowheads="1"/>
          </p:cNvSpPr>
          <p:nvPr/>
        </p:nvSpPr>
        <p:spPr bwMode="auto">
          <a:xfrm>
            <a:off x="5867400" y="3505200"/>
            <a:ext cx="692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990000"/>
                </a:solidFill>
              </a:rPr>
              <a:t>. . . </a:t>
            </a:r>
          </a:p>
        </p:txBody>
      </p:sp>
      <p:sp>
        <p:nvSpPr>
          <p:cNvPr id="102437" name="Text Box 37"/>
          <p:cNvSpPr txBox="1">
            <a:spLocks noChangeArrowheads="1"/>
          </p:cNvSpPr>
          <p:nvPr/>
        </p:nvSpPr>
        <p:spPr bwMode="auto">
          <a:xfrm>
            <a:off x="5791200" y="2286000"/>
            <a:ext cx="692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990000"/>
                </a:solidFill>
              </a:rPr>
              <a:t>. . 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8" name="Rectangle 38"/>
              <p:cNvSpPr>
                <a:spLocks noChangeArrowheads="1"/>
              </p:cNvSpPr>
              <p:nvPr/>
            </p:nvSpPr>
            <p:spPr bwMode="auto">
              <a:xfrm>
                <a:off x="25146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38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3581400"/>
                <a:ext cx="533400" cy="304800"/>
              </a:xfrm>
              <a:prstGeom prst="rect">
                <a:avLst/>
              </a:prstGeom>
              <a:blipFill rotWithShape="0">
                <a:blip r:embed="rId20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9" name="Text Box 39"/>
              <p:cNvSpPr txBox="1">
                <a:spLocks noChangeArrowheads="1"/>
              </p:cNvSpPr>
              <p:nvPr/>
            </p:nvSpPr>
            <p:spPr bwMode="auto">
              <a:xfrm>
                <a:off x="5657200" y="5758934"/>
                <a:ext cx="36259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Script MT Bold" pitchFamily="66" charset="0"/>
                </a:endParaRPr>
              </a:p>
            </p:txBody>
          </p:sp>
        </mc:Choice>
        <mc:Fallback xmlns="">
          <p:sp>
            <p:nvSpPr>
              <p:cNvPr id="102439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7200" y="5758934"/>
                <a:ext cx="362599" cy="369332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40" name="Line 40"/>
          <p:cNvSpPr>
            <a:spLocks noChangeShapeType="1"/>
          </p:cNvSpPr>
          <p:nvPr/>
        </p:nvSpPr>
        <p:spPr bwMode="auto">
          <a:xfrm flipH="1">
            <a:off x="3124200" y="5943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441" name="Line 41"/>
          <p:cNvSpPr>
            <a:spLocks noChangeShapeType="1"/>
          </p:cNvSpPr>
          <p:nvPr/>
        </p:nvSpPr>
        <p:spPr bwMode="auto">
          <a:xfrm>
            <a:off x="6019800" y="59436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442" name="Line 42"/>
          <p:cNvSpPr>
            <a:spLocks noChangeShapeType="1"/>
          </p:cNvSpPr>
          <p:nvPr/>
        </p:nvSpPr>
        <p:spPr bwMode="auto">
          <a:xfrm>
            <a:off x="31242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443" name="Line 43"/>
          <p:cNvSpPr>
            <a:spLocks noChangeShapeType="1"/>
          </p:cNvSpPr>
          <p:nvPr/>
        </p:nvSpPr>
        <p:spPr bwMode="auto">
          <a:xfrm>
            <a:off x="82296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44" name="Rectangle 44"/>
              <p:cNvSpPr>
                <a:spLocks noChangeArrowheads="1"/>
              </p:cNvSpPr>
              <p:nvPr/>
            </p:nvSpPr>
            <p:spPr bwMode="auto">
              <a:xfrm>
                <a:off x="72390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Script MT Bold" pitchFamily="66" charset="0"/>
                </a:endParaRPr>
              </a:p>
            </p:txBody>
          </p:sp>
        </mc:Choice>
        <mc:Fallback xmlns="">
          <p:sp>
            <p:nvSpPr>
              <p:cNvPr id="102444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9000" y="3581400"/>
                <a:ext cx="533400" cy="304800"/>
              </a:xfrm>
              <a:prstGeom prst="rect">
                <a:avLst/>
              </a:prstGeom>
              <a:blipFill rotWithShape="0">
                <a:blip r:embed="rId7"/>
                <a:stretch>
                  <a:fillRect b="-192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45" name="Rectangle 45"/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Script MT Bold" pitchFamily="66" charset="0"/>
                </a:endParaRPr>
              </a:p>
            </p:txBody>
          </p:sp>
        </mc:Choice>
        <mc:Fallback xmlns="">
          <p:sp>
            <p:nvSpPr>
              <p:cNvPr id="102445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3581400"/>
                <a:ext cx="533400" cy="304800"/>
              </a:xfrm>
              <a:prstGeom prst="rect">
                <a:avLst/>
              </a:prstGeom>
              <a:blipFill rotWithShape="0">
                <a:blip r:embed="rId22"/>
                <a:stretch>
                  <a:fillRect b="-192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46" name="AutoShape 46"/>
          <p:cNvSpPr>
            <a:spLocks/>
          </p:cNvSpPr>
          <p:nvPr/>
        </p:nvSpPr>
        <p:spPr bwMode="auto">
          <a:xfrm rot="16200000">
            <a:off x="1828800" y="3048000"/>
            <a:ext cx="304800" cy="21336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47" name="AutoShape 47"/>
          <p:cNvSpPr>
            <a:spLocks/>
          </p:cNvSpPr>
          <p:nvPr/>
        </p:nvSpPr>
        <p:spPr bwMode="auto">
          <a:xfrm rot="16200000">
            <a:off x="4191000" y="3048000"/>
            <a:ext cx="304800" cy="21336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48" name="AutoShape 48"/>
          <p:cNvSpPr>
            <a:spLocks/>
          </p:cNvSpPr>
          <p:nvPr/>
        </p:nvSpPr>
        <p:spPr bwMode="auto">
          <a:xfrm rot="16200000">
            <a:off x="7620000" y="3048000"/>
            <a:ext cx="304800" cy="21336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49" name="Text Box 49"/>
              <p:cNvSpPr txBox="1">
                <a:spLocks noChangeArrowheads="1"/>
              </p:cNvSpPr>
              <p:nvPr/>
            </p:nvSpPr>
            <p:spPr bwMode="auto">
              <a:xfrm>
                <a:off x="1752600" y="4191000"/>
                <a:ext cx="46038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49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4191000"/>
                <a:ext cx="460382" cy="369332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65" name="Text Box 65"/>
              <p:cNvSpPr txBox="1">
                <a:spLocks noChangeArrowheads="1"/>
              </p:cNvSpPr>
              <p:nvPr/>
            </p:nvSpPr>
            <p:spPr bwMode="auto">
              <a:xfrm>
                <a:off x="4152901" y="4191000"/>
                <a:ext cx="46038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65" name="Text 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2901" y="4191000"/>
                <a:ext cx="460382" cy="369332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66" name="Text Box 66"/>
              <p:cNvSpPr txBox="1">
                <a:spLocks noChangeArrowheads="1"/>
              </p:cNvSpPr>
              <p:nvPr/>
            </p:nvSpPr>
            <p:spPr bwMode="auto">
              <a:xfrm>
                <a:off x="7574713" y="4190552"/>
                <a:ext cx="46839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66" name="Text 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74713" y="4190552"/>
                <a:ext cx="468398" cy="369332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67" name="Rectangle 67"/>
              <p:cNvSpPr>
                <a:spLocks noChangeArrowheads="1"/>
              </p:cNvSpPr>
              <p:nvPr/>
            </p:nvSpPr>
            <p:spPr bwMode="auto">
              <a:xfrm>
                <a:off x="381000" y="6172200"/>
                <a:ext cx="2667000" cy="53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𝒎𝒊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67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6172200"/>
                <a:ext cx="2667000" cy="533400"/>
              </a:xfrm>
              <a:prstGeom prst="rect">
                <a:avLst/>
              </a:prstGeom>
              <a:blipFill rotWithShape="0">
                <a:blip r:embed="rId26"/>
                <a:stretch>
                  <a:fillRect b="-114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68" name="AutoShape 68"/>
          <p:cNvSpPr>
            <a:spLocks noChangeArrowheads="1"/>
          </p:cNvSpPr>
          <p:nvPr/>
        </p:nvSpPr>
        <p:spPr bwMode="auto">
          <a:xfrm rot="480839" flipV="1">
            <a:off x="781050" y="3892550"/>
            <a:ext cx="381000" cy="1066800"/>
          </a:xfrm>
          <a:prstGeom prst="downArrow">
            <a:avLst>
              <a:gd name="adj1" fmla="val 38333"/>
              <a:gd name="adj2" fmla="val 30450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69" name="Text Box 69"/>
              <p:cNvSpPr txBox="1">
                <a:spLocks noChangeArrowheads="1"/>
              </p:cNvSpPr>
              <p:nvPr/>
            </p:nvSpPr>
            <p:spPr bwMode="auto">
              <a:xfrm>
                <a:off x="152400" y="5054600"/>
                <a:ext cx="224715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1800" b="1" dirty="0">
                    <a:solidFill>
                      <a:srgbClr val="990000"/>
                    </a:solidFill>
                  </a:rPr>
                  <a:t> </a:t>
                </a:r>
                <a:r>
                  <a:rPr lang="en-US" sz="1800" dirty="0"/>
                  <a:t>is chosen randomly</a:t>
                </a:r>
              </a:p>
            </p:txBody>
          </p:sp>
        </mc:Choice>
        <mc:Fallback xmlns="">
          <p:sp>
            <p:nvSpPr>
              <p:cNvPr id="102469" name="Text 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5054600"/>
                <a:ext cx="2247154" cy="369332"/>
              </a:xfrm>
              <a:prstGeom prst="rect">
                <a:avLst/>
              </a:prstGeom>
              <a:blipFill rotWithShape="0">
                <a:blip r:embed="rId27"/>
                <a:stretch>
                  <a:fillRect t="-9836" r="-2439" b="-2295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70" name="Rectangle 70"/>
              <p:cNvSpPr>
                <a:spLocks noChangeArrowheads="1"/>
              </p:cNvSpPr>
              <p:nvPr/>
            </p:nvSpPr>
            <p:spPr bwMode="auto">
              <a:xfrm>
                <a:off x="304800" y="990600"/>
                <a:ext cx="5334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70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990600"/>
                <a:ext cx="533400" cy="381000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71" name="Text Box 71"/>
          <p:cNvSpPr txBox="1">
            <a:spLocks noChangeArrowheads="1"/>
          </p:cNvSpPr>
          <p:nvPr/>
        </p:nvSpPr>
        <p:spPr bwMode="auto">
          <a:xfrm>
            <a:off x="5029200" y="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72" name="Text Box 72"/>
              <p:cNvSpPr txBox="1">
                <a:spLocks noChangeArrowheads="1"/>
              </p:cNvSpPr>
              <p:nvPr/>
            </p:nvSpPr>
            <p:spPr bwMode="auto">
              <a:xfrm>
                <a:off x="5410200" y="304800"/>
                <a:ext cx="1387475" cy="396875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sz="20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𝐚𝐠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72" name="Text 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0200" y="304800"/>
                <a:ext cx="1387475" cy="396875"/>
              </a:xfrm>
              <a:prstGeom prst="rect">
                <a:avLst/>
              </a:prstGeom>
              <a:blipFill rotWithShape="0">
                <a:blip r:embed="rId29"/>
                <a:stretch>
                  <a:fillRect b="-1846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73" name="Rectangle 73"/>
              <p:cNvSpPr>
                <a:spLocks noChangeArrowheads="1"/>
              </p:cNvSpPr>
              <p:nvPr/>
            </p:nvSpPr>
            <p:spPr bwMode="auto">
              <a:xfrm>
                <a:off x="8229600" y="5486400"/>
                <a:ext cx="381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473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29600" y="5486400"/>
                <a:ext cx="381000" cy="304800"/>
              </a:xfrm>
              <a:prstGeom prst="rect">
                <a:avLst/>
              </a:prstGeom>
              <a:blipFill rotWithShape="0">
                <a:blip r:embed="rId30"/>
                <a:stretch>
                  <a:fillRect l="-307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74" name="Text Box 74"/>
              <p:cNvSpPr txBox="1">
                <a:spLocks noChangeArrowheads="1"/>
              </p:cNvSpPr>
              <p:nvPr/>
            </p:nvSpPr>
            <p:spPr bwMode="auto">
              <a:xfrm>
                <a:off x="533400" y="5715000"/>
                <a:ext cx="1798638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1800" dirty="0"/>
                  <a:t> – block length</a:t>
                </a:r>
              </a:p>
            </p:txBody>
          </p:sp>
        </mc:Choice>
        <mc:Fallback xmlns="">
          <p:sp>
            <p:nvSpPr>
              <p:cNvPr id="102474" name="Text 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5715000"/>
                <a:ext cx="1798638" cy="366713"/>
              </a:xfrm>
              <a:prstGeom prst="rect">
                <a:avLst/>
              </a:prstGeom>
              <a:blipFill rotWithShape="0">
                <a:blip r:embed="rId31"/>
                <a:stretch>
                  <a:fillRect t="-11667" b="-23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75" name="Rectangle 75"/>
          <p:cNvSpPr>
            <a:spLocks noChangeArrowheads="1"/>
          </p:cNvSpPr>
          <p:nvPr/>
        </p:nvSpPr>
        <p:spPr bwMode="auto">
          <a:xfrm>
            <a:off x="914400" y="3581400"/>
            <a:ext cx="2133600" cy="304800"/>
          </a:xfrm>
          <a:prstGeom prst="rect">
            <a:avLst/>
          </a:prstGeom>
          <a:noFill/>
          <a:ln w="9525">
            <a:solidFill>
              <a:srgbClr val="66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76" name="Rectangle 76"/>
          <p:cNvSpPr>
            <a:spLocks noChangeArrowheads="1"/>
          </p:cNvSpPr>
          <p:nvPr/>
        </p:nvSpPr>
        <p:spPr bwMode="auto">
          <a:xfrm>
            <a:off x="3276600" y="3581400"/>
            <a:ext cx="2133600" cy="304800"/>
          </a:xfrm>
          <a:prstGeom prst="rect">
            <a:avLst/>
          </a:prstGeom>
          <a:noFill/>
          <a:ln w="9525">
            <a:solidFill>
              <a:srgbClr val="66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77" name="Rectangle 77"/>
          <p:cNvSpPr>
            <a:spLocks noChangeArrowheads="1"/>
          </p:cNvSpPr>
          <p:nvPr/>
        </p:nvSpPr>
        <p:spPr bwMode="auto">
          <a:xfrm>
            <a:off x="6778625" y="3581400"/>
            <a:ext cx="2060575" cy="304800"/>
          </a:xfrm>
          <a:prstGeom prst="rect">
            <a:avLst/>
          </a:prstGeom>
          <a:noFill/>
          <a:ln w="9525">
            <a:solidFill>
              <a:srgbClr val="66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02" name="AutoShape 2"/>
          <p:cNvSpPr>
            <a:spLocks noChangeArrowheads="1"/>
          </p:cNvSpPr>
          <p:nvPr/>
        </p:nvSpPr>
        <p:spPr bwMode="auto">
          <a:xfrm>
            <a:off x="5791200" y="6324600"/>
            <a:ext cx="3124200" cy="381000"/>
          </a:xfrm>
          <a:prstGeom prst="wedgeRectCallout">
            <a:avLst>
              <a:gd name="adj1" fmla="val 36231"/>
              <a:gd name="adj2" fmla="val -186250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1800"/>
              <a:t>pad with zeroes if needed</a:t>
            </a:r>
          </a:p>
        </p:txBody>
      </p:sp>
    </p:spTree>
    <p:extLst>
      <p:ext uri="{BB962C8B-B14F-4D97-AF65-F5344CB8AC3E}">
        <p14:creationId xmlns:p14="http://schemas.microsoft.com/office/powerpoint/2010/main" val="23624807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animBg="1"/>
      <p:bldP spid="102404" grpId="0" animBg="1"/>
      <p:bldP spid="102405" grpId="0" animBg="1"/>
      <p:bldP spid="102406" grpId="0" animBg="1"/>
      <p:bldP spid="102407" grpId="0" animBg="1"/>
      <p:bldP spid="102408" grpId="0" animBg="1"/>
      <p:bldP spid="102409" grpId="0" animBg="1"/>
      <p:bldP spid="102410" grpId="0" animBg="1"/>
      <p:bldP spid="102411" grpId="0" animBg="1"/>
      <p:bldP spid="102412" grpId="0" animBg="1"/>
      <p:bldP spid="102413" grpId="0" animBg="1"/>
      <p:bldP spid="102414" grpId="0" animBg="1"/>
      <p:bldP spid="102415" grpId="0" animBg="1"/>
      <p:bldP spid="102416" grpId="0" animBg="1"/>
      <p:bldP spid="102417" grpId="0" animBg="1"/>
      <p:bldP spid="102418" grpId="0" animBg="1"/>
      <p:bldP spid="102419" grpId="0" animBg="1"/>
      <p:bldP spid="102420" grpId="0" animBg="1"/>
      <p:bldP spid="102421" grpId="0" animBg="1"/>
      <p:bldP spid="102422" grpId="0" animBg="1"/>
      <p:bldP spid="102423" grpId="0" animBg="1"/>
      <p:bldP spid="102424" grpId="0" animBg="1"/>
      <p:bldP spid="102425" grpId="0" animBg="1"/>
      <p:bldP spid="102426" grpId="0" animBg="1"/>
      <p:bldP spid="102427" grpId="0" animBg="1"/>
      <p:bldP spid="102428" grpId="0" animBg="1"/>
      <p:bldP spid="102430" grpId="0" animBg="1"/>
      <p:bldP spid="102435" grpId="0"/>
      <p:bldP spid="102436" grpId="0"/>
      <p:bldP spid="102437" grpId="0"/>
      <p:bldP spid="102438" grpId="0" animBg="1"/>
      <p:bldP spid="102439" grpId="0"/>
      <p:bldP spid="102440" grpId="0" animBg="1"/>
      <p:bldP spid="102441" grpId="0" animBg="1"/>
      <p:bldP spid="102442" grpId="0" animBg="1"/>
      <p:bldP spid="102443" grpId="0" animBg="1"/>
      <p:bldP spid="102444" grpId="0" animBg="1"/>
      <p:bldP spid="102445" grpId="0" animBg="1"/>
      <p:bldP spid="102446" grpId="0" animBg="1"/>
      <p:bldP spid="102447" grpId="0" animBg="1"/>
      <p:bldP spid="102448" grpId="0" animBg="1"/>
      <p:bldP spid="102449" grpId="0"/>
      <p:bldP spid="102465" grpId="0"/>
      <p:bldP spid="102466" grpId="0"/>
      <p:bldP spid="102467" grpId="0"/>
      <p:bldP spid="102468" grpId="0" animBg="1"/>
      <p:bldP spid="102469" grpId="0"/>
      <p:bldP spid="102470" grpId="0" animBg="1"/>
      <p:bldP spid="102472" grpId="0" animBg="1"/>
      <p:bldP spid="102473" grpId="0" animBg="1"/>
      <p:bldP spid="102474" grpId="0"/>
      <p:bldP spid="102475" grpId="0" animBg="1"/>
      <p:bldP spid="102476" grpId="0" animBg="1"/>
      <p:bldP spid="102477" grpId="0" animBg="1"/>
      <p:bldP spid="10240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0356" name="Rectangle 4"/>
              <p:cNvSpPr>
                <a:spLocks noChangeArrowheads="1"/>
              </p:cNvSpPr>
              <p:nvPr/>
            </p:nvSpPr>
            <p:spPr bwMode="auto">
              <a:xfrm>
                <a:off x="0" y="4100945"/>
                <a:ext cx="9144000" cy="2757055"/>
              </a:xfrm>
              <a:prstGeom prst="rect">
                <a:avLst/>
              </a:prstGeom>
              <a:solidFill>
                <a:schemeClr val="bg2"/>
              </a:solidFill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457200" rIns="365760" anchor="t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1400" dirty="0">
                  <a:cs typeface="Arial" pitchFamily="34" charset="0"/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400" b="1" u="sng" dirty="0">
                    <a:solidFill>
                      <a:srgbClr val="00B050"/>
                    </a:solidFill>
                    <a:cs typeface="Arial" pitchFamily="34" charset="0"/>
                  </a:rPr>
                  <a:t>Proof </a:t>
                </a:r>
                <a:r>
                  <a:rPr lang="pl-PL" sz="2400" b="1" u="sng" dirty="0">
                    <a:solidFill>
                      <a:srgbClr val="00B050"/>
                    </a:solidFill>
                    <a:cs typeface="Arial" pitchFamily="34" charset="0"/>
                  </a:rPr>
                  <a:t>idea</a:t>
                </a:r>
                <a:r>
                  <a:rPr lang="en-US" sz="2400" dirty="0">
                    <a:cs typeface="Arial" pitchFamily="34" charset="0"/>
                  </a:rPr>
                  <a:t>:</a:t>
                </a:r>
                <a:endParaRPr lang="pl-PL" sz="2400" dirty="0">
                  <a:cs typeface="Arial" pitchFamily="34" charset="0"/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1100" dirty="0">
                  <a:cs typeface="Arial" pitchFamily="34" charset="0"/>
                </a:endParaRPr>
              </a:p>
              <a:p>
                <a:pPr marL="457200" indent="-4572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cs typeface="Arial" pitchFamily="34" charset="0"/>
                  </a:rPr>
                  <a:t>Suppose it is </a:t>
                </a:r>
                <a:r>
                  <a:rPr lang="en-US" sz="2400" b="1" u="sng" dirty="0">
                    <a:solidFill>
                      <a:srgbClr val="7030A0"/>
                    </a:solidFill>
                    <a:cs typeface="Arial" pitchFamily="34" charset="0"/>
                  </a:rPr>
                  <a:t>not</a:t>
                </a:r>
                <a:r>
                  <a:rPr lang="en-US" sz="2400" dirty="0">
                    <a:cs typeface="Arial" pitchFamily="34" charset="0"/>
                  </a:rPr>
                  <a:t> a secure </a:t>
                </a:r>
                <a:r>
                  <a:rPr lang="en-US" sz="2400" b="1" dirty="0">
                    <a:solidFill>
                      <a:srgbClr val="0070C0"/>
                    </a:solidFill>
                    <a:cs typeface="Arial" pitchFamily="34" charset="0"/>
                  </a:rPr>
                  <a:t>MAC</a:t>
                </a:r>
                <a:r>
                  <a:rPr lang="en-US" sz="2400" dirty="0">
                    <a:cs typeface="Arial" pitchFamily="34" charset="0"/>
                  </a:rPr>
                  <a:t>.  </a:t>
                </a:r>
              </a:p>
              <a:p>
                <a:pPr marL="457200" indent="-4572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cs typeface="Arial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𝑨</m:t>
                    </m:r>
                  </m:oMath>
                </a14:m>
                <a:r>
                  <a:rPr lang="en-US" sz="2400" b="1" dirty="0">
                    <a:solidFill>
                      <a:srgbClr val="990000"/>
                    </a:solidFill>
                    <a:cs typeface="Arial" pitchFamily="34" charset="0"/>
                  </a:rPr>
                  <a:t> </a:t>
                </a:r>
                <a:r>
                  <a:rPr lang="en-US" sz="2400" dirty="0">
                    <a:cs typeface="Arial" pitchFamily="34" charset="0"/>
                  </a:rPr>
                  <a:t>be an adversary that breaks it with a non-negligible probability.</a:t>
                </a:r>
              </a:p>
              <a:p>
                <a:pPr marL="457200" indent="-4572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cs typeface="Arial" pitchFamily="34" charset="0"/>
                  </a:rPr>
                  <a:t>We construct a distinguisher</a:t>
                </a:r>
                <a:r>
                  <a:rPr lang="en-US" sz="2400" b="1" dirty="0">
                    <a:solidFill>
                      <a:srgbClr val="990000"/>
                    </a:solidFill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𝑫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 that distinguishes</a:t>
                </a:r>
                <a:r>
                  <a:rPr lang="en-US" sz="2400" b="1" dirty="0">
                    <a:solidFill>
                      <a:srgbClr val="990000"/>
                    </a:solidFill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𝑭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 from a random </a:t>
                </a:r>
                <a:r>
                  <a:rPr lang="pl-PL" sz="2400" dirty="0" err="1">
                    <a:cs typeface="Arial" pitchFamily="34" charset="0"/>
                  </a:rPr>
                  <a:t>function</a:t>
                </a:r>
                <a:r>
                  <a:rPr lang="en-US" sz="2400" dirty="0"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035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100945"/>
                <a:ext cx="9144000" cy="27570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625" y="65762"/>
            <a:ext cx="8293238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This construction can be proven secure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5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75781" y="1261390"/>
                <a:ext cx="8724377" cy="272815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700" b="1" u="sng" dirty="0">
                    <a:solidFill>
                      <a:srgbClr val="00B050"/>
                    </a:solidFill>
                  </a:rPr>
                  <a:t>Theorem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700" dirty="0"/>
                  <a:t>Assuming that</a:t>
                </a:r>
              </a:p>
              <a:p>
                <a:pPr algn="ctr">
                  <a:lnSpc>
                    <a:spcPct val="9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 {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7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× {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𝟎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sz="27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𝒏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→ {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𝟎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sz="27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sz="27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𝒏</m:t>
                    </m:r>
                    <m:r>
                      <a:rPr lang="en-US" sz="2700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700" dirty="0">
                    <a:cs typeface="Arial" pitchFamily="34" charset="0"/>
                  </a:rPr>
                  <a:t>is a </a:t>
                </a:r>
                <a:r>
                  <a:rPr lang="en-US" sz="2700" b="1" dirty="0">
                    <a:solidFill>
                      <a:srgbClr val="0070C0"/>
                    </a:solidFill>
                    <a:cs typeface="Arial" pitchFamily="34" charset="0"/>
                  </a:rPr>
                  <a:t>pseudorandom</a:t>
                </a:r>
                <a:r>
                  <a:rPr lang="en-US" sz="2700" b="1" dirty="0">
                    <a:solidFill>
                      <a:schemeClr val="accent2"/>
                    </a:solidFill>
                    <a:cs typeface="Arial" pitchFamily="34" charset="0"/>
                  </a:rPr>
                  <a:t> </a:t>
                </a:r>
                <a:r>
                  <a:rPr lang="pl-PL" sz="2700" b="1" dirty="0" err="1">
                    <a:solidFill>
                      <a:srgbClr val="0070C0"/>
                    </a:solidFill>
                    <a:cs typeface="Arial" pitchFamily="34" charset="0"/>
                  </a:rPr>
                  <a:t>function</a:t>
                </a:r>
                <a:r>
                  <a:rPr lang="pl-PL" sz="2700" b="1" dirty="0">
                    <a:solidFill>
                      <a:srgbClr val="0070C0"/>
                    </a:solidFill>
                    <a:cs typeface="Arial" pitchFamily="34" charset="0"/>
                  </a:rPr>
                  <a:t> </a:t>
                </a:r>
                <a:endParaRPr lang="en-US" sz="2700" b="1" dirty="0">
                  <a:solidFill>
                    <a:srgbClr val="0070C0"/>
                  </a:solidFill>
                  <a:cs typeface="Arial" pitchFamily="34" charset="0"/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sz="2700" dirty="0">
                    <a:cs typeface="Arial" pitchFamily="34" charset="0"/>
                  </a:rPr>
                  <a:t>the construction from the previous slide is a secure </a:t>
                </a:r>
                <a:r>
                  <a:rPr lang="en-US" sz="2700" b="1" dirty="0">
                    <a:solidFill>
                      <a:srgbClr val="0070C0"/>
                    </a:solidFill>
                    <a:cs typeface="Arial" pitchFamily="34" charset="0"/>
                  </a:rPr>
                  <a:t>MAC</a:t>
                </a:r>
                <a:r>
                  <a:rPr lang="en-US" sz="2700" dirty="0"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03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75781" y="1261390"/>
                <a:ext cx="8724377" cy="2728150"/>
              </a:xfrm>
              <a:blipFill>
                <a:blip r:embed="rId4"/>
                <a:stretch>
                  <a:fillRect l="-1328" t="-3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68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8"/>
          <p:cNvSpPr>
            <a:spLocks noChangeArrowheads="1"/>
          </p:cNvSpPr>
          <p:nvPr/>
        </p:nvSpPr>
        <p:spPr bwMode="auto">
          <a:xfrm rot="19289469">
            <a:off x="2683131" y="3144671"/>
            <a:ext cx="1372274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7286676" cy="1143000"/>
          </a:xfrm>
        </p:spPr>
        <p:txBody>
          <a:bodyPr>
            <a:normAutofit/>
          </a:bodyPr>
          <a:lstStyle/>
          <a:p>
            <a:r>
              <a:rPr lang="en-US" dirty="0"/>
              <a:t>A new member of “</a:t>
            </a:r>
            <a:r>
              <a:rPr lang="en-US" dirty="0" err="1"/>
              <a:t>Minicrypt</a:t>
            </a:r>
            <a:r>
              <a:rPr lang="en-US" dirty="0"/>
              <a:t>”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708085" y="3967073"/>
            <a:ext cx="3286148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400" dirty="0"/>
              <a:t>computationally-secure</a:t>
            </a:r>
          </a:p>
          <a:p>
            <a:pPr marL="609600" indent="-609600" algn="ctr">
              <a:buFontTx/>
              <a:buNone/>
            </a:pPr>
            <a:r>
              <a:rPr lang="en-US" sz="2400" dirty="0"/>
              <a:t>MACs exist</a:t>
            </a:r>
          </a:p>
        </p:txBody>
      </p:sp>
      <p:sp>
        <p:nvSpPr>
          <p:cNvPr id="5" name="AutoShape 8"/>
          <p:cNvSpPr>
            <a:spLocks noChangeArrowheads="1"/>
          </p:cNvSpPr>
          <p:nvPr/>
        </p:nvSpPr>
        <p:spPr bwMode="auto">
          <a:xfrm rot="10800000">
            <a:off x="4065671" y="4109949"/>
            <a:ext cx="857256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40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994365" y="3967073"/>
            <a:ext cx="3214710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pl-PL" sz="2400" dirty="0" err="1"/>
              <a:t>PRPs</a:t>
            </a:r>
            <a:r>
              <a:rPr lang="pl-PL" sz="2400" dirty="0"/>
              <a:t>/</a:t>
            </a:r>
            <a:r>
              <a:rPr lang="pl-PL" sz="2400" dirty="0" err="1"/>
              <a:t>PRFs</a:t>
            </a:r>
            <a:endParaRPr lang="en-US" sz="2400" dirty="0"/>
          </a:p>
          <a:p>
            <a:pPr marL="609600" indent="-609600" algn="ctr">
              <a:buFontTx/>
              <a:buNone/>
            </a:pPr>
            <a:r>
              <a:rPr lang="en-US" sz="2400" dirty="0"/>
              <a:t>exist</a:t>
            </a: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 rot="3006812">
            <a:off x="5170640" y="3198617"/>
            <a:ext cx="1190013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40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994101" y="1974633"/>
            <a:ext cx="3429024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400" dirty="0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 sz="2400" dirty="0"/>
              <a:t>exist</a:t>
            </a:r>
          </a:p>
        </p:txBody>
      </p:sp>
      <p:sp>
        <p:nvSpPr>
          <p:cNvPr id="16" name="Pentagon 15"/>
          <p:cNvSpPr/>
          <p:nvPr/>
        </p:nvSpPr>
        <p:spPr>
          <a:xfrm flipH="1">
            <a:off x="6208811" y="3031885"/>
            <a:ext cx="2643174" cy="642942"/>
          </a:xfrm>
          <a:prstGeom prst="homePlat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this we already knew</a:t>
            </a:r>
          </a:p>
        </p:txBody>
      </p:sp>
      <p:sp>
        <p:nvSpPr>
          <p:cNvPr id="17" name="Pentagon 16"/>
          <p:cNvSpPr/>
          <p:nvPr/>
        </p:nvSpPr>
        <p:spPr>
          <a:xfrm rot="5400000" flipH="1">
            <a:off x="3776700" y="4178111"/>
            <a:ext cx="1578073" cy="2428892"/>
          </a:xfrm>
          <a:prstGeom prst="homePlate">
            <a:avLst>
              <a:gd name="adj" fmla="val 6028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en-US" sz="2000" dirty="0"/>
          </a:p>
          <a:p>
            <a:pPr algn="ctr"/>
            <a:r>
              <a:rPr lang="en-US" sz="2000" dirty="0"/>
              <a:t>this we have just </a:t>
            </a:r>
            <a:r>
              <a:rPr lang="pl-PL" sz="2000" dirty="0" err="1"/>
              <a:t>shown</a:t>
            </a:r>
            <a:endParaRPr lang="en-US" sz="2000" dirty="0"/>
          </a:p>
        </p:txBody>
      </p:sp>
      <p:sp>
        <p:nvSpPr>
          <p:cNvPr id="18" name="Pentagon 17"/>
          <p:cNvSpPr/>
          <p:nvPr/>
        </p:nvSpPr>
        <p:spPr>
          <a:xfrm>
            <a:off x="422333" y="2960447"/>
            <a:ext cx="2643206" cy="642942"/>
          </a:xfrm>
          <a:prstGeom prst="homePlat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this can be proven</a:t>
            </a:r>
          </a:p>
        </p:txBody>
      </p:sp>
    </p:spTree>
    <p:extLst>
      <p:ext uri="{BB962C8B-B14F-4D97-AF65-F5344CB8AC3E}">
        <p14:creationId xmlns:p14="http://schemas.microsoft.com/office/powerpoint/2010/main" val="427099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  <p:bldP spid="5" grpId="0" animBg="1"/>
      <p:bldP spid="6" grpId="0" animBg="1"/>
      <p:bldP spid="7" grpId="0" animBg="1"/>
      <p:bldP spid="8" grpId="0" animBg="1"/>
      <p:bldP spid="16" grpId="0" animBg="1"/>
      <p:bldP spid="17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47265-5BA1-460E-AB5E-D71BE7BB6CDA}" type="slidenum">
              <a:rPr lang="it-IT"/>
              <a:pPr/>
              <a:t>30</a:t>
            </a:fld>
            <a:endParaRPr lang="it-IT"/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0" y="2311052"/>
            <a:ext cx="9144000" cy="220379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360000" anchor="ctr"/>
          <a:lstStyle/>
          <a:p>
            <a:pPr algn="ctr"/>
            <a:r>
              <a:rPr lang="en-US" sz="3200" b="1" dirty="0">
                <a:solidFill>
                  <a:srgbClr val="7030A0"/>
                </a:solidFill>
              </a:rPr>
              <a:t>Problem</a:t>
            </a:r>
            <a:r>
              <a:rPr lang="en-US" sz="3200" b="1" dirty="0"/>
              <a:t>:</a:t>
            </a:r>
          </a:p>
          <a:p>
            <a:pPr>
              <a:buFontTx/>
              <a:buNone/>
            </a:pPr>
            <a:endParaRPr lang="en-US" sz="3200" dirty="0"/>
          </a:p>
          <a:p>
            <a:pPr>
              <a:buFontTx/>
              <a:buNone/>
            </a:pPr>
            <a:r>
              <a:rPr lang="en-US" sz="3200" dirty="0"/>
              <a:t>The tag is </a:t>
            </a:r>
            <a:r>
              <a:rPr lang="en-US" sz="3200" b="1" dirty="0">
                <a:solidFill>
                  <a:srgbClr val="FF0000"/>
                </a:solidFill>
              </a:rPr>
              <a:t>4 times longer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than the message...</a:t>
            </a: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9237" y="233602"/>
            <a:ext cx="7886700" cy="1325563"/>
          </a:xfrm>
        </p:spPr>
        <p:txBody>
          <a:bodyPr/>
          <a:lstStyle/>
          <a:p>
            <a:r>
              <a:rPr lang="en-US" sz="4000" dirty="0"/>
              <a:t>Our</a:t>
            </a:r>
            <a:r>
              <a:rPr lang="pl-PL" sz="4000" dirty="0"/>
              <a:t> </a:t>
            </a:r>
            <a:r>
              <a:rPr lang="en-US" sz="4000" dirty="0"/>
              <a:t>construction is not practical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4414" y="5500702"/>
            <a:ext cx="7498080" cy="571480"/>
          </a:xfrm>
        </p:spPr>
        <p:txBody>
          <a:bodyPr>
            <a:normAutofit/>
          </a:bodyPr>
          <a:lstStyle/>
          <a:p>
            <a:pPr algn="r">
              <a:buFontTx/>
              <a:buNone/>
            </a:pPr>
            <a:r>
              <a:rPr lang="en-US" dirty="0"/>
              <a:t>We can do much better!</a:t>
            </a:r>
          </a:p>
        </p:txBody>
      </p:sp>
    </p:spTree>
    <p:extLst>
      <p:ext uri="{BB962C8B-B14F-4D97-AF65-F5344CB8AC3E}">
        <p14:creationId xmlns:p14="http://schemas.microsoft.com/office/powerpoint/2010/main" val="187029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988CD-0F97-4355-A21E-FADC62AB73B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32891"/>
            <a:ext cx="7772400" cy="1143000"/>
          </a:xfrm>
        </p:spPr>
        <p:txBody>
          <a:bodyPr/>
          <a:lstStyle/>
          <a:p>
            <a:r>
              <a:rPr lang="en-US" dirty="0"/>
              <a:t>CBC-MAC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236" name="Rectangle 4"/>
              <p:cNvSpPr>
                <a:spLocks noChangeArrowheads="1"/>
              </p:cNvSpPr>
              <p:nvPr/>
            </p:nvSpPr>
            <p:spPr bwMode="auto">
              <a:xfrm>
                <a:off x="1905000" y="4572000"/>
                <a:ext cx="6248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3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4572000"/>
                <a:ext cx="6248400" cy="304800"/>
              </a:xfrm>
              <a:prstGeom prst="rect">
                <a:avLst/>
              </a:prstGeom>
              <a:blipFill rotWithShape="0">
                <a:blip r:embed="rId7"/>
                <a:stretch>
                  <a:fillRect b="-192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37" name="Rectangle 5"/>
              <p:cNvSpPr>
                <a:spLocks noChangeArrowheads="1"/>
              </p:cNvSpPr>
              <p:nvPr/>
            </p:nvSpPr>
            <p:spPr bwMode="auto">
              <a:xfrm>
                <a:off x="1905000" y="41148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37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4114800"/>
                <a:ext cx="1143000" cy="304800"/>
              </a:xfrm>
              <a:prstGeom prst="rect">
                <a:avLst/>
              </a:prstGeom>
              <a:blipFill rotWithShape="0">
                <a:blip r:embed="rId8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38" name="Rectangle 6"/>
              <p:cNvSpPr>
                <a:spLocks noChangeArrowheads="1"/>
              </p:cNvSpPr>
              <p:nvPr/>
            </p:nvSpPr>
            <p:spPr bwMode="auto">
              <a:xfrm>
                <a:off x="3048000" y="41148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3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0" y="4114800"/>
                <a:ext cx="1143000" cy="304800"/>
              </a:xfrm>
              <a:prstGeom prst="rect">
                <a:avLst/>
              </a:prstGeom>
              <a:blipFill rotWithShape="0">
                <a:blip r:embed="rId9"/>
                <a:stretch>
                  <a:fillRect b="-76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39" name="Rectangle 7"/>
              <p:cNvSpPr>
                <a:spLocks noChangeArrowheads="1"/>
              </p:cNvSpPr>
              <p:nvPr/>
            </p:nvSpPr>
            <p:spPr bwMode="auto">
              <a:xfrm>
                <a:off x="4191000" y="41148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3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4114800"/>
                <a:ext cx="1143000" cy="304800"/>
              </a:xfrm>
              <a:prstGeom prst="rect">
                <a:avLst/>
              </a:prstGeom>
              <a:blipFill rotWithShape="0">
                <a:blip r:embed="rId10"/>
                <a:stretch>
                  <a:fillRect b="-76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40" name="Rectangle 8"/>
              <p:cNvSpPr>
                <a:spLocks noChangeArrowheads="1"/>
              </p:cNvSpPr>
              <p:nvPr/>
            </p:nvSpPr>
            <p:spPr bwMode="auto">
              <a:xfrm>
                <a:off x="7543800" y="41148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40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3800" y="4114800"/>
                <a:ext cx="1143000" cy="304800"/>
              </a:xfrm>
              <a:prstGeom prst="rect">
                <a:avLst/>
              </a:prstGeom>
              <a:blipFill rotWithShape="0">
                <a:blip r:embed="rId11"/>
                <a:stretch>
                  <a:fillRect b="-9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41" name="Text Box 9"/>
              <p:cNvSpPr txBox="1">
                <a:spLocks noChangeArrowheads="1"/>
              </p:cNvSpPr>
              <p:nvPr/>
            </p:nvSpPr>
            <p:spPr bwMode="auto">
              <a:xfrm>
                <a:off x="5905499" y="4050268"/>
                <a:ext cx="68897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41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5499" y="4050268"/>
                <a:ext cx="688975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247" name="AutoShape 15"/>
          <p:cNvSpPr>
            <a:spLocks noChangeArrowheads="1"/>
          </p:cNvSpPr>
          <p:nvPr/>
        </p:nvSpPr>
        <p:spPr bwMode="auto">
          <a:xfrm>
            <a:off x="5791200" y="5257800"/>
            <a:ext cx="2895600" cy="381000"/>
          </a:xfrm>
          <a:prstGeom prst="wedgeRectCallout">
            <a:avLst>
              <a:gd name="adj1" fmla="val 42764"/>
              <a:gd name="adj2" fmla="val -139583"/>
            </a:avLst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1800" dirty="0"/>
              <a:t>pad with zeroes if needed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248" name="Rectangle 16"/>
              <p:cNvSpPr>
                <a:spLocks noChangeArrowheads="1"/>
              </p:cNvSpPr>
              <p:nvPr/>
            </p:nvSpPr>
            <p:spPr bwMode="auto">
              <a:xfrm>
                <a:off x="8153400" y="4572000"/>
                <a:ext cx="5334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48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53400" y="4572000"/>
                <a:ext cx="533400" cy="304800"/>
              </a:xfrm>
              <a:prstGeom prst="rect">
                <a:avLst/>
              </a:prstGeom>
              <a:blipFill rotWithShape="0">
                <a:blip r:embed="rId13"/>
                <a:stretch>
                  <a:fillRect l="-449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49" name="Rectangle 17"/>
              <p:cNvSpPr>
                <a:spLocks noChangeArrowheads="1"/>
              </p:cNvSpPr>
              <p:nvPr/>
            </p:nvSpPr>
            <p:spPr bwMode="auto">
              <a:xfrm>
                <a:off x="685800" y="41148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49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4114800"/>
                <a:ext cx="1143000" cy="304800"/>
              </a:xfrm>
              <a:prstGeom prst="rect">
                <a:avLst/>
              </a:prstGeom>
              <a:blipFill rotWithShape="0">
                <a:blip r:embed="rId14"/>
                <a:stretch>
                  <a:fillRect b="-2500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50" name="Rectangle 18"/>
              <p:cNvSpPr>
                <a:spLocks noChangeArrowheads="1"/>
              </p:cNvSpPr>
              <p:nvPr/>
            </p:nvSpPr>
            <p:spPr bwMode="auto">
              <a:xfrm>
                <a:off x="914400" y="27432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50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743200"/>
                <a:ext cx="685800" cy="68580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251" name="AutoShape 19"/>
          <p:cNvCxnSpPr>
            <a:cxnSpLocks noChangeShapeType="1"/>
            <a:stCxn id="95249" idx="0"/>
            <a:endCxn id="95250" idx="2"/>
          </p:cNvCxnSpPr>
          <p:nvPr/>
        </p:nvCxnSpPr>
        <p:spPr bwMode="auto">
          <a:xfrm flipV="1">
            <a:off x="1257300" y="34290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255" name="Rectangle 23"/>
              <p:cNvSpPr>
                <a:spLocks noChangeArrowheads="1"/>
              </p:cNvSpPr>
              <p:nvPr/>
            </p:nvSpPr>
            <p:spPr bwMode="auto">
              <a:xfrm>
                <a:off x="2133600" y="27432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55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2743200"/>
                <a:ext cx="685800" cy="68580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56" name="Rectangle 24"/>
              <p:cNvSpPr>
                <a:spLocks noChangeArrowheads="1"/>
              </p:cNvSpPr>
              <p:nvPr/>
            </p:nvSpPr>
            <p:spPr bwMode="auto">
              <a:xfrm>
                <a:off x="3276600" y="27432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56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6600" y="2743200"/>
                <a:ext cx="685800" cy="68580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57" name="Rectangle 25"/>
              <p:cNvSpPr>
                <a:spLocks noChangeArrowheads="1"/>
              </p:cNvSpPr>
              <p:nvPr/>
            </p:nvSpPr>
            <p:spPr bwMode="auto">
              <a:xfrm>
                <a:off x="4419600" y="27432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57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9600" y="2743200"/>
                <a:ext cx="685800" cy="68580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258" name="AutoShape 26"/>
          <p:cNvCxnSpPr>
            <a:cxnSpLocks noChangeShapeType="1"/>
            <a:stCxn id="95237" idx="0"/>
            <a:endCxn id="95255" idx="2"/>
          </p:cNvCxnSpPr>
          <p:nvPr/>
        </p:nvCxnSpPr>
        <p:spPr bwMode="auto">
          <a:xfrm flipV="1">
            <a:off x="2476500" y="34290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5259" name="AutoShape 27"/>
          <p:cNvCxnSpPr>
            <a:cxnSpLocks noChangeShapeType="1"/>
            <a:stCxn id="95238" idx="0"/>
            <a:endCxn id="95256" idx="2"/>
          </p:cNvCxnSpPr>
          <p:nvPr/>
        </p:nvCxnSpPr>
        <p:spPr bwMode="auto">
          <a:xfrm flipV="1">
            <a:off x="3619500" y="34290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5260" name="AutoShape 28"/>
          <p:cNvCxnSpPr>
            <a:cxnSpLocks noChangeShapeType="1"/>
            <a:stCxn id="95239" idx="0"/>
            <a:endCxn id="95257" idx="2"/>
          </p:cNvCxnSpPr>
          <p:nvPr/>
        </p:nvCxnSpPr>
        <p:spPr bwMode="auto">
          <a:xfrm flipV="1">
            <a:off x="4762500" y="34290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95262" name="Picture 3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362200" y="36576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5263" name="Picture 31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505200" y="36576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5264" name="Picture 3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4648200" y="36576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5265" name="Rectangle 33"/>
              <p:cNvSpPr>
                <a:spLocks noChangeArrowheads="1"/>
              </p:cNvSpPr>
              <p:nvPr/>
            </p:nvSpPr>
            <p:spPr bwMode="auto">
              <a:xfrm>
                <a:off x="7772400" y="27432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65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2400" y="2743200"/>
                <a:ext cx="685800" cy="68580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266" name="AutoShape 34"/>
          <p:cNvCxnSpPr>
            <a:cxnSpLocks noChangeShapeType="1"/>
            <a:endCxn id="95265" idx="2"/>
          </p:cNvCxnSpPr>
          <p:nvPr/>
        </p:nvCxnSpPr>
        <p:spPr bwMode="auto">
          <a:xfrm flipV="1">
            <a:off x="8115300" y="34290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95267" name="Picture 35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001000" y="36576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5268" name="AutoShape 36"/>
          <p:cNvCxnSpPr>
            <a:cxnSpLocks noChangeShapeType="1"/>
            <a:stCxn id="95250" idx="0"/>
          </p:cNvCxnSpPr>
          <p:nvPr/>
        </p:nvCxnSpPr>
        <p:spPr bwMode="auto">
          <a:xfrm rot="5400000" flipV="1">
            <a:off x="1295400" y="2705100"/>
            <a:ext cx="1028700" cy="1104900"/>
          </a:xfrm>
          <a:prstGeom prst="bentConnector4">
            <a:avLst>
              <a:gd name="adj1" fmla="val -22222"/>
              <a:gd name="adj2" fmla="val 655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95269" name="AutoShape 37"/>
          <p:cNvCxnSpPr>
            <a:cxnSpLocks noChangeShapeType="1"/>
          </p:cNvCxnSpPr>
          <p:nvPr/>
        </p:nvCxnSpPr>
        <p:spPr bwMode="auto">
          <a:xfrm rot="5400000" flipV="1">
            <a:off x="2476500" y="2705100"/>
            <a:ext cx="1028700" cy="1104900"/>
          </a:xfrm>
          <a:prstGeom prst="bentConnector4">
            <a:avLst>
              <a:gd name="adj1" fmla="val -22222"/>
              <a:gd name="adj2" fmla="val 655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95270" name="AutoShape 38"/>
          <p:cNvCxnSpPr>
            <a:cxnSpLocks noChangeShapeType="1"/>
          </p:cNvCxnSpPr>
          <p:nvPr/>
        </p:nvCxnSpPr>
        <p:spPr bwMode="auto">
          <a:xfrm rot="5400000" flipV="1">
            <a:off x="3619500" y="2705100"/>
            <a:ext cx="1028700" cy="1104900"/>
          </a:xfrm>
          <a:prstGeom prst="bentConnector4">
            <a:avLst>
              <a:gd name="adj1" fmla="val -22222"/>
              <a:gd name="adj2" fmla="val 655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95271" name="AutoShape 39"/>
          <p:cNvCxnSpPr>
            <a:cxnSpLocks noChangeShapeType="1"/>
          </p:cNvCxnSpPr>
          <p:nvPr/>
        </p:nvCxnSpPr>
        <p:spPr bwMode="auto">
          <a:xfrm rot="5400000" flipV="1">
            <a:off x="6896100" y="2705100"/>
            <a:ext cx="1028700" cy="1104900"/>
          </a:xfrm>
          <a:prstGeom prst="bentConnector4">
            <a:avLst>
              <a:gd name="adj1" fmla="val -22222"/>
              <a:gd name="adj2" fmla="val 655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274" name="Rectangle 42"/>
              <p:cNvSpPr>
                <a:spLocks noChangeArrowheads="1"/>
              </p:cNvSpPr>
              <p:nvPr/>
            </p:nvSpPr>
            <p:spPr bwMode="auto">
              <a:xfrm>
                <a:off x="7467600" y="1447800"/>
                <a:ext cx="1295400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𝐚𝐠</m:t>
                    </m:r>
                    <m:r>
                      <a:rPr lang="en-US" sz="2000" b="1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274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7600" y="1447800"/>
                <a:ext cx="1295400" cy="533400"/>
              </a:xfrm>
              <a:prstGeom prst="rect">
                <a:avLst/>
              </a:prstGeom>
              <a:blipFill rotWithShape="0">
                <a:blip r:embed="rId18"/>
                <a:stretch>
                  <a:fillRect b="-674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275" name="AutoShape 43"/>
          <p:cNvCxnSpPr>
            <a:cxnSpLocks noChangeShapeType="1"/>
            <a:stCxn id="95265" idx="0"/>
            <a:endCxn id="95274" idx="2"/>
          </p:cNvCxnSpPr>
          <p:nvPr/>
        </p:nvCxnSpPr>
        <p:spPr bwMode="auto">
          <a:xfrm flipV="1">
            <a:off x="8115300" y="1981200"/>
            <a:ext cx="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277" name="Text Box 45"/>
              <p:cNvSpPr txBox="1">
                <a:spLocks noChangeArrowheads="1"/>
              </p:cNvSpPr>
              <p:nvPr/>
            </p:nvSpPr>
            <p:spPr bwMode="auto">
              <a:xfrm>
                <a:off x="304800" y="1066800"/>
                <a:ext cx="6781800" cy="1077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:{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400" b="1" i="1" baseline="30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× {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sz="2400" b="1" i="1" baseline="30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𝒏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→ {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sz="2400" b="1" i="1" baseline="30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𝒏</m:t>
                    </m:r>
                    <m:r>
                      <a:rPr lang="en-US" sz="2400" i="1" baseline="30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cs typeface="Arial" pitchFamily="34" charset="0"/>
                  </a:rPr>
                  <a:t>- a block cipher</a:t>
                </a:r>
              </a:p>
              <a:p>
                <a:endParaRPr lang="en-US" sz="2400" dirty="0">
                  <a:cs typeface="Arial" pitchFamily="34" charset="0"/>
                </a:endParaRPr>
              </a:p>
              <a:p>
                <a:endParaRPr lang="en-US" sz="2400" baseline="30000" dirty="0"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5277" name="Text 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66800"/>
                <a:ext cx="6781800" cy="1077218"/>
              </a:xfrm>
              <a:prstGeom prst="rect">
                <a:avLst/>
              </a:prstGeom>
              <a:blipFill rotWithShape="0">
                <a:blip r:embed="rId19"/>
                <a:stretch>
                  <a:fillRect l="-180" t="-452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278" name="Text Box 46"/>
          <p:cNvSpPr txBox="1">
            <a:spLocks noChangeArrowheads="1"/>
          </p:cNvSpPr>
          <p:nvPr/>
        </p:nvSpPr>
        <p:spPr bwMode="auto">
          <a:xfrm>
            <a:off x="547687" y="5745814"/>
            <a:ext cx="2443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/>
              <a:t>Other variants exist!</a:t>
            </a:r>
          </a:p>
        </p:txBody>
      </p:sp>
      <p:sp>
        <p:nvSpPr>
          <p:cNvPr id="95279" name="Rectangle 47"/>
          <p:cNvSpPr>
            <a:spLocks noChangeArrowheads="1"/>
          </p:cNvSpPr>
          <p:nvPr/>
        </p:nvSpPr>
        <p:spPr bwMode="auto">
          <a:xfrm>
            <a:off x="6400800" y="2209800"/>
            <a:ext cx="1219200" cy="76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6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 animBg="1"/>
      <p:bldP spid="95237" grpId="0" animBg="1"/>
      <p:bldP spid="95238" grpId="0" animBg="1"/>
      <p:bldP spid="95239" grpId="0" animBg="1"/>
      <p:bldP spid="95240" grpId="0" animBg="1"/>
      <p:bldP spid="95241" grpId="0"/>
      <p:bldP spid="95247" grpId="0" animBg="1"/>
      <p:bldP spid="95248" grpId="0" animBg="1"/>
      <p:bldP spid="95249" grpId="0" animBg="1"/>
      <p:bldP spid="95250" grpId="0" animBg="1"/>
      <p:bldP spid="95255" grpId="0" animBg="1"/>
      <p:bldP spid="95256" grpId="0" animBg="1"/>
      <p:bldP spid="95257" grpId="0" animBg="1"/>
      <p:bldP spid="95265" grpId="0" animBg="1"/>
      <p:bldP spid="95274" grpId="0" animBg="1"/>
      <p:bldP spid="95278" grpId="0"/>
      <p:bldP spid="9527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C2F4-ECC2-4A5E-85A6-69DDB0A6BB86}" type="slidenum">
              <a:rPr lang="it-IT"/>
              <a:pPr/>
              <a:t>32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428" name="Rectangle 4"/>
              <p:cNvSpPr>
                <a:spLocks noChangeArrowheads="1"/>
              </p:cNvSpPr>
              <p:nvPr/>
            </p:nvSpPr>
            <p:spPr bwMode="auto">
              <a:xfrm>
                <a:off x="1752600" y="28956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28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2895600"/>
                <a:ext cx="1143000" cy="304800"/>
              </a:xfrm>
              <a:prstGeom prst="rect">
                <a:avLst/>
              </a:prstGeom>
              <a:blipFill rotWithShape="0">
                <a:blip r:embed="rId7"/>
                <a:stretch>
                  <a:fillRect b="-1730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29" name="Rectangle 5"/>
              <p:cNvSpPr>
                <a:spLocks noChangeArrowheads="1"/>
              </p:cNvSpPr>
              <p:nvPr/>
            </p:nvSpPr>
            <p:spPr bwMode="auto">
              <a:xfrm>
                <a:off x="2895600" y="28956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2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5600" y="2895600"/>
                <a:ext cx="1143000" cy="304800"/>
              </a:xfrm>
              <a:prstGeom prst="rect">
                <a:avLst/>
              </a:prstGeom>
              <a:blipFill rotWithShape="0">
                <a:blip r:embed="rId8"/>
                <a:stretch>
                  <a:fillRect b="-1730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30" name="Rectangle 6"/>
              <p:cNvSpPr>
                <a:spLocks noChangeArrowheads="1"/>
              </p:cNvSpPr>
              <p:nvPr/>
            </p:nvSpPr>
            <p:spPr bwMode="auto">
              <a:xfrm>
                <a:off x="4038600" y="28956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3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8600" y="2895600"/>
                <a:ext cx="1143000" cy="304800"/>
              </a:xfrm>
              <a:prstGeom prst="rect">
                <a:avLst/>
              </a:prstGeom>
              <a:blipFill rotWithShape="0">
                <a:blip r:embed="rId9"/>
                <a:stretch>
                  <a:fillRect b="-1730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31" name="Rectangle 7"/>
              <p:cNvSpPr>
                <a:spLocks noChangeArrowheads="1"/>
              </p:cNvSpPr>
              <p:nvPr/>
            </p:nvSpPr>
            <p:spPr bwMode="auto">
              <a:xfrm>
                <a:off x="7391400" y="28956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3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1400" y="2895600"/>
                <a:ext cx="1143000" cy="304800"/>
              </a:xfrm>
              <a:prstGeom prst="rect">
                <a:avLst/>
              </a:prstGeom>
              <a:blipFill rotWithShape="0">
                <a:blip r:embed="rId10"/>
                <a:stretch>
                  <a:fillRect b="-1730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432" name="Text Box 8"/>
          <p:cNvSpPr txBox="1">
            <a:spLocks noChangeArrowheads="1"/>
          </p:cNvSpPr>
          <p:nvPr/>
        </p:nvSpPr>
        <p:spPr bwMode="auto">
          <a:xfrm>
            <a:off x="5791200" y="2743200"/>
            <a:ext cx="688975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>
                <a:solidFill>
                  <a:srgbClr val="993300"/>
                </a:solidFill>
              </a:rPr>
              <a:t>. . 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433" name="Rectangle 9"/>
              <p:cNvSpPr>
                <a:spLocks noChangeArrowheads="1"/>
              </p:cNvSpPr>
              <p:nvPr/>
            </p:nvSpPr>
            <p:spPr bwMode="auto">
              <a:xfrm>
                <a:off x="533400" y="28956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33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2895600"/>
                <a:ext cx="1143000" cy="304800"/>
              </a:xfrm>
              <a:prstGeom prst="rect">
                <a:avLst/>
              </a:prstGeom>
              <a:blipFill rotWithShape="0">
                <a:blip r:embed="rId11"/>
                <a:stretch>
                  <a:fillRect b="-3461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34" name="Rectangle 10"/>
              <p:cNvSpPr>
                <a:spLocks noChangeArrowheads="1"/>
              </p:cNvSpPr>
              <p:nvPr/>
            </p:nvSpPr>
            <p:spPr bwMode="auto">
              <a:xfrm>
                <a:off x="762000" y="15240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34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1524000"/>
                <a:ext cx="685800" cy="6858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435" name="AutoShape 11"/>
          <p:cNvCxnSpPr>
            <a:cxnSpLocks noChangeShapeType="1"/>
            <a:stCxn id="103433" idx="0"/>
            <a:endCxn id="103434" idx="2"/>
          </p:cNvCxnSpPr>
          <p:nvPr/>
        </p:nvCxnSpPr>
        <p:spPr bwMode="auto">
          <a:xfrm flipV="1">
            <a:off x="1104900" y="2209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436" name="Rectangle 12"/>
              <p:cNvSpPr>
                <a:spLocks noChangeArrowheads="1"/>
              </p:cNvSpPr>
              <p:nvPr/>
            </p:nvSpPr>
            <p:spPr bwMode="auto">
              <a:xfrm>
                <a:off x="1981200" y="15240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36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1524000"/>
                <a:ext cx="685800" cy="6858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37" name="Rectangle 13"/>
              <p:cNvSpPr>
                <a:spLocks noChangeArrowheads="1"/>
              </p:cNvSpPr>
              <p:nvPr/>
            </p:nvSpPr>
            <p:spPr bwMode="auto">
              <a:xfrm>
                <a:off x="3124200" y="15240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37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4200" y="1524000"/>
                <a:ext cx="685800" cy="6858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38" name="Rectangle 14"/>
              <p:cNvSpPr>
                <a:spLocks noChangeArrowheads="1"/>
              </p:cNvSpPr>
              <p:nvPr/>
            </p:nvSpPr>
            <p:spPr bwMode="auto">
              <a:xfrm>
                <a:off x="4267200" y="15240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38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200" y="1524000"/>
                <a:ext cx="685800" cy="6858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439" name="AutoShape 15"/>
          <p:cNvCxnSpPr>
            <a:cxnSpLocks noChangeShapeType="1"/>
            <a:stCxn id="103428" idx="0"/>
            <a:endCxn id="103436" idx="2"/>
          </p:cNvCxnSpPr>
          <p:nvPr/>
        </p:nvCxnSpPr>
        <p:spPr bwMode="auto">
          <a:xfrm flipV="1">
            <a:off x="2324100" y="2209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3440" name="AutoShape 16"/>
          <p:cNvCxnSpPr>
            <a:cxnSpLocks noChangeShapeType="1"/>
            <a:stCxn id="103429" idx="0"/>
            <a:endCxn id="103437" idx="2"/>
          </p:cNvCxnSpPr>
          <p:nvPr/>
        </p:nvCxnSpPr>
        <p:spPr bwMode="auto">
          <a:xfrm flipV="1">
            <a:off x="3467100" y="2209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3441" name="AutoShape 17"/>
          <p:cNvCxnSpPr>
            <a:cxnSpLocks noChangeShapeType="1"/>
            <a:stCxn id="103430" idx="0"/>
            <a:endCxn id="103438" idx="2"/>
          </p:cNvCxnSpPr>
          <p:nvPr/>
        </p:nvCxnSpPr>
        <p:spPr bwMode="auto">
          <a:xfrm flipV="1">
            <a:off x="4610100" y="2209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103442" name="Picture 1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209800" y="24384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43" name="Picture 1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352800" y="24384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44" name="Picture 20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495800" y="24384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3445" name="Rectangle 21"/>
              <p:cNvSpPr>
                <a:spLocks noChangeArrowheads="1"/>
              </p:cNvSpPr>
              <p:nvPr/>
            </p:nvSpPr>
            <p:spPr bwMode="auto">
              <a:xfrm>
                <a:off x="7620000" y="15240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45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0" y="1524000"/>
                <a:ext cx="685800" cy="6858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446" name="AutoShape 22"/>
          <p:cNvCxnSpPr>
            <a:cxnSpLocks noChangeShapeType="1"/>
            <a:endCxn id="103445" idx="2"/>
          </p:cNvCxnSpPr>
          <p:nvPr/>
        </p:nvCxnSpPr>
        <p:spPr bwMode="auto">
          <a:xfrm flipV="1">
            <a:off x="7962900" y="2209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103447" name="Picture 23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848600" y="24384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3448" name="AutoShape 24"/>
          <p:cNvCxnSpPr>
            <a:cxnSpLocks noChangeShapeType="1"/>
            <a:stCxn id="103434" idx="0"/>
          </p:cNvCxnSpPr>
          <p:nvPr/>
        </p:nvCxnSpPr>
        <p:spPr bwMode="auto">
          <a:xfrm rot="5400000" flipV="1">
            <a:off x="1143000" y="1485900"/>
            <a:ext cx="1028700" cy="1104900"/>
          </a:xfrm>
          <a:prstGeom prst="bentConnector4">
            <a:avLst>
              <a:gd name="adj1" fmla="val -22222"/>
              <a:gd name="adj2" fmla="val 655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103449" name="AutoShape 25"/>
          <p:cNvCxnSpPr>
            <a:cxnSpLocks noChangeShapeType="1"/>
          </p:cNvCxnSpPr>
          <p:nvPr/>
        </p:nvCxnSpPr>
        <p:spPr bwMode="auto">
          <a:xfrm rot="5400000" flipV="1">
            <a:off x="2324100" y="1485900"/>
            <a:ext cx="1028700" cy="1104900"/>
          </a:xfrm>
          <a:prstGeom prst="bentConnector4">
            <a:avLst>
              <a:gd name="adj1" fmla="val -22222"/>
              <a:gd name="adj2" fmla="val 655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103450" name="AutoShape 26"/>
          <p:cNvCxnSpPr>
            <a:cxnSpLocks noChangeShapeType="1"/>
          </p:cNvCxnSpPr>
          <p:nvPr/>
        </p:nvCxnSpPr>
        <p:spPr bwMode="auto">
          <a:xfrm rot="5400000" flipV="1">
            <a:off x="3467100" y="1485900"/>
            <a:ext cx="1028700" cy="1104900"/>
          </a:xfrm>
          <a:prstGeom prst="bentConnector4">
            <a:avLst>
              <a:gd name="adj1" fmla="val -22222"/>
              <a:gd name="adj2" fmla="val 655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103451" name="AutoShape 27"/>
          <p:cNvCxnSpPr>
            <a:cxnSpLocks noChangeShapeType="1"/>
          </p:cNvCxnSpPr>
          <p:nvPr/>
        </p:nvCxnSpPr>
        <p:spPr bwMode="auto">
          <a:xfrm rot="5400000" flipV="1">
            <a:off x="6743700" y="1485900"/>
            <a:ext cx="1028700" cy="1104900"/>
          </a:xfrm>
          <a:prstGeom prst="bentConnector4">
            <a:avLst>
              <a:gd name="adj1" fmla="val -22222"/>
              <a:gd name="adj2" fmla="val 655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103452" name="Rectangle 28"/>
          <p:cNvSpPr>
            <a:spLocks noChangeArrowheads="1"/>
          </p:cNvSpPr>
          <p:nvPr/>
        </p:nvSpPr>
        <p:spPr bwMode="auto">
          <a:xfrm>
            <a:off x="6477000" y="304800"/>
            <a:ext cx="1219200" cy="76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53" name="AutoShape 29"/>
          <p:cNvSpPr>
            <a:spLocks noChangeArrowheads="1"/>
          </p:cNvSpPr>
          <p:nvPr/>
        </p:nvSpPr>
        <p:spPr bwMode="auto">
          <a:xfrm>
            <a:off x="489559" y="3782714"/>
            <a:ext cx="3276600" cy="1295400"/>
          </a:xfrm>
          <a:prstGeom prst="wedgeEllipseCallout">
            <a:avLst>
              <a:gd name="adj1" fmla="val -23542"/>
              <a:gd name="adj2" fmla="val -102083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1"/>
          <a:lstStyle/>
          <a:p>
            <a:pPr algn="ctr"/>
            <a:r>
              <a:rPr lang="pl-PL" sz="2400" b="1"/>
              <a:t>Why is this needed?</a:t>
            </a:r>
            <a:endParaRPr lang="en-US" sz="2400" b="1"/>
          </a:p>
        </p:txBody>
      </p:sp>
      <p:sp>
        <p:nvSpPr>
          <p:cNvPr id="103454" name="Text Box 30"/>
          <p:cNvSpPr txBox="1">
            <a:spLocks noChangeArrowheads="1"/>
          </p:cNvSpPr>
          <p:nvPr/>
        </p:nvSpPr>
        <p:spPr bwMode="auto">
          <a:xfrm>
            <a:off x="533400" y="51816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455" name="Text Box 31"/>
              <p:cNvSpPr txBox="1">
                <a:spLocks noChangeArrowheads="1"/>
              </p:cNvSpPr>
              <p:nvPr/>
            </p:nvSpPr>
            <p:spPr bwMode="auto">
              <a:xfrm>
                <a:off x="533400" y="5486400"/>
                <a:ext cx="786447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r"/>
                <a:r>
                  <a:rPr lang="pl-PL" sz="2400" dirty="0"/>
                  <a:t>Suppose we do</a:t>
                </a:r>
                <a:r>
                  <a:rPr lang="en-US" sz="2400" dirty="0"/>
                  <a:t> </a:t>
                </a:r>
                <a:r>
                  <a:rPr lang="pl-PL" sz="2400" dirty="0"/>
                  <a:t>n</a:t>
                </a:r>
                <a:r>
                  <a:rPr lang="en-US" sz="2400" dirty="0"/>
                  <a:t>o</a:t>
                </a:r>
                <a:r>
                  <a:rPr lang="pl-PL" sz="2400" dirty="0"/>
                  <a:t>t prepend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l-PL" sz="2400" dirty="0"/>
                  <a:t>...</a:t>
                </a:r>
                <a:endParaRPr lang="en-US" sz="2400" dirty="0"/>
              </a:p>
            </p:txBody>
          </p:sp>
        </mc:Choice>
        <mc:Fallback xmlns="">
          <p:sp>
            <p:nvSpPr>
              <p:cNvPr id="103455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5486400"/>
                <a:ext cx="7864475" cy="461665"/>
              </a:xfrm>
              <a:prstGeom prst="rect">
                <a:avLst/>
              </a:prstGeom>
              <a:blipFill rotWithShape="0">
                <a:blip r:embed="rId15"/>
                <a:stretch>
                  <a:fillRect t="-10526" r="-1163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56" name="Rectangle 32"/>
              <p:cNvSpPr>
                <a:spLocks noChangeArrowheads="1"/>
              </p:cNvSpPr>
              <p:nvPr/>
            </p:nvSpPr>
            <p:spPr bwMode="auto">
              <a:xfrm>
                <a:off x="7283885" y="381000"/>
                <a:ext cx="1359074" cy="533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sz="20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𝐚𝐠</m:t>
                      </m:r>
                      <m:r>
                        <a:rPr lang="en-US" sz="2000" b="1" i="0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456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3885" y="381000"/>
                <a:ext cx="1359074" cy="53340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457" name="AutoShape 33"/>
          <p:cNvCxnSpPr>
            <a:cxnSpLocks noChangeShapeType="1"/>
            <a:stCxn id="103445" idx="0"/>
            <a:endCxn id="103456" idx="2"/>
          </p:cNvCxnSpPr>
          <p:nvPr/>
        </p:nvCxnSpPr>
        <p:spPr bwMode="auto">
          <a:xfrm flipV="1">
            <a:off x="7962900" y="914400"/>
            <a:ext cx="522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03458" name="Rectangle 34"/>
          <p:cNvSpPr>
            <a:spLocks noChangeArrowheads="1"/>
          </p:cNvSpPr>
          <p:nvPr/>
        </p:nvSpPr>
        <p:spPr bwMode="auto">
          <a:xfrm>
            <a:off x="6019800" y="990600"/>
            <a:ext cx="1219200" cy="76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7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53" grpId="0" animBg="1"/>
      <p:bldP spid="10345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9B6C-F169-49BA-AC21-6198DFB8A5F9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04507" name="Rectangle 59"/>
          <p:cNvSpPr>
            <a:spLocks noChangeArrowheads="1"/>
          </p:cNvSpPr>
          <p:nvPr/>
        </p:nvSpPr>
        <p:spPr bwMode="auto">
          <a:xfrm>
            <a:off x="0" y="3124200"/>
            <a:ext cx="9144000" cy="3733800"/>
          </a:xfrm>
          <a:prstGeom prst="rect">
            <a:avLst/>
          </a:prstGeom>
          <a:solidFill>
            <a:srgbClr val="FDF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452" name="Rectangle 4"/>
              <p:cNvSpPr>
                <a:spLocks noChangeArrowheads="1"/>
              </p:cNvSpPr>
              <p:nvPr/>
            </p:nvSpPr>
            <p:spPr bwMode="auto">
              <a:xfrm>
                <a:off x="3518703" y="2514600"/>
                <a:ext cx="2023259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30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5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8703" y="2514600"/>
                <a:ext cx="2023259" cy="3810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57" name="Rectangle 9"/>
              <p:cNvSpPr>
                <a:spLocks noChangeArrowheads="1"/>
              </p:cNvSpPr>
              <p:nvPr/>
            </p:nvSpPr>
            <p:spPr bwMode="auto">
              <a:xfrm>
                <a:off x="4191000" y="11430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57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1143000"/>
                <a:ext cx="685800" cy="6858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60" name="AutoShape 12"/>
          <p:cNvCxnSpPr>
            <a:cxnSpLocks noChangeShapeType="1"/>
            <a:stCxn id="104452" idx="0"/>
            <a:endCxn id="104457" idx="2"/>
          </p:cNvCxnSpPr>
          <p:nvPr/>
        </p:nvCxnSpPr>
        <p:spPr bwMode="auto">
          <a:xfrm flipV="1">
            <a:off x="4530333" y="1828800"/>
            <a:ext cx="3567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104463" name="Picture 1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419600" y="20574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473" name="Rectangle 25"/>
              <p:cNvSpPr>
                <a:spLocks noChangeArrowheads="1"/>
              </p:cNvSpPr>
              <p:nvPr/>
            </p:nvSpPr>
            <p:spPr bwMode="auto">
              <a:xfrm>
                <a:off x="3518703" y="304800"/>
                <a:ext cx="2023259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sz="20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𝐚𝐠</m:t>
                      </m:r>
                      <m:r>
                        <a:rPr lang="en-US" sz="20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30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73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8703" y="304800"/>
                <a:ext cx="2023259" cy="457200"/>
              </a:xfrm>
              <a:prstGeom prst="rect">
                <a:avLst/>
              </a:prstGeom>
              <a:blipFill rotWithShape="0">
                <a:blip r:embed="rId10"/>
                <a:stretch>
                  <a:fillRect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74" name="AutoShape 26"/>
          <p:cNvCxnSpPr>
            <a:cxnSpLocks noChangeShapeType="1"/>
            <a:stCxn id="104457" idx="0"/>
            <a:endCxn id="104473" idx="2"/>
          </p:cNvCxnSpPr>
          <p:nvPr/>
        </p:nvCxnSpPr>
        <p:spPr bwMode="auto">
          <a:xfrm flipH="1" flipV="1">
            <a:off x="4530333" y="762000"/>
            <a:ext cx="3567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480" name="Rectangle 32"/>
              <p:cNvSpPr>
                <a:spLocks noChangeArrowheads="1"/>
              </p:cNvSpPr>
              <p:nvPr/>
            </p:nvSpPr>
            <p:spPr bwMode="auto">
              <a:xfrm>
                <a:off x="6261903" y="2514600"/>
                <a:ext cx="2023259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30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8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80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1903" y="2514600"/>
                <a:ext cx="2023259" cy="3810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81" name="Rectangle 33"/>
              <p:cNvSpPr>
                <a:spLocks noChangeArrowheads="1"/>
              </p:cNvSpPr>
              <p:nvPr/>
            </p:nvSpPr>
            <p:spPr bwMode="auto">
              <a:xfrm>
                <a:off x="6934200" y="11430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81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4200" y="1143000"/>
                <a:ext cx="685800" cy="6858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82" name="AutoShape 34"/>
          <p:cNvCxnSpPr>
            <a:cxnSpLocks noChangeShapeType="1"/>
            <a:stCxn id="104480" idx="0"/>
            <a:endCxn id="104481" idx="2"/>
          </p:cNvCxnSpPr>
          <p:nvPr/>
        </p:nvCxnSpPr>
        <p:spPr bwMode="auto">
          <a:xfrm flipV="1">
            <a:off x="7273533" y="1828800"/>
            <a:ext cx="3567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104483" name="Picture 3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62800" y="20574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484" name="Rectangle 36"/>
              <p:cNvSpPr>
                <a:spLocks noChangeArrowheads="1"/>
              </p:cNvSpPr>
              <p:nvPr/>
            </p:nvSpPr>
            <p:spPr bwMode="auto">
              <a:xfrm>
                <a:off x="6322619" y="304800"/>
                <a:ext cx="1912767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sz="20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𝐚𝐠</m:t>
                      </m:r>
                      <m:r>
                        <a:rPr lang="en-US" sz="20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30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84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2619" y="304800"/>
                <a:ext cx="1912767" cy="457200"/>
              </a:xfrm>
              <a:prstGeom prst="rect">
                <a:avLst/>
              </a:prstGeom>
              <a:blipFill rotWithShape="0">
                <a:blip r:embed="rId12"/>
                <a:stretch>
                  <a:fillRect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85" name="AutoShape 37"/>
          <p:cNvCxnSpPr>
            <a:cxnSpLocks noChangeShapeType="1"/>
            <a:stCxn id="104481" idx="0"/>
            <a:endCxn id="104484" idx="2"/>
          </p:cNvCxnSpPr>
          <p:nvPr/>
        </p:nvCxnSpPr>
        <p:spPr bwMode="auto">
          <a:xfrm flipV="1">
            <a:off x="7277100" y="762000"/>
            <a:ext cx="190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486" name="Rectangle 38"/>
              <p:cNvSpPr>
                <a:spLocks noChangeArrowheads="1"/>
              </p:cNvSpPr>
              <p:nvPr/>
            </p:nvSpPr>
            <p:spPr bwMode="auto">
              <a:xfrm>
                <a:off x="3733800" y="57912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86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3800" y="5791200"/>
                <a:ext cx="1143000" cy="3048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87" name="Rectangle 39"/>
              <p:cNvSpPr>
                <a:spLocks noChangeArrowheads="1"/>
              </p:cNvSpPr>
              <p:nvPr/>
            </p:nvSpPr>
            <p:spPr bwMode="auto">
              <a:xfrm>
                <a:off x="4876800" y="5791200"/>
                <a:ext cx="1143000" cy="304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87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5791200"/>
                <a:ext cx="1143000" cy="304800"/>
              </a:xfrm>
              <a:prstGeom prst="rect">
                <a:avLst/>
              </a:prstGeom>
              <a:blipFill rotWithShape="0">
                <a:blip r:embed="rId14"/>
                <a:stretch>
                  <a:fillRect b="-1923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88" name="Rectangle 40"/>
              <p:cNvSpPr>
                <a:spLocks noChangeArrowheads="1"/>
              </p:cNvSpPr>
              <p:nvPr/>
            </p:nvSpPr>
            <p:spPr bwMode="auto">
              <a:xfrm>
                <a:off x="3962400" y="44196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88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4419600"/>
                <a:ext cx="685800" cy="68580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89" name="Rectangle 41"/>
              <p:cNvSpPr>
                <a:spLocks noChangeArrowheads="1"/>
              </p:cNvSpPr>
              <p:nvPr/>
            </p:nvSpPr>
            <p:spPr bwMode="auto">
              <a:xfrm>
                <a:off x="5105400" y="4419600"/>
                <a:ext cx="6858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4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89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4419600"/>
                <a:ext cx="685800" cy="68580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90" name="AutoShape 42"/>
          <p:cNvCxnSpPr>
            <a:cxnSpLocks noChangeShapeType="1"/>
            <a:stCxn id="104486" idx="0"/>
            <a:endCxn id="104488" idx="2"/>
          </p:cNvCxnSpPr>
          <p:nvPr/>
        </p:nvCxnSpPr>
        <p:spPr bwMode="auto">
          <a:xfrm flipV="1">
            <a:off x="4305300" y="51054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04491" name="AutoShape 43"/>
          <p:cNvCxnSpPr>
            <a:cxnSpLocks noChangeShapeType="1"/>
            <a:stCxn id="104487" idx="0"/>
            <a:endCxn id="104489" idx="2"/>
          </p:cNvCxnSpPr>
          <p:nvPr/>
        </p:nvCxnSpPr>
        <p:spPr bwMode="auto">
          <a:xfrm flipV="1">
            <a:off x="5448300" y="51054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pic>
        <p:nvPicPr>
          <p:cNvPr id="104492" name="Picture 44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91000" y="53340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493" name="Picture 45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34000" y="5334000"/>
            <a:ext cx="2079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4494" name="AutoShape 46"/>
          <p:cNvCxnSpPr>
            <a:cxnSpLocks noChangeShapeType="1"/>
          </p:cNvCxnSpPr>
          <p:nvPr/>
        </p:nvCxnSpPr>
        <p:spPr bwMode="auto">
          <a:xfrm rot="5400000" flipV="1">
            <a:off x="4305300" y="4381500"/>
            <a:ext cx="1028700" cy="1104900"/>
          </a:xfrm>
          <a:prstGeom prst="bentConnector4">
            <a:avLst>
              <a:gd name="adj1" fmla="val -22222"/>
              <a:gd name="adj2" fmla="val 655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495" name="Rectangle 47"/>
              <p:cNvSpPr>
                <a:spLocks noChangeArrowheads="1"/>
              </p:cNvSpPr>
              <p:nvPr/>
            </p:nvSpPr>
            <p:spPr bwMode="auto">
              <a:xfrm>
                <a:off x="4540943" y="3429000"/>
                <a:ext cx="1794075" cy="457200"/>
              </a:xfrm>
              <a:prstGeom prst="rect">
                <a:avLst/>
              </a:prstGeom>
              <a:solidFill>
                <a:schemeClr val="bg1"/>
              </a:solidFill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’=</m:t>
                      </m:r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sz="20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𝐚𝐠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95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0943" y="3429000"/>
                <a:ext cx="1794075" cy="457200"/>
              </a:xfrm>
              <a:prstGeom prst="rect">
                <a:avLst/>
              </a:prstGeom>
              <a:blipFill rotWithShape="0">
                <a:blip r:embed="rId17"/>
                <a:stretch>
                  <a:fillRect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96" name="AutoShape 48"/>
          <p:cNvCxnSpPr>
            <a:cxnSpLocks noChangeShapeType="1"/>
            <a:stCxn id="104489" idx="0"/>
            <a:endCxn id="104495" idx="2"/>
          </p:cNvCxnSpPr>
          <p:nvPr/>
        </p:nvCxnSpPr>
        <p:spPr bwMode="auto">
          <a:xfrm flipH="1" flipV="1">
            <a:off x="5437981" y="3886200"/>
            <a:ext cx="10319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04498" name="AutoShape 50"/>
          <p:cNvSpPr>
            <a:spLocks/>
          </p:cNvSpPr>
          <p:nvPr/>
        </p:nvSpPr>
        <p:spPr bwMode="auto">
          <a:xfrm rot="5400000" flipH="1">
            <a:off x="4762500" y="5143500"/>
            <a:ext cx="228600" cy="2286000"/>
          </a:xfrm>
          <a:prstGeom prst="leftBrace">
            <a:avLst>
              <a:gd name="adj1" fmla="val 8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499" name="Text Box 51"/>
              <p:cNvSpPr txBox="1">
                <a:spLocks noChangeArrowheads="1"/>
              </p:cNvSpPr>
              <p:nvPr/>
            </p:nvSpPr>
            <p:spPr bwMode="auto">
              <a:xfrm>
                <a:off x="4648200" y="6378273"/>
                <a:ext cx="50206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499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8200" y="6378273"/>
                <a:ext cx="502061" cy="369332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501" name="AutoShape 53"/>
              <p:cNvSpPr>
                <a:spLocks noChangeArrowheads="1"/>
              </p:cNvSpPr>
              <p:nvPr/>
            </p:nvSpPr>
            <p:spPr bwMode="auto">
              <a:xfrm>
                <a:off x="6934200" y="3786190"/>
                <a:ext cx="1962168" cy="685800"/>
              </a:xfrm>
              <a:prstGeom prst="wedgeEllipseCallout">
                <a:avLst>
                  <a:gd name="adj1" fmla="val -93632"/>
                  <a:gd name="adj2" fmla="val -48930"/>
                </a:avLst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 = 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501" name="AutoShap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4200" y="3786190"/>
                <a:ext cx="1962168" cy="685800"/>
              </a:xfrm>
              <a:prstGeom prst="wedgeEllipseCallout">
                <a:avLst>
                  <a:gd name="adj1" fmla="val -93632"/>
                  <a:gd name="adj2" fmla="val -48930"/>
                </a:avLst>
              </a:prstGeom>
              <a:blipFill rotWithShape="0">
                <a:blip r:embed="rId1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503" name="AutoShape 55"/>
              <p:cNvSpPr>
                <a:spLocks noChangeArrowheads="1"/>
              </p:cNvSpPr>
              <p:nvPr/>
            </p:nvSpPr>
            <p:spPr bwMode="auto">
              <a:xfrm>
                <a:off x="1857356" y="3714752"/>
                <a:ext cx="1571644" cy="552448"/>
              </a:xfrm>
              <a:prstGeom prst="wedgeEllipseCallout">
                <a:avLst>
                  <a:gd name="adj1" fmla="val 109259"/>
                  <a:gd name="adj2" fmla="val 35417"/>
                </a:avLst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503" name="AutoShap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7356" y="3714752"/>
                <a:ext cx="1571644" cy="552448"/>
              </a:xfrm>
              <a:prstGeom prst="wedgeEllipseCallout">
                <a:avLst>
                  <a:gd name="adj1" fmla="val 109259"/>
                  <a:gd name="adj2" fmla="val 35417"/>
                </a:avLst>
              </a:prstGeom>
              <a:blipFill rotWithShape="0">
                <a:blip r:embed="rId2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504" name="Picture 56" descr="MCj04359410000[1]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28600" y="457200"/>
            <a:ext cx="1841500" cy="1273175"/>
          </a:xfrm>
          <a:prstGeom prst="rect">
            <a:avLst/>
          </a:prstGeom>
          <a:noFill/>
        </p:spPr>
      </p:pic>
      <p:sp>
        <p:nvSpPr>
          <p:cNvPr id="104505" name="Text Box 57"/>
          <p:cNvSpPr txBox="1">
            <a:spLocks noChangeArrowheads="1"/>
          </p:cNvSpPr>
          <p:nvPr/>
        </p:nvSpPr>
        <p:spPr bwMode="auto">
          <a:xfrm>
            <a:off x="1461303" y="686764"/>
            <a:ext cx="19208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2000" b="1" dirty="0"/>
              <a:t>the adversary</a:t>
            </a:r>
            <a:br>
              <a:rPr lang="en-US" sz="2000" b="1" dirty="0"/>
            </a:br>
            <a:r>
              <a:rPr lang="en-US" sz="2000" b="1" dirty="0"/>
              <a:t>chooses:</a:t>
            </a:r>
          </a:p>
        </p:txBody>
      </p:sp>
      <p:sp>
        <p:nvSpPr>
          <p:cNvPr id="104506" name="Text Box 58"/>
          <p:cNvSpPr txBox="1">
            <a:spLocks noChangeArrowheads="1"/>
          </p:cNvSpPr>
          <p:nvPr/>
        </p:nvSpPr>
        <p:spPr bwMode="auto">
          <a:xfrm>
            <a:off x="457200" y="472440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2000" b="1" dirty="0"/>
              <a:t>now she can compute: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AutoShape 53"/>
              <p:cNvSpPr>
                <a:spLocks noChangeArrowheads="1"/>
              </p:cNvSpPr>
              <p:nvPr/>
            </p:nvSpPr>
            <p:spPr bwMode="auto">
              <a:xfrm>
                <a:off x="6715140" y="5214950"/>
                <a:ext cx="1752600" cy="685800"/>
              </a:xfrm>
              <a:prstGeom prst="wedgeEllipseCallout">
                <a:avLst>
                  <a:gd name="adj1" fmla="val -123725"/>
                  <a:gd name="adj2" fmla="val -48658"/>
                </a:avLst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8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AutoShap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15140" y="5214950"/>
                <a:ext cx="1752600" cy="685800"/>
              </a:xfrm>
              <a:prstGeom prst="wedgeEllipseCallout">
                <a:avLst>
                  <a:gd name="adj1" fmla="val -123725"/>
                  <a:gd name="adj2" fmla="val -48658"/>
                </a:avLst>
              </a:prstGeom>
              <a:blipFill rotWithShape="0">
                <a:blip r:embed="rId2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31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07" grpId="0" animBg="1"/>
      <p:bldP spid="104507" grpId="1" animBg="1"/>
      <p:bldP spid="104452" grpId="0" animBg="1"/>
      <p:bldP spid="104457" grpId="0" animBg="1"/>
      <p:bldP spid="104473" grpId="0" animBg="1"/>
      <p:bldP spid="104480" grpId="0" animBg="1"/>
      <p:bldP spid="104481" grpId="0" animBg="1"/>
      <p:bldP spid="104484" grpId="0" animBg="1"/>
      <p:bldP spid="104486" grpId="0" animBg="1"/>
      <p:bldP spid="104487" grpId="0" animBg="1"/>
      <p:bldP spid="104488" grpId="0" animBg="1"/>
      <p:bldP spid="104489" grpId="0" animBg="1"/>
      <p:bldP spid="104495" grpId="0" animBg="1"/>
      <p:bldP spid="104498" grpId="0" animBg="1"/>
      <p:bldP spid="104499" grpId="0"/>
      <p:bldP spid="104501" grpId="0" animBg="1"/>
      <p:bldP spid="104503" grpId="0" animBg="1"/>
      <p:bldP spid="104506" grpId="0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835" y="1619551"/>
            <a:ext cx="6929486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to Message Authentication Codes (MACs).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of MACs </a:t>
            </a:r>
            <a:endParaRPr lang="pl-PL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Constructions from block ciphers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Constructions from hash functions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Authenticated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Outlook</a:t>
            </a:r>
          </a:p>
        </p:txBody>
      </p:sp>
      <p:sp>
        <p:nvSpPr>
          <p:cNvPr id="4" name="Left Arrow 3"/>
          <p:cNvSpPr/>
          <p:nvPr/>
        </p:nvSpPr>
        <p:spPr>
          <a:xfrm flipH="1">
            <a:off x="954960" y="3168152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770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practitioners don’t like the CBC-MAC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97575"/>
            <a:ext cx="7886700" cy="38793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They prefer to use the </a:t>
            </a:r>
            <a:r>
              <a:rPr lang="en-US" b="1" dirty="0">
                <a:solidFill>
                  <a:srgbClr val="00B050"/>
                </a:solidFill>
              </a:rPr>
              <a:t>hash functions </a:t>
            </a:r>
            <a:r>
              <a:rPr lang="en-US" dirty="0"/>
              <a:t>for authentication.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070C0"/>
                </a:solidFill>
              </a:rPr>
              <a:t>Why?</a:t>
            </a:r>
          </a:p>
          <a:p>
            <a:pPr marL="0" indent="0" algn="ctr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r>
              <a:rPr lang="en-US" dirty="0"/>
              <a:t> hash functions tend to be a bit </a:t>
            </a:r>
            <a:r>
              <a:rPr lang="en-US" b="1" dirty="0">
                <a:solidFill>
                  <a:srgbClr val="7030A0"/>
                </a:solidFill>
              </a:rPr>
              <a:t>more efficient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no export regulations </a:t>
            </a:r>
            <a:r>
              <a:rPr lang="en-US" dirty="0"/>
              <a:t>(important in the past)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6437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197" y="394063"/>
            <a:ext cx="7886700" cy="1325563"/>
          </a:xfrm>
        </p:spPr>
        <p:txBody>
          <a:bodyPr/>
          <a:lstStyle/>
          <a:p>
            <a:r>
              <a:rPr lang="en-US" dirty="0"/>
              <a:t>How to use hash functions for authentication?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7197" y="1964521"/>
                <a:ext cx="8312793" cy="15946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 natural idea used by the practitioners: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 hash function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197" y="1964521"/>
                <a:ext cx="8312793" cy="1594694"/>
              </a:xfrm>
              <a:blipFill rotWithShape="0">
                <a:blip r:embed="rId2"/>
                <a:stretch>
                  <a:fillRect l="-1466" t="-6489" r="-1540" b="-419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meis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0" y="4785107"/>
            <a:ext cx="1193800" cy="12192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AutoShape 7"/>
              <p:cNvSpPr>
                <a:spLocks noChangeArrowheads="1"/>
              </p:cNvSpPr>
              <p:nvPr/>
            </p:nvSpPr>
            <p:spPr bwMode="auto">
              <a:xfrm>
                <a:off x="2639027" y="3992241"/>
                <a:ext cx="6128796" cy="1012785"/>
              </a:xfrm>
              <a:prstGeom prst="wedgeRoundRectCallout">
                <a:avLst>
                  <a:gd name="adj1" fmla="val -67571"/>
                  <a:gd name="adj2" fmla="val 58430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GB" sz="2800" dirty="0"/>
                  <a:t>Hash a message together with the key: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GB" sz="28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AutoShap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9027" y="3992241"/>
                <a:ext cx="6128796" cy="1012785"/>
              </a:xfrm>
              <a:prstGeom prst="wedgeRoundRectCallout">
                <a:avLst>
                  <a:gd name="adj1" fmla="val -67571"/>
                  <a:gd name="adj2" fmla="val 58430"/>
                  <a:gd name="adj3" fmla="val 16667"/>
                </a:avLst>
              </a:prstGeom>
              <a:blipFill rotWithShape="0">
                <a:blip r:embed="rId4"/>
                <a:stretch>
                  <a:fillRect t="-549" r="-59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011837" y="5891513"/>
            <a:ext cx="3504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this is not secure!</a:t>
            </a:r>
            <a:endParaRPr lang="pl-PL" sz="32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71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53975"/>
            <a:ext cx="8569325" cy="1143000"/>
          </a:xfrm>
        </p:spPr>
        <p:txBody>
          <a:bodyPr>
            <a:normAutofit/>
          </a:bodyPr>
          <a:lstStyle/>
          <a:p>
            <a:r>
              <a:rPr lang="en-GB" sz="3600" b="1" dirty="0"/>
              <a:t>Message extension attack</a:t>
            </a:r>
            <a:r>
              <a:rPr lang="en-GB" sz="3600" dirty="0"/>
              <a:t>: Suppose </a:t>
            </a:r>
            <a:r>
              <a:rPr lang="en-GB" sz="3600" b="1" i="1" dirty="0">
                <a:solidFill>
                  <a:srgbClr val="FF0000"/>
                </a:solidFill>
              </a:rPr>
              <a:t>H</a:t>
            </a:r>
            <a:r>
              <a:rPr lang="en-GB" sz="3600" dirty="0"/>
              <a:t> was constructed using the </a:t>
            </a:r>
            <a:r>
              <a:rPr lang="en-GB" sz="3600" b="1" dirty="0">
                <a:solidFill>
                  <a:srgbClr val="0070C0"/>
                </a:solidFill>
              </a:rPr>
              <a:t>MD-transform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155652" name="Freeform 4"/>
          <p:cNvSpPr>
            <a:spLocks/>
          </p:cNvSpPr>
          <p:nvPr/>
        </p:nvSpPr>
        <p:spPr bwMode="auto">
          <a:xfrm rot="16200000">
            <a:off x="2931319" y="4388644"/>
            <a:ext cx="538162" cy="243840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55653" name="Freeform 5"/>
          <p:cNvSpPr>
            <a:spLocks/>
          </p:cNvSpPr>
          <p:nvPr/>
        </p:nvSpPr>
        <p:spPr bwMode="auto">
          <a:xfrm rot="16200000">
            <a:off x="2931319" y="3309144"/>
            <a:ext cx="538162" cy="243840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55654" name="Freeform 6"/>
          <p:cNvSpPr>
            <a:spLocks/>
          </p:cNvSpPr>
          <p:nvPr/>
        </p:nvSpPr>
        <p:spPr bwMode="auto">
          <a:xfrm rot="16200000">
            <a:off x="2931318" y="2266157"/>
            <a:ext cx="538163" cy="243840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656" name="Rectangle 8"/>
              <p:cNvSpPr>
                <a:spLocks noChangeArrowheads="1"/>
              </p:cNvSpPr>
              <p:nvPr/>
            </p:nvSpPr>
            <p:spPr bwMode="auto">
              <a:xfrm>
                <a:off x="3276600" y="5949950"/>
                <a:ext cx="1152525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56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6600" y="5949950"/>
                <a:ext cx="1152525" cy="358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57" name="Rectangle 9"/>
              <p:cNvSpPr>
                <a:spLocks noChangeArrowheads="1"/>
              </p:cNvSpPr>
              <p:nvPr/>
            </p:nvSpPr>
            <p:spPr bwMode="auto">
              <a:xfrm>
                <a:off x="1981200" y="5949950"/>
                <a:ext cx="1223963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57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5949950"/>
                <a:ext cx="1223963" cy="358775"/>
              </a:xfrm>
              <a:prstGeom prst="rect">
                <a:avLst/>
              </a:prstGeom>
              <a:blipFill rotWithShape="0">
                <a:blip r:embed="rId4"/>
                <a:stretch>
                  <a:fillRect b="-163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58" name="Rectangle 10"/>
              <p:cNvSpPr>
                <a:spLocks noChangeArrowheads="1"/>
              </p:cNvSpPr>
              <p:nvPr/>
            </p:nvSpPr>
            <p:spPr bwMode="auto">
              <a:xfrm>
                <a:off x="3276600" y="4906963"/>
                <a:ext cx="1152525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58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6600" y="4906963"/>
                <a:ext cx="1152525" cy="358775"/>
              </a:xfrm>
              <a:prstGeom prst="rect">
                <a:avLst/>
              </a:prstGeom>
              <a:blipFill rotWithShape="0">
                <a:blip r:embed="rId5"/>
                <a:stretch>
                  <a:fillRect b="-655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59" name="Rectangle 11"/>
              <p:cNvSpPr>
                <a:spLocks noChangeArrowheads="1"/>
              </p:cNvSpPr>
              <p:nvPr/>
            </p:nvSpPr>
            <p:spPr bwMode="auto">
              <a:xfrm>
                <a:off x="1981200" y="4906963"/>
                <a:ext cx="1223963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59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4906963"/>
                <a:ext cx="1223963" cy="358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60" name="Rectangle 12"/>
              <p:cNvSpPr>
                <a:spLocks noChangeArrowheads="1"/>
              </p:cNvSpPr>
              <p:nvPr/>
            </p:nvSpPr>
            <p:spPr bwMode="auto">
              <a:xfrm>
                <a:off x="3276600" y="3827463"/>
                <a:ext cx="1152525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pl-PL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60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6600" y="3827463"/>
                <a:ext cx="1152525" cy="358775"/>
              </a:xfrm>
              <a:prstGeom prst="rect">
                <a:avLst/>
              </a:prstGeom>
              <a:blipFill>
                <a:blip r:embed="rId7"/>
                <a:stretch>
                  <a:fillRect b="-819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61" name="Rectangle 13"/>
              <p:cNvSpPr>
                <a:spLocks noChangeArrowheads="1"/>
              </p:cNvSpPr>
              <p:nvPr/>
            </p:nvSpPr>
            <p:spPr bwMode="auto">
              <a:xfrm>
                <a:off x="1981200" y="3827463"/>
                <a:ext cx="1223963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61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3827463"/>
                <a:ext cx="1223963" cy="358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66" name="Rectangle 18"/>
              <p:cNvSpPr>
                <a:spLocks noChangeArrowheads="1"/>
              </p:cNvSpPr>
              <p:nvPr/>
            </p:nvSpPr>
            <p:spPr bwMode="auto">
              <a:xfrm>
                <a:off x="3133725" y="2784475"/>
                <a:ext cx="1295400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it-IT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66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3725" y="2784475"/>
                <a:ext cx="1295400" cy="358775"/>
              </a:xfrm>
              <a:prstGeom prst="rect">
                <a:avLst/>
              </a:prstGeom>
              <a:blipFill rotWithShape="0">
                <a:blip r:embed="rId9"/>
                <a:stretch>
                  <a:fillRect b="-2295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667" name="Freeform 19"/>
          <p:cNvSpPr>
            <a:spLocks/>
          </p:cNvSpPr>
          <p:nvPr/>
        </p:nvSpPr>
        <p:spPr bwMode="auto">
          <a:xfrm rot="16200000">
            <a:off x="7323932" y="4385469"/>
            <a:ext cx="538162" cy="243840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55668" name="Freeform 20"/>
          <p:cNvSpPr>
            <a:spLocks/>
          </p:cNvSpPr>
          <p:nvPr/>
        </p:nvSpPr>
        <p:spPr bwMode="auto">
          <a:xfrm rot="16200000">
            <a:off x="7292182" y="3264694"/>
            <a:ext cx="538162" cy="252095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55669" name="Freeform 21"/>
          <p:cNvSpPr>
            <a:spLocks/>
          </p:cNvSpPr>
          <p:nvPr/>
        </p:nvSpPr>
        <p:spPr bwMode="auto">
          <a:xfrm rot="16200000">
            <a:off x="7292181" y="2221707"/>
            <a:ext cx="538163" cy="252095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670" name="Rectangle 22"/>
              <p:cNvSpPr>
                <a:spLocks noChangeArrowheads="1"/>
              </p:cNvSpPr>
              <p:nvPr/>
            </p:nvSpPr>
            <p:spPr bwMode="auto">
              <a:xfrm>
                <a:off x="7596188" y="5946775"/>
                <a:ext cx="1225550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70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6188" y="5946775"/>
                <a:ext cx="1225550" cy="358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71" name="Rectangle 23"/>
              <p:cNvSpPr>
                <a:spLocks noChangeArrowheads="1"/>
              </p:cNvSpPr>
              <p:nvPr/>
            </p:nvSpPr>
            <p:spPr bwMode="auto">
              <a:xfrm>
                <a:off x="6300788" y="5946775"/>
                <a:ext cx="1223962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it-IT" sz="2000" b="1" i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71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0788" y="5946775"/>
                <a:ext cx="1223962" cy="358775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72" name="Rectangle 24"/>
              <p:cNvSpPr>
                <a:spLocks noChangeArrowheads="1"/>
              </p:cNvSpPr>
              <p:nvPr/>
            </p:nvSpPr>
            <p:spPr bwMode="auto">
              <a:xfrm>
                <a:off x="7596188" y="4903788"/>
                <a:ext cx="1225550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72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6188" y="4903788"/>
                <a:ext cx="1225550" cy="358775"/>
              </a:xfrm>
              <a:prstGeom prst="rect">
                <a:avLst/>
              </a:prstGeom>
              <a:blipFill rotWithShape="0">
                <a:blip r:embed="rId12"/>
                <a:stretch>
                  <a:fillRect b="-655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73" name="Rectangle 25"/>
              <p:cNvSpPr>
                <a:spLocks noChangeArrowheads="1"/>
              </p:cNvSpPr>
              <p:nvPr/>
            </p:nvSpPr>
            <p:spPr bwMode="auto">
              <a:xfrm>
                <a:off x="6300788" y="4903788"/>
                <a:ext cx="1223962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73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0788" y="4903788"/>
                <a:ext cx="1223962" cy="35877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74" name="Rectangle 26"/>
              <p:cNvSpPr>
                <a:spLocks noChangeArrowheads="1"/>
              </p:cNvSpPr>
              <p:nvPr/>
            </p:nvSpPr>
            <p:spPr bwMode="auto">
              <a:xfrm>
                <a:off x="7596188" y="3824288"/>
                <a:ext cx="1225550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74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6188" y="3824288"/>
                <a:ext cx="1225550" cy="358775"/>
              </a:xfrm>
              <a:prstGeom prst="rect">
                <a:avLst/>
              </a:prstGeom>
              <a:blipFill rotWithShape="0">
                <a:blip r:embed="rId14"/>
                <a:stretch>
                  <a:fillRect b="-655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75" name="Rectangle 27"/>
              <p:cNvSpPr>
                <a:spLocks noChangeArrowheads="1"/>
              </p:cNvSpPr>
              <p:nvPr/>
            </p:nvSpPr>
            <p:spPr bwMode="auto">
              <a:xfrm>
                <a:off x="6300788" y="3824288"/>
                <a:ext cx="1223962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75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0788" y="3824288"/>
                <a:ext cx="1223962" cy="35877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76" name="Rectangle 28"/>
              <p:cNvSpPr>
                <a:spLocks noChangeArrowheads="1"/>
              </p:cNvSpPr>
              <p:nvPr/>
            </p:nvSpPr>
            <p:spPr bwMode="auto">
              <a:xfrm>
                <a:off x="7381875" y="1700213"/>
                <a:ext cx="1439863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it-IT" sz="2000" b="1" dirty="0">
                    <a:solidFill>
                      <a:srgbClr val="FF0000"/>
                    </a:solidFill>
                  </a:rPr>
                  <a:t>Tag</a:t>
                </a:r>
                <a14:m>
                  <m:oMath xmlns:m="http://schemas.openxmlformats.org/officeDocument/2006/math">
                    <m:r>
                      <a:rPr lang="it-IT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it-IT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it-IT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it-IT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76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1875" y="1700213"/>
                <a:ext cx="1439863" cy="358775"/>
              </a:xfrm>
              <a:prstGeom prst="rect">
                <a:avLst/>
              </a:prstGeom>
              <a:blipFill rotWithShape="0">
                <a:blip r:embed="rId16"/>
                <a:stretch>
                  <a:fillRect l="-2941" t="-13115" r="-1261" b="-3278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677" name="Freeform 29"/>
          <p:cNvSpPr>
            <a:spLocks/>
          </p:cNvSpPr>
          <p:nvPr/>
        </p:nvSpPr>
        <p:spPr bwMode="auto">
          <a:xfrm rot="16200000">
            <a:off x="7292976" y="1179512"/>
            <a:ext cx="538162" cy="2519363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679" name="Rectangle 31"/>
              <p:cNvSpPr>
                <a:spLocks noChangeArrowheads="1"/>
              </p:cNvSpPr>
              <p:nvPr/>
            </p:nvSpPr>
            <p:spPr bwMode="auto">
              <a:xfrm>
                <a:off x="6302375" y="2781300"/>
                <a:ext cx="1223963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79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2375" y="2781300"/>
                <a:ext cx="1223963" cy="35877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680" name="Rectangle 32"/>
              <p:cNvSpPr>
                <a:spLocks noChangeArrowheads="1"/>
              </p:cNvSpPr>
              <p:nvPr/>
            </p:nvSpPr>
            <p:spPr bwMode="auto">
              <a:xfrm>
                <a:off x="7597775" y="2781300"/>
                <a:ext cx="1189067" cy="3587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80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7775" y="2781300"/>
                <a:ext cx="1189067" cy="358775"/>
              </a:xfrm>
              <a:prstGeom prst="rect">
                <a:avLst/>
              </a:prstGeom>
              <a:blipFill rotWithShape="0">
                <a:blip r:embed="rId18"/>
                <a:stretch>
                  <a:fillRect l="-2538" b="-2295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5681" name="Picture 33" descr="MCj04359410000[1]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414478" y="1197176"/>
            <a:ext cx="2160588" cy="1493838"/>
          </a:xfrm>
          <a:prstGeom prst="rect">
            <a:avLst/>
          </a:prstGeom>
          <a:noFill/>
        </p:spPr>
      </p:pic>
      <p:sp>
        <p:nvSpPr>
          <p:cNvPr id="155682" name="Line 34"/>
          <p:cNvSpPr>
            <a:spLocks noChangeShapeType="1"/>
          </p:cNvSpPr>
          <p:nvPr/>
        </p:nvSpPr>
        <p:spPr bwMode="auto">
          <a:xfrm flipH="1" flipV="1">
            <a:off x="3276600" y="6505575"/>
            <a:ext cx="358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5683" name="Line 35"/>
          <p:cNvSpPr>
            <a:spLocks noChangeShapeType="1"/>
          </p:cNvSpPr>
          <p:nvPr/>
        </p:nvSpPr>
        <p:spPr bwMode="auto">
          <a:xfrm flipV="1">
            <a:off x="3995738" y="6505575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5684" name="Line 36"/>
          <p:cNvSpPr>
            <a:spLocks noChangeShapeType="1"/>
          </p:cNvSpPr>
          <p:nvPr/>
        </p:nvSpPr>
        <p:spPr bwMode="auto">
          <a:xfrm>
            <a:off x="3306763" y="64166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5685" name="Line 37"/>
          <p:cNvSpPr>
            <a:spLocks noChangeShapeType="1"/>
          </p:cNvSpPr>
          <p:nvPr/>
        </p:nvSpPr>
        <p:spPr bwMode="auto">
          <a:xfrm>
            <a:off x="4427538" y="64166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686" name="Text Box 38"/>
              <p:cNvSpPr txBox="1">
                <a:spLocks noChangeArrowheads="1"/>
              </p:cNvSpPr>
              <p:nvPr/>
            </p:nvSpPr>
            <p:spPr bwMode="auto">
              <a:xfrm>
                <a:off x="3665668" y="6320909"/>
                <a:ext cx="36988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5686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5668" y="6320909"/>
                <a:ext cx="369888" cy="369332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688" name="AutoShape 40"/>
          <p:cNvSpPr>
            <a:spLocks noChangeArrowheads="1"/>
          </p:cNvSpPr>
          <p:nvPr/>
        </p:nvSpPr>
        <p:spPr bwMode="auto">
          <a:xfrm rot="1605860">
            <a:off x="2059716" y="1945115"/>
            <a:ext cx="2014537" cy="533400"/>
          </a:xfrm>
          <a:prstGeom prst="rightArrow">
            <a:avLst>
              <a:gd name="adj1" fmla="val 50000"/>
              <a:gd name="adj2" fmla="val 94420"/>
            </a:avLst>
          </a:prstGeom>
          <a:solidFill>
            <a:srgbClr val="FDF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1800"/>
              <a:t>she can see this</a:t>
            </a:r>
            <a:endParaRPr lang="en-US" sz="1800"/>
          </a:p>
        </p:txBody>
      </p:sp>
      <p:sp>
        <p:nvSpPr>
          <p:cNvPr id="155689" name="AutoShape 41"/>
          <p:cNvSpPr>
            <a:spLocks noChangeArrowheads="1"/>
          </p:cNvSpPr>
          <p:nvPr/>
        </p:nvSpPr>
        <p:spPr bwMode="auto">
          <a:xfrm rot="323537">
            <a:off x="2195512" y="1442275"/>
            <a:ext cx="5040312" cy="504825"/>
          </a:xfrm>
          <a:prstGeom prst="rightArrow">
            <a:avLst>
              <a:gd name="adj1" fmla="val 49111"/>
              <a:gd name="adj2" fmla="val 173847"/>
            </a:avLst>
          </a:prstGeom>
          <a:solidFill>
            <a:srgbClr val="FDF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1800"/>
              <a:t>she can fabricate this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962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 animBg="1"/>
      <p:bldP spid="155653" grpId="0" animBg="1"/>
      <p:bldP spid="155654" grpId="0" animBg="1"/>
      <p:bldP spid="155656" grpId="0" animBg="1"/>
      <p:bldP spid="155657" grpId="0" animBg="1"/>
      <p:bldP spid="155658" grpId="0" animBg="1"/>
      <p:bldP spid="155659" grpId="0" animBg="1"/>
      <p:bldP spid="155660" grpId="0" animBg="1"/>
      <p:bldP spid="155661" grpId="0" animBg="1"/>
      <p:bldP spid="155666" grpId="0" animBg="1"/>
      <p:bldP spid="155667" grpId="0" animBg="1"/>
      <p:bldP spid="155668" grpId="0" animBg="1"/>
      <p:bldP spid="155669" grpId="0" animBg="1"/>
      <p:bldP spid="155670" grpId="0" animBg="1"/>
      <p:bldP spid="155671" grpId="0" animBg="1"/>
      <p:bldP spid="155672" grpId="0" animBg="1"/>
      <p:bldP spid="155673" grpId="0" animBg="1"/>
      <p:bldP spid="155674" grpId="0" animBg="1"/>
      <p:bldP spid="155675" grpId="0" animBg="1"/>
      <p:bldP spid="155676" grpId="0" animBg="1"/>
      <p:bldP spid="155677" grpId="0" animBg="1"/>
      <p:bldP spid="155679" grpId="0" animBg="1"/>
      <p:bldP spid="155680" grpId="0" animBg="1"/>
      <p:bldP spid="155682" grpId="0" animBg="1"/>
      <p:bldP spid="155683" grpId="0" animBg="1"/>
      <p:bldP spid="155684" grpId="0" animBg="1"/>
      <p:bldP spid="155685" grpId="0" animBg="1"/>
      <p:bldP spid="155686" grpId="0"/>
      <p:bldP spid="155688" grpId="0" animBg="1"/>
      <p:bldP spid="15568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603" y="171489"/>
            <a:ext cx="7886700" cy="1325563"/>
          </a:xfrm>
        </p:spPr>
        <p:txBody>
          <a:bodyPr/>
          <a:lstStyle/>
          <a:p>
            <a:r>
              <a:rPr lang="en-US" dirty="0"/>
              <a:t>Still, used in practice</a:t>
            </a:r>
            <a:r>
              <a:rPr lang="pl-PL" dirty="0"/>
              <a:t> in the past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example in </a:t>
            </a:r>
            <a:r>
              <a:rPr lang="en-US" b="1" dirty="0">
                <a:solidFill>
                  <a:srgbClr val="FF0000"/>
                </a:solidFill>
              </a:rPr>
              <a:t>SSL v.2</a:t>
            </a:r>
            <a:r>
              <a:rPr lang="en-US" dirty="0"/>
              <a:t>: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59632" y="2996952"/>
            <a:ext cx="6728792" cy="26776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-57150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The </a:t>
            </a:r>
            <a:r>
              <a:rPr lang="en-US" sz="28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MAC-DATA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is computed as follows:</a:t>
            </a:r>
          </a:p>
          <a:p>
            <a:pPr indent="-57150"/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-57150"/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MAC-DATA = HASH[SECRET, ACTUAL-DATA, PADDING-DATA, SEQUENCE-NUMBER]</a:t>
            </a:r>
          </a:p>
        </p:txBody>
      </p:sp>
    </p:spTree>
    <p:extLst>
      <p:ext uri="{BB962C8B-B14F-4D97-AF65-F5344CB8AC3E}">
        <p14:creationId xmlns:p14="http://schemas.microsoft.com/office/powerpoint/2010/main" val="3159204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7701" name="Rectangle 5"/>
              <p:cNvSpPr>
                <a:spLocks noChangeArrowheads="1"/>
              </p:cNvSpPr>
              <p:nvPr/>
            </p:nvSpPr>
            <p:spPr bwMode="auto">
              <a:xfrm>
                <a:off x="0" y="5767388"/>
                <a:ext cx="9144000" cy="57626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buFontTx/>
                  <a:buNone/>
                </a:pPr>
                <a:r>
                  <a:rPr lang="en-GB" sz="2700" dirty="0"/>
                  <a:t>Again, let </a:t>
                </a:r>
                <a14:m>
                  <m:oMath xmlns:m="http://schemas.openxmlformats.org/officeDocument/2006/math">
                    <m:r>
                      <a:rPr lang="it-IT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it-IT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7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7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→ {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𝟎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sz="27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𝑳</m:t>
                    </m:r>
                    <m:r>
                      <a:rPr lang="en-US" sz="27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700" dirty="0">
                    <a:cs typeface="Arial" pitchFamily="34" charset="0"/>
                  </a:rPr>
                  <a:t>be a compression function.</a:t>
                </a:r>
              </a:p>
            </p:txBody>
          </p:sp>
        </mc:Choice>
        <mc:Fallback xmlns="">
          <p:sp>
            <p:nvSpPr>
              <p:cNvPr id="15770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5767388"/>
                <a:ext cx="9144000" cy="576262"/>
              </a:xfrm>
              <a:prstGeom prst="rect">
                <a:avLst/>
              </a:prstGeom>
              <a:blipFill rotWithShape="0">
                <a:blip r:embed="rId3"/>
                <a:stretch>
                  <a:fillRect t="-6186" b="-1546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79400" y="138113"/>
            <a:ext cx="7772400" cy="1143000"/>
          </a:xfrm>
        </p:spPr>
        <p:txBody>
          <a:bodyPr/>
          <a:lstStyle/>
          <a:p>
            <a:r>
              <a:rPr lang="en-GB"/>
              <a:t>A better idea</a:t>
            </a: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153" y="1401763"/>
            <a:ext cx="8630397" cy="405288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it-IT" b="1" dirty="0">
                <a:solidFill>
                  <a:srgbClr val="00B050"/>
                </a:solidFill>
              </a:rPr>
              <a:t>M. </a:t>
            </a:r>
            <a:r>
              <a:rPr lang="it-IT" b="1" dirty="0" err="1">
                <a:solidFill>
                  <a:srgbClr val="00B050"/>
                </a:solidFill>
              </a:rPr>
              <a:t>Bellare</a:t>
            </a:r>
            <a:r>
              <a:rPr lang="it-IT" b="1" dirty="0">
                <a:solidFill>
                  <a:srgbClr val="00B050"/>
                </a:solidFill>
              </a:rPr>
              <a:t>, R. </a:t>
            </a:r>
            <a:r>
              <a:rPr lang="it-IT" b="1" dirty="0" err="1">
                <a:solidFill>
                  <a:srgbClr val="00B050"/>
                </a:solidFill>
              </a:rPr>
              <a:t>Canetti</a:t>
            </a:r>
            <a:r>
              <a:rPr lang="it-IT" b="1" dirty="0">
                <a:solidFill>
                  <a:srgbClr val="00B050"/>
                </a:solidFill>
              </a:rPr>
              <a:t>, and H. </a:t>
            </a:r>
            <a:r>
              <a:rPr lang="it-IT" b="1" dirty="0" err="1">
                <a:solidFill>
                  <a:srgbClr val="00B050"/>
                </a:solidFill>
              </a:rPr>
              <a:t>Krawczyk</a:t>
            </a:r>
            <a:r>
              <a:rPr lang="it-IT" b="1" dirty="0">
                <a:solidFill>
                  <a:srgbClr val="00B050"/>
                </a:solidFill>
              </a:rPr>
              <a:t> (1996)</a:t>
            </a:r>
            <a:r>
              <a:rPr lang="it-IT" b="1" dirty="0"/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endParaRPr lang="it-IT" b="1" dirty="0"/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rgbClr val="0070C0"/>
                </a:solidFill>
              </a:rPr>
              <a:t>NMAC</a:t>
            </a:r>
            <a:r>
              <a:rPr lang="en-GB" dirty="0"/>
              <a:t> (Nested MAC)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rgbClr val="0070C0"/>
                </a:solidFill>
              </a:rPr>
              <a:t>HMAC</a:t>
            </a:r>
            <a:r>
              <a:rPr lang="en-GB" dirty="0"/>
              <a:t> (Hash based MAC)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/>
              <a:t>have some “provable properties”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/>
              <a:t>They both use the </a:t>
            </a:r>
            <a:r>
              <a:rPr lang="it-IT" b="1" dirty="0" err="1">
                <a:solidFill>
                  <a:srgbClr val="FF0000"/>
                </a:solidFill>
              </a:rPr>
              <a:t>Merkle-Damg</a:t>
            </a:r>
            <a:r>
              <a:rPr lang="en-US" b="1" dirty="0">
                <a:solidFill>
                  <a:srgbClr val="FF0000"/>
                </a:solidFill>
                <a:cs typeface="Arial" pitchFamily="34" charset="0"/>
              </a:rPr>
              <a:t>å</a:t>
            </a:r>
            <a:r>
              <a:rPr lang="it-IT" b="1" dirty="0">
                <a:solidFill>
                  <a:srgbClr val="FF0000"/>
                </a:solidFill>
              </a:rPr>
              <a:t>rd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transform.</a:t>
            </a:r>
          </a:p>
          <a:p>
            <a:pPr>
              <a:lnSpc>
                <a:spcPct val="90000"/>
              </a:lnSpc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4055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43000"/>
          </a:xfrm>
        </p:spPr>
        <p:txBody>
          <a:bodyPr/>
          <a:lstStyle/>
          <a:p>
            <a:r>
              <a:rPr lang="en-GB"/>
              <a:t>NMAC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724" name="Rectangle 4"/>
              <p:cNvSpPr>
                <a:spLocks noChangeArrowheads="1"/>
              </p:cNvSpPr>
              <p:nvPr/>
            </p:nvSpPr>
            <p:spPr bwMode="auto">
              <a:xfrm>
                <a:off x="1017588" y="1341438"/>
                <a:ext cx="360045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872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7588" y="1341438"/>
                <a:ext cx="3600450" cy="4572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017588" y="2492375"/>
            <a:ext cx="914400" cy="2438400"/>
            <a:chOff x="1104" y="1728"/>
            <a:chExt cx="912" cy="1200"/>
          </a:xfrm>
        </p:grpSpPr>
        <p:sp>
          <p:nvSpPr>
            <p:cNvPr id="158726" name="Freeform 6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FEE7D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727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350" y="2373"/>
                  <a:ext cx="320" cy="2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8727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50" y="2373"/>
                  <a:ext cx="320" cy="25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783138" y="2492375"/>
            <a:ext cx="914400" cy="2438400"/>
            <a:chOff x="1104" y="1728"/>
            <a:chExt cx="912" cy="1200"/>
          </a:xfrm>
        </p:grpSpPr>
        <p:sp>
          <p:nvSpPr>
            <p:cNvPr id="158729" name="Freeform 9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FEE7D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730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307" y="2372"/>
                  <a:ext cx="490" cy="2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8730" name="Text 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07" y="2372"/>
                  <a:ext cx="490" cy="25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8731" name="Rectangle 11"/>
              <p:cNvSpPr>
                <a:spLocks noChangeArrowheads="1"/>
              </p:cNvSpPr>
              <p:nvPr/>
            </p:nvSpPr>
            <p:spPr bwMode="auto">
              <a:xfrm>
                <a:off x="1017588" y="1916113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8731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7588" y="1916113"/>
                <a:ext cx="1295400" cy="4572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508793" y="2480183"/>
            <a:ext cx="914400" cy="2438400"/>
            <a:chOff x="1125" y="1722"/>
            <a:chExt cx="912" cy="1200"/>
          </a:xfrm>
        </p:grpSpPr>
        <p:sp>
          <p:nvSpPr>
            <p:cNvPr id="158733" name="Freeform 13"/>
            <p:cNvSpPr>
              <a:spLocks/>
            </p:cNvSpPr>
            <p:nvPr/>
          </p:nvSpPr>
          <p:spPr bwMode="auto">
            <a:xfrm>
              <a:off x="1125" y="1722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FEE7D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73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365" y="2373"/>
                  <a:ext cx="343" cy="2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8734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65" y="2373"/>
                  <a:ext cx="343" cy="25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8735" name="Rectangle 15"/>
              <p:cNvSpPr>
                <a:spLocks noChangeArrowheads="1"/>
              </p:cNvSpPr>
              <p:nvPr/>
            </p:nvSpPr>
            <p:spPr bwMode="auto">
              <a:xfrm>
                <a:off x="3487738" y="1916113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8735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7738" y="1916113"/>
                <a:ext cx="1295400" cy="4572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736" name="Rectangle 16"/>
              <p:cNvSpPr>
                <a:spLocks noChangeArrowheads="1"/>
              </p:cNvSpPr>
              <p:nvPr/>
            </p:nvSpPr>
            <p:spPr bwMode="auto">
              <a:xfrm>
                <a:off x="4791075" y="1916113"/>
                <a:ext cx="1572073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8736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1075" y="1916113"/>
                <a:ext cx="1572073" cy="457200"/>
              </a:xfrm>
              <a:prstGeom prst="rect">
                <a:avLst/>
              </a:prstGeom>
              <a:blipFill rotWithShape="0">
                <a:blip r:embed="rId9"/>
                <a:stretch>
                  <a:fillRect r="-385"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737" name="AutoShape 17"/>
          <p:cNvSpPr>
            <a:spLocks noChangeArrowheads="1"/>
          </p:cNvSpPr>
          <p:nvPr/>
        </p:nvSpPr>
        <p:spPr bwMode="auto">
          <a:xfrm>
            <a:off x="1931988" y="416877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38" name="AutoShape 18"/>
          <p:cNvSpPr>
            <a:spLocks noChangeArrowheads="1"/>
          </p:cNvSpPr>
          <p:nvPr/>
        </p:nvSpPr>
        <p:spPr bwMode="auto">
          <a:xfrm>
            <a:off x="3106738" y="416877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39" name="AutoShape 19"/>
          <p:cNvSpPr>
            <a:spLocks noChangeArrowheads="1"/>
          </p:cNvSpPr>
          <p:nvPr/>
        </p:nvSpPr>
        <p:spPr bwMode="auto">
          <a:xfrm>
            <a:off x="4402138" y="416877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40" name="AutoShape 20"/>
          <p:cNvSpPr>
            <a:spLocks noChangeArrowheads="1"/>
          </p:cNvSpPr>
          <p:nvPr/>
        </p:nvSpPr>
        <p:spPr bwMode="auto">
          <a:xfrm rot="5983297" flipV="1">
            <a:off x="157163" y="2179638"/>
            <a:ext cx="1601787" cy="1220787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42" name="AutoShape 22"/>
          <p:cNvSpPr>
            <a:spLocks noChangeArrowheads="1"/>
          </p:cNvSpPr>
          <p:nvPr/>
        </p:nvSpPr>
        <p:spPr bwMode="auto">
          <a:xfrm rot="5983297" flipV="1">
            <a:off x="2627313" y="2179638"/>
            <a:ext cx="1600200" cy="12192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43" name="AutoShape 23"/>
          <p:cNvSpPr>
            <a:spLocks noChangeArrowheads="1"/>
          </p:cNvSpPr>
          <p:nvPr/>
        </p:nvSpPr>
        <p:spPr bwMode="auto">
          <a:xfrm rot="5983297" flipV="1">
            <a:off x="3922713" y="2179638"/>
            <a:ext cx="1601787" cy="1220787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744" name="Rectangle 24"/>
              <p:cNvSpPr>
                <a:spLocks noChangeArrowheads="1"/>
              </p:cNvSpPr>
              <p:nvPr/>
            </p:nvSpPr>
            <p:spPr bwMode="auto">
              <a:xfrm>
                <a:off x="179388" y="3711575"/>
                <a:ext cx="457200" cy="1219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8744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388" y="3711575"/>
                <a:ext cx="457200" cy="1219200"/>
              </a:xfrm>
              <a:prstGeom prst="rect">
                <a:avLst/>
              </a:prstGeom>
              <a:blipFill rotWithShape="0">
                <a:blip r:embed="rId10"/>
                <a:stretch>
                  <a:fillRect l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745" name="AutoShape 25"/>
          <p:cNvSpPr>
            <a:spLocks noChangeArrowheads="1"/>
          </p:cNvSpPr>
          <p:nvPr/>
        </p:nvSpPr>
        <p:spPr bwMode="auto">
          <a:xfrm>
            <a:off x="636588" y="416877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746" name="Rectangle 26"/>
              <p:cNvSpPr>
                <a:spLocks noChangeArrowheads="1"/>
              </p:cNvSpPr>
              <p:nvPr/>
            </p:nvSpPr>
            <p:spPr bwMode="auto">
              <a:xfrm>
                <a:off x="4257675" y="1341438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8746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7675" y="1341438"/>
                <a:ext cx="533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 l="-333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747" name="Text Box 27"/>
          <p:cNvSpPr txBox="1">
            <a:spLocks noChangeArrowheads="1"/>
          </p:cNvSpPr>
          <p:nvPr/>
        </p:nvSpPr>
        <p:spPr bwMode="auto">
          <a:xfrm>
            <a:off x="2386013" y="3644900"/>
            <a:ext cx="604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993300"/>
                </a:solidFill>
              </a:rPr>
              <a:t>. . .</a:t>
            </a:r>
          </a:p>
        </p:txBody>
      </p:sp>
      <p:sp>
        <p:nvSpPr>
          <p:cNvPr id="158748" name="AutoShape 28"/>
          <p:cNvSpPr>
            <a:spLocks noChangeArrowheads="1"/>
          </p:cNvSpPr>
          <p:nvPr/>
        </p:nvSpPr>
        <p:spPr bwMode="auto">
          <a:xfrm>
            <a:off x="5697538" y="414972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6083300" y="3860800"/>
            <a:ext cx="914400" cy="2438400"/>
            <a:chOff x="1104" y="1728"/>
            <a:chExt cx="912" cy="1200"/>
          </a:xfrm>
        </p:grpSpPr>
        <p:sp>
          <p:nvSpPr>
            <p:cNvPr id="158750" name="Freeform 30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FEE7D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751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383" y="2363"/>
                  <a:ext cx="490" cy="2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8751" name="Text 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83" y="2363"/>
                  <a:ext cx="490" cy="257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8752" name="Rectangle 32"/>
              <p:cNvSpPr>
                <a:spLocks noChangeArrowheads="1"/>
              </p:cNvSpPr>
              <p:nvPr/>
            </p:nvSpPr>
            <p:spPr bwMode="auto">
              <a:xfrm>
                <a:off x="5192713" y="5084763"/>
                <a:ext cx="457200" cy="1219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8752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2713" y="5084763"/>
                <a:ext cx="457200" cy="1219200"/>
              </a:xfrm>
              <a:prstGeom prst="rect">
                <a:avLst/>
              </a:prstGeom>
              <a:blipFill rotWithShape="0">
                <a:blip r:embed="rId13"/>
                <a:stretch>
                  <a:fillRect l="-259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753" name="AutoShape 33"/>
          <p:cNvSpPr>
            <a:spLocks noChangeArrowheads="1"/>
          </p:cNvSpPr>
          <p:nvPr/>
        </p:nvSpPr>
        <p:spPr bwMode="auto">
          <a:xfrm>
            <a:off x="5702300" y="544512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54" name="AutoShape 34"/>
          <p:cNvSpPr>
            <a:spLocks noChangeArrowheads="1"/>
          </p:cNvSpPr>
          <p:nvPr/>
        </p:nvSpPr>
        <p:spPr bwMode="auto">
          <a:xfrm>
            <a:off x="7018338" y="5157788"/>
            <a:ext cx="2027237" cy="1079500"/>
          </a:xfrm>
          <a:prstGeom prst="rightArrow">
            <a:avLst>
              <a:gd name="adj1" fmla="val 50000"/>
              <a:gd name="adj2" fmla="val 46949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755" name="Text Box 35"/>
              <p:cNvSpPr txBox="1">
                <a:spLocks noChangeArrowheads="1"/>
              </p:cNvSpPr>
              <p:nvPr/>
            </p:nvSpPr>
            <p:spPr bwMode="auto">
              <a:xfrm>
                <a:off x="7123617" y="5502984"/>
                <a:ext cx="1424301" cy="7343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NMA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  <a:p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8755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23617" y="5502984"/>
                <a:ext cx="1424301" cy="734304"/>
              </a:xfrm>
              <a:prstGeom prst="rect">
                <a:avLst/>
              </a:prstGeom>
              <a:blipFill rotWithShape="0">
                <a:blip r:embed="rId14"/>
                <a:stretch>
                  <a:fillRect l="-4721" t="-58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41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 animBg="1"/>
      <p:bldP spid="158731" grpId="0" animBg="1"/>
      <p:bldP spid="158735" grpId="0" animBg="1"/>
      <p:bldP spid="158736" grpId="0" animBg="1"/>
      <p:bldP spid="158737" grpId="0" animBg="1"/>
      <p:bldP spid="158738" grpId="0" animBg="1"/>
      <p:bldP spid="158739" grpId="0" animBg="1"/>
      <p:bldP spid="158740" grpId="0" animBg="1"/>
      <p:bldP spid="158742" grpId="0" animBg="1"/>
      <p:bldP spid="158743" grpId="0" animBg="1"/>
      <p:bldP spid="158744" grpId="0" animBg="1"/>
      <p:bldP spid="158745" grpId="0" animBg="1"/>
      <p:bldP spid="158746" grpId="0" animBg="1"/>
      <p:bldP spid="158747" grpId="0"/>
      <p:bldP spid="158748" grpId="0" animBg="1"/>
      <p:bldP spid="158748" grpId="1" animBg="1"/>
      <p:bldP spid="158752" grpId="0" animBg="1"/>
      <p:bldP spid="158753" grpId="0" animBg="1"/>
      <p:bldP spid="158754" grpId="0" animBg="1"/>
      <p:bldP spid="15875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9D91B-3333-4EE8-969C-D0AA72205272}" type="slidenum">
              <a:rPr lang="it-IT"/>
              <a:pPr/>
              <a:t>41</a:t>
            </a:fld>
            <a:endParaRPr lang="it-IT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82"/>
            <a:ext cx="7772400" cy="1143000"/>
          </a:xfrm>
        </p:spPr>
        <p:txBody>
          <a:bodyPr/>
          <a:lstStyle/>
          <a:p>
            <a:r>
              <a:rPr lang="en-GB" dirty="0"/>
              <a:t>What can be proven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74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288" y="1125538"/>
                <a:ext cx="7772400" cy="5472112"/>
              </a:xfrm>
            </p:spPr>
            <p:txBody>
              <a:bodyPr>
                <a:normAutofit lnSpcReduction="10000"/>
              </a:bodyPr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GB" sz="2800" b="1" dirty="0">
                    <a:solidFill>
                      <a:srgbClr val="008000"/>
                    </a:solidFill>
                  </a:rPr>
                  <a:t>Suppose</a:t>
                </a:r>
                <a:r>
                  <a:rPr lang="en-GB" sz="2800" dirty="0"/>
                  <a:t> that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collision-resistant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r>
                  <a:rPr lang="en-GB" sz="2800" dirty="0"/>
                  <a:t> the following function is a secure 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MAC</a:t>
                </a:r>
                <a:r>
                  <a:rPr lang="en-GB" sz="2800" dirty="0"/>
                  <a:t>: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eriod"/>
                </a:pPr>
                <a:endParaRPr lang="en-GB" sz="2800" b="1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br>
                  <a:rPr lang="en-GB" sz="2800" b="1" dirty="0"/>
                </a:br>
                <a:br>
                  <a:rPr lang="en-GB" sz="2800" b="1" dirty="0"/>
                </a:br>
                <a:br>
                  <a:rPr lang="en-GB" sz="2800" b="1" dirty="0"/>
                </a:br>
                <a:endParaRPr lang="en-GB" sz="2800" b="1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GB" sz="2800" b="1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GB" sz="2800" b="1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GB" sz="2800" b="1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GB" sz="2800" b="1" dirty="0"/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GB" sz="2800" b="1" dirty="0">
                    <a:solidFill>
                      <a:srgbClr val="008000"/>
                    </a:solidFill>
                  </a:rPr>
                  <a:t>Then</a:t>
                </a:r>
                <a:r>
                  <a:rPr lang="en-GB" sz="2800" dirty="0"/>
                  <a:t> 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NMAC</a:t>
                </a:r>
                <a:r>
                  <a:rPr lang="en-GB" sz="2800" dirty="0"/>
                  <a:t> is a secure 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MAC</a:t>
                </a:r>
                <a:r>
                  <a:rPr lang="en-GB" sz="2800" dirty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1597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288" y="1125538"/>
                <a:ext cx="7772400" cy="5472112"/>
              </a:xfrm>
              <a:blipFill rotWithShape="0">
                <a:blip r:embed="rId3"/>
                <a:stretch>
                  <a:fillRect l="-1647" t="-34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748" name="AutoShape 4"/>
          <p:cNvSpPr>
            <a:spLocks noChangeArrowheads="1"/>
          </p:cNvSpPr>
          <p:nvPr/>
        </p:nvSpPr>
        <p:spPr bwMode="auto">
          <a:xfrm>
            <a:off x="3049588" y="3074988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481388" y="2786063"/>
            <a:ext cx="914400" cy="2438400"/>
            <a:chOff x="1104" y="1728"/>
            <a:chExt cx="912" cy="1200"/>
          </a:xfrm>
        </p:grpSpPr>
        <p:sp>
          <p:nvSpPr>
            <p:cNvPr id="159750" name="Freeform 6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FEE7D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75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355" y="2366"/>
                  <a:ext cx="490" cy="2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9751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55" y="2366"/>
                  <a:ext cx="490" cy="25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9752" name="Rectangle 8"/>
              <p:cNvSpPr>
                <a:spLocks noChangeArrowheads="1"/>
              </p:cNvSpPr>
              <p:nvPr/>
            </p:nvSpPr>
            <p:spPr bwMode="auto">
              <a:xfrm>
                <a:off x="2546350" y="4010025"/>
                <a:ext cx="457200" cy="1219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9752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6350" y="4010025"/>
                <a:ext cx="457200" cy="1219200"/>
              </a:xfrm>
              <a:prstGeom prst="rect">
                <a:avLst/>
              </a:prstGeom>
              <a:blipFill rotWithShape="0">
                <a:blip r:embed="rId5"/>
                <a:stretch>
                  <a:fillRect l="-259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753" name="AutoShape 9"/>
          <p:cNvSpPr>
            <a:spLocks noChangeArrowheads="1"/>
          </p:cNvSpPr>
          <p:nvPr/>
        </p:nvSpPr>
        <p:spPr bwMode="auto">
          <a:xfrm>
            <a:off x="3054350" y="4370388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54" name="AutoShape 10"/>
          <p:cNvSpPr>
            <a:spLocks noChangeArrowheads="1"/>
          </p:cNvSpPr>
          <p:nvPr/>
        </p:nvSpPr>
        <p:spPr bwMode="auto">
          <a:xfrm>
            <a:off x="4416425" y="4083050"/>
            <a:ext cx="2027238" cy="1079500"/>
          </a:xfrm>
          <a:prstGeom prst="rightArrow">
            <a:avLst>
              <a:gd name="adj1" fmla="val 50000"/>
              <a:gd name="adj2" fmla="val 46949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755" name="Text Box 11"/>
              <p:cNvSpPr txBox="1">
                <a:spLocks noChangeArrowheads="1"/>
              </p:cNvSpPr>
              <p:nvPr/>
            </p:nvSpPr>
            <p:spPr bwMode="auto">
              <a:xfrm>
                <a:off x="4572000" y="4429132"/>
                <a:ext cx="1389355" cy="432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e>
                            <m:sub>
                              <m:r>
                                <a:rPr lang="en-US" sz="2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b>
                          </m:sSub>
                        </m:e>
                        <m:sub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9755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4429132"/>
                <a:ext cx="1389355" cy="432170"/>
              </a:xfrm>
              <a:prstGeom prst="rect">
                <a:avLst/>
              </a:prstGeom>
              <a:blipFill rotWithShape="0">
                <a:blip r:embed="rId6"/>
                <a:stretch>
                  <a:fillRect b="-857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756" name="Rectangle 12"/>
              <p:cNvSpPr>
                <a:spLocks noChangeArrowheads="1"/>
              </p:cNvSpPr>
              <p:nvPr/>
            </p:nvSpPr>
            <p:spPr bwMode="auto">
              <a:xfrm>
                <a:off x="2546350" y="2786063"/>
                <a:ext cx="457200" cy="1219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9756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6350" y="2786063"/>
                <a:ext cx="457200" cy="12192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61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8" grpId="0" animBg="1"/>
      <p:bldP spid="159752" grpId="0" animBg="1"/>
      <p:bldP spid="159753" grpId="0" animBg="1"/>
      <p:bldP spid="159754" grpId="0" animBg="1"/>
      <p:bldP spid="159755" grpId="0"/>
      <p:bldP spid="15975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C335-59E4-4E08-BB78-5CD504699C43}" type="slidenum">
              <a:rPr lang="it-IT"/>
              <a:pPr/>
              <a:t>42</a:t>
            </a:fld>
            <a:endParaRPr lang="it-IT"/>
          </a:p>
        </p:txBody>
      </p:sp>
      <p:pic>
        <p:nvPicPr>
          <p:cNvPr id="160772" name="Picture 4" descr="meis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0288" y="2781300"/>
            <a:ext cx="1193800" cy="12192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0773" name="AutoShape 5"/>
              <p:cNvSpPr>
                <a:spLocks noChangeArrowheads="1"/>
              </p:cNvSpPr>
              <p:nvPr/>
            </p:nvSpPr>
            <p:spPr bwMode="auto">
              <a:xfrm>
                <a:off x="1042988" y="1773238"/>
                <a:ext cx="4681537" cy="2376487"/>
              </a:xfrm>
              <a:prstGeom prst="wedgeRoundRectCallout">
                <a:avLst>
                  <a:gd name="adj1" fmla="val 96255"/>
                  <a:gd name="adj2" fmla="val 11056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marL="457200" indent="-457200"/>
                <a:r>
                  <a:rPr lang="en-GB" sz="2400" b="1" dirty="0"/>
                  <a:t>We don’t like it:</a:t>
                </a:r>
                <a:br>
                  <a:rPr lang="en-GB" sz="2400" b="1" dirty="0"/>
                </a:br>
                <a:endParaRPr lang="en-GB" sz="2400" b="1" dirty="0"/>
              </a:p>
              <a:p>
                <a:pPr marL="457200" indent="-457200">
                  <a:buFontTx/>
                  <a:buAutoNum type="arabicPeriod"/>
                </a:pPr>
                <a:r>
                  <a:rPr lang="en-GB" sz="2400" dirty="0"/>
                  <a:t>our libraries do not permit to change the </a:t>
                </a:r>
                <a:r>
                  <a:rPr lang="en-GB" sz="2400" b="1" dirty="0">
                    <a:solidFill>
                      <a:srgbClr val="FF0000"/>
                    </a:solidFill>
                  </a:rPr>
                  <a:t>IV</a:t>
                </a:r>
              </a:p>
              <a:p>
                <a:pPr marL="457200" indent="-457200">
                  <a:buFontTx/>
                  <a:buAutoNum type="arabicPeriod"/>
                </a:pPr>
                <a:r>
                  <a:rPr lang="en-GB" sz="2400" dirty="0"/>
                  <a:t>the key is too long: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0773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2988" y="1773238"/>
                <a:ext cx="4681537" cy="2376487"/>
              </a:xfrm>
              <a:prstGeom prst="wedgeRoundRectCallout">
                <a:avLst>
                  <a:gd name="adj1" fmla="val 96255"/>
                  <a:gd name="adj2" fmla="val 11056"/>
                  <a:gd name="adj3" fmla="val 16667"/>
                </a:avLst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775" name="AutoShape 7"/>
          <p:cNvSpPr>
            <a:spLocks noChangeArrowheads="1"/>
          </p:cNvSpPr>
          <p:nvPr/>
        </p:nvSpPr>
        <p:spPr bwMode="auto">
          <a:xfrm>
            <a:off x="539750" y="5516563"/>
            <a:ext cx="2303463" cy="865187"/>
          </a:xfrm>
          <a:prstGeom prst="wedgeRoundRectCallout">
            <a:avLst>
              <a:gd name="adj1" fmla="val -86250"/>
              <a:gd name="adj2" fmla="val 38074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GB" sz="2400" b="1" dirty="0">
                <a:solidFill>
                  <a:srgbClr val="7030A0"/>
                </a:solidFill>
              </a:rPr>
              <a:t>HMAC</a:t>
            </a:r>
            <a:r>
              <a:rPr lang="en-GB" sz="2400" dirty="0">
                <a:solidFill>
                  <a:srgbClr val="7030A0"/>
                </a:solidFill>
              </a:rPr>
              <a:t> </a:t>
            </a:r>
            <a:r>
              <a:rPr lang="en-GB" sz="2400" dirty="0"/>
              <a:t>is the solution!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511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E242-2E9B-414B-946A-B096E83CA01D}" type="slidenum">
              <a:rPr lang="it-IT"/>
              <a:pPr/>
              <a:t>43</a:t>
            </a:fld>
            <a:endParaRPr lang="it-IT"/>
          </a:p>
        </p:txBody>
      </p:sp>
      <p:sp>
        <p:nvSpPr>
          <p:cNvPr id="161814" name="AutoShape 22"/>
          <p:cNvSpPr>
            <a:spLocks noChangeArrowheads="1"/>
          </p:cNvSpPr>
          <p:nvPr/>
        </p:nvSpPr>
        <p:spPr bwMode="auto">
          <a:xfrm rot="5983297" flipV="1">
            <a:off x="1501775" y="1171575"/>
            <a:ext cx="1600200" cy="12192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9699" y="-100013"/>
            <a:ext cx="8248351" cy="1143001"/>
          </a:xfrm>
        </p:spPr>
        <p:txBody>
          <a:bodyPr/>
          <a:lstStyle/>
          <a:p>
            <a:r>
              <a:rPr lang="en-GB" dirty="0"/>
              <a:t>HMAC</a:t>
            </a:r>
            <a:endParaRPr 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017588" y="1484313"/>
            <a:ext cx="914400" cy="2438400"/>
            <a:chOff x="1104" y="1728"/>
            <a:chExt cx="912" cy="1200"/>
          </a:xfrm>
        </p:grpSpPr>
        <p:sp>
          <p:nvSpPr>
            <p:cNvPr id="161798" name="Freeform 6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FEE7D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79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440" y="2368"/>
                  <a:ext cx="320" cy="2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1799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40" y="2368"/>
                  <a:ext cx="320" cy="25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783138" y="1484313"/>
            <a:ext cx="914400" cy="2438400"/>
            <a:chOff x="1104" y="1728"/>
            <a:chExt cx="912" cy="1200"/>
          </a:xfrm>
        </p:grpSpPr>
        <p:sp>
          <p:nvSpPr>
            <p:cNvPr id="161801" name="Freeform 9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FEE7D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80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441" y="2368"/>
                  <a:ext cx="490" cy="2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1802" name="Text 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41" y="2368"/>
                  <a:ext cx="490" cy="25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1803" name="Rectangle 11"/>
              <p:cNvSpPr>
                <a:spLocks noChangeArrowheads="1"/>
              </p:cNvSpPr>
              <p:nvPr/>
            </p:nvSpPr>
            <p:spPr bwMode="auto">
              <a:xfrm>
                <a:off x="1017588" y="908050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it-IT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𝐢𝐩𝐚𝐝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1803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7588" y="908050"/>
                <a:ext cx="1295400" cy="457200"/>
              </a:xfrm>
              <a:prstGeom prst="rect">
                <a:avLst/>
              </a:prstGeom>
              <a:blipFill rotWithShape="0">
                <a:blip r:embed="rId5"/>
                <a:stretch>
                  <a:fillRect r="-2336"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362200" y="1484313"/>
            <a:ext cx="914400" cy="2438400"/>
            <a:chOff x="1104" y="1728"/>
            <a:chExt cx="912" cy="1200"/>
          </a:xfrm>
        </p:grpSpPr>
        <p:sp>
          <p:nvSpPr>
            <p:cNvPr id="161805" name="Freeform 13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FEE7D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80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441" y="2368"/>
                  <a:ext cx="343" cy="2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180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41" y="2368"/>
                  <a:ext cx="343" cy="25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1807" name="Rectangle 15"/>
              <p:cNvSpPr>
                <a:spLocks noChangeArrowheads="1"/>
              </p:cNvSpPr>
              <p:nvPr/>
            </p:nvSpPr>
            <p:spPr bwMode="auto">
              <a:xfrm>
                <a:off x="2362200" y="908050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1807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908050"/>
                <a:ext cx="1295400" cy="4572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808" name="Rectangle 16"/>
              <p:cNvSpPr>
                <a:spLocks noChangeArrowheads="1"/>
              </p:cNvSpPr>
              <p:nvPr/>
            </p:nvSpPr>
            <p:spPr bwMode="auto">
              <a:xfrm>
                <a:off x="4783138" y="908050"/>
                <a:ext cx="1638049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:= |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1808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3138" y="908050"/>
                <a:ext cx="1638049" cy="457200"/>
              </a:xfrm>
              <a:prstGeom prst="rect">
                <a:avLst/>
              </a:prstGeom>
              <a:blipFill rotWithShape="0">
                <a:blip r:embed="rId8"/>
                <a:stretch>
                  <a:fillRect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810" name="AutoShape 18"/>
          <p:cNvSpPr>
            <a:spLocks noChangeArrowheads="1"/>
          </p:cNvSpPr>
          <p:nvPr/>
        </p:nvSpPr>
        <p:spPr bwMode="auto">
          <a:xfrm>
            <a:off x="1981200" y="3160713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11" name="AutoShape 19"/>
          <p:cNvSpPr>
            <a:spLocks noChangeArrowheads="1"/>
          </p:cNvSpPr>
          <p:nvPr/>
        </p:nvSpPr>
        <p:spPr bwMode="auto">
          <a:xfrm>
            <a:off x="3276600" y="3141663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12" name="AutoShape 20"/>
          <p:cNvSpPr>
            <a:spLocks noChangeArrowheads="1"/>
          </p:cNvSpPr>
          <p:nvPr/>
        </p:nvSpPr>
        <p:spPr bwMode="auto">
          <a:xfrm rot="5983297" flipV="1">
            <a:off x="157163" y="1171575"/>
            <a:ext cx="1601788" cy="1220787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16" name="Rectangle 24"/>
          <p:cNvSpPr>
            <a:spLocks noChangeArrowheads="1"/>
          </p:cNvSpPr>
          <p:nvPr/>
        </p:nvSpPr>
        <p:spPr bwMode="auto">
          <a:xfrm>
            <a:off x="179388" y="2703513"/>
            <a:ext cx="457200" cy="1219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it-IT" sz="2000" b="1" dirty="0">
                <a:solidFill>
                  <a:srgbClr val="FF0000"/>
                </a:solidFill>
              </a:rPr>
              <a:t>IV</a:t>
            </a:r>
            <a:endParaRPr lang="it-IT" sz="2000" b="1" baseline="-25000" dirty="0">
              <a:solidFill>
                <a:srgbClr val="FF0000"/>
              </a:solidFill>
            </a:endParaRPr>
          </a:p>
        </p:txBody>
      </p:sp>
      <p:sp>
        <p:nvSpPr>
          <p:cNvPr id="161817" name="AutoShape 25"/>
          <p:cNvSpPr>
            <a:spLocks noChangeArrowheads="1"/>
          </p:cNvSpPr>
          <p:nvPr/>
        </p:nvSpPr>
        <p:spPr bwMode="auto">
          <a:xfrm>
            <a:off x="636588" y="3160713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19" name="Text Box 27"/>
          <p:cNvSpPr txBox="1">
            <a:spLocks noChangeArrowheads="1"/>
          </p:cNvSpPr>
          <p:nvPr/>
        </p:nvSpPr>
        <p:spPr bwMode="auto">
          <a:xfrm>
            <a:off x="3779838" y="2636838"/>
            <a:ext cx="604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993300"/>
                </a:solidFill>
              </a:rPr>
              <a:t>. . .</a:t>
            </a:r>
          </a:p>
        </p:txBody>
      </p:sp>
      <p:sp>
        <p:nvSpPr>
          <p:cNvPr id="161820" name="AutoShape 28"/>
          <p:cNvSpPr>
            <a:spLocks noChangeArrowheads="1"/>
          </p:cNvSpPr>
          <p:nvPr/>
        </p:nvSpPr>
        <p:spPr bwMode="auto">
          <a:xfrm>
            <a:off x="5697538" y="3141663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6083300" y="2852738"/>
            <a:ext cx="914400" cy="2438400"/>
            <a:chOff x="1104" y="1728"/>
            <a:chExt cx="912" cy="1200"/>
          </a:xfrm>
        </p:grpSpPr>
        <p:sp>
          <p:nvSpPr>
            <p:cNvPr id="161822" name="Freeform 30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FEE7D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823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441" y="2368"/>
                  <a:ext cx="490" cy="2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1823" name="Text 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41" y="2368"/>
                  <a:ext cx="490" cy="25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1824" name="Rectangle 32"/>
          <p:cNvSpPr>
            <a:spLocks noChangeArrowheads="1"/>
          </p:cNvSpPr>
          <p:nvPr/>
        </p:nvSpPr>
        <p:spPr bwMode="auto">
          <a:xfrm>
            <a:off x="3781425" y="4076700"/>
            <a:ext cx="503238" cy="11525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it-IT" sz="2000" b="1" dirty="0">
                <a:solidFill>
                  <a:srgbClr val="FF0000"/>
                </a:solidFill>
              </a:rPr>
              <a:t>IV</a:t>
            </a:r>
            <a:endParaRPr lang="it-IT" sz="2000" b="1" baseline="-25000" dirty="0">
              <a:solidFill>
                <a:srgbClr val="FF0000"/>
              </a:solidFill>
            </a:endParaRPr>
          </a:p>
        </p:txBody>
      </p:sp>
      <p:sp>
        <p:nvSpPr>
          <p:cNvPr id="161825" name="AutoShape 33"/>
          <p:cNvSpPr>
            <a:spLocks noChangeArrowheads="1"/>
          </p:cNvSpPr>
          <p:nvPr/>
        </p:nvSpPr>
        <p:spPr bwMode="auto">
          <a:xfrm>
            <a:off x="5702300" y="4437063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26" name="AutoShape 34"/>
          <p:cNvSpPr>
            <a:spLocks noChangeArrowheads="1"/>
          </p:cNvSpPr>
          <p:nvPr/>
        </p:nvSpPr>
        <p:spPr bwMode="auto">
          <a:xfrm>
            <a:off x="7019925" y="4149725"/>
            <a:ext cx="2027238" cy="1079500"/>
          </a:xfrm>
          <a:prstGeom prst="rightArrow">
            <a:avLst>
              <a:gd name="adj1" fmla="val 50000"/>
              <a:gd name="adj2" fmla="val 46949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827" name="Text Box 35"/>
              <p:cNvSpPr txBox="1">
                <a:spLocks noChangeArrowheads="1"/>
              </p:cNvSpPr>
              <p:nvPr/>
            </p:nvSpPr>
            <p:spPr bwMode="auto">
              <a:xfrm>
                <a:off x="7235825" y="4508500"/>
                <a:ext cx="161614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𝐇𝐌𝐀𝐂</m:t>
                      </m:r>
                      <m:r>
                        <a:rPr lang="en-GB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1827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5825" y="4508500"/>
                <a:ext cx="1616148" cy="400110"/>
              </a:xfrm>
              <a:prstGeom prst="rect">
                <a:avLst/>
              </a:prstGeom>
              <a:blipFill rotWithShape="0">
                <a:blip r:embed="rId10"/>
                <a:stretch>
                  <a:fillRect b="-1846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828" name="AutoShape 36"/>
          <p:cNvSpPr>
            <a:spLocks noChangeArrowheads="1"/>
          </p:cNvSpPr>
          <p:nvPr/>
        </p:nvSpPr>
        <p:spPr bwMode="auto">
          <a:xfrm>
            <a:off x="4356100" y="3141663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30" name="Freeform 38"/>
          <p:cNvSpPr>
            <a:spLocks/>
          </p:cNvSpPr>
          <p:nvPr/>
        </p:nvSpPr>
        <p:spPr bwMode="auto">
          <a:xfrm flipV="1">
            <a:off x="4787900" y="4076700"/>
            <a:ext cx="914400" cy="2449513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solidFill>
            <a:srgbClr val="FEE7D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831" name="Text Box 39"/>
              <p:cNvSpPr txBox="1">
                <a:spLocks noChangeArrowheads="1"/>
              </p:cNvSpPr>
              <p:nvPr/>
            </p:nvSpPr>
            <p:spPr bwMode="auto">
              <a:xfrm rot="10800000" flipV="1">
                <a:off x="5148263" y="4437063"/>
                <a:ext cx="401637" cy="5191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it-IT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1831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 flipV="1">
                <a:off x="5148263" y="4437063"/>
                <a:ext cx="401637" cy="51911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832" name="Rectangle 40"/>
              <p:cNvSpPr>
                <a:spLocks noChangeArrowheads="1"/>
              </p:cNvSpPr>
              <p:nvPr/>
            </p:nvSpPr>
            <p:spPr bwMode="auto">
              <a:xfrm>
                <a:off x="2773363" y="5300663"/>
                <a:ext cx="1511300" cy="122396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it-IT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𝐨𝐩𝐚𝐝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1832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3363" y="5300663"/>
                <a:ext cx="1511300" cy="122396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834" name="AutoShape 42"/>
          <p:cNvSpPr>
            <a:spLocks noChangeArrowheads="1"/>
          </p:cNvSpPr>
          <p:nvPr/>
        </p:nvSpPr>
        <p:spPr bwMode="auto">
          <a:xfrm>
            <a:off x="4356100" y="4437063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35" name="AutoShape 43"/>
          <p:cNvSpPr>
            <a:spLocks noChangeArrowheads="1"/>
          </p:cNvSpPr>
          <p:nvPr/>
        </p:nvSpPr>
        <p:spPr bwMode="auto">
          <a:xfrm>
            <a:off x="4356100" y="566102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36" name="AutoShape 44"/>
          <p:cNvSpPr>
            <a:spLocks noChangeArrowheads="1"/>
          </p:cNvSpPr>
          <p:nvPr/>
        </p:nvSpPr>
        <p:spPr bwMode="auto">
          <a:xfrm rot="5983297" flipV="1">
            <a:off x="3876675" y="1243013"/>
            <a:ext cx="1600200" cy="12192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37" name="Text Box 45"/>
          <p:cNvSpPr txBox="1">
            <a:spLocks noChangeArrowheads="1"/>
          </p:cNvSpPr>
          <p:nvPr/>
        </p:nvSpPr>
        <p:spPr bwMode="auto">
          <a:xfrm>
            <a:off x="5756275" y="1598267"/>
            <a:ext cx="27590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b="1" dirty="0" err="1">
                <a:solidFill>
                  <a:srgbClr val="FF0000"/>
                </a:solidFill>
              </a:rPr>
              <a:t>ipad</a:t>
            </a:r>
            <a:r>
              <a:rPr lang="en-GB" sz="2000" b="1" dirty="0">
                <a:solidFill>
                  <a:srgbClr val="FF0000"/>
                </a:solidFill>
              </a:rPr>
              <a:t> = 0x36</a:t>
            </a:r>
            <a:r>
              <a:rPr lang="en-GB" sz="2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repeated</a:t>
            </a:r>
          </a:p>
          <a:p>
            <a:r>
              <a:rPr lang="en-GB" sz="2000" b="1" dirty="0" err="1">
                <a:solidFill>
                  <a:srgbClr val="FF0000"/>
                </a:solidFill>
              </a:rPr>
              <a:t>opad</a:t>
            </a:r>
            <a:r>
              <a:rPr lang="en-GB" sz="2000" b="1" dirty="0">
                <a:solidFill>
                  <a:srgbClr val="FF0000"/>
                </a:solidFill>
              </a:rPr>
              <a:t> = 0x5C</a:t>
            </a:r>
            <a:r>
              <a:rPr lang="en-GB" sz="2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repeated</a:t>
            </a:r>
            <a:endParaRPr lang="en-US" sz="2000" dirty="0"/>
          </a:p>
          <a:p>
            <a:endParaRPr lang="en-US" sz="2000" dirty="0">
              <a:solidFill>
                <a:srgbClr val="99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1180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84" y="128223"/>
            <a:ext cx="7886700" cy="1325563"/>
          </a:xfrm>
        </p:spPr>
        <p:txBody>
          <a:bodyPr/>
          <a:lstStyle/>
          <a:p>
            <a:r>
              <a:rPr lang="en-US" dirty="0"/>
              <a:t>Why such a choice for  </a:t>
            </a:r>
            <a:r>
              <a:rPr lang="en-US" b="1" dirty="0" err="1">
                <a:solidFill>
                  <a:srgbClr val="FF0000"/>
                </a:solidFill>
              </a:rPr>
              <a:t>ipad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 err="1">
                <a:solidFill>
                  <a:srgbClr val="FF0000"/>
                </a:solidFill>
              </a:rPr>
              <a:t>opad</a:t>
            </a:r>
            <a:r>
              <a:rPr lang="en-US" dirty="0"/>
              <a:t>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2055" y="2140771"/>
                <a:ext cx="8370604" cy="376517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sz="2400" b="1" dirty="0">
                    <a:solidFill>
                      <a:srgbClr val="FF0000"/>
                    </a:solidFill>
                  </a:rPr>
                  <a:t>ipad = 0x36363636…</a:t>
                </a:r>
                <a:r>
                  <a:rPr lang="en-GB" sz="2400" dirty="0">
                    <a:solidFill>
                      <a:srgbClr val="FF0000"/>
                    </a:solidFill>
                  </a:rPr>
                  <a:t>  </a:t>
                </a:r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dirty="0" err="1">
                    <a:solidFill>
                      <a:srgbClr val="FF0000"/>
                    </a:solidFill>
                  </a:rPr>
                  <a:t>opad</a:t>
                </a:r>
                <a:r>
                  <a:rPr lang="en-GB" sz="2400" b="1" dirty="0">
                    <a:solidFill>
                      <a:srgbClr val="FF0000"/>
                    </a:solidFill>
                  </a:rPr>
                  <a:t> = 0x5C5C5C5C…</a:t>
                </a: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Properties:</a:t>
                </a:r>
              </a:p>
              <a:p>
                <a:r>
                  <a:rPr lang="en-US" b="1" dirty="0"/>
                  <a:t>simple representation </a:t>
                </a:r>
                <a:r>
                  <a:rPr lang="en-US" dirty="0"/>
                  <a:t>(easier to implement, less error-prone)</a:t>
                </a:r>
              </a:p>
              <a:p>
                <a:r>
                  <a:rPr lang="en-US" b="1" dirty="0"/>
                  <a:t>Hamming distance </a:t>
                </a:r>
                <a:r>
                  <a:rPr lang="en-US" dirty="0"/>
                  <a:t>between the pads</a:t>
                </a:r>
                <a:r>
                  <a:rPr lang="en-US" b="1" dirty="0"/>
                  <a:t> </a:t>
                </a:r>
                <a:r>
                  <a:rPr lang="en-US" dirty="0"/>
                  <a:t>around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(where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𝐨𝐩𝐚𝐝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𝐢𝐩𝐚𝐝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).</a:t>
                </a: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2055" y="2140771"/>
                <a:ext cx="8370604" cy="3765178"/>
              </a:xfrm>
              <a:blipFill rotWithShape="0">
                <a:blip r:embed="rId2"/>
                <a:stretch>
                  <a:fillRect l="-1165" t="-2913" b="-27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52530" y="2124635"/>
          <a:ext cx="4403456" cy="36576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275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478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52530" y="2588953"/>
          <a:ext cx="4403456" cy="36576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275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521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478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pl-P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85216" y="1538330"/>
            <a:ext cx="13292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 binary:</a:t>
            </a:r>
            <a:endParaRPr lang="pl-PL" sz="2000" b="1" dirty="0"/>
          </a:p>
        </p:txBody>
      </p:sp>
      <p:sp>
        <p:nvSpPr>
          <p:cNvPr id="10" name="Left Arrow 9"/>
          <p:cNvSpPr/>
          <p:nvPr/>
        </p:nvSpPr>
        <p:spPr>
          <a:xfrm>
            <a:off x="3614569" y="2208007"/>
            <a:ext cx="822960" cy="19901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Left Arrow 10"/>
          <p:cNvSpPr/>
          <p:nvPr/>
        </p:nvSpPr>
        <p:spPr>
          <a:xfrm>
            <a:off x="3614569" y="2658089"/>
            <a:ext cx="822960" cy="19901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916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71027"/>
            <a:ext cx="7772400" cy="1143000"/>
          </a:xfrm>
        </p:spPr>
        <p:txBody>
          <a:bodyPr/>
          <a:lstStyle/>
          <a:p>
            <a:r>
              <a:rPr lang="en-GB" dirty="0"/>
              <a:t>HMAC – the properties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8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288" y="1844675"/>
                <a:ext cx="8544317" cy="473362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GB" sz="2800" dirty="0"/>
                  <a:t>Looks 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complicated</a:t>
                </a:r>
                <a:r>
                  <a:rPr lang="en-GB" sz="2800" dirty="0"/>
                  <a:t>, but it is very easy to implement (given an implementation of </a:t>
                </a:r>
                <a:r>
                  <a:rPr lang="en-GB" sz="2800" b="1" i="1" dirty="0">
                    <a:solidFill>
                      <a:srgbClr val="FF0000"/>
                    </a:solidFill>
                  </a:rPr>
                  <a:t>H</a:t>
                </a:r>
                <a:r>
                  <a:rPr lang="en-GB" sz="2800" dirty="0"/>
                  <a:t>):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GB" sz="2800" dirty="0"/>
              </a:p>
              <a:p>
                <a:pPr>
                  <a:lnSpc>
                    <a:spcPct val="9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𝐇𝐌𝐀𝐂</m:t>
                      </m:r>
                      <m:r>
                        <a:rPr lang="en-GB" sz="2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GB" sz="28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𝐨𝐩𝐚𝐝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|| 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GB" sz="28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𝐢𝐩𝐚𝐝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|| 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GB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GB" sz="2800" b="1" dirty="0">
                  <a:solidFill>
                    <a:srgbClr val="993300"/>
                  </a:solidFill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GB" sz="2800" dirty="0"/>
                  <a:t>It has some “provable properties” (slightly weaker than 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NMAC</a:t>
                </a:r>
                <a:r>
                  <a:rPr lang="en-GB" sz="2800" dirty="0"/>
                  <a:t>).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GB" sz="2800" dirty="0"/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GB" sz="2800" dirty="0"/>
                  <a:t>Widely used in practice.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GB" sz="2800" dirty="0"/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1628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288" y="1844675"/>
                <a:ext cx="8544317" cy="4733626"/>
              </a:xfrm>
              <a:blipFill rotWithShape="0">
                <a:blip r:embed="rId3"/>
                <a:stretch>
                  <a:fillRect l="-1499" t="-2320" r="-235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4068046-5722-44C8-BEB5-3A724DBF7956}"/>
                  </a:ext>
                </a:extLst>
              </p14:cNvPr>
              <p14:cNvContentPartPr/>
              <p14:nvPr/>
            </p14:nvContentPartPr>
            <p14:xfrm>
              <a:off x="7648200" y="3154680"/>
              <a:ext cx="136080" cy="587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4068046-5722-44C8-BEB5-3A724DBF79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38840" y="3145320"/>
                <a:ext cx="154800" cy="60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008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835" y="1619551"/>
            <a:ext cx="6929486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to Message Authentication Codes (MACs).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of MACs 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Authenticated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Outlook</a:t>
            </a:r>
          </a:p>
        </p:txBody>
      </p:sp>
      <p:sp>
        <p:nvSpPr>
          <p:cNvPr id="4" name="Left Arrow 3"/>
          <p:cNvSpPr/>
          <p:nvPr/>
        </p:nvSpPr>
        <p:spPr>
          <a:xfrm flipH="1">
            <a:off x="500034" y="2878177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897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needed to establish secure channels?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In practice one needs both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</a:rPr>
              <a:t>encryption</a:t>
            </a:r>
          </a:p>
          <a:p>
            <a:pPr marL="0" indent="0" algn="ctr">
              <a:buNone/>
            </a:pPr>
            <a:r>
              <a:rPr lang="en-US" dirty="0"/>
              <a:t>and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B050"/>
                </a:solidFill>
              </a:rPr>
              <a:t>authentication.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can be achieved as follows:</a:t>
            </a:r>
          </a:p>
          <a:p>
            <a:r>
              <a:rPr lang="en-US" b="1" dirty="0">
                <a:solidFill>
                  <a:srgbClr val="FF0000"/>
                </a:solidFill>
              </a:rPr>
              <a:t>combine encryption </a:t>
            </a:r>
            <a:r>
              <a:rPr lang="en-US" dirty="0"/>
              <a:t>with </a:t>
            </a:r>
            <a:r>
              <a:rPr lang="en-US" b="1" dirty="0">
                <a:solidFill>
                  <a:srgbClr val="FF0000"/>
                </a:solidFill>
              </a:rPr>
              <a:t>authentication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r>
              <a:rPr lang="en-US" dirty="0"/>
              <a:t>design “</a:t>
            </a:r>
            <a:r>
              <a:rPr lang="en-US" b="1" dirty="0">
                <a:solidFill>
                  <a:srgbClr val="0070C0"/>
                </a:solidFill>
              </a:rPr>
              <a:t>authenticated encryption</a:t>
            </a:r>
            <a:r>
              <a:rPr lang="en-US" dirty="0"/>
              <a:t>” from scratch.</a:t>
            </a:r>
          </a:p>
        </p:txBody>
      </p:sp>
    </p:spTree>
    <p:extLst>
      <p:ext uri="{BB962C8B-B14F-4D97-AF65-F5344CB8AC3E}">
        <p14:creationId xmlns:p14="http://schemas.microsoft.com/office/powerpoint/2010/main" val="188663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8897" y="71191"/>
            <a:ext cx="8703807" cy="658839"/>
          </a:xfrm>
        </p:spPr>
        <p:txBody>
          <a:bodyPr>
            <a:noAutofit/>
          </a:bodyPr>
          <a:lstStyle/>
          <a:p>
            <a:r>
              <a:rPr lang="en-GB" sz="3600" dirty="0"/>
              <a:t>Authentication + encryption, options: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304" y="802367"/>
                <a:ext cx="7391400" cy="4658905"/>
              </a:xfrm>
            </p:spPr>
            <p:txBody>
              <a:bodyPr>
                <a:normAutofit/>
              </a:bodyPr>
              <a:lstStyle/>
              <a:p>
                <a:r>
                  <a:rPr lang="en-GB" sz="2000" b="1" dirty="0">
                    <a:solidFill>
                      <a:srgbClr val="0070C0"/>
                    </a:solidFill>
                  </a:rPr>
                  <a:t>Encrypt-and-authenticate: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:=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US" sz="20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𝐄𝐧𝐜</m:t>
                        </m:r>
                      </m:e>
                      <m:sub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𝒎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r>
                  <a:rPr lang="en-GB" sz="2000" dirty="0">
                    <a:cs typeface="Arial" charset="0"/>
                  </a:rPr>
                  <a:t>  and 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𝒕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≔</m:t>
                    </m:r>
                    <m:r>
                      <a:rPr lang="en-GB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𝐓𝐚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bPr>
                          <m:e>
                            <m:r>
                              <a:rPr lang="en-GB" sz="2000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𝐠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𝒌</m:t>
                            </m:r>
                          </m:sub>
                        </m:sSub>
                      </m:e>
                      <m:sub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</m:sub>
                    </m:sSub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𝒎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r>
                  <a:rPr lang="en-GB" sz="2000" dirty="0">
                    <a:cs typeface="Arial" charset="0"/>
                  </a:rPr>
                  <a:t>,  send</a:t>
                </a:r>
                <a:r>
                  <a:rPr lang="en-GB" sz="2000" b="1" dirty="0">
                    <a:solidFill>
                      <a:srgbClr val="9933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𝒄</m:t>
                    </m:r>
                    <m:r>
                      <a:rPr lang="en-GB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GB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𝒕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endParaRPr lang="en-GB" sz="2000" b="1" i="1" dirty="0">
                  <a:solidFill>
                    <a:srgbClr val="FF0000"/>
                  </a:solidFill>
                  <a:cs typeface="Arial" charset="0"/>
                </a:endParaRPr>
              </a:p>
              <a:p>
                <a:pPr marL="609600" indent="-609600" algn="ctr">
                  <a:lnSpc>
                    <a:spcPct val="90000"/>
                  </a:lnSpc>
                  <a:buFontTx/>
                  <a:buNone/>
                </a:pPr>
                <a:endParaRPr lang="en-GB" sz="2000" b="1" dirty="0">
                  <a:solidFill>
                    <a:srgbClr val="993300"/>
                  </a:solidFill>
                  <a:cs typeface="Arial" charset="0"/>
                </a:endParaRPr>
              </a:p>
              <a:p>
                <a:pPr marL="609600" indent="-609600" algn="ctr">
                  <a:lnSpc>
                    <a:spcPct val="90000"/>
                  </a:lnSpc>
                  <a:buFontTx/>
                  <a:buNone/>
                </a:pPr>
                <a:endParaRPr lang="en-GB" sz="2000" b="1" dirty="0">
                  <a:solidFill>
                    <a:srgbClr val="993300"/>
                  </a:solidFill>
                  <a:cs typeface="Arial" charset="0"/>
                </a:endParaRPr>
              </a:p>
              <a:p>
                <a:pPr marL="609600" indent="-609600">
                  <a:lnSpc>
                    <a:spcPct val="90000"/>
                  </a:lnSpc>
                </a:pPr>
                <a:endParaRPr lang="en-GB" sz="100" b="1" dirty="0">
                  <a:solidFill>
                    <a:srgbClr val="0070C0"/>
                  </a:solidFill>
                </a:endParaRPr>
              </a:p>
              <a:p>
                <a:r>
                  <a:rPr lang="en-GB" sz="2000" b="1" dirty="0">
                    <a:solidFill>
                      <a:srgbClr val="0070C0"/>
                    </a:solidFill>
                  </a:rPr>
                  <a:t>Authenticate-then-encrypt</a:t>
                </a:r>
                <a:r>
                  <a:rPr lang="en-GB" sz="2000" dirty="0">
                    <a:solidFill>
                      <a:srgbClr val="0070C0"/>
                    </a:solidFill>
                  </a:rPr>
                  <a:t>:</a:t>
                </a:r>
              </a:p>
              <a:p>
                <a:pPr marL="609600" indent="-609600" algn="ctr">
                  <a:lnSpc>
                    <a:spcPct val="9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𝒕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:=</m:t>
                    </m:r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𝐓𝐚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bPr>
                          <m:e>
                            <m:r>
                              <a:rPr lang="en-US" sz="2000" b="1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𝐠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𝒌</m:t>
                            </m:r>
                          </m:sub>
                        </m:sSub>
                      </m:e>
                      <m:sub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𝟐</m:t>
                        </m:r>
                      </m:sub>
                    </m:sSub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𝒎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  <m:r>
                      <a:rPr lang="en-GB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GB" sz="2000" dirty="0"/>
                  <a:t>and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cs typeface="Arial" charset="0"/>
                  </a:rPr>
                  <a:t>,   send</a:t>
                </a:r>
                <a:r>
                  <a:rPr lang="en-GB" sz="2000" b="1" dirty="0">
                    <a:solidFill>
                      <a:srgbClr val="9933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𝒄</m:t>
                    </m:r>
                  </m:oMath>
                </a14:m>
                <a:endParaRPr lang="en-GB" sz="2000" b="1" i="1" dirty="0">
                  <a:solidFill>
                    <a:srgbClr val="FF0000"/>
                  </a:solidFill>
                  <a:cs typeface="Arial" charset="0"/>
                </a:endParaRPr>
              </a:p>
              <a:p>
                <a:pPr marL="609600" indent="-609600" algn="ctr">
                  <a:lnSpc>
                    <a:spcPct val="90000"/>
                  </a:lnSpc>
                  <a:buFontTx/>
                  <a:buNone/>
                </a:pPr>
                <a:endParaRPr lang="en-GB" sz="2000" b="1" dirty="0">
                  <a:solidFill>
                    <a:srgbClr val="993300"/>
                  </a:solidFill>
                  <a:cs typeface="Arial" charset="0"/>
                </a:endParaRPr>
              </a:p>
              <a:p>
                <a:pPr marL="609600" indent="-609600" algn="ctr">
                  <a:lnSpc>
                    <a:spcPct val="90000"/>
                  </a:lnSpc>
                  <a:buFontTx/>
                  <a:buNone/>
                </a:pPr>
                <a:endParaRPr lang="en-GB" sz="2000" b="1" dirty="0">
                  <a:solidFill>
                    <a:srgbClr val="993300"/>
                  </a:solidFill>
                  <a:cs typeface="Arial" charset="0"/>
                </a:endParaRPr>
              </a:p>
              <a:p>
                <a:pPr marL="609600" indent="-609600" algn="ctr">
                  <a:lnSpc>
                    <a:spcPct val="90000"/>
                  </a:lnSpc>
                  <a:buFontTx/>
                  <a:buNone/>
                </a:pPr>
                <a:endParaRPr lang="en-GB" sz="2000" b="1" dirty="0">
                  <a:solidFill>
                    <a:srgbClr val="993300"/>
                  </a:solidFill>
                  <a:cs typeface="Arial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2000" b="1" dirty="0">
                    <a:solidFill>
                      <a:srgbClr val="0070C0"/>
                    </a:solidFill>
                    <a:cs typeface="Arial" charset="0"/>
                  </a:rPr>
                  <a:t>Encrypt-then-authenticate</a:t>
                </a:r>
                <a:r>
                  <a:rPr lang="en-GB" sz="2000" dirty="0">
                    <a:solidFill>
                      <a:srgbClr val="0070C0"/>
                    </a:solidFill>
                    <a:cs typeface="Arial" charset="0"/>
                  </a:rPr>
                  <a:t>:</a:t>
                </a:r>
              </a:p>
              <a:p>
                <a:pPr marL="609600" indent="-609600" algn="ctr">
                  <a:lnSpc>
                    <a:spcPct val="9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b="1" dirty="0">
                    <a:solidFill>
                      <a:srgbClr val="993300"/>
                    </a:solidFill>
                    <a:cs typeface="Arial" charset="0"/>
                  </a:rPr>
                  <a:t>   </a:t>
                </a:r>
                <a:r>
                  <a:rPr lang="en-GB" sz="2000" dirty="0">
                    <a:cs typeface="Arial" charset="0"/>
                  </a:rPr>
                  <a:t>and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𝐓𝐚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𝐠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cs typeface="Arial" charset="0"/>
                  </a:rPr>
                  <a:t>,   send</a:t>
                </a:r>
                <a:r>
                  <a:rPr lang="en-GB" sz="2000" b="1" dirty="0">
                    <a:solidFill>
                      <a:srgbClr val="9933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𝒄</m:t>
                    </m:r>
                    <m:r>
                      <a:rPr lang="en-GB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GB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𝒕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endParaRPr lang="en-GB" sz="2000" b="1" dirty="0">
                  <a:solidFill>
                    <a:srgbClr val="FF0000"/>
                  </a:solidFill>
                  <a:cs typeface="Arial" charset="0"/>
                </a:endParaRPr>
              </a:p>
              <a:p>
                <a:pPr marL="609600" indent="-609600">
                  <a:lnSpc>
                    <a:spcPct val="90000"/>
                  </a:lnSpc>
                  <a:buFontTx/>
                  <a:buNone/>
                </a:pPr>
                <a:endParaRPr lang="en-GB" sz="2000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24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304" y="802367"/>
                <a:ext cx="7391400" cy="4658905"/>
              </a:xfrm>
              <a:blipFill>
                <a:blip r:embed="rId3"/>
                <a:stretch>
                  <a:fillRect l="-742" t="-1440" b="-52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80" name="AutoShape 4"/>
          <p:cNvSpPr>
            <a:spLocks noChangeArrowheads="1"/>
          </p:cNvSpPr>
          <p:nvPr/>
        </p:nvSpPr>
        <p:spPr bwMode="auto">
          <a:xfrm>
            <a:off x="7092950" y="1429012"/>
            <a:ext cx="1709754" cy="720725"/>
          </a:xfrm>
          <a:prstGeom prst="leftArrow">
            <a:avLst>
              <a:gd name="adj1" fmla="val 50000"/>
              <a:gd name="adj2" fmla="val 67456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GB" sz="2000" b="1" dirty="0">
                <a:ea typeface="ＭＳ Ｐゴシック" pitchFamily="16" charset="-128"/>
              </a:rPr>
              <a:t>wrong</a:t>
            </a:r>
            <a:endParaRPr lang="en-US" sz="2000" b="1" dirty="0">
              <a:ea typeface="ＭＳ Ｐゴシック" pitchFamily="16" charset="-128"/>
            </a:endParaRP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7184397" y="3253887"/>
            <a:ext cx="1709754" cy="720725"/>
          </a:xfrm>
          <a:prstGeom prst="leftArrow">
            <a:avLst>
              <a:gd name="adj1" fmla="val 50000"/>
              <a:gd name="adj2" fmla="val 67456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GB" sz="2000" b="1" dirty="0">
                <a:ea typeface="ＭＳ Ｐゴシック" pitchFamily="16" charset="-128"/>
              </a:rPr>
              <a:t>better</a:t>
            </a:r>
            <a:endParaRPr lang="en-US" sz="2000" b="1" dirty="0">
              <a:ea typeface="ＭＳ Ｐゴシック" pitchFamily="16" charset="-128"/>
            </a:endParaRPr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7092950" y="5123514"/>
            <a:ext cx="1709754" cy="720725"/>
          </a:xfrm>
          <a:prstGeom prst="leftArrow">
            <a:avLst>
              <a:gd name="adj1" fmla="val 50000"/>
              <a:gd name="adj2" fmla="val 67456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GB" sz="2000" b="1" dirty="0">
                <a:ea typeface="ＭＳ Ｐゴシック" pitchFamily="16" charset="-128"/>
              </a:rPr>
              <a:t>the best</a:t>
            </a:r>
            <a:endParaRPr lang="en-US" sz="2000" b="1" dirty="0">
              <a:ea typeface="ＭＳ Ｐゴシック" pitchFamily="16" charset="-128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1430379" y="1646499"/>
            <a:ext cx="5421382" cy="785818"/>
            <a:chOff x="3555140" y="928670"/>
            <a:chExt cx="5421382" cy="785818"/>
          </a:xfrm>
        </p:grpSpPr>
        <p:sp>
          <p:nvSpPr>
            <p:cNvPr id="12" name="Rectangular Callout 11"/>
            <p:cNvSpPr/>
            <p:nvPr/>
          </p:nvSpPr>
          <p:spPr>
            <a:xfrm>
              <a:off x="5429256" y="928670"/>
              <a:ext cx="1571636" cy="785818"/>
            </a:xfrm>
            <a:prstGeom prst="wedgeRectCallout">
              <a:avLst>
                <a:gd name="adj1" fmla="val -65484"/>
                <a:gd name="adj2" fmla="val -3800"/>
              </a:avLst>
            </a:prstGeom>
            <a:solidFill>
              <a:schemeClr val="bg1"/>
            </a:solidFill>
            <a:ln>
              <a:solidFill>
                <a:schemeClr val="tx2"/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ular Callout 7"/>
            <p:cNvSpPr/>
            <p:nvPr/>
          </p:nvSpPr>
          <p:spPr>
            <a:xfrm>
              <a:off x="5572132" y="1071546"/>
              <a:ext cx="1285884" cy="500066"/>
            </a:xfrm>
            <a:prstGeom prst="wedgeRectCallout">
              <a:avLst>
                <a:gd name="adj1" fmla="val 80045"/>
                <a:gd name="adj2" fmla="val 5092"/>
              </a:avLst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5715008" y="1142984"/>
                  <a:ext cx="1000132" cy="357190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8" y="1142984"/>
                  <a:ext cx="1000132" cy="35719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7215206" y="1142984"/>
                  <a:ext cx="1761316" cy="3982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𝒕</m:t>
                        </m:r>
                        <m:r>
                          <a:rPr lang="en-GB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≔</m:t>
                        </m:r>
                        <m:r>
                          <a:rPr lang="en-GB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𝐓𝐚</m:t>
                        </m:r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charset="0"/>
                                  </a:rPr>
                                </m:ctrlPr>
                              </m:sSubPr>
                              <m:e>
                                <m:r>
                                  <a:rPr lang="en-GB" b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  <m:sub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𝟐</m:t>
                            </m:r>
                          </m:sub>
                        </m:sSub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(</m:t>
                        </m:r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𝒎</m:t>
                        </m:r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5206" y="1142984"/>
                  <a:ext cx="1761316" cy="398251"/>
                </a:xfrm>
                <a:prstGeom prst="rect">
                  <a:avLst/>
                </a:prstGeom>
                <a:blipFill>
                  <a:blip r:embed="rId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3555140" y="1071546"/>
                  <a:ext cx="1725664" cy="3931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:=</m:t>
                        </m:r>
                        <m:r>
                          <a:rPr lang="en-GB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𝐄𝐧</m:t>
                        </m:r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bPr>
                          <m:e>
                            <m:r>
                              <a:rPr lang="en-GB" b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𝐜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(</m:t>
                        </m:r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𝒎</m:t>
                        </m:r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5140" y="1071546"/>
                  <a:ext cx="1725664" cy="393121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7813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14"/>
          <p:cNvGrpSpPr/>
          <p:nvPr/>
        </p:nvGrpSpPr>
        <p:grpSpPr>
          <a:xfrm>
            <a:off x="165193" y="3561173"/>
            <a:ext cx="6850107" cy="785818"/>
            <a:chOff x="2958869" y="928670"/>
            <a:chExt cx="5787869" cy="785818"/>
          </a:xfrm>
        </p:grpSpPr>
        <p:sp>
          <p:nvSpPr>
            <p:cNvPr id="16" name="Rectangular Callout 15"/>
            <p:cNvSpPr/>
            <p:nvPr/>
          </p:nvSpPr>
          <p:spPr>
            <a:xfrm>
              <a:off x="5175146" y="928670"/>
              <a:ext cx="3571591" cy="785818"/>
            </a:xfrm>
            <a:prstGeom prst="wedgeRectCallout">
              <a:avLst>
                <a:gd name="adj1" fmla="val -65484"/>
                <a:gd name="adj2" fmla="val -3800"/>
              </a:avLst>
            </a:prstGeom>
            <a:solidFill>
              <a:schemeClr val="bg1"/>
            </a:solidFill>
            <a:ln>
              <a:solidFill>
                <a:schemeClr val="tx2"/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ular Callout 16"/>
            <p:cNvSpPr/>
            <p:nvPr/>
          </p:nvSpPr>
          <p:spPr>
            <a:xfrm>
              <a:off x="5572132" y="1071546"/>
              <a:ext cx="1285884" cy="500066"/>
            </a:xfrm>
            <a:prstGeom prst="wedgeRectCallout">
              <a:avLst>
                <a:gd name="adj1" fmla="val 80045"/>
                <a:gd name="adj2" fmla="val 5092"/>
              </a:avLst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5715008" y="1142984"/>
                  <a:ext cx="1000132" cy="357190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8" y="1142984"/>
                  <a:ext cx="1000132" cy="35719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7215206" y="1142984"/>
                  <a:ext cx="1531532" cy="3982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𝐓𝐚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  <m:sub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5206" y="1142984"/>
                  <a:ext cx="1531532" cy="398251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2958869" y="1175413"/>
                  <a:ext cx="1694551" cy="3961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𝐄𝐧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𝐜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869" y="1175413"/>
                  <a:ext cx="1694551" cy="396199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26"/>
          <p:cNvGrpSpPr/>
          <p:nvPr/>
        </p:nvGrpSpPr>
        <p:grpSpPr>
          <a:xfrm>
            <a:off x="357841" y="5675586"/>
            <a:ext cx="6607735" cy="773676"/>
            <a:chOff x="491473" y="5870034"/>
            <a:chExt cx="6607735" cy="773676"/>
          </a:xfrm>
        </p:grpSpPr>
        <p:sp>
          <p:nvSpPr>
            <p:cNvPr id="22" name="Rectangular Callout 21"/>
            <p:cNvSpPr/>
            <p:nvPr/>
          </p:nvSpPr>
          <p:spPr>
            <a:xfrm>
              <a:off x="2800474" y="5870034"/>
              <a:ext cx="4298734" cy="773676"/>
            </a:xfrm>
            <a:prstGeom prst="wedgeRectCallout">
              <a:avLst>
                <a:gd name="adj1" fmla="val -65484"/>
                <a:gd name="adj2" fmla="val -3800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ular Callout 22"/>
            <p:cNvSpPr/>
            <p:nvPr/>
          </p:nvSpPr>
          <p:spPr>
            <a:xfrm>
              <a:off x="3270317" y="6000768"/>
              <a:ext cx="1521880" cy="500066"/>
            </a:xfrm>
            <a:prstGeom prst="wedgeRectCallout">
              <a:avLst>
                <a:gd name="adj1" fmla="val 80045"/>
                <a:gd name="adj2" fmla="val 5092"/>
              </a:avLst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3439415" y="6072206"/>
                  <a:ext cx="1183685" cy="357190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9415" y="6072206"/>
                  <a:ext cx="1183685" cy="357190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491473" y="6043287"/>
                  <a:ext cx="1620251" cy="3982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𝐓𝐚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𝐠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473" y="6043287"/>
                  <a:ext cx="1620251" cy="398251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5358325" y="6072206"/>
                  <a:ext cx="1698414" cy="3931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𝐄𝐧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8325" y="6072206"/>
                  <a:ext cx="1698414" cy="393121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903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nimBg="1"/>
      <p:bldP spid="24581" grpId="0" animBg="1"/>
      <p:bldP spid="2458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the way…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Never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use the same key for encryption and authentication.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u="sng" dirty="0">
                <a:solidFill>
                  <a:srgbClr val="7030A0"/>
                </a:solidFill>
              </a:rPr>
              <a:t>Actually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Never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use the </a:t>
            </a:r>
            <a:r>
              <a:rPr lang="en-US" b="1" dirty="0">
                <a:solidFill>
                  <a:srgbClr val="0070C0"/>
                </a:solidFill>
              </a:rPr>
              <a:t>same key in two different applications </a:t>
            </a:r>
            <a:r>
              <a:rPr lang="en-US" dirty="0"/>
              <a:t>(or two different instantiations of the same application).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0807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Authenticated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popular method: </a:t>
            </a:r>
            <a:r>
              <a:rPr lang="en-US" b="1" dirty="0">
                <a:solidFill>
                  <a:srgbClr val="FF0000"/>
                </a:solidFill>
              </a:rPr>
              <a:t>Galois/Counter Mode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 competition for a new authenticated encryption </a:t>
            </a:r>
            <a:r>
              <a:rPr lang="en-US" b="1" dirty="0"/>
              <a:t>scheme</a:t>
            </a:r>
            <a:r>
              <a:rPr lang="en-US" dirty="0"/>
              <a:t>:</a:t>
            </a:r>
          </a:p>
          <a:p>
            <a:pPr marL="400050" lvl="1" indent="0">
              <a:buNone/>
            </a:pPr>
            <a:r>
              <a:rPr lang="en-US" b="1" dirty="0">
                <a:solidFill>
                  <a:srgbClr val="0070C0"/>
                </a:solidFill>
              </a:rPr>
              <a:t>CAESAR: Competition for Authenticated Encryption: Security, Applicability, and Robustness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not formally organized by any institution, supported by a grant from NIST</a:t>
            </a:r>
            <a:br>
              <a:rPr lang="en-US" dirty="0"/>
            </a:br>
            <a:r>
              <a:rPr lang="en-US" b="1" dirty="0"/>
              <a:t>webpage:</a:t>
            </a:r>
            <a:r>
              <a:rPr lang="en-US" dirty="0"/>
              <a:t> competitions.cr.yp.to/caesar.html</a:t>
            </a:r>
          </a:p>
        </p:txBody>
      </p:sp>
    </p:spTree>
    <p:extLst>
      <p:ext uri="{BB962C8B-B14F-4D97-AF65-F5344CB8AC3E}">
        <p14:creationId xmlns:p14="http://schemas.microsoft.com/office/powerpoint/2010/main" val="107753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860" y="265915"/>
            <a:ext cx="8524921" cy="756062"/>
          </a:xfrm>
        </p:spPr>
        <p:txBody>
          <a:bodyPr>
            <a:normAutofit/>
          </a:bodyPr>
          <a:lstStyle/>
          <a:p>
            <a:r>
              <a:rPr lang="en-US" sz="3600" dirty="0"/>
              <a:t>Caesar competition </a:t>
            </a:r>
            <a:r>
              <a:rPr lang="pl-PL" sz="3600" b="1" dirty="0">
                <a:solidFill>
                  <a:srgbClr val="7030A0"/>
                </a:solidFill>
              </a:rPr>
              <a:t>winners </a:t>
            </a:r>
            <a:endParaRPr lang="en-US" sz="360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2FD5B85-8D03-4D89-8199-075431C63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61" y="1386809"/>
            <a:ext cx="828975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Arial" panose="020B0604020202020204" pitchFamily="34" charset="0"/>
              </a:rPr>
              <a:t>Announced </a:t>
            </a:r>
            <a:r>
              <a:rPr kumimoji="0" lang="pl-PL" altLang="pl-PL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cs typeface="Arial" panose="020B0604020202020204" pitchFamily="34" charset="0"/>
              </a:rPr>
              <a:t>Feb 2019</a:t>
            </a:r>
            <a:r>
              <a:rPr kumimoji="0" lang="pl-PL" altLang="pl-PL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280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  <a:cs typeface="Arial" panose="020B0604020202020204" pitchFamily="34" charset="0"/>
              </a:rPr>
              <a:t>Final portfolio for use case 1 (</a:t>
            </a:r>
            <a:r>
              <a:rPr lang="pl-PL" sz="2800" b="1" i="0" dirty="0">
                <a:solidFill>
                  <a:srgbClr val="0070C0"/>
                </a:solidFill>
                <a:effectLst/>
                <a:latin typeface="+mn-lt"/>
              </a:rPr>
              <a:t>Lightweight applications)</a:t>
            </a:r>
            <a:r>
              <a:rPr kumimoji="0" lang="pl-PL" altLang="pl-PL" sz="2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  <a:cs typeface="Arial" panose="020B0604020202020204" pitchFamily="34" charset="0"/>
              </a:rPr>
              <a:t>: </a:t>
            </a:r>
            <a:r>
              <a:rPr lang="pl-PL" altLang="pl-PL" sz="28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Ascon, ACORN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280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algn="l"/>
            <a:r>
              <a:rPr lang="en-US" sz="2800" b="1" i="0" dirty="0">
                <a:solidFill>
                  <a:srgbClr val="0070C0"/>
                </a:solidFill>
                <a:effectLst/>
                <a:latin typeface="+mn-lt"/>
              </a:rPr>
              <a:t>Final portfolio for use case 2</a:t>
            </a:r>
            <a:r>
              <a:rPr lang="pl-PL" sz="2800" b="1" i="0" dirty="0">
                <a:solidFill>
                  <a:srgbClr val="0070C0"/>
                </a:solidFill>
                <a:effectLst/>
                <a:latin typeface="+mn-lt"/>
              </a:rPr>
              <a:t> (High-performance applications): </a:t>
            </a:r>
            <a:r>
              <a:rPr lang="pl-PL" sz="2800" b="0" i="0" dirty="0">
                <a:solidFill>
                  <a:srgbClr val="000000"/>
                </a:solidFill>
                <a:effectLst/>
                <a:latin typeface="+mn-lt"/>
              </a:rPr>
              <a:t>AEGIS-128</a:t>
            </a:r>
            <a:r>
              <a:rPr lang="pl-PL" sz="2800" dirty="0">
                <a:solidFill>
                  <a:srgbClr val="000000"/>
                </a:solidFill>
                <a:latin typeface="+mn-lt"/>
              </a:rPr>
              <a:t>, OCB</a:t>
            </a:r>
            <a:endParaRPr lang="pl-PL" sz="2800" b="0" i="0" dirty="0"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endParaRPr kumimoji="0" lang="pl-PL" altLang="pl-PL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303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9835" y="1619551"/>
            <a:ext cx="6929486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to Message Authentication Codes (MACs).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Constructions of MACs 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Authenticated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Outlook</a:t>
            </a:r>
          </a:p>
        </p:txBody>
      </p:sp>
      <p:sp>
        <p:nvSpPr>
          <p:cNvPr id="4" name="Left Arrow 3"/>
          <p:cNvSpPr/>
          <p:nvPr/>
        </p:nvSpPr>
        <p:spPr>
          <a:xfrm flipH="1">
            <a:off x="591019" y="3429000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036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0"/>
            <a:ext cx="8572560" cy="1143000"/>
          </a:xfrm>
        </p:spPr>
        <p:txBody>
          <a:bodyPr/>
          <a:lstStyle/>
          <a:p>
            <a:r>
              <a:rPr lang="en-US" dirty="0"/>
              <a:t>Outlook</a:t>
            </a:r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214282" y="3714752"/>
            <a:ext cx="3657600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0"/>
              </a:spcBef>
              <a:buFont typeface="Arial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</a:rPr>
              <a:t> one time pad,</a:t>
            </a:r>
          </a:p>
          <a:p>
            <a:pPr>
              <a:spcBef>
                <a:spcPct val="0"/>
              </a:spcBef>
              <a:buFont typeface="Arial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</a:rPr>
              <a:t> quantum cryptography,</a:t>
            </a:r>
          </a:p>
          <a:p>
            <a:pPr>
              <a:spcBef>
                <a:spcPct val="0"/>
              </a:spcBef>
              <a:buFont typeface="Arial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</a:rPr>
              <a:t> ...</a:t>
            </a:r>
          </a:p>
        </p:txBody>
      </p:sp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4572000" y="3714752"/>
            <a:ext cx="4267200" cy="267765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  <a:buFontTx/>
              <a:buNone/>
            </a:pPr>
            <a:r>
              <a:rPr lang="en-US" sz="2400" b="0" dirty="0">
                <a:solidFill>
                  <a:schemeClr val="tx1"/>
                </a:solidFill>
              </a:rPr>
              <a:t>based on </a:t>
            </a:r>
            <a:r>
              <a:rPr lang="en-US" sz="2400" b="1" dirty="0">
                <a:solidFill>
                  <a:schemeClr val="tx1"/>
                </a:solidFill>
              </a:rPr>
              <a:t>2 </a:t>
            </a:r>
            <a:r>
              <a:rPr lang="en-US" sz="2400" dirty="0" err="1">
                <a:solidFill>
                  <a:schemeClr val="tx1"/>
                </a:solidFill>
              </a:rPr>
              <a:t>simultanious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0" dirty="0">
                <a:solidFill>
                  <a:schemeClr val="tx1"/>
                </a:solidFill>
              </a:rPr>
              <a:t>assumptions:</a:t>
            </a: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2400" b="0" dirty="0">
                <a:solidFill>
                  <a:schemeClr val="tx1"/>
                </a:solidFill>
              </a:rPr>
              <a:t>some problems are computationally difficult</a:t>
            </a: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US" sz="2400" b="0" dirty="0">
                <a:solidFill>
                  <a:schemeClr val="tx1"/>
                </a:solidFill>
              </a:rPr>
              <a:t>our understanding of what “computational difficulty” means is correct.</a:t>
            </a:r>
          </a:p>
        </p:txBody>
      </p:sp>
      <p:sp>
        <p:nvSpPr>
          <p:cNvPr id="8" name="Left-Up Arrow 7"/>
          <p:cNvSpPr/>
          <p:nvPr/>
        </p:nvSpPr>
        <p:spPr>
          <a:xfrm rot="13591686">
            <a:off x="3271579" y="1169260"/>
            <a:ext cx="2243653" cy="2302677"/>
          </a:xfrm>
          <a:prstGeom prst="left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3286116" y="1071546"/>
            <a:ext cx="2286016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1"/>
                </a:solidFill>
              </a:rPr>
              <a:t>cryptography</a:t>
            </a:r>
          </a:p>
        </p:txBody>
      </p:sp>
      <p:sp>
        <p:nvSpPr>
          <p:cNvPr id="9" name="Rectangle 8"/>
          <p:cNvSpPr/>
          <p:nvPr/>
        </p:nvSpPr>
        <p:spPr>
          <a:xfrm>
            <a:off x="714348" y="2928934"/>
            <a:ext cx="2928958" cy="64633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b="1" dirty="0"/>
              <a:t> “information-theoretic”,</a:t>
            </a:r>
          </a:p>
          <a:p>
            <a:pPr algn="ctr">
              <a:spcBef>
                <a:spcPct val="0"/>
              </a:spcBef>
            </a:pPr>
            <a:r>
              <a:rPr lang="en-US" b="1" dirty="0"/>
              <a:t> “unconditional”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4942" y="3071810"/>
            <a:ext cx="2928958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 algn="ctr">
              <a:spcBef>
                <a:spcPct val="0"/>
              </a:spcBef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“computational”</a:t>
            </a:r>
          </a:p>
        </p:txBody>
      </p:sp>
    </p:spTree>
    <p:extLst>
      <p:ext uri="{BB962C8B-B14F-4D97-AF65-F5344CB8AC3E}">
        <p14:creationId xmlns:p14="http://schemas.microsoft.com/office/powerpoint/2010/main" val="25239130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647968" cy="1143000"/>
          </a:xfrm>
        </p:spPr>
        <p:txBody>
          <a:bodyPr/>
          <a:lstStyle/>
          <a:p>
            <a:r>
              <a:rPr lang="en-US" dirty="0"/>
              <a:t>Symmetric cryptography</a:t>
            </a:r>
          </a:p>
        </p:txBody>
      </p:sp>
      <p:sp>
        <p:nvSpPr>
          <p:cNvPr id="4" name="Left-Up Arrow 3"/>
          <p:cNvSpPr/>
          <p:nvPr/>
        </p:nvSpPr>
        <p:spPr>
          <a:xfrm rot="13591686">
            <a:off x="3271579" y="2097954"/>
            <a:ext cx="2243653" cy="2302677"/>
          </a:xfrm>
          <a:prstGeom prst="left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286116" y="1857364"/>
            <a:ext cx="2286016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1"/>
                </a:solidFill>
              </a:rPr>
              <a:t>symmetric cryptography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941065" y="3929066"/>
            <a:ext cx="1883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encryption</a:t>
            </a:r>
          </a:p>
        </p:txBody>
      </p:sp>
      <p:sp>
        <p:nvSpPr>
          <p:cNvPr id="7" name="TextBox 6"/>
          <p:cNvSpPr txBox="1"/>
          <p:nvPr/>
        </p:nvSpPr>
        <p:spPr>
          <a:xfrm flipH="1">
            <a:off x="5000628" y="3929066"/>
            <a:ext cx="243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4682" y="5076883"/>
            <a:ext cx="3047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(and </a:t>
            </a:r>
            <a:r>
              <a:rPr lang="en-US" sz="2400" b="1" dirty="0"/>
              <a:t>hash functions</a:t>
            </a:r>
            <a:r>
              <a:rPr lang="en-US" sz="2400" dirty="0"/>
              <a:t>)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4230442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basic information-theoretic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2857496"/>
            <a:ext cx="8576530" cy="3390904"/>
          </a:xfrm>
        </p:spPr>
        <p:txBody>
          <a:bodyPr/>
          <a:lstStyle/>
          <a:p>
            <a:pPr algn="ctr">
              <a:buNone/>
            </a:pPr>
            <a:r>
              <a:rPr lang="en-US" b="1" dirty="0" err="1"/>
              <a:t>xor</a:t>
            </a:r>
            <a:r>
              <a:rPr lang="en-US" b="1" dirty="0"/>
              <a:t> </a:t>
            </a:r>
            <a:r>
              <a:rPr lang="en-US" dirty="0"/>
              <a:t>(one-time pad)</a:t>
            </a:r>
          </a:p>
        </p:txBody>
      </p:sp>
    </p:spTree>
    <p:extLst>
      <p:ext uri="{BB962C8B-B14F-4D97-AF65-F5344CB8AC3E}">
        <p14:creationId xmlns:p14="http://schemas.microsoft.com/office/powerpoint/2010/main" val="27590919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74638"/>
            <a:ext cx="843365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tools from the computational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522668"/>
            <a:ext cx="8505092" cy="37257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one-way functions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7030A0"/>
                </a:solidFill>
              </a:rPr>
              <a:t>pseudorandom generators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pseudorandom functions/permutations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hash functions</a:t>
            </a:r>
          </a:p>
        </p:txBody>
      </p:sp>
    </p:spTree>
    <p:extLst>
      <p:ext uri="{BB962C8B-B14F-4D97-AF65-F5344CB8AC3E}">
        <p14:creationId xmlns:p14="http://schemas.microsoft.com/office/powerpoint/2010/main" val="5596941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loud 16"/>
          <p:cNvSpPr/>
          <p:nvPr/>
        </p:nvSpPr>
        <p:spPr>
          <a:xfrm rot="19413177">
            <a:off x="494202" y="1446596"/>
            <a:ext cx="6213112" cy="498947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46" y="-113044"/>
            <a:ext cx="8719406" cy="1143000"/>
          </a:xfrm>
        </p:spPr>
        <p:txBody>
          <a:bodyPr>
            <a:normAutofit/>
          </a:bodyPr>
          <a:lstStyle/>
          <a:p>
            <a:r>
              <a:rPr lang="en-US" sz="3600" dirty="0"/>
              <a:t>A method for proving security: </a:t>
            </a:r>
            <a:r>
              <a:rPr lang="en-US" sz="3600" b="1" dirty="0"/>
              <a:t>reductions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5186" y="2226825"/>
            <a:ext cx="2120896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one-way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9367" y="5643707"/>
            <a:ext cx="363597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computationally-secure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178" y="4798593"/>
            <a:ext cx="397204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computationally-secure 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3681" y="3084081"/>
            <a:ext cx="3181369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pseudorandom generators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9492" y="3941337"/>
            <a:ext cx="444410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pseudorandom functions/permutations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078" y="1655321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hash functions</a:t>
            </a:r>
          </a:p>
        </p:txBody>
      </p:sp>
      <p:sp>
        <p:nvSpPr>
          <p:cNvPr id="11" name="Up-Down Arrow 10"/>
          <p:cNvSpPr/>
          <p:nvPr/>
        </p:nvSpPr>
        <p:spPr>
          <a:xfrm>
            <a:off x="3017519" y="5096487"/>
            <a:ext cx="317351" cy="487924"/>
          </a:xfrm>
          <a:prstGeom prst="up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-Down Arrow 11"/>
          <p:cNvSpPr/>
          <p:nvPr/>
        </p:nvSpPr>
        <p:spPr>
          <a:xfrm>
            <a:off x="3017519" y="4310669"/>
            <a:ext cx="317351" cy="487924"/>
          </a:xfrm>
          <a:prstGeom prst="up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-Down Arrow 12"/>
          <p:cNvSpPr/>
          <p:nvPr/>
        </p:nvSpPr>
        <p:spPr>
          <a:xfrm>
            <a:off x="3017519" y="3453413"/>
            <a:ext cx="317351" cy="487924"/>
          </a:xfrm>
          <a:prstGeom prst="up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Up-Down Arrow 13"/>
          <p:cNvSpPr/>
          <p:nvPr/>
        </p:nvSpPr>
        <p:spPr>
          <a:xfrm>
            <a:off x="3017519" y="2596157"/>
            <a:ext cx="317351" cy="487924"/>
          </a:xfrm>
          <a:prstGeom prst="up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rot="2987161">
            <a:off x="653703" y="2295085"/>
            <a:ext cx="1071570" cy="714380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 rot="14536085">
            <a:off x="5885538" y="1376908"/>
            <a:ext cx="2425601" cy="1214446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98519" y="1430209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 ≠ 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298790"/>
            <a:ext cx="2948755" cy="707886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 general the picture is much more complicated!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8252" y="940941"/>
            <a:ext cx="1643074" cy="571504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minicrypt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063802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Arial"/>
              </a:rPr>
              <a:t>©</a:t>
            </a:r>
            <a:r>
              <a:rPr lang="pl-PL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2025</a:t>
            </a:r>
            <a:r>
              <a:rPr lang="en-US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by Stefan Dziembowski. Permission to make digital or hard copies of part or all of this material is currently granted without fee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192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input{komendy}&#10;\begin{document}&#10;\begin{tiny}&#10;$\oplus$&#10;\end{tiny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448"/>
  <p:tag name="BOXHEIGHT" val="465"/>
  <p:tag name="BOXFONT" val="10"/>
  <p:tag name="BOXWRAP" val="False"/>
  <p:tag name="WORKAROUNDTRANSPARENCYBUG" val="False"/>
  <p:tag name="ALLOWFONTSUBSTITUTION" val="False"/>
  <p:tag name="BITMAPFORMAT" val="pngmono"/>
  <p:tag name="ORIGWIDTH" val="10"/>
  <p:tag name="PICTUREFILESIZE" val="71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2844</Words>
  <Application>Microsoft Office PowerPoint</Application>
  <PresentationFormat>Pokaz na ekranie (4:3)</PresentationFormat>
  <Paragraphs>716</Paragraphs>
  <Slides>58</Slides>
  <Notes>50</Notes>
  <HiddenSlides>0</HiddenSlides>
  <MMClips>0</MMClips>
  <ScaleCrop>false</ScaleCrop>
  <HeadingPairs>
    <vt:vector size="6" baseType="variant">
      <vt:variant>
        <vt:lpstr>Używane czcionki</vt:lpstr>
      </vt:variant>
      <vt:variant>
        <vt:i4>10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58</vt:i4>
      </vt:variant>
    </vt:vector>
  </HeadingPairs>
  <TitlesOfParts>
    <vt:vector size="69" baseType="lpstr">
      <vt:lpstr>ＭＳ Ｐゴシック</vt:lpstr>
      <vt:lpstr>Arial</vt:lpstr>
      <vt:lpstr>Calibri</vt:lpstr>
      <vt:lpstr>Cambria</vt:lpstr>
      <vt:lpstr>Cambria Math</vt:lpstr>
      <vt:lpstr>Consolas</vt:lpstr>
      <vt:lpstr>Gill Sans MT</vt:lpstr>
      <vt:lpstr>Lucida Calligraphy</vt:lpstr>
      <vt:lpstr>Script MT Bold</vt:lpstr>
      <vt:lpstr>Wingdings 2</vt:lpstr>
      <vt:lpstr>Office Theme</vt:lpstr>
      <vt:lpstr>Chapter 4  Message Authentication </vt:lpstr>
      <vt:lpstr>Secure communication</vt:lpstr>
      <vt:lpstr>Plan</vt:lpstr>
      <vt:lpstr>Message Authentication</vt:lpstr>
      <vt:lpstr>Sometimes more important than secrecy!</vt:lpstr>
      <vt:lpstr>Does encryption guarantee message integrity?</vt:lpstr>
      <vt:lpstr>What do we need? </vt:lpstr>
      <vt:lpstr>A mathematical view</vt:lpstr>
      <vt:lpstr>Message Authentication Codes</vt:lpstr>
      <vt:lpstr>Message authentication – multiple messages</vt:lpstr>
      <vt:lpstr>Conventions</vt:lpstr>
      <vt:lpstr>How to define security?</vt:lpstr>
      <vt:lpstr>Prezentacja programu PowerPoint</vt:lpstr>
      <vt:lpstr>The security definition</vt:lpstr>
      <vt:lpstr>Aren’t we too paranoid? </vt:lpstr>
      <vt:lpstr>Warning: MACs do not offer protection against the “replay attacks”. </vt:lpstr>
      <vt:lpstr>Constructing a MAC</vt:lpstr>
      <vt:lpstr>Plan</vt:lpstr>
      <vt:lpstr>A simple construction from a block cipher</vt:lpstr>
      <vt:lpstr>Idea 1</vt:lpstr>
      <vt:lpstr>Prezentacja programu PowerPoint</vt:lpstr>
      <vt:lpstr>Idea 2</vt:lpstr>
      <vt:lpstr>Prezentacja programu PowerPoint</vt:lpstr>
      <vt:lpstr>Idea 3</vt:lpstr>
      <vt:lpstr>Prezentacja programu PowerPoint</vt:lpstr>
      <vt:lpstr>Idea 4</vt:lpstr>
      <vt:lpstr>Prezentacja programu PowerPoint</vt:lpstr>
      <vt:lpstr>This construction can be proven secure</vt:lpstr>
      <vt:lpstr>A new member of “Minicrypt”</vt:lpstr>
      <vt:lpstr>Our construction is not practical</vt:lpstr>
      <vt:lpstr>CBC-MAC</vt:lpstr>
      <vt:lpstr>Prezentacja programu PowerPoint</vt:lpstr>
      <vt:lpstr>Prezentacja programu PowerPoint</vt:lpstr>
      <vt:lpstr>Plan</vt:lpstr>
      <vt:lpstr>Some practitioners don’t like the CBC-MAC</vt:lpstr>
      <vt:lpstr>How to use hash functions for authentication?</vt:lpstr>
      <vt:lpstr>Message extension attack: Suppose H was constructed using the MD-transform</vt:lpstr>
      <vt:lpstr>Still, used in practice in the past</vt:lpstr>
      <vt:lpstr>A better idea</vt:lpstr>
      <vt:lpstr>NMAC</vt:lpstr>
      <vt:lpstr>What can be proven</vt:lpstr>
      <vt:lpstr>Prezentacja programu PowerPoint</vt:lpstr>
      <vt:lpstr>HMAC</vt:lpstr>
      <vt:lpstr>Why such a choice for  ipad and opad?</vt:lpstr>
      <vt:lpstr>HMAC – the properties</vt:lpstr>
      <vt:lpstr>Plan</vt:lpstr>
      <vt:lpstr>What is needed to establish secure channels?</vt:lpstr>
      <vt:lpstr>Authentication + encryption, options:</vt:lpstr>
      <vt:lpstr>By the way…</vt:lpstr>
      <vt:lpstr>Authenticated encryption</vt:lpstr>
      <vt:lpstr>Caesar competition winners </vt:lpstr>
      <vt:lpstr>Plan</vt:lpstr>
      <vt:lpstr>Outlook</vt:lpstr>
      <vt:lpstr>Symmetric cryptography</vt:lpstr>
      <vt:lpstr>The basic information-theoretic tool</vt:lpstr>
      <vt:lpstr>Basic tools from the computational cryptography</vt:lpstr>
      <vt:lpstr>A method for proving security: reductions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614</cp:revision>
  <dcterms:created xsi:type="dcterms:W3CDTF">2015-07-03T16:44:25Z</dcterms:created>
  <dcterms:modified xsi:type="dcterms:W3CDTF">2025-11-13T10:23:36Z</dcterms:modified>
</cp:coreProperties>
</file>