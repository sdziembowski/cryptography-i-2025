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ink/ink1.xml" ContentType="application/inkml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handoutMasterIdLst>
    <p:handoutMasterId r:id="rId42"/>
  </p:handoutMasterIdLst>
  <p:sldIdLst>
    <p:sldId id="469" r:id="rId2"/>
    <p:sldId id="470" r:id="rId3"/>
    <p:sldId id="471" r:id="rId4"/>
    <p:sldId id="472" r:id="rId5"/>
    <p:sldId id="473" r:id="rId6"/>
    <p:sldId id="474" r:id="rId7"/>
    <p:sldId id="475" r:id="rId8"/>
    <p:sldId id="476" r:id="rId9"/>
    <p:sldId id="477" r:id="rId10"/>
    <p:sldId id="478" r:id="rId11"/>
    <p:sldId id="479" r:id="rId12"/>
    <p:sldId id="480" r:id="rId13"/>
    <p:sldId id="481" r:id="rId14"/>
    <p:sldId id="482" r:id="rId15"/>
    <p:sldId id="483" r:id="rId16"/>
    <p:sldId id="484" r:id="rId17"/>
    <p:sldId id="485" r:id="rId18"/>
    <p:sldId id="486" r:id="rId19"/>
    <p:sldId id="487" r:id="rId20"/>
    <p:sldId id="488" r:id="rId21"/>
    <p:sldId id="489" r:id="rId22"/>
    <p:sldId id="490" r:id="rId23"/>
    <p:sldId id="560" r:id="rId24"/>
    <p:sldId id="558" r:id="rId25"/>
    <p:sldId id="559" r:id="rId26"/>
    <p:sldId id="491" r:id="rId27"/>
    <p:sldId id="492" r:id="rId28"/>
    <p:sldId id="493" r:id="rId29"/>
    <p:sldId id="494" r:id="rId30"/>
    <p:sldId id="495" r:id="rId31"/>
    <p:sldId id="496" r:id="rId32"/>
    <p:sldId id="497" r:id="rId33"/>
    <p:sldId id="498" r:id="rId34"/>
    <p:sldId id="499" r:id="rId35"/>
    <p:sldId id="500" r:id="rId36"/>
    <p:sldId id="501" r:id="rId37"/>
    <p:sldId id="502" r:id="rId38"/>
    <p:sldId id="561" r:id="rId39"/>
    <p:sldId id="556" r:id="rId40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905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91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4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174" cy="340570"/>
          </a:xfrm>
          <a:prstGeom prst="rect">
            <a:avLst/>
          </a:prstGeom>
        </p:spPr>
        <p:txBody>
          <a:bodyPr vert="horz" lIns="88192" tIns="44096" rIns="88192" bIns="44096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248" y="0"/>
            <a:ext cx="4301172" cy="340570"/>
          </a:xfrm>
          <a:prstGeom prst="rect">
            <a:avLst/>
          </a:prstGeom>
        </p:spPr>
        <p:txBody>
          <a:bodyPr vert="horz" lIns="88192" tIns="44096" rIns="88192" bIns="44096" rtlCol="0"/>
          <a:lstStyle>
            <a:lvl1pPr algn="r">
              <a:defRPr sz="1200"/>
            </a:lvl1pPr>
          </a:lstStyle>
          <a:p>
            <a:fld id="{CB412FE4-3145-4EF6-B42A-FBC5BC8CBB71}" type="datetimeFigureOut">
              <a:rPr lang="pl-PL" smtClean="0"/>
              <a:t>12.01.2026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457107"/>
            <a:ext cx="4301174" cy="340570"/>
          </a:xfrm>
          <a:prstGeom prst="rect">
            <a:avLst/>
          </a:prstGeom>
        </p:spPr>
        <p:txBody>
          <a:bodyPr vert="horz" lIns="88192" tIns="44096" rIns="88192" bIns="44096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248" y="6457107"/>
            <a:ext cx="4301172" cy="340570"/>
          </a:xfrm>
          <a:prstGeom prst="rect">
            <a:avLst/>
          </a:prstGeom>
        </p:spPr>
        <p:txBody>
          <a:bodyPr vert="horz" lIns="88192" tIns="44096" rIns="88192" bIns="44096" rtlCol="0" anchor="b"/>
          <a:lstStyle>
            <a:lvl1pPr algn="r">
              <a:defRPr sz="1200"/>
            </a:lvl1pPr>
          </a:lstStyle>
          <a:p>
            <a:fld id="{4F5195C7-A3A9-49A7-828D-175002B2576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549116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941.31" units="1/cm"/>
          <inkml:channelProperty channel="Y" name="resolution" value="1658.24902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05-20T13:31:11.027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12880 17089 6042 0,'0'0'147'0,"0"0"-108"15,0 0-14-15,0 0-25 16,0 0-57-16,0 0-355 0,0 0-899 15,0 0-3162-15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2" cy="341064"/>
          </a:xfrm>
          <a:prstGeom prst="rect">
            <a:avLst/>
          </a:prstGeom>
        </p:spPr>
        <p:txBody>
          <a:bodyPr vert="horz" lIns="95557" tIns="47779" rIns="95557" bIns="47779" rtlCol="0"/>
          <a:lstStyle>
            <a:lvl1pPr algn="l">
              <a:defRPr sz="1300"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800" y="0"/>
            <a:ext cx="4301542" cy="341064"/>
          </a:xfrm>
          <a:prstGeom prst="rect">
            <a:avLst/>
          </a:prstGeom>
        </p:spPr>
        <p:txBody>
          <a:bodyPr vert="horz" lIns="95557" tIns="47779" rIns="95557" bIns="47779" rtlCol="0"/>
          <a:lstStyle>
            <a:lvl1pPr algn="r">
              <a:defRPr sz="1300">
                <a:latin typeface="Cambria" panose="02040503050406030204" pitchFamily="18" charset="0"/>
              </a:defRPr>
            </a:lvl1pPr>
          </a:lstStyle>
          <a:p>
            <a:fld id="{9A9543F3-0831-4635-AD48-8E4410E9648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33763" y="849313"/>
            <a:ext cx="3059112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57" tIns="47779" rIns="95557" bIns="477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6" y="3271381"/>
            <a:ext cx="7941309" cy="2676585"/>
          </a:xfrm>
          <a:prstGeom prst="rect">
            <a:avLst/>
          </a:prstGeom>
        </p:spPr>
        <p:txBody>
          <a:bodyPr vert="horz" lIns="95557" tIns="47779" rIns="95557" bIns="47779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456613"/>
            <a:ext cx="4301542" cy="341064"/>
          </a:xfrm>
          <a:prstGeom prst="rect">
            <a:avLst/>
          </a:prstGeom>
        </p:spPr>
        <p:txBody>
          <a:bodyPr vert="horz" lIns="95557" tIns="47779" rIns="95557" bIns="47779" rtlCol="0" anchor="b"/>
          <a:lstStyle>
            <a:lvl1pPr algn="l">
              <a:defRPr sz="1300"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800" y="6456613"/>
            <a:ext cx="4301542" cy="341064"/>
          </a:xfrm>
          <a:prstGeom prst="rect">
            <a:avLst/>
          </a:prstGeom>
        </p:spPr>
        <p:txBody>
          <a:bodyPr vert="horz" lIns="95557" tIns="47779" rIns="95557" bIns="47779" rtlCol="0" anchor="b"/>
          <a:lstStyle>
            <a:lvl1pPr algn="r">
              <a:defRPr sz="1300">
                <a:latin typeface="Cambria" panose="02040503050406030204" pitchFamily="18" charset="0"/>
              </a:defRPr>
            </a:lvl1pPr>
          </a:lstStyle>
          <a:p>
            <a:fld id="{8BBDC37B-729A-4393-B484-407F8F0BFA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836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Cambria" panose="02040503050406030204" pitchFamily="18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mbria" panose="02040503050406030204" pitchFamily="18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mbria" panose="02040503050406030204" pitchFamily="18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mbria" panose="02040503050406030204" pitchFamily="18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mbria" panose="020405030504060302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96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12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23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4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70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9335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604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413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13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761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4455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5854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1002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3753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7413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955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0587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806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708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4955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2087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1F78A8-523F-4BFC-80CC-40890F21BE70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3968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300794-B5F8-4B4D-8998-725B22C8A7E6}" type="slidenum">
              <a:rPr lang="en-US"/>
              <a:pPr/>
              <a:t>25</a:t>
            </a:fld>
            <a:endParaRPr lang="en-US" dirty="0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2425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6179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454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096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88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172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8894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1126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726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1891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0522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34861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7339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4632A10-DCC6-4A20-9C12-577EF1D03665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930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53B218DE-F74F-4BB5-BD48-011BB4D5DB9F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415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FD834928-2126-47DA-BC72-BBF8F078090A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681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8E79A6DD-310D-4500-BE4B-19C5608D6F27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859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79DFBE3F-5601-43FD-B484-E95F8116A6B3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843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>
                <a:latin typeface="Cambria" panose="020405030504060302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>
                <a:latin typeface="Cambria" panose="020405030504060302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2D98EBB4-27C7-4B05-9B2C-CE75A65DBD9D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750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125E6186-52F2-4F38-B5C7-17A86085EA5C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23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D5081EB6-D1BE-43BA-B03B-FA3EFF22F177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558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>
                <a:latin typeface="Cambria" panose="02040503050406030204" pitchFamily="18" charset="0"/>
              </a:defRPr>
            </a:lvl1pPr>
            <a:lvl2pPr>
              <a:defRPr sz="2800">
                <a:latin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</a:defRPr>
            </a:lvl3pPr>
            <a:lvl4pPr>
              <a:defRPr sz="2000">
                <a:latin typeface="Cambria" panose="02040503050406030204" pitchFamily="18" charset="0"/>
              </a:defRPr>
            </a:lvl4pPr>
            <a:lvl5pPr>
              <a:defRPr sz="2000">
                <a:latin typeface="Cambria" panose="020405030504060302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>
                <a:latin typeface="Cambria" panose="020405030504060302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A5AD075C-DC12-499A-9C2A-CBFD30FD46CD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959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>
                <a:latin typeface="Cambria" panose="020405030504060302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>
                <a:latin typeface="Cambria" panose="020405030504060302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9BDE8C02-2C77-4305-AE3F-2FAB04074511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68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DDA78E33-0F48-4C18-BF49-2F4CC1861B7B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66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D80077F-DCD5-47B4-ABB4-C26FF78A4630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622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E8FA685C-6466-4CD2-AAE8-A2EF648AFBF3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64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crypto.edu.pl/Dziembowski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2.wmf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2.wmf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.wmf"/><Relationship Id="rId4" Type="http://schemas.openxmlformats.org/officeDocument/2006/relationships/image" Target="../media/image2.wmf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27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33.png"/><Relationship Id="rId5" Type="http://schemas.openxmlformats.org/officeDocument/2006/relationships/image" Target="../media/image2.wmf"/><Relationship Id="rId10" Type="http://schemas.openxmlformats.org/officeDocument/2006/relationships/image" Target="../media/image18.png"/><Relationship Id="rId4" Type="http://schemas.openxmlformats.org/officeDocument/2006/relationships/image" Target="../media/image3.wmf"/><Relationship Id="rId9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.wmf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2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.wmf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2.wmf"/><Relationship Id="rId9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13" Type="http://schemas.openxmlformats.org/officeDocument/2006/relationships/image" Target="../media/image164.png"/><Relationship Id="rId3" Type="http://schemas.openxmlformats.org/officeDocument/2006/relationships/image" Target="../media/image154.png"/><Relationship Id="rId7" Type="http://schemas.openxmlformats.org/officeDocument/2006/relationships/image" Target="../media/image158.png"/><Relationship Id="rId12" Type="http://schemas.openxmlformats.org/officeDocument/2006/relationships/image" Target="../media/image16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7.png"/><Relationship Id="rId11" Type="http://schemas.openxmlformats.org/officeDocument/2006/relationships/image" Target="../media/image162.png"/><Relationship Id="rId5" Type="http://schemas.openxmlformats.org/officeDocument/2006/relationships/image" Target="../media/image156.png"/><Relationship Id="rId15" Type="http://schemas.openxmlformats.org/officeDocument/2006/relationships/image" Target="../media/image166.png"/><Relationship Id="rId10" Type="http://schemas.openxmlformats.org/officeDocument/2006/relationships/image" Target="../media/image161.png"/><Relationship Id="rId4" Type="http://schemas.openxmlformats.org/officeDocument/2006/relationships/image" Target="../media/image155.png"/><Relationship Id="rId9" Type="http://schemas.openxmlformats.org/officeDocument/2006/relationships/image" Target="../media/image160.png"/><Relationship Id="rId14" Type="http://schemas.openxmlformats.org/officeDocument/2006/relationships/image" Target="../media/image16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0.png"/><Relationship Id="rId3" Type="http://schemas.openxmlformats.org/officeDocument/2006/relationships/image" Target="../media/image1690.png"/><Relationship Id="rId7" Type="http://schemas.openxmlformats.org/officeDocument/2006/relationships/image" Target="../media/image1730.png"/><Relationship Id="rId12" Type="http://schemas.openxmlformats.org/officeDocument/2006/relationships/image" Target="../media/image17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20.png"/><Relationship Id="rId11" Type="http://schemas.openxmlformats.org/officeDocument/2006/relationships/image" Target="../media/image4.wmf"/><Relationship Id="rId5" Type="http://schemas.openxmlformats.org/officeDocument/2006/relationships/image" Target="../media/image1710.png"/><Relationship Id="rId10" Type="http://schemas.openxmlformats.org/officeDocument/2006/relationships/image" Target="../media/image176.png"/><Relationship Id="rId4" Type="http://schemas.openxmlformats.org/officeDocument/2006/relationships/image" Target="../media/image1700.png"/><Relationship Id="rId9" Type="http://schemas.openxmlformats.org/officeDocument/2006/relationships/image" Target="../media/image17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2.wmf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3.wmf"/><Relationship Id="rId9" Type="http://schemas.openxmlformats.org/officeDocument/2006/relationships/image" Target="../media/image6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3" Type="http://schemas.openxmlformats.org/officeDocument/2006/relationships/image" Target="../media/image2.wmf"/><Relationship Id="rId7" Type="http://schemas.openxmlformats.org/officeDocument/2006/relationships/image" Target="../media/image71.png"/><Relationship Id="rId12" Type="http://schemas.openxmlformats.org/officeDocument/2006/relationships/image" Target="../media/image35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21.png"/><Relationship Id="rId5" Type="http://schemas.openxmlformats.org/officeDocument/2006/relationships/image" Target="../media/image69.png"/><Relationship Id="rId15" Type="http://schemas.openxmlformats.org/officeDocument/2006/relationships/image" Target="../media/image372.png"/><Relationship Id="rId10" Type="http://schemas.openxmlformats.org/officeDocument/2006/relationships/image" Target="../media/image35.png"/><Relationship Id="rId4" Type="http://schemas.openxmlformats.org/officeDocument/2006/relationships/image" Target="../media/image3.wmf"/><Relationship Id="rId9" Type="http://schemas.openxmlformats.org/officeDocument/2006/relationships/image" Target="../media/image73.png"/><Relationship Id="rId1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371.png"/><Relationship Id="rId3" Type="http://schemas.openxmlformats.org/officeDocument/2006/relationships/image" Target="../media/image2.wmf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320.png"/><Relationship Id="rId15" Type="http://schemas.openxmlformats.org/officeDocument/2006/relationships/image" Target="../media/image510.png"/><Relationship Id="rId10" Type="http://schemas.openxmlformats.org/officeDocument/2006/relationships/image" Target="../media/image86.png"/><Relationship Id="rId4" Type="http://schemas.openxmlformats.org/officeDocument/2006/relationships/image" Target="../media/image3.wmf"/><Relationship Id="rId9" Type="http://schemas.openxmlformats.org/officeDocument/2006/relationships/image" Target="../media/image85.png"/><Relationship Id="rId14" Type="http://schemas.openxmlformats.org/officeDocument/2006/relationships/image" Target="../media/image3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35685" y="451022"/>
            <a:ext cx="8216362" cy="20884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</a:lstStyle>
          <a:p>
            <a:pPr algn="ctr"/>
            <a:r>
              <a:rPr lang="pl-PL" sz="4600" b="1" dirty="0"/>
              <a:t>Chapter 9</a:t>
            </a:r>
            <a:br>
              <a:rPr lang="en-US" sz="4600" b="1" dirty="0"/>
            </a:br>
            <a:br>
              <a:rPr lang="pl-PL" sz="1000" dirty="0"/>
            </a:br>
            <a:r>
              <a:rPr lang="en-US" sz="4600" b="1" dirty="0">
                <a:solidFill>
                  <a:srgbClr val="0070C0"/>
                </a:solidFill>
              </a:rPr>
              <a:t>Commitment Schemes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645881" y="3045847"/>
            <a:ext cx="3962400" cy="1770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b="1" dirty="0">
                <a:solidFill>
                  <a:srgbClr val="FF0000"/>
                </a:solidFill>
                <a:latin typeface="Cambria" panose="02040503050406030204" pitchFamily="18" charset="0"/>
              </a:rPr>
              <a:t>Stefan</a:t>
            </a:r>
            <a:r>
              <a:rPr lang="en-US" sz="3000" dirty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Cambria" panose="02040503050406030204" pitchFamily="18" charset="0"/>
              </a:rPr>
              <a:t>Dziembowski</a:t>
            </a:r>
            <a:br>
              <a:rPr lang="en-US" sz="3000" b="1" dirty="0">
                <a:solidFill>
                  <a:srgbClr val="FF0000"/>
                </a:solidFill>
                <a:latin typeface="Cambria" panose="02040503050406030204" pitchFamily="18" charset="0"/>
              </a:rPr>
            </a:br>
            <a:r>
              <a:rPr lang="en-US" sz="1800" dirty="0">
                <a:solidFill>
                  <a:srgbClr val="FF0000"/>
                </a:solidFill>
                <a:latin typeface="Cambria" panose="02040503050406030204" pitchFamily="18" charset="0"/>
                <a:hlinkClick r:id="rId2"/>
              </a:rPr>
              <a:t>www.crypto.edu.pl/Dziembowski</a:t>
            </a:r>
            <a:br>
              <a:rPr lang="en-US" sz="1800" dirty="0">
                <a:solidFill>
                  <a:srgbClr val="FF0000"/>
                </a:solidFill>
                <a:latin typeface="Cambria" panose="02040503050406030204" pitchFamily="18" charset="0"/>
              </a:rPr>
            </a:br>
            <a:br>
              <a:rPr lang="en-US" sz="2000" dirty="0">
                <a:solidFill>
                  <a:srgbClr val="FF0000"/>
                </a:solidFill>
                <a:latin typeface="Cambria" panose="02040503050406030204" pitchFamily="18" charset="0"/>
              </a:rPr>
            </a:br>
            <a:r>
              <a:rPr lang="en-US" sz="2600" b="1" dirty="0">
                <a:solidFill>
                  <a:schemeClr val="tx1"/>
                </a:solidFill>
                <a:latin typeface="Cambria" panose="02040503050406030204" pitchFamily="18" charset="0"/>
              </a:rPr>
              <a:t>University of Warsaw</a:t>
            </a:r>
          </a:p>
          <a:p>
            <a:endParaRPr 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r="58267"/>
          <a:stretch/>
        </p:blipFill>
        <p:spPr>
          <a:xfrm>
            <a:off x="3822360" y="4864120"/>
            <a:ext cx="1418989" cy="152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951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5918" y="2338316"/>
            <a:ext cx="6929486" cy="401964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Coin-flipping by telephone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Commitment schemes</a:t>
            </a:r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428596" y="2338316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076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loud 13"/>
          <p:cNvSpPr/>
          <p:nvPr/>
        </p:nvSpPr>
        <p:spPr>
          <a:xfrm>
            <a:off x="3752967" y="2511396"/>
            <a:ext cx="1676289" cy="1143008"/>
          </a:xfrm>
          <a:prstGeom prst="clou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internet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974" y="-141312"/>
            <a:ext cx="8637175" cy="1285884"/>
          </a:xfrm>
        </p:spPr>
        <p:txBody>
          <a:bodyPr>
            <a:normAutofit fontScale="90000"/>
          </a:bodyPr>
          <a:lstStyle/>
          <a:p>
            <a:r>
              <a:rPr lang="en-US" dirty="0"/>
              <a:t>Coin-flipping by telephone [Blum’81]</a:t>
            </a:r>
          </a:p>
        </p:txBody>
      </p:sp>
      <p:pic>
        <p:nvPicPr>
          <p:cNvPr id="4" name="Picture 32" descr="MCj0411466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00760" y="2368520"/>
            <a:ext cx="1401763" cy="1457325"/>
          </a:xfrm>
          <a:prstGeom prst="rect">
            <a:avLst/>
          </a:prstGeom>
          <a:noFill/>
        </p:spPr>
      </p:pic>
      <p:pic>
        <p:nvPicPr>
          <p:cNvPr id="5" name="Picture 6" descr="MCj04158080000[1]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85918" y="2368520"/>
            <a:ext cx="1368425" cy="1438275"/>
          </a:xfrm>
          <a:prstGeom prst="rect">
            <a:avLst/>
          </a:prstGeom>
          <a:noFill/>
        </p:spPr>
      </p:pic>
      <p:cxnSp>
        <p:nvCxnSpPr>
          <p:cNvPr id="7" name="Straight Arrow Connector 6"/>
          <p:cNvCxnSpPr/>
          <p:nvPr/>
        </p:nvCxnSpPr>
        <p:spPr>
          <a:xfrm>
            <a:off x="3571868" y="2582834"/>
            <a:ext cx="200026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571868" y="3011462"/>
            <a:ext cx="200026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3500430" y="2797148"/>
            <a:ext cx="200026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571868" y="3440090"/>
            <a:ext cx="200026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10800000">
            <a:off x="3500430" y="3225776"/>
            <a:ext cx="200026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57158" y="1571612"/>
            <a:ext cx="67279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Suppose Alice and Bob are connected by a secure internet link: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3857620" y="928670"/>
            <a:ext cx="4572032" cy="469772"/>
          </a:xfrm>
          <a:prstGeom prst="wedgeRoundRectCallout">
            <a:avLst>
              <a:gd name="adj1" fmla="val -20833"/>
              <a:gd name="adj2" fmla="val 85599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privacy and authenticity is not a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0" y="4786322"/>
                <a:ext cx="9144000" cy="1692771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180000" rtlCol="0">
                <a:spAutoFit/>
              </a:bodyPr>
              <a:lstStyle/>
              <a:p>
                <a:pPr algn="ctr"/>
                <a:r>
                  <a:rPr lang="en-US" sz="2400" b="1" dirty="0"/>
                  <a:t>The goal of Alice and Bob is to toss a coin.</a:t>
                </a:r>
              </a:p>
              <a:p>
                <a:r>
                  <a:rPr lang="en-US" sz="2000" b="1" u="sng" dirty="0"/>
                  <a:t>In other words</a:t>
                </a:r>
                <a:r>
                  <a:rPr lang="en-US" sz="2000" dirty="0"/>
                  <a:t>:</a:t>
                </a:r>
                <a:br>
                  <a:rPr lang="en-US" sz="2000" dirty="0"/>
                </a:br>
                <a:r>
                  <a:rPr lang="en-US" sz="2000" dirty="0"/>
                  <a:t>They want to execute some protocol </a:t>
                </a:r>
                <a14:m>
                  <m:oMath xmlns:m="http://schemas.openxmlformats.org/officeDocument/2006/math">
                    <m:r>
                      <a:rPr lang="el-GR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sz="2000" dirty="0"/>
                  <a:t> in such a way that</a:t>
                </a:r>
                <a:br>
                  <a:rPr lang="en-US" sz="2000" dirty="0"/>
                </a:br>
                <a:r>
                  <a:rPr lang="en-US" sz="2000" dirty="0"/>
                  <a:t>at the end of the execution they both output the same bit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distributed uniformly over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86322"/>
                <a:ext cx="9144000" cy="169277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285984" y="4071942"/>
                <a:ext cx="357190" cy="36933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984" y="4071942"/>
                <a:ext cx="357190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500826" y="4071942"/>
                <a:ext cx="428628" cy="36933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0826" y="4071942"/>
                <a:ext cx="428628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>
            <a:stCxn id="4" idx="2"/>
            <a:endCxn id="22" idx="0"/>
          </p:cNvCxnSpPr>
          <p:nvPr/>
        </p:nvCxnSpPr>
        <p:spPr>
          <a:xfrm rot="16200000" flipH="1">
            <a:off x="6585343" y="3942144"/>
            <a:ext cx="246097" cy="134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5" idx="2"/>
            <a:endCxn id="21" idx="0"/>
          </p:cNvCxnSpPr>
          <p:nvPr/>
        </p:nvCxnSpPr>
        <p:spPr>
          <a:xfrm rot="5400000">
            <a:off x="2334782" y="3936592"/>
            <a:ext cx="265147" cy="55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937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1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loud 13"/>
          <p:cNvSpPr/>
          <p:nvPr/>
        </p:nvSpPr>
        <p:spPr>
          <a:xfrm>
            <a:off x="3842724" y="3000372"/>
            <a:ext cx="1613529" cy="1143008"/>
          </a:xfrm>
          <a:prstGeom prst="clou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internet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401080" cy="1285884"/>
          </a:xfrm>
        </p:spPr>
        <p:txBody>
          <a:bodyPr>
            <a:normAutofit/>
          </a:bodyPr>
          <a:lstStyle/>
          <a:p>
            <a:r>
              <a:rPr lang="en-US" dirty="0"/>
              <a:t>How to define security? [1/2]</a:t>
            </a:r>
          </a:p>
        </p:txBody>
      </p:sp>
      <p:pic>
        <p:nvPicPr>
          <p:cNvPr id="4" name="Picture 32" descr="MCj0411466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27757" y="2857496"/>
            <a:ext cx="1401763" cy="1457325"/>
          </a:xfrm>
          <a:prstGeom prst="rect">
            <a:avLst/>
          </a:prstGeom>
          <a:noFill/>
        </p:spPr>
      </p:pic>
      <p:pic>
        <p:nvPicPr>
          <p:cNvPr id="5" name="Picture 6" descr="MCj04158080000[1]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12915" y="2857496"/>
            <a:ext cx="1368425" cy="1438275"/>
          </a:xfrm>
          <a:prstGeom prst="rect">
            <a:avLst/>
          </a:prstGeom>
          <a:noFill/>
        </p:spPr>
      </p:pic>
      <p:cxnSp>
        <p:nvCxnSpPr>
          <p:cNvPr id="7" name="Straight Arrow Connector 6"/>
          <p:cNvCxnSpPr/>
          <p:nvPr/>
        </p:nvCxnSpPr>
        <p:spPr>
          <a:xfrm>
            <a:off x="3598865" y="3071810"/>
            <a:ext cx="200026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598865" y="3500438"/>
            <a:ext cx="200026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3527427" y="3286124"/>
            <a:ext cx="200026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598865" y="3929066"/>
            <a:ext cx="200026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10800000">
            <a:off x="3527427" y="3714752"/>
            <a:ext cx="200026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57158" y="1142984"/>
            <a:ext cx="4978029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Let us just stay at an informal level...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312981" y="4560918"/>
                <a:ext cx="357190" cy="36933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981" y="4560918"/>
                <a:ext cx="357190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527823" y="4560918"/>
                <a:ext cx="377860" cy="36933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823" y="4560918"/>
                <a:ext cx="377860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>
            <a:stCxn id="4" idx="2"/>
            <a:endCxn id="22" idx="0"/>
          </p:cNvCxnSpPr>
          <p:nvPr/>
        </p:nvCxnSpPr>
        <p:spPr>
          <a:xfrm flipH="1">
            <a:off x="6716753" y="4314821"/>
            <a:ext cx="11886" cy="2460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5" idx="2"/>
            <a:endCxn id="21" idx="0"/>
          </p:cNvCxnSpPr>
          <p:nvPr/>
        </p:nvCxnSpPr>
        <p:spPr>
          <a:xfrm rot="5400000">
            <a:off x="2361779" y="4425568"/>
            <a:ext cx="265147" cy="55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0034" y="1857364"/>
            <a:ext cx="41027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From the point of view of Alice: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0034" y="5429264"/>
                <a:ext cx="8143932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even if </a:t>
                </a:r>
                <a:r>
                  <a:rPr lang="en-US" sz="2400" b="1" dirty="0"/>
                  <a:t>Bob</a:t>
                </a:r>
                <a:r>
                  <a:rPr lang="en-US" sz="2400" dirty="0"/>
                  <a:t> is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cheating</a:t>
                </a:r>
                <a:r>
                  <a:rPr lang="en-US" sz="2400" dirty="0"/>
                  <a:t> (i.e.: he doesn’t follow the protocol):</a:t>
                </a:r>
              </a:p>
              <a:p>
                <a:pPr lvl="1"/>
                <a:r>
                  <a:rPr lang="en-US" sz="2400" dirty="0"/>
                  <a:t>if the protocol terminates successfully, then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 has a uniform distribution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34" y="5429264"/>
                <a:ext cx="8143932" cy="120032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5" descr="MCj04359410000[1]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072198" y="2858548"/>
            <a:ext cx="1841500" cy="1273175"/>
          </a:xfrm>
          <a:prstGeom prst="rect">
            <a:avLst/>
          </a:prstGeom>
          <a:noFill/>
        </p:spPr>
      </p:pic>
      <p:sp>
        <p:nvSpPr>
          <p:cNvPr id="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47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1" grpId="0" animBg="1"/>
      <p:bldP spid="22" grpId="0" animBg="1"/>
      <p:bldP spid="18" grpId="0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loud 13"/>
          <p:cNvSpPr/>
          <p:nvPr/>
        </p:nvSpPr>
        <p:spPr>
          <a:xfrm>
            <a:off x="3884617" y="2285992"/>
            <a:ext cx="1643074" cy="1143008"/>
          </a:xfrm>
          <a:prstGeom prst="clou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internet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401080" cy="1285884"/>
          </a:xfrm>
        </p:spPr>
        <p:txBody>
          <a:bodyPr>
            <a:normAutofit/>
          </a:bodyPr>
          <a:lstStyle/>
          <a:p>
            <a:r>
              <a:rPr lang="en-US" dirty="0"/>
              <a:t>How to define security? [2/2]</a:t>
            </a:r>
          </a:p>
        </p:txBody>
      </p:sp>
      <p:pic>
        <p:nvPicPr>
          <p:cNvPr id="4" name="Picture 32" descr="MCj0411466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27757" y="2143116"/>
            <a:ext cx="1401763" cy="1457325"/>
          </a:xfrm>
          <a:prstGeom prst="rect">
            <a:avLst/>
          </a:prstGeom>
          <a:noFill/>
        </p:spPr>
      </p:pic>
      <p:pic>
        <p:nvPicPr>
          <p:cNvPr id="5" name="Picture 6" descr="MCj04158080000[1]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12915" y="2143116"/>
            <a:ext cx="1368425" cy="1438275"/>
          </a:xfrm>
          <a:prstGeom prst="rect">
            <a:avLst/>
          </a:prstGeom>
          <a:noFill/>
        </p:spPr>
      </p:pic>
      <p:cxnSp>
        <p:nvCxnSpPr>
          <p:cNvPr id="7" name="Straight Arrow Connector 6"/>
          <p:cNvCxnSpPr/>
          <p:nvPr/>
        </p:nvCxnSpPr>
        <p:spPr>
          <a:xfrm>
            <a:off x="3598865" y="2357430"/>
            <a:ext cx="200026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598865" y="2786058"/>
            <a:ext cx="200026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3527427" y="2571744"/>
            <a:ext cx="200026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598865" y="3214686"/>
            <a:ext cx="200026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10800000">
            <a:off x="3527427" y="3000372"/>
            <a:ext cx="200026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312981" y="3846538"/>
                <a:ext cx="357190" cy="36933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981" y="3846538"/>
                <a:ext cx="357190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527823" y="3846538"/>
                <a:ext cx="428628" cy="36933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823" y="3846538"/>
                <a:ext cx="428628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>
            <a:stCxn id="4" idx="2"/>
            <a:endCxn id="22" idx="0"/>
          </p:cNvCxnSpPr>
          <p:nvPr/>
        </p:nvCxnSpPr>
        <p:spPr>
          <a:xfrm rot="16200000" flipH="1">
            <a:off x="6612340" y="3716740"/>
            <a:ext cx="246097" cy="134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5" idx="2"/>
            <a:endCxn id="21" idx="0"/>
          </p:cNvCxnSpPr>
          <p:nvPr/>
        </p:nvCxnSpPr>
        <p:spPr>
          <a:xfrm rot="5400000">
            <a:off x="2361779" y="3711188"/>
            <a:ext cx="265147" cy="55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0034" y="1142984"/>
            <a:ext cx="5878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same holds from the point of view of Bob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0034" y="4714884"/>
                <a:ext cx="8143932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even if Alice is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cheating</a:t>
                </a:r>
                <a:r>
                  <a:rPr lang="en-US" sz="2400" dirty="0"/>
                  <a:t> (i.e.: he doesn’t follow the protocol):</a:t>
                </a:r>
              </a:p>
              <a:p>
                <a:pPr lvl="1"/>
                <a:r>
                  <a:rPr lang="en-US" sz="2400" dirty="0"/>
                  <a:t>if the protocol terminates successfully, then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 has a uniform distribution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34" y="4714884"/>
                <a:ext cx="8143932" cy="120032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5" descr="MCj04359410000[1]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785918" y="2227263"/>
            <a:ext cx="1841500" cy="1273175"/>
          </a:xfrm>
          <a:prstGeom prst="rect">
            <a:avLst/>
          </a:prstGeom>
          <a:noFill/>
        </p:spPr>
      </p:pic>
      <p:sp>
        <p:nvSpPr>
          <p:cNvPr id="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146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1" grpId="0" animBg="1"/>
      <p:bldP spid="22" grpId="0" animBg="1"/>
      <p:bldP spid="18" grpId="0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285992"/>
            <a:ext cx="9144000" cy="135732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37" y="136524"/>
            <a:ext cx="7886700" cy="766777"/>
          </a:xfrm>
        </p:spPr>
        <p:txBody>
          <a:bodyPr/>
          <a:lstStyle/>
          <a:p>
            <a:r>
              <a:rPr lang="en-US" dirty="0"/>
              <a:t>Note the difference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428736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/>
              <a:t>Unlike what we saw on the previous lectures: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the enemy can be one of the parties</a:t>
            </a:r>
          </a:p>
          <a:p>
            <a:pPr algn="r">
              <a:buNone/>
            </a:pPr>
            <a:r>
              <a:rPr lang="en-US" sz="2800" dirty="0"/>
              <a:t>(</a:t>
            </a:r>
            <a:r>
              <a:rPr lang="en-US" sz="2800" b="1" dirty="0">
                <a:solidFill>
                  <a:srgbClr val="FF0000"/>
                </a:solidFill>
              </a:rPr>
              <a:t>not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an external entity)</a:t>
            </a:r>
          </a:p>
          <a:p>
            <a:pPr algn="r"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A cheating party is sometimes called a </a:t>
            </a:r>
            <a:r>
              <a:rPr lang="en-US" sz="2800" b="1" dirty="0"/>
              <a:t>corrupted </a:t>
            </a:r>
            <a:r>
              <a:rPr lang="en-US" sz="2800" dirty="0"/>
              <a:t>party, or a </a:t>
            </a:r>
            <a:r>
              <a:rPr lang="en-US" sz="2800" b="1" dirty="0"/>
              <a:t>malicious </a:t>
            </a:r>
            <a:r>
              <a:rPr lang="en-US" sz="2800" dirty="0"/>
              <a:t>party</a:t>
            </a:r>
            <a:r>
              <a:rPr lang="en-US" sz="2800" b="1" dirty="0"/>
              <a:t>.</a:t>
            </a:r>
          </a:p>
          <a:p>
            <a:pPr>
              <a:buNone/>
            </a:pPr>
            <a:endParaRPr lang="en-US" sz="2800" b="1" dirty="0"/>
          </a:p>
          <a:p>
            <a:pPr algn="r">
              <a:buNone/>
            </a:pPr>
            <a:r>
              <a:rPr lang="en-US" sz="2800" dirty="0"/>
              <a:t>We will see many other examples of this later!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988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259" y="365126"/>
            <a:ext cx="8148091" cy="751641"/>
          </a:xfrm>
        </p:spPr>
        <p:txBody>
          <a:bodyPr/>
          <a:lstStyle/>
          <a:p>
            <a:r>
              <a:rPr lang="en-US" dirty="0"/>
              <a:t>How to solve this problem?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785926"/>
            <a:ext cx="5400684" cy="314327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4000" b="1" u="sng" dirty="0">
                <a:solidFill>
                  <a:srgbClr val="0070C0"/>
                </a:solidFill>
              </a:rPr>
              <a:t>Idea</a:t>
            </a:r>
            <a:br>
              <a:rPr lang="en-US" sz="4000" b="1" u="sng" dirty="0">
                <a:solidFill>
                  <a:srgbClr val="0070C0"/>
                </a:solidFill>
              </a:rPr>
            </a:br>
            <a:br>
              <a:rPr lang="en-US" sz="4000" b="1" u="sng" dirty="0"/>
            </a:br>
            <a:r>
              <a:rPr lang="en-US" sz="4000" dirty="0"/>
              <a:t>Remember the old game:</a:t>
            </a:r>
            <a:br>
              <a:rPr lang="en-US" sz="4000" dirty="0"/>
            </a:br>
            <a:r>
              <a:rPr lang="en-US" sz="4000" dirty="0"/>
              <a:t> </a:t>
            </a:r>
            <a:br>
              <a:rPr lang="en-US" sz="4000" dirty="0"/>
            </a:br>
            <a:r>
              <a:rPr lang="en-US" sz="4000" b="1" dirty="0"/>
              <a:t>rock-paper-scissors</a:t>
            </a:r>
            <a:r>
              <a:rPr lang="en-US" sz="4000" dirty="0"/>
              <a:t>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16200000">
            <a:off x="5553504" y="2876124"/>
            <a:ext cx="4323504" cy="285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55905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047900" y="1785926"/>
          <a:ext cx="6096000" cy="4786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965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65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draw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0070C0"/>
                          </a:solidFill>
                        </a:rPr>
                        <a:t>Alice</a:t>
                      </a:r>
                      <a:br>
                        <a:rPr lang="en-US" sz="2800" b="1" baseline="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US" sz="2800" b="1" baseline="0" dirty="0">
                          <a:solidFill>
                            <a:srgbClr val="0070C0"/>
                          </a:solidFill>
                        </a:rPr>
                        <a:t>wins</a:t>
                      </a:r>
                      <a:endParaRPr lang="en-US" sz="28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00B050"/>
                          </a:solidFill>
                        </a:rPr>
                        <a:t>Bob</a:t>
                      </a:r>
                      <a:br>
                        <a:rPr lang="en-US" sz="2800" b="1" baseline="0" dirty="0">
                          <a:solidFill>
                            <a:srgbClr val="00B050"/>
                          </a:solidFill>
                        </a:rPr>
                      </a:br>
                      <a:r>
                        <a:rPr lang="en-US" sz="2800" b="1" dirty="0">
                          <a:solidFill>
                            <a:srgbClr val="00B050"/>
                          </a:solidFill>
                        </a:rPr>
                        <a:t>wins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65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B050"/>
                          </a:solidFill>
                        </a:rPr>
                        <a:t>Bob</a:t>
                      </a:r>
                      <a:br>
                        <a:rPr lang="en-US" sz="2800" b="1" dirty="0">
                          <a:solidFill>
                            <a:srgbClr val="00B050"/>
                          </a:solidFill>
                        </a:rPr>
                      </a:br>
                      <a:r>
                        <a:rPr lang="en-US" sz="2800" b="1" dirty="0">
                          <a:solidFill>
                            <a:srgbClr val="00B050"/>
                          </a:solidFill>
                        </a:rPr>
                        <a:t>wins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draw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70C0"/>
                          </a:solidFill>
                        </a:rPr>
                        <a:t>Alice</a:t>
                      </a:r>
                      <a:br>
                        <a:rPr lang="en-US" sz="2800" b="1" baseline="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US" sz="2800" b="1" baseline="0" dirty="0">
                          <a:solidFill>
                            <a:srgbClr val="0070C0"/>
                          </a:solidFill>
                        </a:rPr>
                        <a:t>wins</a:t>
                      </a:r>
                      <a:endParaRPr lang="en-US" sz="28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65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70C0"/>
                          </a:solidFill>
                        </a:rPr>
                        <a:t>Alice</a:t>
                      </a:r>
                      <a:br>
                        <a:rPr lang="en-US" sz="2800" b="1" dirty="0">
                          <a:solidFill>
                            <a:srgbClr val="0070C0"/>
                          </a:solidFill>
                        </a:rPr>
                      </a:br>
                      <a:r>
                        <a:rPr lang="en-US" sz="2800" b="1" dirty="0">
                          <a:solidFill>
                            <a:srgbClr val="0070C0"/>
                          </a:solidFill>
                        </a:rPr>
                        <a:t>wins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B050"/>
                          </a:solidFill>
                        </a:rPr>
                        <a:t>Bob</a:t>
                      </a:r>
                      <a:br>
                        <a:rPr lang="en-US" sz="2800" b="1" dirty="0">
                          <a:solidFill>
                            <a:srgbClr val="00B050"/>
                          </a:solidFill>
                        </a:rPr>
                      </a:br>
                      <a:r>
                        <a:rPr lang="en-US" sz="2800" b="1" dirty="0">
                          <a:solidFill>
                            <a:srgbClr val="00B050"/>
                          </a:solidFill>
                        </a:rPr>
                        <a:t>wins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draw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27" name="Picture 3" descr="C:\Users\Stefan\AppData\Local\Microsoft\Windows\Temporary Internet Files\Content.IE5\N1FMNW7D\MPj04309550000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10" y="500042"/>
            <a:ext cx="2286016" cy="2128073"/>
          </a:xfrm>
          <a:prstGeom prst="rect">
            <a:avLst/>
          </a:prstGeom>
          <a:noFill/>
        </p:spPr>
      </p:pic>
      <p:pic>
        <p:nvPicPr>
          <p:cNvPr id="6" name="Picture 2" descr="C:\Users\Stefan\AppData\Local\Microsoft\Windows\Temporary Internet Files\Content.IE5\UQ9SH9SY\MPj04309690000[1].jpg"/>
          <p:cNvPicPr>
            <a:picLocks noChangeAspect="1" noChangeArrowheads="1"/>
          </p:cNvPicPr>
          <p:nvPr/>
        </p:nvPicPr>
        <p:blipFill>
          <a:blip r:embed="rId4" cstate="print"/>
          <a:srcRect l="5250" t="18000" r="63250" b="30000"/>
          <a:stretch>
            <a:fillRect/>
          </a:stretch>
        </p:blipFill>
        <p:spPr bwMode="auto">
          <a:xfrm>
            <a:off x="3976726" y="1857366"/>
            <a:ext cx="928694" cy="1006086"/>
          </a:xfrm>
          <a:prstGeom prst="rect">
            <a:avLst/>
          </a:prstGeom>
          <a:noFill/>
        </p:spPr>
      </p:pic>
      <p:pic>
        <p:nvPicPr>
          <p:cNvPr id="7" name="Picture 2" descr="C:\Users\Stefan\AppData\Local\Microsoft\Windows\Temporary Internet Files\Content.IE5\UQ9SH9SY\MPj04309690000[1].jpg"/>
          <p:cNvPicPr>
            <a:picLocks noChangeAspect="1" noChangeArrowheads="1"/>
          </p:cNvPicPr>
          <p:nvPr/>
        </p:nvPicPr>
        <p:blipFill>
          <a:blip r:embed="rId5" cstate="print">
            <a:lum/>
          </a:blip>
          <a:srcRect l="35438" t="14000" r="29125" b="8000"/>
          <a:stretch>
            <a:fillRect/>
          </a:stretch>
        </p:blipFill>
        <p:spPr bwMode="auto">
          <a:xfrm rot="15718345">
            <a:off x="5578865" y="1905554"/>
            <a:ext cx="699158" cy="1009896"/>
          </a:xfrm>
          <a:prstGeom prst="rect">
            <a:avLst/>
          </a:prstGeom>
          <a:noFill/>
        </p:spPr>
      </p:pic>
      <p:pic>
        <p:nvPicPr>
          <p:cNvPr id="8" name="Picture 2" descr="C:\Users\Stefan\AppData\Local\Microsoft\Windows\Temporary Internet Files\Content.IE5\UQ9SH9SY\MPj04309690000[1].jpg"/>
          <p:cNvPicPr>
            <a:picLocks noChangeAspect="1" noChangeArrowheads="1"/>
          </p:cNvPicPr>
          <p:nvPr/>
        </p:nvPicPr>
        <p:blipFill>
          <a:blip r:embed="rId6" cstate="print"/>
          <a:srcRect l="69813" t="28000" r="3937" b="18000"/>
          <a:stretch>
            <a:fillRect/>
          </a:stretch>
        </p:blipFill>
        <p:spPr bwMode="auto">
          <a:xfrm rot="5729677">
            <a:off x="7011282" y="1766610"/>
            <a:ext cx="805536" cy="1087473"/>
          </a:xfrm>
          <a:prstGeom prst="rect">
            <a:avLst/>
          </a:prstGeom>
          <a:noFill/>
        </p:spPr>
      </p:pic>
      <p:pic>
        <p:nvPicPr>
          <p:cNvPr id="10" name="Picture 2" descr="C:\Users\Stefan\AppData\Local\Microsoft\Windows\Temporary Internet Files\Content.IE5\UQ9SH9SY\MPj04309690000[1].jpg"/>
          <p:cNvPicPr>
            <a:picLocks noChangeAspect="1" noChangeArrowheads="1"/>
          </p:cNvPicPr>
          <p:nvPr/>
        </p:nvPicPr>
        <p:blipFill>
          <a:blip r:embed="rId4" cstate="print"/>
          <a:srcRect l="5250" t="18000" r="63250" b="30000"/>
          <a:stretch>
            <a:fillRect/>
          </a:stretch>
        </p:blipFill>
        <p:spPr bwMode="auto">
          <a:xfrm>
            <a:off x="2357422" y="3071810"/>
            <a:ext cx="928694" cy="1006086"/>
          </a:xfrm>
          <a:prstGeom prst="rect">
            <a:avLst/>
          </a:prstGeom>
          <a:noFill/>
        </p:spPr>
      </p:pic>
      <p:pic>
        <p:nvPicPr>
          <p:cNvPr id="11" name="Picture 2" descr="C:\Users\Stefan\AppData\Local\Microsoft\Windows\Temporary Internet Files\Content.IE5\UQ9SH9SY\MPj04309690000[1].jpg"/>
          <p:cNvPicPr>
            <a:picLocks noChangeAspect="1" noChangeArrowheads="1"/>
          </p:cNvPicPr>
          <p:nvPr/>
        </p:nvPicPr>
        <p:blipFill>
          <a:blip r:embed="rId5" cstate="print">
            <a:lum/>
          </a:blip>
          <a:srcRect l="35438" t="14000" r="29125" b="8000"/>
          <a:stretch>
            <a:fillRect/>
          </a:stretch>
        </p:blipFill>
        <p:spPr bwMode="auto">
          <a:xfrm rot="15718345">
            <a:off x="2413786" y="4269416"/>
            <a:ext cx="699158" cy="1009896"/>
          </a:xfrm>
          <a:prstGeom prst="rect">
            <a:avLst/>
          </a:prstGeom>
          <a:noFill/>
        </p:spPr>
      </p:pic>
      <p:pic>
        <p:nvPicPr>
          <p:cNvPr id="12" name="Picture 2" descr="C:\Users\Stefan\AppData\Local\Microsoft\Windows\Temporary Internet Files\Content.IE5\UQ9SH9SY\MPj04309690000[1].jpg"/>
          <p:cNvPicPr>
            <a:picLocks noChangeAspect="1" noChangeArrowheads="1"/>
          </p:cNvPicPr>
          <p:nvPr/>
        </p:nvPicPr>
        <p:blipFill>
          <a:blip r:embed="rId6" cstate="print"/>
          <a:srcRect l="69813" t="28000" r="3937" b="18000"/>
          <a:stretch>
            <a:fillRect/>
          </a:stretch>
        </p:blipFill>
        <p:spPr bwMode="auto">
          <a:xfrm rot="5729677">
            <a:off x="2463020" y="5409947"/>
            <a:ext cx="805536" cy="1087473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5429256" y="1000108"/>
            <a:ext cx="9108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Alice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8662" y="4500570"/>
            <a:ext cx="771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Bob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079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dirty="0"/>
              <a:t>Let’s simplify this game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0034" y="5786454"/>
                <a:ext cx="8229600" cy="714404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b="1" u="sng" dirty="0"/>
                  <a:t>In other words</a:t>
                </a:r>
                <a:r>
                  <a:rPr lang="en-US" b="1" dirty="0"/>
                  <a:t>:  </a:t>
                </a:r>
                <a:r>
                  <a:rPr lang="en-US" b="1" dirty="0">
                    <a:solidFill>
                      <a:srgbClr val="0070C0"/>
                    </a:solidFill>
                  </a:rPr>
                  <a:t>Alice</a:t>
                </a:r>
                <a:r>
                  <a:rPr lang="en-US" dirty="0"/>
                  <a:t> wins </a:t>
                </a:r>
                <a:r>
                  <a:rPr lang="en-US" dirty="0" err="1"/>
                  <a:t>iff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0034" y="5786454"/>
                <a:ext cx="8229600" cy="714404"/>
              </a:xfrm>
              <a:blipFill rotWithShape="0">
                <a:blip r:embed="rId3"/>
                <a:stretch>
                  <a:fillRect l="-1481" t="-1453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9354397"/>
                  </p:ext>
                </p:extLst>
              </p:nvPr>
            </p:nvGraphicFramePr>
            <p:xfrm>
              <a:off x="2571736" y="1768083"/>
              <a:ext cx="4572000" cy="35897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196581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28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8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2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28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8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19658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28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8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2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70C0"/>
                              </a:solidFill>
                            </a:rPr>
                            <a:t>Alice</a:t>
                          </a:r>
                          <a:br>
                            <a:rPr lang="en-US" sz="2800" b="1" dirty="0">
                              <a:solidFill>
                                <a:srgbClr val="0070C0"/>
                              </a:solidFill>
                            </a:rPr>
                          </a:br>
                          <a:r>
                            <a:rPr lang="en-US" sz="2800" b="1" dirty="0">
                              <a:solidFill>
                                <a:srgbClr val="0070C0"/>
                              </a:solidFill>
                            </a:rPr>
                            <a:t>wins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B050"/>
                              </a:solidFill>
                            </a:rPr>
                            <a:t>Bob</a:t>
                          </a:r>
                          <a:br>
                            <a:rPr lang="en-US" sz="2800" b="1" baseline="0" dirty="0">
                              <a:solidFill>
                                <a:srgbClr val="00B050"/>
                              </a:solidFill>
                            </a:rPr>
                          </a:br>
                          <a:r>
                            <a:rPr lang="en-US" sz="2800" b="1" dirty="0">
                              <a:solidFill>
                                <a:srgbClr val="00B050"/>
                              </a:solidFill>
                            </a:rPr>
                            <a:t>wins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9658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28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8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B050"/>
                              </a:solidFill>
                            </a:rPr>
                            <a:t>Bob</a:t>
                          </a:r>
                          <a:br>
                            <a:rPr lang="en-US" sz="2800" b="1" dirty="0">
                              <a:solidFill>
                                <a:srgbClr val="00B050"/>
                              </a:solidFill>
                            </a:rPr>
                          </a:br>
                          <a:r>
                            <a:rPr lang="en-US" sz="2800" b="1" dirty="0">
                              <a:solidFill>
                                <a:srgbClr val="00B050"/>
                              </a:solidFill>
                            </a:rPr>
                            <a:t>wins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70C0"/>
                              </a:solidFill>
                            </a:rPr>
                            <a:t>Alice</a:t>
                          </a:r>
                          <a:br>
                            <a:rPr lang="en-US" sz="2800" b="1" dirty="0">
                              <a:solidFill>
                                <a:srgbClr val="0070C0"/>
                              </a:solidFill>
                            </a:rPr>
                          </a:br>
                          <a:r>
                            <a:rPr lang="en-US" sz="2800" b="1" dirty="0">
                              <a:solidFill>
                                <a:srgbClr val="0070C0"/>
                              </a:solidFill>
                            </a:rPr>
                            <a:t>wins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9354397"/>
                  </p:ext>
                </p:extLst>
              </p:nvPr>
            </p:nvGraphicFramePr>
            <p:xfrm>
              <a:off x="2571736" y="1768083"/>
              <a:ext cx="4572000" cy="35897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/>
                    <a:gridCol w="1524000"/>
                    <a:gridCol w="1524000"/>
                  </a:tblGrid>
                  <a:tr h="1196581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l="-100000" t="-1020" r="-10039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l="-200800" t="-1020" r="-800" b="-204082"/>
                          </a:stretch>
                        </a:blipFill>
                      </a:tcPr>
                    </a:tc>
                  </a:tr>
                  <a:tr h="1196581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l="-400" t="-100508" r="-201200" b="-1030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 smtClean="0">
                              <a:solidFill>
                                <a:srgbClr val="0070C0"/>
                              </a:solidFill>
                            </a:rPr>
                            <a:t>Alice</a:t>
                          </a:r>
                          <a:br>
                            <a:rPr lang="en-US" sz="2800" b="1" dirty="0" smtClean="0">
                              <a:solidFill>
                                <a:srgbClr val="0070C0"/>
                              </a:solidFill>
                            </a:rPr>
                          </a:br>
                          <a:r>
                            <a:rPr lang="en-US" sz="2800" b="1" dirty="0" smtClean="0">
                              <a:solidFill>
                                <a:srgbClr val="0070C0"/>
                              </a:solidFill>
                            </a:rPr>
                            <a:t>wins</a:t>
                          </a:r>
                          <a:endParaRPr lang="en-US" sz="28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 smtClean="0">
                              <a:solidFill>
                                <a:srgbClr val="00B050"/>
                              </a:solidFill>
                            </a:rPr>
                            <a:t>Bob</a:t>
                          </a:r>
                          <a:r>
                            <a:rPr lang="en-US" sz="2800" b="1" baseline="0" dirty="0" smtClean="0">
                              <a:solidFill>
                                <a:srgbClr val="00B050"/>
                              </a:solidFill>
                            </a:rPr>
                            <a:t/>
                          </a:r>
                          <a:br>
                            <a:rPr lang="en-US" sz="2800" b="1" baseline="0" dirty="0" smtClean="0">
                              <a:solidFill>
                                <a:srgbClr val="00B050"/>
                              </a:solidFill>
                            </a:rPr>
                          </a:br>
                          <a:r>
                            <a:rPr lang="en-US" sz="2800" b="1" dirty="0" smtClean="0">
                              <a:solidFill>
                                <a:srgbClr val="00B050"/>
                              </a:solidFill>
                            </a:rPr>
                            <a:t>wins</a:t>
                          </a:r>
                          <a:endParaRPr lang="en-US" sz="2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1196581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l="-400" t="-201531" r="-201200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 smtClean="0">
                              <a:solidFill>
                                <a:srgbClr val="00B050"/>
                              </a:solidFill>
                            </a:rPr>
                            <a:t>Bob</a:t>
                          </a:r>
                          <a:br>
                            <a:rPr lang="en-US" sz="2800" b="1" dirty="0" smtClean="0">
                              <a:solidFill>
                                <a:srgbClr val="00B050"/>
                              </a:solidFill>
                            </a:rPr>
                          </a:br>
                          <a:r>
                            <a:rPr lang="en-US" sz="2800" b="1" dirty="0" smtClean="0">
                              <a:solidFill>
                                <a:srgbClr val="00B050"/>
                              </a:solidFill>
                            </a:rPr>
                            <a:t>wins</a:t>
                          </a:r>
                          <a:endParaRPr lang="en-US" sz="2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 smtClean="0">
                              <a:solidFill>
                                <a:srgbClr val="0070C0"/>
                              </a:solidFill>
                            </a:rPr>
                            <a:t>Alice</a:t>
                          </a:r>
                          <a:br>
                            <a:rPr lang="en-US" sz="2800" b="1" dirty="0" smtClean="0">
                              <a:solidFill>
                                <a:srgbClr val="0070C0"/>
                              </a:solidFill>
                            </a:rPr>
                          </a:br>
                          <a:r>
                            <a:rPr lang="en-US" sz="2800" b="1" dirty="0" smtClean="0">
                              <a:solidFill>
                                <a:srgbClr val="0070C0"/>
                              </a:solidFill>
                            </a:rPr>
                            <a:t>wins</a:t>
                          </a:r>
                          <a:endParaRPr lang="en-US" sz="28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5214942" y="1196579"/>
            <a:ext cx="9108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Alice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28728" y="3857628"/>
            <a:ext cx="771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Bob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795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dirty="0"/>
              <a:t>Another way to look at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14641" y="1428736"/>
            <a:ext cx="252505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2800" b="1" dirty="0">
                <a:solidFill>
                  <a:srgbClr val="0070C0"/>
                </a:solidFill>
              </a:rPr>
              <a:t>Bob</a:t>
            </a:r>
            <a:endParaRPr lang="en-US" sz="2800" b="1" dirty="0">
              <a:solidFill>
                <a:srgbClr val="0070C0"/>
              </a:solidFill>
            </a:endParaRPr>
          </a:p>
          <a:p>
            <a:pPr algn="ctr"/>
            <a:r>
              <a:rPr lang="en-US" sz="2800" b="1" dirty="0">
                <a:solidFill>
                  <a:srgbClr val="0070C0"/>
                </a:solidFill>
              </a:rPr>
              <a:t>has an input B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69880" y="1428736"/>
            <a:ext cx="252505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2800" b="1" dirty="0">
                <a:solidFill>
                  <a:srgbClr val="00B050"/>
                </a:solidFill>
              </a:rPr>
              <a:t>Alice</a:t>
            </a:r>
            <a:endParaRPr lang="en-US" sz="2800" b="1" dirty="0">
              <a:solidFill>
                <a:srgbClr val="00B050"/>
              </a:solidFill>
            </a:endParaRPr>
          </a:p>
          <a:p>
            <a:pPr algn="ctr"/>
            <a:r>
              <a:rPr lang="en-US" sz="2800" b="1" dirty="0">
                <a:solidFill>
                  <a:srgbClr val="00B050"/>
                </a:solidFill>
              </a:rPr>
              <a:t>has an input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111152" y="3714752"/>
                <a:ext cx="5149359" cy="1569660"/>
              </a:xfrm>
              <a:prstGeom prst="rect">
                <a:avLst/>
              </a:prstGeom>
              <a:solidFill>
                <a:schemeClr val="bg1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200" dirty="0"/>
                  <a:t>they should jointly compute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3200" dirty="0"/>
                  <a:t>(in a secure way)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152" y="3714752"/>
                <a:ext cx="5149359" cy="156966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Arrow 8"/>
          <p:cNvSpPr/>
          <p:nvPr/>
        </p:nvSpPr>
        <p:spPr>
          <a:xfrm rot="2587424">
            <a:off x="3452465" y="2619359"/>
            <a:ext cx="1285884" cy="785818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18628498" flipH="1" flipV="1">
            <a:off x="5004699" y="2542198"/>
            <a:ext cx="1253382" cy="849695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390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365127"/>
            <a:ext cx="8086754" cy="897350"/>
          </a:xfrm>
        </p:spPr>
        <p:txBody>
          <a:bodyPr/>
          <a:lstStyle/>
          <a:p>
            <a:r>
              <a:rPr lang="en-US" dirty="0"/>
              <a:t>What to do?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8596" y="4357694"/>
                <a:ext cx="8229600" cy="2214578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b="1" u="sng" dirty="0">
                    <a:solidFill>
                      <a:srgbClr val="0070C0"/>
                    </a:solidFill>
                  </a:rPr>
                  <a:t>Problem</a:t>
                </a:r>
                <a:r>
                  <a:rPr lang="en-US" b="1" dirty="0">
                    <a:solidFill>
                      <a:srgbClr val="0070C0"/>
                    </a:solidFill>
                  </a:rPr>
                  <a:t>: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should be sent at the same time</a:t>
                </a:r>
              </a:p>
              <a:p>
                <a:pPr>
                  <a:buNone/>
                </a:pPr>
                <a:r>
                  <a:rPr lang="en-US" dirty="0"/>
                  <a:t> (e.g. if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sent before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then a malicious </a:t>
                </a:r>
                <a:r>
                  <a:rPr lang="en-US" b="1" dirty="0">
                    <a:solidFill>
                      <a:srgbClr val="0070C0"/>
                    </a:solidFill>
                  </a:rPr>
                  <a:t>Bob</a:t>
                </a:r>
                <a:r>
                  <a:rPr lang="en-US" b="1" dirty="0"/>
                  <a:t> </a:t>
                </a:r>
                <a:r>
                  <a:rPr lang="en-US" dirty="0"/>
                  <a:t>can set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:= 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⊕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𝑨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𝒙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is chosen by him).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596" y="4357694"/>
                <a:ext cx="8229600" cy="2214578"/>
              </a:xfrm>
              <a:blipFill rotWithShape="0">
                <a:blip r:embed="rId3"/>
                <a:stretch>
                  <a:fillRect l="-1481" t="-495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32" descr="MCj04114660000[1]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70699" y="1857364"/>
            <a:ext cx="1401763" cy="1457325"/>
          </a:xfrm>
          <a:prstGeom prst="rect">
            <a:avLst/>
          </a:prstGeom>
          <a:noFill/>
        </p:spPr>
      </p:pic>
      <p:pic>
        <p:nvPicPr>
          <p:cNvPr id="6" name="Picture 6" descr="MCj04158080000[1]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14414" y="1939892"/>
            <a:ext cx="1368425" cy="14382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84201" y="3640384"/>
                <a:ext cx="2028850" cy="461665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201" y="3640384"/>
                <a:ext cx="2028850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451288" y="3560786"/>
                <a:ext cx="1862459" cy="461665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288" y="3560786"/>
                <a:ext cx="1862459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>
            <a:stCxn id="5" idx="2"/>
            <a:endCxn id="13" idx="0"/>
          </p:cNvCxnSpPr>
          <p:nvPr/>
        </p:nvCxnSpPr>
        <p:spPr>
          <a:xfrm>
            <a:off x="7371581" y="3314689"/>
            <a:ext cx="10937" cy="24609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2"/>
            <a:endCxn id="12" idx="0"/>
          </p:cNvCxnSpPr>
          <p:nvPr/>
        </p:nvCxnSpPr>
        <p:spPr>
          <a:xfrm flipH="1">
            <a:off x="1898626" y="3378167"/>
            <a:ext cx="1" cy="2622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6"/>
          <p:cNvGrpSpPr/>
          <p:nvPr/>
        </p:nvGrpSpPr>
        <p:grpSpPr>
          <a:xfrm>
            <a:off x="2786050" y="2214554"/>
            <a:ext cx="3500462" cy="400110"/>
            <a:chOff x="2786050" y="2214554"/>
            <a:chExt cx="3500462" cy="400110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2786050" y="2428868"/>
              <a:ext cx="3500462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3714744" y="2214554"/>
                  <a:ext cx="1623008" cy="400110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r>
                    <a:rPr lang="en-US" sz="2000" dirty="0"/>
                    <a:t>random bit </a:t>
                  </a:r>
                  <a14:m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endParaRPr lang="en-US" sz="20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4744" y="2214554"/>
                  <a:ext cx="1623008" cy="400110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37"/>
          <p:cNvGrpSpPr/>
          <p:nvPr/>
        </p:nvGrpSpPr>
        <p:grpSpPr>
          <a:xfrm>
            <a:off x="2714612" y="2714620"/>
            <a:ext cx="3643338" cy="400110"/>
            <a:chOff x="2714612" y="2714620"/>
            <a:chExt cx="3643338" cy="400110"/>
          </a:xfrm>
        </p:grpSpPr>
        <p:cxnSp>
          <p:nvCxnSpPr>
            <p:cNvPr id="9" name="Straight Arrow Connector 8"/>
            <p:cNvCxnSpPr/>
            <p:nvPr/>
          </p:nvCxnSpPr>
          <p:spPr>
            <a:xfrm rot="10800000">
              <a:off x="2714612" y="2857496"/>
              <a:ext cx="3643338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3714744" y="2714620"/>
                  <a:ext cx="1642244" cy="400110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r>
                    <a:rPr lang="en-US" sz="2000" dirty="0"/>
                    <a:t>random bit </a:t>
                  </a:r>
                  <a14:m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a14:m>
                  <a:endParaRPr lang="en-US" sz="20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4744" y="2714620"/>
                  <a:ext cx="1642244" cy="400110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Footer Placeholder 9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49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58" y="164217"/>
            <a:ext cx="8262908" cy="912785"/>
          </a:xfrm>
        </p:spPr>
        <p:txBody>
          <a:bodyPr/>
          <a:lstStyle/>
          <a:p>
            <a:r>
              <a:rPr lang="en-US" dirty="0"/>
              <a:t>How to prevent this?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500174"/>
            <a:ext cx="8229600" cy="2000263"/>
          </a:xfrm>
        </p:spPr>
        <p:txBody>
          <a:bodyPr/>
          <a:lstStyle/>
          <a:p>
            <a:pPr>
              <a:buNone/>
            </a:pPr>
            <a:r>
              <a:rPr lang="en-US" dirty="0"/>
              <a:t>Seems hard:</a:t>
            </a:r>
          </a:p>
          <a:p>
            <a:pPr>
              <a:buNone/>
            </a:pPr>
            <a:endParaRPr lang="en-US" dirty="0"/>
          </a:p>
          <a:p>
            <a:pPr algn="ctr">
              <a:buNone/>
            </a:pPr>
            <a:r>
              <a:rPr lang="en-US" dirty="0"/>
              <a:t>the internet is not synchronous...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3929066"/>
            <a:ext cx="9144000" cy="230832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3600" dirty="0"/>
              <a:t> A solution:</a:t>
            </a:r>
            <a:br>
              <a:rPr lang="en-US" sz="3600" dirty="0"/>
            </a:br>
            <a:endParaRPr lang="en-US" sz="3600" dirty="0"/>
          </a:p>
          <a:p>
            <a:pPr algn="ctr">
              <a:buNone/>
            </a:pPr>
            <a:r>
              <a:rPr lang="en-US" sz="3600" b="1" dirty="0">
                <a:solidFill>
                  <a:srgbClr val="0070C0"/>
                </a:solidFill>
              </a:rPr>
              <a:t>bit commitments</a:t>
            </a:r>
          </a:p>
          <a:p>
            <a:pPr algn="ctr">
              <a:buNone/>
            </a:pPr>
            <a:endParaRPr lang="en-US" sz="36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489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5918" y="1428736"/>
            <a:ext cx="6929486" cy="492922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Coin-flipping by telephone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Commitment schemes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definition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construction based on QRA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construction based on discrete log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construction based on PRG</a:t>
            </a:r>
          </a:p>
          <a:p>
            <a:pPr marL="914400" lvl="1" indent="-514350">
              <a:buNone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637861" y="2321438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171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86644" y="3500438"/>
            <a:ext cx="1428760" cy="98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Commitment schemes – an intuition</a:t>
            </a:r>
          </a:p>
        </p:txBody>
      </p:sp>
      <p:sp>
        <p:nvSpPr>
          <p:cNvPr id="4" name="AutoShape 8"/>
          <p:cNvSpPr>
            <a:spLocks noChangeArrowheads="1"/>
          </p:cNvSpPr>
          <p:nvPr/>
        </p:nvSpPr>
        <p:spPr bwMode="auto">
          <a:xfrm>
            <a:off x="3500430" y="2714620"/>
            <a:ext cx="3571900" cy="771524"/>
          </a:xfrm>
          <a:prstGeom prst="rightArrow">
            <a:avLst>
              <a:gd name="adj1" fmla="val 50000"/>
              <a:gd name="adj2" fmla="val 46688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1" dirty="0"/>
              <a:t>Alice</a:t>
            </a:r>
            <a:r>
              <a:rPr lang="en-US" dirty="0"/>
              <a:t> sends a </a:t>
            </a:r>
            <a:r>
              <a:rPr lang="en-US" b="1" dirty="0"/>
              <a:t>locked</a:t>
            </a:r>
            <a:r>
              <a:rPr lang="en-US" dirty="0"/>
              <a:t> box to </a:t>
            </a:r>
            <a:r>
              <a:rPr lang="en-US" b="1" dirty="0"/>
              <a:t>Bob</a:t>
            </a:r>
          </a:p>
        </p:txBody>
      </p:sp>
      <p:pic>
        <p:nvPicPr>
          <p:cNvPr id="9" name="Picture 6" descr="MCj04158080000[1]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472" y="2071678"/>
            <a:ext cx="1368425" cy="1438275"/>
          </a:xfrm>
          <a:prstGeom prst="rect">
            <a:avLst/>
          </a:prstGeom>
          <a:noFill/>
        </p:spPr>
      </p:pic>
      <p:pic>
        <p:nvPicPr>
          <p:cNvPr id="10" name="Picture 32" descr="MCj04114660000[1]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215206" y="2071678"/>
            <a:ext cx="1401763" cy="1457325"/>
          </a:xfrm>
          <a:prstGeom prst="rect">
            <a:avLst/>
          </a:prstGeom>
          <a:noFill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143108" y="2253334"/>
            <a:ext cx="1214446" cy="1318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6" descr="MCj04315990000[1]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072462" y="3929066"/>
            <a:ext cx="700110" cy="700110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85720" y="1357298"/>
                <a:ext cx="1178442" cy="461665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a bit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20" y="1357298"/>
                <a:ext cx="1178442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>
            <a:stCxn id="14" idx="2"/>
            <a:endCxn id="9" idx="0"/>
          </p:cNvCxnSpPr>
          <p:nvPr/>
        </p:nvCxnSpPr>
        <p:spPr>
          <a:xfrm>
            <a:off x="874941" y="1818963"/>
            <a:ext cx="380744" cy="25271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71736" y="2539086"/>
            <a:ext cx="35939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8" name="AutoShape 8"/>
          <p:cNvSpPr>
            <a:spLocks noChangeArrowheads="1"/>
          </p:cNvSpPr>
          <p:nvPr/>
        </p:nvSpPr>
        <p:spPr bwMode="auto">
          <a:xfrm>
            <a:off x="3357554" y="4500570"/>
            <a:ext cx="3714776" cy="771524"/>
          </a:xfrm>
          <a:prstGeom prst="rightArrow">
            <a:avLst>
              <a:gd name="adj1" fmla="val 50000"/>
              <a:gd name="adj2" fmla="val 46688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1" dirty="0"/>
              <a:t>Alice</a:t>
            </a:r>
            <a:r>
              <a:rPr lang="en-US" dirty="0"/>
              <a:t> can later send the key to </a:t>
            </a:r>
            <a:r>
              <a:rPr lang="en-US" b="1" dirty="0"/>
              <a:t>Bob</a:t>
            </a:r>
          </a:p>
        </p:txBody>
      </p:sp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500958" y="5214950"/>
            <a:ext cx="1214446" cy="1318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929586" y="5500702"/>
                <a:ext cx="439544" cy="461665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9586" y="5500702"/>
                <a:ext cx="439544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5" descr="MCj04315980000[1]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286776" y="5929330"/>
            <a:ext cx="714380" cy="714380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ular Callout 21"/>
              <p:cNvSpPr/>
              <p:nvPr/>
            </p:nvSpPr>
            <p:spPr>
              <a:xfrm>
                <a:off x="1857356" y="3643314"/>
                <a:ext cx="4500594" cy="642942"/>
              </a:xfrm>
              <a:prstGeom prst="wedgeRectCallout">
                <a:avLst>
                  <a:gd name="adj1" fmla="val 79686"/>
                  <a:gd name="adj2" fmla="val 34070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0070C0"/>
                    </a:solidFill>
                  </a:rPr>
                  <a:t>[binding]</a:t>
                </a:r>
                <a:r>
                  <a:rPr lang="en-US" dirty="0"/>
                  <a:t> from now </a:t>
                </a:r>
                <a:r>
                  <a:rPr lang="en-US" b="1" dirty="0"/>
                  <a:t>Alice</a:t>
                </a:r>
                <a:r>
                  <a:rPr lang="en-US" dirty="0"/>
                  <a:t> cannot change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dirty="0"/>
                  <a:t>,</a:t>
                </a:r>
              </a:p>
              <a:p>
                <a:pPr algn="ctr"/>
                <a:r>
                  <a:rPr lang="en-US" b="1" dirty="0">
                    <a:solidFill>
                      <a:srgbClr val="0070C0"/>
                    </a:solidFill>
                  </a:rPr>
                  <a:t>[hiding] </a:t>
                </a:r>
                <a:r>
                  <a:rPr lang="en-US" dirty="0"/>
                  <a:t>but </a:t>
                </a:r>
                <a:r>
                  <a:rPr lang="en-US" b="1" dirty="0"/>
                  <a:t>Bob </a:t>
                </a:r>
                <a:r>
                  <a:rPr lang="en-US" dirty="0"/>
                  <a:t>doesn’t know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Rectangular Callout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356" y="3643314"/>
                <a:ext cx="4500594" cy="642942"/>
              </a:xfrm>
              <a:prstGeom prst="wedgeRectCallout">
                <a:avLst>
                  <a:gd name="adj1" fmla="val 79686"/>
                  <a:gd name="adj2" fmla="val 34070"/>
                </a:avLst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ular Callout 22"/>
              <p:cNvSpPr/>
              <p:nvPr/>
            </p:nvSpPr>
            <p:spPr>
              <a:xfrm>
                <a:off x="4357686" y="1857364"/>
                <a:ext cx="2143140" cy="642942"/>
              </a:xfrm>
              <a:prstGeom prst="wedgeRectCallout">
                <a:avLst>
                  <a:gd name="adj1" fmla="val -16770"/>
                  <a:gd name="adj2" fmla="val 113293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Alice</a:t>
                </a:r>
                <a:r>
                  <a:rPr lang="en-US" dirty="0"/>
                  <a:t> “commits herself to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b="1" dirty="0"/>
                  <a:t>”</a:t>
                </a:r>
                <a:endParaRPr lang="en-US" dirty="0"/>
              </a:p>
            </p:txBody>
          </p:sp>
        </mc:Choice>
        <mc:Fallback xmlns="">
          <p:sp>
            <p:nvSpPr>
              <p:cNvPr id="23" name="Rectangular Callout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7686" y="1857364"/>
                <a:ext cx="2143140" cy="642942"/>
              </a:xfrm>
              <a:prstGeom prst="wedgeRectCallout">
                <a:avLst>
                  <a:gd name="adj1" fmla="val -16770"/>
                  <a:gd name="adj2" fmla="val 113293"/>
                </a:avLst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ular Callout 23"/>
          <p:cNvSpPr/>
          <p:nvPr/>
        </p:nvSpPr>
        <p:spPr>
          <a:xfrm>
            <a:off x="4143372" y="5643578"/>
            <a:ext cx="2143140" cy="642942"/>
          </a:xfrm>
          <a:prstGeom prst="wedgeRectCallout">
            <a:avLst>
              <a:gd name="adj1" fmla="val -10167"/>
              <a:gd name="adj2" fmla="val -1423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Alice</a:t>
            </a:r>
            <a:r>
              <a:rPr lang="en-US" dirty="0"/>
              <a:t> “opens the commitment</a:t>
            </a:r>
            <a:r>
              <a:rPr lang="en-US" b="1" dirty="0"/>
              <a:t>”</a:t>
            </a:r>
            <a:endParaRPr lang="en-US" dirty="0"/>
          </a:p>
        </p:txBody>
      </p:sp>
      <p:pic>
        <p:nvPicPr>
          <p:cNvPr id="7" name="Picture 7" descr="MCj04339030000[1]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2285984" y="4500570"/>
            <a:ext cx="857256" cy="857256"/>
          </a:xfrm>
          <a:prstGeom prst="rect">
            <a:avLst/>
          </a:prstGeom>
          <a:noFill/>
        </p:spPr>
      </p:pic>
      <p:sp>
        <p:nvSpPr>
          <p:cNvPr id="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375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11022E-16 L 0.55747 0.00185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900" y="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17" grpId="0" animBg="1"/>
      <p:bldP spid="18" grpId="0" animBg="1"/>
      <p:bldP spid="20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079" y="210329"/>
            <a:ext cx="7886700" cy="1325563"/>
          </a:xfrm>
        </p:spPr>
        <p:txBody>
          <a:bodyPr>
            <a:noAutofit/>
          </a:bodyPr>
          <a:lstStyle/>
          <a:p>
            <a:r>
              <a:rPr lang="en-US" sz="4000" dirty="0"/>
              <a:t>Commitment schemes – a functional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714488"/>
            <a:ext cx="8229600" cy="128588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dirty="0"/>
              <a:t>A </a:t>
            </a:r>
            <a:r>
              <a:rPr lang="en-US" sz="2800" b="1" dirty="0">
                <a:solidFill>
                  <a:srgbClr val="0070C0"/>
                </a:solidFill>
              </a:rPr>
              <a:t>commitment scheme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is a protocol executed between Alice and Bob consisting of two phases: </a:t>
            </a:r>
            <a:r>
              <a:rPr lang="en-US" sz="2800" b="1" dirty="0">
                <a:solidFill>
                  <a:srgbClr val="7030A0"/>
                </a:solidFill>
              </a:rPr>
              <a:t>commit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and </a:t>
            </a:r>
            <a:r>
              <a:rPr lang="en-US" sz="2800" b="1" dirty="0">
                <a:solidFill>
                  <a:srgbClr val="7030A0"/>
                </a:solidFill>
              </a:rPr>
              <a:t>open</a:t>
            </a:r>
            <a:r>
              <a:rPr lang="en-US" sz="28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28596" y="3357562"/>
                <a:ext cx="5000660" cy="138499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800" dirty="0"/>
                  <a:t>In the </a:t>
                </a:r>
                <a:r>
                  <a:rPr lang="en-US" sz="2800" b="1" dirty="0">
                    <a:solidFill>
                      <a:srgbClr val="7030A0"/>
                    </a:solidFill>
                  </a:rPr>
                  <a:t>commit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/>
                  <a:t>phase:</a:t>
                </a:r>
              </a:p>
              <a:p>
                <a:pPr>
                  <a:buFont typeface="Arial" pitchFamily="34" charset="0"/>
                  <a:buChar char="•"/>
                </a:pPr>
                <a:r>
                  <a:rPr lang="en-US" sz="2800" b="1" dirty="0">
                    <a:solidFill>
                      <a:srgbClr val="0070C0"/>
                    </a:solidFill>
                  </a:rPr>
                  <a:t> Alice</a:t>
                </a:r>
                <a:r>
                  <a:rPr lang="en-US" sz="2800" dirty="0"/>
                  <a:t> takes some input bit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>
                  <a:buFont typeface="Arial" pitchFamily="34" charset="0"/>
                  <a:buChar char="•"/>
                </a:pPr>
                <a:r>
                  <a:rPr lang="en-US" sz="2800" b="1" dirty="0">
                    <a:solidFill>
                      <a:srgbClr val="0070C0"/>
                    </a:solidFill>
                  </a:rPr>
                  <a:t> Bob</a:t>
                </a:r>
                <a:r>
                  <a:rPr lang="en-US" sz="2800" b="1" dirty="0"/>
                  <a:t> </a:t>
                </a:r>
                <a:r>
                  <a:rPr lang="en-US" sz="2800" dirty="0"/>
                  <a:t>takes no input.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96" y="3357562"/>
                <a:ext cx="5000660" cy="138499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786182" y="5000636"/>
                <a:ext cx="4786346" cy="138499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800" dirty="0"/>
                  <a:t>In the </a:t>
                </a:r>
                <a:r>
                  <a:rPr lang="en-US" sz="2800" b="1" dirty="0">
                    <a:solidFill>
                      <a:srgbClr val="7030A0"/>
                    </a:solidFill>
                  </a:rPr>
                  <a:t>open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800" dirty="0"/>
                  <a:t>phase:</a:t>
                </a:r>
              </a:p>
              <a:p>
                <a:pPr>
                  <a:buFont typeface="Arial" pitchFamily="34" charset="0"/>
                  <a:buChar char="•"/>
                </a:pPr>
                <a:r>
                  <a:rPr lang="en-US" sz="2800" b="1" dirty="0">
                    <a:solidFill>
                      <a:srgbClr val="0070C0"/>
                    </a:solidFill>
                  </a:rPr>
                  <a:t> Alice</a:t>
                </a:r>
                <a:r>
                  <a:rPr lang="en-US" sz="2800" dirty="0"/>
                  <a:t> outputs nothing</a:t>
                </a:r>
              </a:p>
              <a:p>
                <a:pPr>
                  <a:buFont typeface="Arial" pitchFamily="34" charset="0"/>
                  <a:buChar char="•"/>
                </a:pPr>
                <a:r>
                  <a:rPr lang="en-US" sz="2800" b="1" dirty="0">
                    <a:solidFill>
                      <a:srgbClr val="0070C0"/>
                    </a:solidFill>
                  </a:rPr>
                  <a:t> Bob</a:t>
                </a:r>
                <a:r>
                  <a:rPr lang="en-US" sz="2800" b="1" dirty="0"/>
                  <a:t> </a:t>
                </a:r>
                <a:r>
                  <a:rPr lang="en-US" sz="2800" dirty="0"/>
                  <a:t>outputs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2800" dirty="0"/>
                  <a:t>, or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error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6182" y="5000636"/>
                <a:ext cx="4786346" cy="138499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887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requirements - informally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00034" y="2071678"/>
                <a:ext cx="8286808" cy="1477328"/>
              </a:xfrm>
              <a:prstGeom prst="rect">
                <a:avLst/>
              </a:prstGeom>
              <a:solidFill>
                <a:schemeClr val="bg1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 wrap="square">
                <a:spAutoFit/>
              </a:bodyPr>
              <a:lstStyle/>
              <a:p>
                <a:r>
                  <a:rPr lang="en-US" sz="3000" b="1" dirty="0">
                    <a:solidFill>
                      <a:srgbClr val="0070C0"/>
                    </a:solidFill>
                  </a:rPr>
                  <a:t>[binding]</a:t>
                </a:r>
                <a:br>
                  <a:rPr lang="en-US" sz="3000" b="1" dirty="0">
                    <a:solidFill>
                      <a:srgbClr val="0070C0"/>
                    </a:solidFill>
                  </a:rPr>
                </a:br>
                <a:r>
                  <a:rPr lang="en-US" sz="3000" dirty="0"/>
                  <a:t>After the </a:t>
                </a:r>
                <a:r>
                  <a:rPr lang="en-US" sz="3000" b="1" dirty="0">
                    <a:solidFill>
                      <a:srgbClr val="7030A0"/>
                    </a:solidFill>
                  </a:rPr>
                  <a:t>commit </a:t>
                </a:r>
                <a:r>
                  <a:rPr lang="en-US" sz="3000" dirty="0"/>
                  <a:t>phase there exists at most one value </a:t>
                </a:r>
                <a14:m>
                  <m:oMath xmlns:m="http://schemas.openxmlformats.org/officeDocument/2006/math">
                    <m:r>
                      <a:rPr lang="en-US" sz="3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3000" dirty="0"/>
                  <a:t> that can be open in the </a:t>
                </a:r>
                <a:r>
                  <a:rPr lang="en-US" sz="3000" b="1" dirty="0">
                    <a:solidFill>
                      <a:srgbClr val="7030A0"/>
                    </a:solidFill>
                  </a:rPr>
                  <a:t>open </a:t>
                </a:r>
                <a:r>
                  <a:rPr lang="en-US" sz="3000" dirty="0"/>
                  <a:t>phase.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34" y="2071678"/>
                <a:ext cx="8286808" cy="147732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71472" y="4286256"/>
                <a:ext cx="8215370" cy="1477328"/>
              </a:xfrm>
              <a:prstGeom prst="rect">
                <a:avLst/>
              </a:prstGeom>
              <a:solidFill>
                <a:schemeClr val="bg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p:spPr>
            <p:txBody>
              <a:bodyPr wrap="square">
                <a:spAutoFit/>
              </a:bodyPr>
              <a:lstStyle/>
              <a:p>
                <a:r>
                  <a:rPr lang="en-US" sz="3000" b="1" dirty="0">
                    <a:solidFill>
                      <a:srgbClr val="0070C0"/>
                    </a:solidFill>
                  </a:rPr>
                  <a:t>[hiding] </a:t>
                </a:r>
                <a:br>
                  <a:rPr lang="en-US" sz="3000" b="1" dirty="0">
                    <a:solidFill>
                      <a:srgbClr val="0070C0"/>
                    </a:solidFill>
                  </a:rPr>
                </a:br>
                <a:r>
                  <a:rPr lang="en-US" sz="3000" dirty="0"/>
                  <a:t>As long as the </a:t>
                </a:r>
                <a:r>
                  <a:rPr lang="en-US" sz="3000" b="1" dirty="0">
                    <a:solidFill>
                      <a:srgbClr val="7030A0"/>
                    </a:solidFill>
                  </a:rPr>
                  <a:t>open</a:t>
                </a:r>
                <a:r>
                  <a:rPr lang="en-US" sz="3000" dirty="0">
                    <a:solidFill>
                      <a:srgbClr val="7030A0"/>
                    </a:solidFill>
                  </a:rPr>
                  <a:t> </a:t>
                </a:r>
                <a:r>
                  <a:rPr lang="en-US" sz="3000" dirty="0"/>
                  <a:t>phase did not start </a:t>
                </a:r>
                <a:r>
                  <a:rPr lang="en-US" sz="3000" b="1" dirty="0">
                    <a:solidFill>
                      <a:srgbClr val="0070C0"/>
                    </a:solidFill>
                  </a:rPr>
                  <a:t>Bob</a:t>
                </a:r>
                <a:r>
                  <a:rPr lang="en-US" sz="3000" b="1" dirty="0"/>
                  <a:t> </a:t>
                </a:r>
                <a:r>
                  <a:rPr lang="en-US" sz="3000" dirty="0"/>
                  <a:t>has no information about </a:t>
                </a:r>
                <a14:m>
                  <m:oMath xmlns:m="http://schemas.openxmlformats.org/officeDocument/2006/math">
                    <m:r>
                      <a:rPr lang="en-US" sz="3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3000" dirty="0"/>
                  <a:t>.</a:t>
                </a:r>
                <a:endParaRPr lang="en-US" sz="3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72" y="4286256"/>
                <a:ext cx="8215370" cy="147732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7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643" y="16659"/>
            <a:ext cx="8380714" cy="1325563"/>
          </a:xfrm>
        </p:spPr>
        <p:txBody>
          <a:bodyPr/>
          <a:lstStyle/>
          <a:p>
            <a:r>
              <a:rPr lang="en-US" dirty="0"/>
              <a:t>How to define security formally?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428736"/>
            <a:ext cx="8329642" cy="3071834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en-US" sz="2400" dirty="0"/>
              <a:t>Not so trivial – remember that the parties can misbehave arbitrarily.</a:t>
            </a:r>
          </a:p>
          <a:p>
            <a:pPr>
              <a:buNone/>
            </a:pPr>
            <a:endParaRPr lang="en-US" sz="2400" dirty="0"/>
          </a:p>
          <a:p>
            <a:pPr algn="ctr">
              <a:buNone/>
            </a:pPr>
            <a:r>
              <a:rPr lang="en-US" sz="2400" b="1" dirty="0">
                <a:solidFill>
                  <a:srgbClr val="FF0000"/>
                </a:solidFill>
              </a:rPr>
              <a:t>We do not present a complete definition here.</a:t>
            </a:r>
          </a:p>
          <a:p>
            <a:pPr>
              <a:buNone/>
            </a:pPr>
            <a:endParaRPr lang="en-US" sz="2400" dirty="0"/>
          </a:p>
          <a:p>
            <a:pPr algn="r">
              <a:buNone/>
            </a:pPr>
            <a:r>
              <a:rPr lang="en-US" sz="2400" dirty="0"/>
              <a:t>(The hiding property can be defined using the “</a:t>
            </a:r>
            <a:r>
              <a:rPr lang="en-US" sz="2400" b="1" dirty="0" err="1">
                <a:solidFill>
                  <a:srgbClr val="7030A0"/>
                </a:solidFill>
              </a:rPr>
              <a:t>indistinguishability</a:t>
            </a:r>
            <a:r>
              <a:rPr lang="en-US" sz="2400" dirty="0"/>
              <a:t>” principle.)</a:t>
            </a:r>
          </a:p>
          <a:p>
            <a:pPr marL="514350" indent="-514350"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571472" y="4857760"/>
            <a:ext cx="785818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The definition depends on some options.</a:t>
            </a:r>
          </a:p>
          <a:p>
            <a:pPr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What is the computational power of a</a:t>
            </a:r>
            <a:r>
              <a:rPr lang="en-US" sz="2400" b="1" dirty="0">
                <a:solidFill>
                  <a:srgbClr val="0070C0"/>
                </a:solidFill>
              </a:rPr>
              <a:t> cheating Alice</a:t>
            </a:r>
            <a:r>
              <a:rPr lang="en-US" sz="2400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What is the computational power of a </a:t>
            </a:r>
            <a:r>
              <a:rPr lang="en-US" sz="2400" b="1" dirty="0">
                <a:solidFill>
                  <a:srgbClr val="0070C0"/>
                </a:solidFill>
              </a:rPr>
              <a:t>cheating Bob</a:t>
            </a:r>
            <a:r>
              <a:rPr lang="en-US" sz="2400" dirty="0"/>
              <a:t>?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432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636" y="274638"/>
            <a:ext cx="8874728" cy="796908"/>
          </a:xfrm>
        </p:spPr>
        <p:txBody>
          <a:bodyPr>
            <a:normAutofit/>
          </a:bodyPr>
          <a:lstStyle/>
          <a:p>
            <a:r>
              <a:rPr lang="en-US" sz="3600" dirty="0"/>
              <a:t>The computational power of the adversary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5643578"/>
            <a:ext cx="8229600" cy="882625"/>
          </a:xfrm>
        </p:spPr>
        <p:txBody>
          <a:bodyPr>
            <a:normAutofit/>
          </a:bodyPr>
          <a:lstStyle/>
          <a:p>
            <a:pPr algn="r">
              <a:buNone/>
            </a:pPr>
            <a:r>
              <a:rPr lang="en-US" dirty="0"/>
              <a:t>Of course, to be formal we would need to introduce a security parameter...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1571612"/>
            <a:ext cx="9144000" cy="181588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252000">
            <a:spAutoFit/>
          </a:bodyPr>
          <a:lstStyle/>
          <a:p>
            <a:pPr>
              <a:buNone/>
            </a:pPr>
            <a:r>
              <a:rPr lang="en-US" sz="2800" dirty="0"/>
              <a:t>If a cheating Alice can be infinitely powerful, we say that the protocol is </a:t>
            </a:r>
            <a:r>
              <a:rPr lang="en-US" sz="2800" b="1" dirty="0">
                <a:solidFill>
                  <a:srgbClr val="0070C0"/>
                </a:solidFill>
              </a:rPr>
              <a:t>unconditionally binding</a:t>
            </a:r>
            <a:r>
              <a:rPr lang="en-US" sz="2800" dirty="0"/>
              <a:t>.</a:t>
            </a:r>
          </a:p>
          <a:p>
            <a:pPr>
              <a:buNone/>
            </a:pPr>
            <a:endParaRPr lang="en-US" sz="2800" b="1" dirty="0"/>
          </a:p>
          <a:p>
            <a:pPr algn="r">
              <a:buNone/>
            </a:pPr>
            <a:r>
              <a:rPr lang="en-US" sz="2800" dirty="0"/>
              <a:t>Otherwise it is </a:t>
            </a:r>
            <a:r>
              <a:rPr lang="en-US" sz="2800" b="1" dirty="0">
                <a:solidFill>
                  <a:srgbClr val="0070C0"/>
                </a:solidFill>
              </a:rPr>
              <a:t>computationally binding</a:t>
            </a:r>
            <a:r>
              <a:rPr lang="en-US" sz="2800"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500438"/>
            <a:ext cx="9144000" cy="181588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52000">
            <a:spAutoFit/>
          </a:bodyPr>
          <a:lstStyle/>
          <a:p>
            <a:pPr>
              <a:buNone/>
            </a:pPr>
            <a:r>
              <a:rPr lang="en-US" sz="2800" dirty="0"/>
              <a:t>If a cheating Bob can be infinitely powerful, we say that the protocol is </a:t>
            </a:r>
            <a:r>
              <a:rPr lang="en-US" sz="2800" b="1" dirty="0">
                <a:solidFill>
                  <a:srgbClr val="0070C0"/>
                </a:solidFill>
              </a:rPr>
              <a:t>unconditionally hiding</a:t>
            </a:r>
            <a:r>
              <a:rPr lang="en-US" sz="2800" dirty="0"/>
              <a:t>.</a:t>
            </a:r>
          </a:p>
          <a:p>
            <a:pPr>
              <a:buNone/>
            </a:pPr>
            <a:endParaRPr lang="en-US" sz="2800" dirty="0"/>
          </a:p>
          <a:p>
            <a:pPr algn="r">
              <a:buNone/>
            </a:pPr>
            <a:r>
              <a:rPr lang="en-US" sz="2800" dirty="0"/>
              <a:t>Otherwise it is </a:t>
            </a:r>
            <a:r>
              <a:rPr lang="en-US" sz="2800" b="1" dirty="0">
                <a:solidFill>
                  <a:srgbClr val="0070C0"/>
                </a:solidFill>
              </a:rPr>
              <a:t>computationally hiding</a:t>
            </a:r>
            <a:r>
              <a:rPr lang="en-US" sz="2800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535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  <p:bldP spid="5" grpId="0" uiExpand="1" build="allAtOnce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285728"/>
            <a:ext cx="8372476" cy="1143000"/>
          </a:xfrm>
        </p:spPr>
        <p:txBody>
          <a:bodyPr>
            <a:noAutofit/>
          </a:bodyPr>
          <a:lstStyle/>
          <a:p>
            <a:r>
              <a:rPr lang="en-US" sz="3600" dirty="0"/>
              <a:t>Unconditionally hiding and binding commitment schemes do not exist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714488"/>
            <a:ext cx="3143272" cy="107157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u="sng" dirty="0"/>
              <a:t>Proof (intuition)</a:t>
            </a:r>
          </a:p>
        </p:txBody>
      </p:sp>
      <p:pic>
        <p:nvPicPr>
          <p:cNvPr id="4" name="Picture 6" descr="MCj0415808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4143380"/>
            <a:ext cx="1000132" cy="1051183"/>
          </a:xfrm>
          <a:prstGeom prst="rect">
            <a:avLst/>
          </a:prstGeom>
          <a:noFill/>
        </p:spPr>
      </p:pic>
      <p:pic>
        <p:nvPicPr>
          <p:cNvPr id="5" name="Picture 32" descr="MCj04114660000[1]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57620" y="4143380"/>
            <a:ext cx="1099430" cy="1143008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00034" y="3357562"/>
                <a:ext cx="1000132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a bit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34" y="3357562"/>
                <a:ext cx="1000132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>
            <a:stCxn id="6" idx="2"/>
            <a:endCxn id="4" idx="0"/>
          </p:cNvCxnSpPr>
          <p:nvPr/>
        </p:nvCxnSpPr>
        <p:spPr>
          <a:xfrm rot="5400000">
            <a:off x="807246" y="3950526"/>
            <a:ext cx="385708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1571604" y="4214818"/>
            <a:ext cx="2143140" cy="857256"/>
            <a:chOff x="3500430" y="2582834"/>
            <a:chExt cx="2071702" cy="858844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3571868" y="2582834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3571868" y="3011462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rot="10800000">
              <a:off x="3500430" y="2797148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3571868" y="3440090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rot="10800000">
              <a:off x="3500430" y="3225776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071670" y="4500570"/>
                <a:ext cx="1285884" cy="369332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𝐜𝐨𝐦𝐦𝐢𝐭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670" y="4500570"/>
                <a:ext cx="1285884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286380" y="1571612"/>
                <a:ext cx="3143272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/>
                  <a:t>There are two options: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/>
                  <a:t>there exists a way to open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2400" dirty="0"/>
                  <a:t>, or</a:t>
                </a:r>
                <a:br>
                  <a:rPr lang="en-US" sz="2400" dirty="0"/>
                </a:br>
                <a:br>
                  <a:rPr lang="en-US" sz="2400" dirty="0"/>
                </a:br>
                <a:endParaRPr lang="en-US" sz="2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2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24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/>
                  <a:t>there doesn’t exist such a way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380" y="1571612"/>
                <a:ext cx="3143272" cy="3785652"/>
              </a:xfrm>
              <a:prstGeom prst="rect">
                <a:avLst/>
              </a:prstGeom>
              <a:blipFill rotWithShape="0">
                <a:blip r:embed="rId7"/>
                <a:stretch>
                  <a:fillRect l="-2907" t="-1288" b="-273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ular Callout 18"/>
          <p:cNvSpPr/>
          <p:nvPr/>
        </p:nvSpPr>
        <p:spPr>
          <a:xfrm>
            <a:off x="4667365" y="3255633"/>
            <a:ext cx="4120171" cy="705531"/>
          </a:xfrm>
          <a:prstGeom prst="wedgeRectCallout">
            <a:avLst>
              <a:gd name="adj1" fmla="val -17798"/>
              <a:gd name="adj2" fmla="val -74255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in this case “infinitely powerful” Alice can cheat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ular Callout 19"/>
              <p:cNvSpPr/>
              <p:nvPr/>
            </p:nvSpPr>
            <p:spPr>
              <a:xfrm>
                <a:off x="4846881" y="5572140"/>
                <a:ext cx="4082837" cy="928670"/>
              </a:xfrm>
              <a:prstGeom prst="wedgeRectCallout">
                <a:avLst>
                  <a:gd name="adj1" fmla="val -16825"/>
                  <a:gd name="adj2" fmla="val -74331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in this case “infinitely powerful” Bob can learn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Rectangular Callout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881" y="5572140"/>
                <a:ext cx="4082837" cy="928670"/>
              </a:xfrm>
              <a:prstGeom prst="wedgeRectCallout">
                <a:avLst>
                  <a:gd name="adj1" fmla="val -16825"/>
                  <a:gd name="adj2" fmla="val -74331"/>
                </a:avLst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ooter Placeholder 14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001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346" y="365126"/>
            <a:ext cx="8425944" cy="1325563"/>
          </a:xfrm>
        </p:spPr>
        <p:txBody>
          <a:bodyPr>
            <a:normAutofit/>
          </a:bodyPr>
          <a:lstStyle/>
          <a:p>
            <a:r>
              <a:rPr lang="en-US" dirty="0"/>
              <a:t>So, how does it solve the coin-flipping problem?</a:t>
            </a:r>
          </a:p>
        </p:txBody>
      </p:sp>
      <p:pic>
        <p:nvPicPr>
          <p:cNvPr id="4" name="Picture 6" descr="MCj0415808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2214554"/>
            <a:ext cx="1368425" cy="1438275"/>
          </a:xfrm>
          <a:prstGeom prst="rect">
            <a:avLst/>
          </a:prstGeom>
          <a:noFill/>
        </p:spPr>
      </p:pic>
      <p:pic>
        <p:nvPicPr>
          <p:cNvPr id="5" name="Picture 32" descr="MCj04114660000[1]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58016" y="2571744"/>
            <a:ext cx="1401763" cy="145732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25487" y="1978376"/>
                <a:ext cx="2493572" cy="707886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chooses a random </a:t>
                </a:r>
              </a:p>
              <a:p>
                <a:pPr algn="ctr"/>
                <a:r>
                  <a:rPr lang="en-US" sz="2000" dirty="0"/>
                  <a:t>bit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←{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87" y="1978376"/>
                <a:ext cx="2493572" cy="70788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ight Arrow 6"/>
              <p:cNvSpPr/>
              <p:nvPr/>
            </p:nvSpPr>
            <p:spPr>
              <a:xfrm>
                <a:off x="2786050" y="3071810"/>
                <a:ext cx="3214710" cy="857256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commits 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ight Arrow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050" y="3071810"/>
                <a:ext cx="3214710" cy="857256"/>
              </a:xfrm>
              <a:prstGeom prst="rightArrow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Left Arrow 7"/>
              <p:cNvSpPr/>
              <p:nvPr/>
            </p:nvSpPr>
            <p:spPr>
              <a:xfrm>
                <a:off x="2786050" y="4000504"/>
                <a:ext cx="3214710" cy="928694"/>
              </a:xfrm>
              <a:prstGeom prst="leftArrow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sends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Left Arrow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050" y="4000504"/>
                <a:ext cx="3214710" cy="928694"/>
              </a:xfrm>
              <a:prstGeom prst="leftArrow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512346" y="3833351"/>
                <a:ext cx="2262975" cy="70788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chooses a random bit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←{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2346" y="3833351"/>
                <a:ext cx="2262975" cy="70788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ight Arrow 9"/>
              <p:cNvSpPr/>
              <p:nvPr/>
            </p:nvSpPr>
            <p:spPr>
              <a:xfrm>
                <a:off x="2857488" y="5000636"/>
                <a:ext cx="3214710" cy="857256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opens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Right Arrow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488" y="5000636"/>
                <a:ext cx="3214710" cy="857256"/>
              </a:xfrm>
              <a:prstGeom prst="rightArrow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Down Arrow 10"/>
              <p:cNvSpPr/>
              <p:nvPr/>
            </p:nvSpPr>
            <p:spPr>
              <a:xfrm>
                <a:off x="928662" y="4500570"/>
                <a:ext cx="1428760" cy="1928826"/>
              </a:xfrm>
              <a:prstGeom prst="downArrow">
                <a:avLst>
                  <a:gd name="adj1" fmla="val 75905"/>
                  <a:gd name="adj2" fmla="val 50000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output</a:t>
                </a:r>
                <a:br>
                  <a:rPr lang="en-US" sz="20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Down Arrow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662" y="4500570"/>
                <a:ext cx="1428760" cy="1928826"/>
              </a:xfrm>
              <a:prstGeom prst="downArrow">
                <a:avLst>
                  <a:gd name="adj1" fmla="val 75905"/>
                  <a:gd name="adj2" fmla="val 50000"/>
                </a:avLst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Down Arrow 11"/>
              <p:cNvSpPr/>
              <p:nvPr/>
            </p:nvSpPr>
            <p:spPr>
              <a:xfrm>
                <a:off x="6929454" y="5429264"/>
                <a:ext cx="1428760" cy="1071546"/>
              </a:xfrm>
              <a:prstGeom prst="downArrow">
                <a:avLst>
                  <a:gd name="adj1" fmla="val 75905"/>
                  <a:gd name="adj2" fmla="val 50000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output</a:t>
                </a:r>
                <a:br>
                  <a:rPr lang="en-US" sz="20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Down Arrow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454" y="5429264"/>
                <a:ext cx="1428760" cy="1071546"/>
              </a:xfrm>
              <a:prstGeom prst="downArrow">
                <a:avLst>
                  <a:gd name="adj1" fmla="val 75905"/>
                  <a:gd name="adj2" fmla="val 50000"/>
                </a:avLst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74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521" y="365127"/>
            <a:ext cx="8166829" cy="725408"/>
          </a:xfrm>
        </p:spPr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714488"/>
            <a:ext cx="9144000" cy="58477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216000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0070C0"/>
                </a:solidFill>
              </a:rPr>
              <a:t>Alice</a:t>
            </a:r>
            <a:r>
              <a:rPr lang="en-US" sz="3200" dirty="0"/>
              <a:t> can always refuse to send the last message.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857496"/>
            <a:ext cx="9144000" cy="107721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16000">
            <a:spAutoFit/>
          </a:bodyPr>
          <a:lstStyle/>
          <a:p>
            <a:pPr>
              <a:buNone/>
            </a:pPr>
            <a:r>
              <a:rPr lang="en-US" sz="3200" dirty="0"/>
              <a:t>This is unavoidable (there has to be the </a:t>
            </a:r>
            <a:r>
              <a:rPr lang="en-US" sz="3200" b="1" dirty="0"/>
              <a:t>last message</a:t>
            </a:r>
            <a:r>
              <a:rPr lang="en-US" sz="3200" dirty="0"/>
              <a:t> in the protocol).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494922"/>
            <a:ext cx="9144000" cy="10772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16000">
            <a:spAutoFit/>
          </a:bodyPr>
          <a:lstStyle/>
          <a:p>
            <a:pPr>
              <a:buNone/>
            </a:pPr>
            <a:r>
              <a:rPr lang="en-US" sz="3200" dirty="0"/>
              <a:t>But they can use a convention: </a:t>
            </a:r>
          </a:p>
          <a:p>
            <a:pPr algn="r">
              <a:buNone/>
            </a:pPr>
            <a:r>
              <a:rPr lang="en-US" sz="3200" dirty="0"/>
              <a:t>if </a:t>
            </a:r>
            <a:r>
              <a:rPr lang="en-US" sz="3200" b="1" dirty="0">
                <a:solidFill>
                  <a:srgbClr val="0070C0"/>
                </a:solidFill>
              </a:rPr>
              <a:t>Alice</a:t>
            </a:r>
            <a:r>
              <a:rPr lang="en-US" sz="3200" dirty="0"/>
              <a:t> didn’t send the last message – she lost!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54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5918" y="1428736"/>
            <a:ext cx="6929486" cy="492922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Coin-flipping by telephone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Commitment schemes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definition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construction based on QRA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construction based on discrete log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construction based on PRG</a:t>
            </a:r>
          </a:p>
          <a:p>
            <a:pPr marL="914400" lvl="1" indent="-514350">
              <a:buNone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681038" y="2696649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9844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979" y="170815"/>
            <a:ext cx="7886700" cy="913798"/>
          </a:xfrm>
        </p:spPr>
        <p:txBody>
          <a:bodyPr>
            <a:normAutofit fontScale="90000"/>
          </a:bodyPr>
          <a:lstStyle/>
          <a:p>
            <a:r>
              <a:rPr lang="en-US" dirty="0"/>
              <a:t>Remember quadratic residues modulo an RSA modulus?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42152" y="1341968"/>
                <a:ext cx="7886700" cy="888427"/>
              </a:xfr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2152" y="1341968"/>
                <a:ext cx="7886700" cy="888427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42152" y="2487750"/>
                <a:ext cx="7886700" cy="106297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anchor="ctr">
                <a:noAutofit/>
              </a:bodyPr>
              <a:lstStyle/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lang="en-GB" sz="2800" b="1" u="sng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Fact</a:t>
                </a:r>
                <a:r>
                  <a:rPr lang="en-GB" sz="2800" dirty="0">
                    <a:latin typeface="Cambria" panose="02040503050406030204" pitchFamily="18" charset="0"/>
                  </a:rPr>
                  <a:t>:  For 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8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𝒑𝒒</m:t>
                    </m:r>
                  </m:oMath>
                </a14:m>
                <a:r>
                  <a:rPr lang="en-GB" sz="2800" dirty="0">
                    <a:latin typeface="Cambria" panose="02040503050406030204" pitchFamily="18" charset="0"/>
                  </a:rPr>
                  <a:t> we have 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</m:t>
                    </m:r>
                    <m:sSub>
                      <m:sSubPr>
                        <m:ctrlP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 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|</m:t>
                    </m:r>
                    <m:sSubSup>
                      <m:sSubSupPr>
                        <m:ctrlP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 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 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GB" sz="2800" b="1" dirty="0">
                    <a:latin typeface="Cambria" panose="02040503050406030204" pitchFamily="18" charset="0"/>
                  </a:rPr>
                  <a:t>.</a:t>
                </a:r>
                <a:r>
                  <a:rPr lang="en-GB" sz="2800" dirty="0">
                    <a:latin typeface="Cambria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52" y="2487750"/>
                <a:ext cx="7886700" cy="106297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 descr="Light vertical"/>
          <p:cNvSpPr>
            <a:spLocks noChangeArrowheads="1"/>
          </p:cNvSpPr>
          <p:nvPr/>
        </p:nvSpPr>
        <p:spPr bwMode="auto">
          <a:xfrm>
            <a:off x="2899719" y="4458237"/>
            <a:ext cx="1828800" cy="762000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p:graphicFrame>
        <p:nvGraphicFramePr>
          <p:cNvPr id="7" name="Group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1265657"/>
              </p:ext>
            </p:extLst>
          </p:nvPr>
        </p:nvGraphicFramePr>
        <p:xfrm>
          <a:off x="2937807" y="4458237"/>
          <a:ext cx="3619512" cy="1524000"/>
        </p:xfrm>
        <a:graphic>
          <a:graphicData uri="http://schemas.openxmlformats.org/drawingml/2006/table">
            <a:tbl>
              <a:tblPr/>
              <a:tblGrid>
                <a:gridCol w="1800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16"/>
              <p:cNvSpPr txBox="1">
                <a:spLocks noChangeArrowheads="1"/>
              </p:cNvSpPr>
              <p:nvPr/>
            </p:nvSpPr>
            <p:spPr bwMode="auto">
              <a:xfrm>
                <a:off x="3433119" y="3924837"/>
                <a:ext cx="679353" cy="3942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sSub>
                        <m:sSub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99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33119" y="3924837"/>
                <a:ext cx="679353" cy="394210"/>
              </a:xfrm>
              <a:prstGeom prst="rect">
                <a:avLst/>
              </a:prstGeom>
              <a:blipFill rotWithShape="0">
                <a:blip r:embed="rId4"/>
                <a:stretch>
                  <a:fillRect b="-461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17"/>
              <p:cNvSpPr txBox="1">
                <a:spLocks noChangeArrowheads="1"/>
              </p:cNvSpPr>
              <p:nvPr/>
            </p:nvSpPr>
            <p:spPr bwMode="auto">
              <a:xfrm>
                <a:off x="2061519" y="4610637"/>
                <a:ext cx="677750" cy="3943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sSub>
                        <m:sSub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99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1519" y="4610637"/>
                <a:ext cx="677750" cy="394339"/>
              </a:xfrm>
              <a:prstGeom prst="rect">
                <a:avLst/>
              </a:prstGeom>
              <a:blipFill rotWithShape="0">
                <a:blip r:embed="rId5"/>
                <a:stretch>
                  <a:fillRect b="-461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18" descr="Light horizontal"/>
          <p:cNvSpPr>
            <a:spLocks noChangeArrowheads="1"/>
          </p:cNvSpPr>
          <p:nvPr/>
        </p:nvSpPr>
        <p:spPr bwMode="auto">
          <a:xfrm>
            <a:off x="4728519" y="4458237"/>
            <a:ext cx="1828800" cy="762000"/>
          </a:xfrm>
          <a:prstGeom prst="rect">
            <a:avLst/>
          </a:prstGeom>
          <a:pattFill prst="ltHorz">
            <a:fgClr>
              <a:schemeClr val="tx1"/>
            </a:fgClr>
            <a:bgClr>
              <a:schemeClr val="bg1"/>
            </a:bgClr>
          </a:patt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19"/>
              <p:cNvSpPr txBox="1">
                <a:spLocks noChangeArrowheads="1"/>
              </p:cNvSpPr>
              <p:nvPr/>
            </p:nvSpPr>
            <p:spPr bwMode="auto">
              <a:xfrm>
                <a:off x="1604319" y="3924837"/>
                <a:ext cx="532453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GB" b="1" dirty="0">
                    <a:latin typeface="Cambria" panose="02040503050406030204" pitchFamily="18" charset="0"/>
                  </a:rPr>
                  <a:t>:</a:t>
                </a:r>
                <a:endParaRPr lang="en-US" b="1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4319" y="3924837"/>
                <a:ext cx="532453" cy="369332"/>
              </a:xfrm>
              <a:prstGeom prst="rect">
                <a:avLst/>
              </a:prstGeom>
              <a:blipFill rotWithShape="0">
                <a:blip r:embed="rId6"/>
                <a:stretch>
                  <a:fillRect t="-11667" r="-9091" b="-2500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20"/>
              <p:cNvSpPr txBox="1">
                <a:spLocks noChangeArrowheads="1"/>
              </p:cNvSpPr>
              <p:nvPr/>
            </p:nvSpPr>
            <p:spPr bwMode="auto">
              <a:xfrm>
                <a:off x="2013106" y="5012751"/>
                <a:ext cx="92365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3106" y="5012751"/>
                <a:ext cx="923650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819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21"/>
              <p:cNvSpPr txBox="1">
                <a:spLocks noChangeArrowheads="1"/>
              </p:cNvSpPr>
              <p:nvPr/>
            </p:nvSpPr>
            <p:spPr bwMode="auto">
              <a:xfrm>
                <a:off x="4261794" y="4010028"/>
                <a:ext cx="869950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1794" y="4010028"/>
                <a:ext cx="869950" cy="366713"/>
              </a:xfrm>
              <a:prstGeom prst="rect">
                <a:avLst/>
              </a:prstGeom>
              <a:blipFill rotWithShape="0">
                <a:blip r:embed="rId8"/>
                <a:stretch>
                  <a:fillRect b="-8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23" descr="Light vertical"/>
          <p:cNvSpPr>
            <a:spLocks noChangeArrowheads="1"/>
          </p:cNvSpPr>
          <p:nvPr/>
        </p:nvSpPr>
        <p:spPr bwMode="auto">
          <a:xfrm>
            <a:off x="2933045" y="4434435"/>
            <a:ext cx="1790712" cy="1547802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15" name="Rectangle 22" descr="Small grid"/>
          <p:cNvSpPr>
            <a:spLocks noChangeArrowheads="1"/>
          </p:cNvSpPr>
          <p:nvPr/>
        </p:nvSpPr>
        <p:spPr bwMode="auto">
          <a:xfrm>
            <a:off x="2937807" y="4434435"/>
            <a:ext cx="1785950" cy="785818"/>
          </a:xfrm>
          <a:prstGeom prst="rect">
            <a:avLst/>
          </a:prstGeom>
          <a:pattFill prst="smGrid">
            <a:fgClr>
              <a:schemeClr val="tx1"/>
            </a:fgClr>
            <a:bgClr>
              <a:schemeClr val="bg1"/>
            </a:bgClr>
          </a:patt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24"/>
              <p:cNvSpPr txBox="1">
                <a:spLocks noChangeArrowheads="1"/>
              </p:cNvSpPr>
              <p:nvPr/>
            </p:nvSpPr>
            <p:spPr bwMode="auto">
              <a:xfrm>
                <a:off x="3558396" y="4610637"/>
                <a:ext cx="703398" cy="369332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sSub>
                        <m:sSub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99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58396" y="4610637"/>
                <a:ext cx="703398" cy="369332"/>
              </a:xfrm>
              <a:prstGeom prst="rect">
                <a:avLst/>
              </a:prstGeom>
              <a:blipFill rotWithShape="0">
                <a:blip r:embed="rId9"/>
                <a:stretch>
                  <a:fillRect b="-9524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979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9" grpId="0"/>
      <p:bldP spid="10" grpId="0" animBg="1"/>
      <p:bldP spid="11" grpId="0"/>
      <p:bldP spid="12" grpId="0"/>
      <p:bldP spid="13" grpId="0"/>
      <p:bldP spid="14" grpId="0" animBg="1"/>
      <p:bldP spid="15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1238589" y="970225"/>
            <a:ext cx="7264400" cy="15934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567354" y="3194558"/>
            <a:ext cx="1571636" cy="7670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138990" y="3980376"/>
            <a:ext cx="1571636" cy="7143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296" y="215959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US" dirty="0"/>
              <a:t>Jacobi Symbol</a:t>
            </a:r>
          </a:p>
        </p:txBody>
      </p:sp>
      <p:sp>
        <p:nvSpPr>
          <p:cNvPr id="3" name="Rectangle 2" descr="Light vertical"/>
          <p:cNvSpPr>
            <a:spLocks noChangeArrowheads="1"/>
          </p:cNvSpPr>
          <p:nvPr/>
        </p:nvSpPr>
        <p:spPr bwMode="auto">
          <a:xfrm>
            <a:off x="1338528" y="3199631"/>
            <a:ext cx="1576136" cy="762000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p:graphicFrame>
        <p:nvGraphicFramePr>
          <p:cNvPr id="4" name="Group 5"/>
          <p:cNvGraphicFramePr>
            <a:graphicFrameLocks/>
          </p:cNvGraphicFramePr>
          <p:nvPr/>
        </p:nvGraphicFramePr>
        <p:xfrm>
          <a:off x="1376616" y="3199631"/>
          <a:ext cx="3119446" cy="1524000"/>
        </p:xfrm>
        <a:graphic>
          <a:graphicData uri="http://schemas.openxmlformats.org/drawingml/2006/table">
            <a:tbl>
              <a:tblPr/>
              <a:tblGrid>
                <a:gridCol w="155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16"/>
              <p:cNvSpPr txBox="1">
                <a:spLocks noChangeArrowheads="1"/>
              </p:cNvSpPr>
              <p:nvPr/>
            </p:nvSpPr>
            <p:spPr bwMode="auto">
              <a:xfrm>
                <a:off x="1908365" y="2702005"/>
                <a:ext cx="677750" cy="3942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8365" y="2702005"/>
                <a:ext cx="677750" cy="394210"/>
              </a:xfrm>
              <a:prstGeom prst="rect">
                <a:avLst/>
              </a:prstGeom>
              <a:blipFill rotWithShape="0">
                <a:blip r:embed="rId3"/>
                <a:stretch>
                  <a:fillRect b="-461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17"/>
              <p:cNvSpPr txBox="1">
                <a:spLocks noChangeArrowheads="1"/>
              </p:cNvSpPr>
              <p:nvPr/>
            </p:nvSpPr>
            <p:spPr bwMode="auto">
              <a:xfrm>
                <a:off x="500328" y="3352031"/>
                <a:ext cx="677750" cy="3943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328" y="3352031"/>
                <a:ext cx="677750" cy="394339"/>
              </a:xfrm>
              <a:prstGeom prst="rect">
                <a:avLst/>
              </a:prstGeom>
              <a:blipFill rotWithShape="0">
                <a:blip r:embed="rId4"/>
                <a:stretch>
                  <a:fillRect b="-461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18" descr="Light horizontal"/>
          <p:cNvSpPr>
            <a:spLocks noChangeArrowheads="1"/>
          </p:cNvSpPr>
          <p:nvPr/>
        </p:nvSpPr>
        <p:spPr bwMode="auto">
          <a:xfrm>
            <a:off x="2924426" y="3223433"/>
            <a:ext cx="1576136" cy="762000"/>
          </a:xfrm>
          <a:prstGeom prst="rect">
            <a:avLst/>
          </a:prstGeom>
          <a:pattFill prst="ltHorz">
            <a:fgClr>
              <a:schemeClr val="tx1"/>
            </a:fgClr>
            <a:bgClr>
              <a:schemeClr val="bg1"/>
            </a:bgClr>
          </a:patt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20"/>
              <p:cNvSpPr txBox="1">
                <a:spLocks noChangeArrowheads="1"/>
              </p:cNvSpPr>
              <p:nvPr/>
            </p:nvSpPr>
            <p:spPr bwMode="auto">
              <a:xfrm>
                <a:off x="455210" y="3788633"/>
                <a:ext cx="92365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5210" y="3788633"/>
                <a:ext cx="923650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819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21"/>
              <p:cNvSpPr txBox="1">
                <a:spLocks noChangeArrowheads="1"/>
              </p:cNvSpPr>
              <p:nvPr/>
            </p:nvSpPr>
            <p:spPr bwMode="auto">
              <a:xfrm>
                <a:off x="2591610" y="2788338"/>
                <a:ext cx="869950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1610" y="2788338"/>
                <a:ext cx="869950" cy="366713"/>
              </a:xfrm>
              <a:prstGeom prst="rect">
                <a:avLst/>
              </a:prstGeom>
              <a:blipFill rotWithShape="0">
                <a:blip r:embed="rId6"/>
                <a:stretch>
                  <a:fillRect b="-819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23" descr="Light vertical"/>
          <p:cNvSpPr>
            <a:spLocks noChangeArrowheads="1"/>
          </p:cNvSpPr>
          <p:nvPr/>
        </p:nvSpPr>
        <p:spPr bwMode="auto">
          <a:xfrm>
            <a:off x="1371854" y="3175829"/>
            <a:ext cx="1543310" cy="1547802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12" name="Rectangle 22" descr="Small grid"/>
          <p:cNvSpPr>
            <a:spLocks noChangeArrowheads="1"/>
          </p:cNvSpPr>
          <p:nvPr/>
        </p:nvSpPr>
        <p:spPr bwMode="auto">
          <a:xfrm>
            <a:off x="1376616" y="3175829"/>
            <a:ext cx="1539206" cy="785818"/>
          </a:xfrm>
          <a:prstGeom prst="rect">
            <a:avLst/>
          </a:prstGeom>
          <a:pattFill prst="smGrid">
            <a:fgClr>
              <a:schemeClr val="tx1"/>
            </a:fgClr>
            <a:bgClr>
              <a:schemeClr val="bg1"/>
            </a:bgClr>
          </a:patt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24"/>
              <p:cNvSpPr txBox="1">
                <a:spLocks noChangeArrowheads="1"/>
              </p:cNvSpPr>
              <p:nvPr/>
            </p:nvSpPr>
            <p:spPr bwMode="auto">
              <a:xfrm>
                <a:off x="1690964" y="3352031"/>
                <a:ext cx="895151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0964" y="3352031"/>
                <a:ext cx="895151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292350" y="1990441"/>
                <a:ext cx="536871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ambria" panose="02040503050406030204" pitchFamily="18" charset="0"/>
                  </a:rPr>
                  <a:t>for</a:t>
                </a:r>
                <a:r>
                  <a:rPr lang="en-US" sz="24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𝒑𝒒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sz="2400" dirty="0">
                    <a:latin typeface="Cambria" panose="02040503050406030204" pitchFamily="18" charset="0"/>
                  </a:rPr>
                  <a:t>define</a:t>
                </a:r>
                <a:r>
                  <a:rPr lang="en-US" sz="24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24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):=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24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)·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24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350" y="1990441"/>
                <a:ext cx="5368714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1703" t="-10667" b="-30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642238" y="1043279"/>
                <a:ext cx="23112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it-IT" sz="24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  </a:t>
                </a:r>
                <a:r>
                  <a:rPr lang="en-US" sz="2400" dirty="0">
                    <a:latin typeface="Cambria" panose="02040503050406030204" pitchFamily="18" charset="0"/>
                  </a:rPr>
                  <a:t>if</a:t>
                </a:r>
                <a:r>
                  <a:rPr lang="it-IT" sz="24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it-IT" sz="2400" b="1" i="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𝐐𝐑</m:t>
                    </m:r>
                    <m:r>
                      <a:rPr lang="it-IT" sz="24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/>
                      </a:rPr>
                      <m:t> </m:t>
                    </m:r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238" y="1043279"/>
                <a:ext cx="2311274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264" t="-10526" b="-2894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243884" y="1214271"/>
                <a:ext cx="49847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Cambria" panose="02040503050406030204" pitchFamily="18" charset="0"/>
                  </a:rPr>
                  <a:t>for any prime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sz="2400" dirty="0">
                    <a:latin typeface="Cambria" panose="02040503050406030204" pitchFamily="18" charset="0"/>
                  </a:rPr>
                  <a:t>define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24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:=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884" y="1214271"/>
                <a:ext cx="4984778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1834" t="-10526" b="-2894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570800" y="1400469"/>
                <a:ext cx="22573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sz="24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</a:rPr>
                  <a:t>otherwise</a:t>
                </a:r>
                <a:endParaRPr lang="en-US" sz="2400" b="1" dirty="0">
                  <a:solidFill>
                    <a:srgbClr val="C0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800" y="1400469"/>
                <a:ext cx="2257349" cy="461665"/>
              </a:xfrm>
              <a:prstGeom prst="rect">
                <a:avLst/>
              </a:prstGeom>
              <a:blipFill rotWithShape="0">
                <a:blip r:embed="rId11"/>
                <a:stretch>
                  <a:fillRect t="-10667" r="-270" b="-30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Left Brace 17"/>
          <p:cNvSpPr/>
          <p:nvPr/>
        </p:nvSpPr>
        <p:spPr>
          <a:xfrm>
            <a:off x="5424478" y="1143845"/>
            <a:ext cx="285752" cy="642942"/>
          </a:xfrm>
          <a:prstGeom prst="leftBrace">
            <a:avLst>
              <a:gd name="adj1" fmla="val 43261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 dirty="0">
              <a:latin typeface="Cambria" panose="02040503050406030204" pitchFamily="18" charset="0"/>
            </a:endParaRPr>
          </a:p>
        </p:txBody>
      </p:sp>
      <p:graphicFrame>
        <p:nvGraphicFramePr>
          <p:cNvPr id="19" name="Group 5"/>
          <p:cNvGraphicFramePr>
            <a:graphicFrameLocks/>
          </p:cNvGraphicFramePr>
          <p:nvPr/>
        </p:nvGraphicFramePr>
        <p:xfrm>
          <a:off x="5579267" y="3198833"/>
          <a:ext cx="3119446" cy="1524000"/>
        </p:xfrm>
        <a:graphic>
          <a:graphicData uri="http://schemas.openxmlformats.org/drawingml/2006/table">
            <a:tbl>
              <a:tblPr/>
              <a:tblGrid>
                <a:gridCol w="155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+1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-1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-1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+1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4929190" y="2651929"/>
                <a:ext cx="144834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it-IT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:= 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190" y="2651929"/>
                <a:ext cx="1448345" cy="461665"/>
              </a:xfrm>
              <a:prstGeom prst="rect">
                <a:avLst/>
              </a:prstGeom>
              <a:blipFill rotWithShape="0">
                <a:blip r:embed="rId12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892586" y="5149322"/>
                <a:ext cx="4194545" cy="4644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:= {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Sup>
                        <m:sSubSup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1" i="1" dirty="0" err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)=+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586" y="5149322"/>
                <a:ext cx="4194545" cy="464423"/>
              </a:xfrm>
              <a:prstGeom prst="rect">
                <a:avLst/>
              </a:prstGeom>
              <a:blipFill rotWithShape="0">
                <a:blip r:embed="rId13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0" y="5927464"/>
                <a:ext cx="9144000" cy="892552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lIns="274320" rtlCol="0">
                <a:spAutoFit/>
              </a:bodyPr>
              <a:lstStyle/>
              <a:p>
                <a:r>
                  <a:rPr lang="en-US" sz="2800" b="1" dirty="0">
                    <a:latin typeface="Cambria" panose="02040503050406030204" pitchFamily="18" charset="0"/>
                  </a:rPr>
                  <a:t>Jacobi symbol can be computed efficiently!</a:t>
                </a:r>
                <a:br>
                  <a:rPr lang="en-US" sz="2800" b="1" dirty="0">
                    <a:latin typeface="Cambria" panose="02040503050406030204" pitchFamily="18" charset="0"/>
                  </a:rPr>
                </a:br>
                <a:r>
                  <a:rPr lang="en-US" sz="2400" dirty="0">
                    <a:latin typeface="Cambria" panose="02040503050406030204" pitchFamily="18" charset="0"/>
                  </a:rPr>
                  <a:t>(even in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sz="2400" dirty="0">
                    <a:latin typeface="Cambria" panose="02040503050406030204" pitchFamily="18" charset="0"/>
                  </a:rPr>
                  <a:t>are unknown)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927464"/>
                <a:ext cx="9144000" cy="89255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ular Callout 25"/>
              <p:cNvSpPr/>
              <p:nvPr/>
            </p:nvSpPr>
            <p:spPr>
              <a:xfrm>
                <a:off x="288831" y="5002679"/>
                <a:ext cx="3714776" cy="642942"/>
              </a:xfrm>
              <a:prstGeom prst="wedgeRectCallout">
                <a:avLst>
                  <a:gd name="adj1" fmla="val 68501"/>
                  <a:gd name="adj2" fmla="val -6214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Cambria" panose="02040503050406030204" pitchFamily="18" charset="0"/>
                  </a:rPr>
                  <a:t>It is a subgroup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2400" b="1" dirty="0">
                  <a:solidFill>
                    <a:srgbClr val="C0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Rectangular Callout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31" y="5002679"/>
                <a:ext cx="3714776" cy="642942"/>
              </a:xfrm>
              <a:prstGeom prst="wedgeRectCallout">
                <a:avLst>
                  <a:gd name="adj1" fmla="val 68501"/>
                  <a:gd name="adj2" fmla="val -6214"/>
                </a:avLst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9917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3" grpId="0" animBg="1"/>
      <p:bldP spid="3" grpId="0" animBg="1"/>
      <p:bldP spid="5" grpId="0"/>
      <p:bldP spid="6" grpId="0"/>
      <p:bldP spid="7" grpId="0" animBg="1"/>
      <p:bldP spid="9" grpId="0"/>
      <p:bldP spid="10" grpId="0"/>
      <p:bldP spid="11" grpId="0" animBg="1"/>
      <p:bldP spid="12" grpId="0" animBg="1"/>
      <p:bldP spid="13" grpId="0" animBg="1"/>
      <p:bldP spid="14" grpId="0"/>
      <p:bldP spid="20" grpId="0"/>
      <p:bldP spid="21" grpId="0"/>
      <p:bldP spid="25" grpId="0" animBg="1"/>
      <p:bldP spid="2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42852"/>
            <a:ext cx="8229600" cy="857256"/>
          </a:xfrm>
        </p:spPr>
        <p:txBody>
          <a:bodyPr>
            <a:normAutofit fontScale="90000"/>
          </a:bodyPr>
          <a:lstStyle/>
          <a:p>
            <a:r>
              <a:rPr lang="en-US" dirty="0"/>
              <a:t>Quadratic </a:t>
            </a:r>
            <a:r>
              <a:rPr lang="en-US" dirty="0" err="1"/>
              <a:t>Residuosity</a:t>
            </a:r>
            <a:r>
              <a:rPr lang="en-US" dirty="0"/>
              <a:t> Assumption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25" name="Text Box 5"/>
              <p:cNvSpPr txBox="1">
                <a:spLocks noChangeArrowheads="1"/>
              </p:cNvSpPr>
              <p:nvPr/>
            </p:nvSpPr>
            <p:spPr bwMode="auto">
              <a:xfrm>
                <a:off x="1968500" y="1322348"/>
                <a:ext cx="677750" cy="3942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1925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68500" y="1322348"/>
                <a:ext cx="677750" cy="394210"/>
              </a:xfrm>
              <a:prstGeom prst="rect">
                <a:avLst/>
              </a:prstGeom>
              <a:blipFill rotWithShape="0">
                <a:blip r:embed="rId3"/>
                <a:stretch>
                  <a:fillRect b="-461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26" name="Text Box 6"/>
              <p:cNvSpPr txBox="1">
                <a:spLocks noChangeArrowheads="1"/>
              </p:cNvSpPr>
              <p:nvPr/>
            </p:nvSpPr>
            <p:spPr bwMode="auto">
              <a:xfrm>
                <a:off x="749300" y="1931948"/>
                <a:ext cx="677750" cy="3943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1926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300" y="1931948"/>
                <a:ext cx="677750" cy="394339"/>
              </a:xfrm>
              <a:prstGeom prst="rect">
                <a:avLst/>
              </a:prstGeom>
              <a:blipFill rotWithShape="0">
                <a:blip r:embed="rId4"/>
                <a:stretch>
                  <a:fillRect b="-461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27" name="Text Box 7"/>
              <p:cNvSpPr txBox="1">
                <a:spLocks noChangeArrowheads="1"/>
              </p:cNvSpPr>
              <p:nvPr/>
            </p:nvSpPr>
            <p:spPr bwMode="auto">
              <a:xfrm>
                <a:off x="292100" y="1322348"/>
                <a:ext cx="532453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GB" b="1" dirty="0">
                    <a:latin typeface="Cambria" panose="02040503050406030204" pitchFamily="18" charset="0"/>
                  </a:rPr>
                  <a:t>:</a:t>
                </a:r>
                <a:endParaRPr lang="en-US" b="1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1927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2100" y="1322348"/>
                <a:ext cx="532453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11475" r="-9195" b="-2295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29" name="Text Box 9"/>
              <p:cNvSpPr txBox="1">
                <a:spLocks noChangeArrowheads="1"/>
              </p:cNvSpPr>
              <p:nvPr/>
            </p:nvSpPr>
            <p:spPr bwMode="auto">
              <a:xfrm>
                <a:off x="204113" y="3480955"/>
                <a:ext cx="6572296" cy="31300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eaLnBrk="0" hangingPunct="0"/>
                <a:r>
                  <a:rPr lang="en-US" sz="2400" b="1" u="sng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Quadratic </a:t>
                </a:r>
                <a:r>
                  <a:rPr lang="en-US" sz="2400" b="1" u="sng" dirty="0" err="1">
                    <a:solidFill>
                      <a:srgbClr val="0070C0"/>
                    </a:solidFill>
                    <a:latin typeface="Cambria" panose="02040503050406030204" pitchFamily="18" charset="0"/>
                  </a:rPr>
                  <a:t>Residuosity</a:t>
                </a:r>
                <a:r>
                  <a:rPr lang="en-US" sz="2400" b="1" u="sng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Assumption (QRA)</a:t>
                </a:r>
                <a:r>
                  <a:rPr lang="en-US" sz="24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:</a:t>
                </a:r>
              </a:p>
              <a:p>
                <a:pPr eaLnBrk="0" hangingPunct="0"/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For a random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GB" sz="2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it is computationally hard to determine if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GB" sz="2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.</a:t>
                </a:r>
              </a:p>
              <a:p>
                <a:pPr eaLnBrk="0" hangingPunct="0"/>
                <a:r>
                  <a:rPr lang="en-US" sz="2400" b="1" u="sng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Formally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: </a:t>
                </a:r>
                <a:r>
                  <a:rPr lang="en-GB" sz="2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for every </a:t>
                </a:r>
                <a:r>
                  <a:rPr lang="en-GB" sz="2400" b="1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polynomial-time</a:t>
                </a:r>
                <a:r>
                  <a:rPr lang="en-GB" sz="2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probabilistic algorithm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GB" sz="2400" b="1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GB" sz="2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the value:</a:t>
                </a:r>
              </a:p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GB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d>
                                <m:dPr>
                                  <m:ctrlPr>
                                    <a:rPr lang="en-GB" sz="2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1" i="1" dirty="0" err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  <m:r>
                                    <a:rPr lang="en-GB" sz="2400" b="1" i="1" dirty="0" err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2400" b="1" i="1" dirty="0" err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d>
                              <m: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sSub>
                                <m:sSubPr>
                                  <m:ctrlPr>
                                    <a:rPr lang="en-US" sz="2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2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1" i="1" dirty="0" err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d>
                            </m:e>
                          </m:d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–</m:t>
                          </m:r>
                          <m:f>
                            <m:fPr>
                              <m:ctrlP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24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  <a:p>
                <a:pPr eaLnBrk="0" hangingPunct="0"/>
                <a:r>
                  <a:rPr lang="en-GB" sz="2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(where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GB" sz="2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) is</a:t>
                </a:r>
                <a:r>
                  <a:rPr lang="en-GB" sz="2400" b="1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GB" sz="2400" b="1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negligible</a:t>
                </a:r>
                <a:r>
                  <a:rPr lang="en-GB" sz="2400" b="1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.</a:t>
                </a:r>
                <a:endParaRPr lang="en-US" sz="2400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1929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4113" y="3480955"/>
                <a:ext cx="6572296" cy="3130088"/>
              </a:xfrm>
              <a:prstGeom prst="rect">
                <a:avLst/>
              </a:prstGeom>
              <a:blipFill rotWithShape="0">
                <a:blip r:embed="rId6"/>
                <a:stretch>
                  <a:fillRect l="-1011" t="-766" b="-249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30" name="Text Box 10"/>
              <p:cNvSpPr txBox="1">
                <a:spLocks noChangeArrowheads="1"/>
              </p:cNvSpPr>
              <p:nvPr/>
            </p:nvSpPr>
            <p:spPr bwMode="auto">
              <a:xfrm>
                <a:off x="596900" y="2846348"/>
                <a:ext cx="990600" cy="3942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  <m:r>
                            <a:rPr lang="en-US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1930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6900" y="2846348"/>
                <a:ext cx="990600" cy="394210"/>
              </a:xfrm>
              <a:prstGeom prst="rect">
                <a:avLst/>
              </a:prstGeom>
              <a:blipFill rotWithShape="0">
                <a:blip r:embed="rId7"/>
                <a:stretch>
                  <a:fillRect b="-461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31" name="Text Box 11"/>
              <p:cNvSpPr txBox="1">
                <a:spLocks noChangeArrowheads="1"/>
              </p:cNvSpPr>
              <p:nvPr/>
            </p:nvSpPr>
            <p:spPr bwMode="auto">
              <a:xfrm>
                <a:off x="4102100" y="1322348"/>
                <a:ext cx="839653" cy="3942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  <m:r>
                            <a:rPr lang="en-US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1931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02100" y="1322348"/>
                <a:ext cx="839653" cy="394210"/>
              </a:xfrm>
              <a:prstGeom prst="rect">
                <a:avLst/>
              </a:prstGeom>
              <a:blipFill rotWithShape="0">
                <a:blip r:embed="rId8"/>
                <a:stretch>
                  <a:fillRect b="-461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32" name="Text Box 12"/>
          <p:cNvSpPr txBox="1">
            <a:spLocks noChangeArrowheads="1"/>
          </p:cNvSpPr>
          <p:nvPr/>
        </p:nvSpPr>
        <p:spPr bwMode="auto">
          <a:xfrm>
            <a:off x="8059762" y="1196962"/>
            <a:ext cx="461986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sz="4800" b="1" dirty="0">
                <a:latin typeface="Cambria" panose="02040503050406030204" pitchFamily="18" charset="0"/>
              </a:rPr>
              <a:t>?</a:t>
            </a:r>
            <a:endParaRPr lang="en-US" sz="4800" b="1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33" name="Text Box 13"/>
              <p:cNvSpPr txBox="1">
                <a:spLocks noChangeArrowheads="1"/>
              </p:cNvSpPr>
              <p:nvPr/>
            </p:nvSpPr>
            <p:spPr bwMode="auto">
              <a:xfrm>
                <a:off x="6776409" y="1093748"/>
                <a:ext cx="984500" cy="648383"/>
              </a:xfrm>
              <a:prstGeom prst="rect">
                <a:avLst/>
              </a:prstGeom>
              <a:noFill/>
              <a:ln w="31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993300"/>
                    </a:solidFill>
                    <a:latin typeface="Cambria" panose="02040503050406030204" pitchFamily="18" charset="0"/>
                  </a:rPr>
                  <a:t> </a:t>
                </a:r>
              </a:p>
              <a:p>
                <a:pPr algn="ctr" eaLnBrk="0" hangingPunct="0"/>
                <a:r>
                  <a:rPr lang="en-US" b="1" dirty="0">
                    <a:solidFill>
                      <a:srgbClr val="FF0000"/>
                    </a:solidFill>
                    <a:latin typeface="Cambria" panose="02040503050406030204" pitchFamily="18" charset="0"/>
                    <a:cs typeface="Arial" pitchFamily="34" charset="0"/>
                  </a:rPr>
                  <a:t>↓</a:t>
                </a:r>
              </a:p>
            </p:txBody>
          </p:sp>
        </mc:Choice>
        <mc:Fallback xmlns="">
          <p:sp>
            <p:nvSpPr>
              <p:cNvPr id="81933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76409" y="1093748"/>
                <a:ext cx="984500" cy="648383"/>
              </a:xfrm>
              <a:prstGeom prst="rect">
                <a:avLst/>
              </a:prstGeom>
              <a:blipFill rotWithShape="0">
                <a:blip r:embed="rId9"/>
                <a:stretch>
                  <a:fillRect b="-13084"/>
                </a:stretch>
              </a:blipFill>
              <a:ln w="317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35" name="Rectangle 15" descr="Light vertical"/>
          <p:cNvSpPr>
            <a:spLocks noChangeArrowheads="1"/>
          </p:cNvSpPr>
          <p:nvPr/>
        </p:nvSpPr>
        <p:spPr bwMode="auto">
          <a:xfrm>
            <a:off x="1739900" y="1779548"/>
            <a:ext cx="1828800" cy="762000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p:graphicFrame>
        <p:nvGraphicFramePr>
          <p:cNvPr id="81936" name="Group 16"/>
          <p:cNvGraphicFramePr>
            <a:graphicFrameLocks noGrp="1"/>
          </p:cNvGraphicFramePr>
          <p:nvPr/>
        </p:nvGraphicFramePr>
        <p:xfrm>
          <a:off x="1739900" y="1779548"/>
          <a:ext cx="3657600" cy="1524000"/>
        </p:xfrm>
        <a:graphic>
          <a:graphicData uri="http://schemas.openxmlformats.org/drawingml/2006/table">
            <a:tbl>
              <a:tblPr/>
              <a:tblGrid>
                <a:gridCol w="181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1947" name="Rectangle 27" descr="Light horizontal"/>
          <p:cNvSpPr>
            <a:spLocks noChangeArrowheads="1"/>
          </p:cNvSpPr>
          <p:nvPr/>
        </p:nvSpPr>
        <p:spPr bwMode="auto">
          <a:xfrm>
            <a:off x="3568700" y="1779548"/>
            <a:ext cx="1828800" cy="762000"/>
          </a:xfrm>
          <a:prstGeom prst="rect">
            <a:avLst/>
          </a:prstGeom>
          <a:pattFill prst="ltHorz">
            <a:fgClr>
              <a:schemeClr val="tx1"/>
            </a:fgClr>
            <a:bgClr>
              <a:schemeClr val="bg1"/>
            </a:bgClr>
          </a:patt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81948" name="Rectangle 28" descr="Small grid"/>
          <p:cNvSpPr>
            <a:spLocks noChangeArrowheads="1"/>
          </p:cNvSpPr>
          <p:nvPr/>
        </p:nvSpPr>
        <p:spPr bwMode="auto">
          <a:xfrm>
            <a:off x="1739900" y="1779548"/>
            <a:ext cx="1828800" cy="762000"/>
          </a:xfrm>
          <a:prstGeom prst="rect">
            <a:avLst/>
          </a:prstGeom>
          <a:pattFill prst="smGrid">
            <a:fgClr>
              <a:schemeClr val="tx1"/>
            </a:fgClr>
            <a:bgClr>
              <a:schemeClr val="bg1"/>
            </a:bgClr>
          </a:patt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81949" name="Rectangle 29" descr="Light vertical"/>
          <p:cNvSpPr>
            <a:spLocks noChangeArrowheads="1"/>
          </p:cNvSpPr>
          <p:nvPr/>
        </p:nvSpPr>
        <p:spPr bwMode="auto">
          <a:xfrm>
            <a:off x="1739900" y="2541548"/>
            <a:ext cx="1828800" cy="762000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0" name="Text Box 30"/>
              <p:cNvSpPr txBox="1">
                <a:spLocks noChangeArrowheads="1"/>
              </p:cNvSpPr>
              <p:nvPr/>
            </p:nvSpPr>
            <p:spPr bwMode="auto">
              <a:xfrm>
                <a:off x="2293802" y="1967162"/>
                <a:ext cx="703398" cy="369332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1950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93802" y="1967162"/>
                <a:ext cx="703398" cy="369332"/>
              </a:xfrm>
              <a:prstGeom prst="rect">
                <a:avLst/>
              </a:prstGeom>
              <a:blipFill rotWithShape="0">
                <a:blip r:embed="rId10"/>
                <a:stretch>
                  <a:fillRect b="-9677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51" name="Rectangle 31"/>
          <p:cNvSpPr>
            <a:spLocks noChangeArrowheads="1"/>
          </p:cNvSpPr>
          <p:nvPr/>
        </p:nvSpPr>
        <p:spPr bwMode="auto">
          <a:xfrm>
            <a:off x="3568700" y="1703348"/>
            <a:ext cx="190500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81952" name="Rectangle 32"/>
          <p:cNvSpPr>
            <a:spLocks noChangeArrowheads="1"/>
          </p:cNvSpPr>
          <p:nvPr/>
        </p:nvSpPr>
        <p:spPr bwMode="auto">
          <a:xfrm>
            <a:off x="1663700" y="2541548"/>
            <a:ext cx="190500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81953" name="Line 33"/>
          <p:cNvSpPr>
            <a:spLocks noChangeShapeType="1"/>
          </p:cNvSpPr>
          <p:nvPr/>
        </p:nvSpPr>
        <p:spPr bwMode="auto">
          <a:xfrm flipH="1">
            <a:off x="3111500" y="2160548"/>
            <a:ext cx="3276600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81954" name="Line 34"/>
          <p:cNvSpPr>
            <a:spLocks noChangeShapeType="1"/>
          </p:cNvSpPr>
          <p:nvPr/>
        </p:nvSpPr>
        <p:spPr bwMode="auto">
          <a:xfrm flipH="1">
            <a:off x="4406900" y="2160548"/>
            <a:ext cx="1981200" cy="8382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81955" name="Line 35"/>
          <p:cNvSpPr>
            <a:spLocks noChangeShapeType="1"/>
          </p:cNvSpPr>
          <p:nvPr/>
        </p:nvSpPr>
        <p:spPr bwMode="auto">
          <a:xfrm>
            <a:off x="3568700" y="1779548"/>
            <a:ext cx="0" cy="1524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81956" name="Line 36"/>
          <p:cNvSpPr>
            <a:spLocks noChangeShapeType="1"/>
          </p:cNvSpPr>
          <p:nvPr/>
        </p:nvSpPr>
        <p:spPr bwMode="auto">
          <a:xfrm>
            <a:off x="1739900" y="2541548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p:pic>
        <p:nvPicPr>
          <p:cNvPr id="81957" name="Picture 37" descr="MCj04359410000[1]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616700" y="1703348"/>
            <a:ext cx="1676400" cy="11588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 flipH="1">
                <a:off x="5873750" y="4433784"/>
                <a:ext cx="3079750" cy="194175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Where a predicate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Sup>
                      <m:sSub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→{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is defined as follows:</a:t>
                </a:r>
                <a:endParaRPr lang="en-US" sz="2400" b="1" dirty="0">
                  <a:solidFill>
                    <a:srgbClr val="C00000"/>
                  </a:solidFill>
                  <a:latin typeface="Cambria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  <a:latin typeface="Cambria" panose="02040503050406030204" pitchFamily="18" charset="0"/>
                  <a:cs typeface="Arial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cs typeface="Arial"/>
                  </a:rPr>
                  <a:t>otherwise</a:t>
                </a:r>
                <a:endParaRPr lang="en-US" sz="2400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873750" y="4433784"/>
                <a:ext cx="3079750" cy="1941750"/>
              </a:xfrm>
              <a:prstGeom prst="rect">
                <a:avLst/>
              </a:prstGeom>
              <a:blipFill rotWithShape="0">
                <a:blip r:embed="rId12"/>
                <a:stretch>
                  <a:fillRect l="-2335" t="-1220" b="-426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3393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9" grpId="0" uiExpand="1" build="p" animBg="1"/>
      <p:bldP spid="81932" grpId="0" animBg="1"/>
      <p:bldP spid="81933" grpId="0"/>
      <p:bldP spid="81953" grpId="0" animBg="1"/>
      <p:bldP spid="81954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474" y="267311"/>
            <a:ext cx="7886700" cy="806423"/>
          </a:xfrm>
        </p:spPr>
        <p:txBody>
          <a:bodyPr/>
          <a:lstStyle/>
          <a:p>
            <a:r>
              <a:rPr lang="en-US" dirty="0"/>
              <a:t>A construction based on </a:t>
            </a:r>
            <a:r>
              <a:rPr lang="en-US" b="1" dirty="0"/>
              <a:t>QRA</a:t>
            </a:r>
          </a:p>
        </p:txBody>
      </p:sp>
      <p:pic>
        <p:nvPicPr>
          <p:cNvPr id="4" name="Picture 32" descr="MCj0411466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00826" y="2428868"/>
            <a:ext cx="1401763" cy="1457325"/>
          </a:xfrm>
          <a:prstGeom prst="rect">
            <a:avLst/>
          </a:prstGeom>
          <a:noFill/>
        </p:spPr>
      </p:pic>
      <p:pic>
        <p:nvPicPr>
          <p:cNvPr id="5" name="Picture 6" descr="MCj04158080000[1]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58" y="2928934"/>
            <a:ext cx="1368425" cy="14382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285851" y="2357430"/>
                <a:ext cx="4969093" cy="185738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t" anchorCtr="0"/>
              <a:lstStyle/>
              <a:p>
                <a:r>
                  <a:rPr lang="en-US" dirty="0"/>
                  <a:t>select a random </a:t>
                </a:r>
                <a:r>
                  <a:rPr lang="en-US" b="1" dirty="0">
                    <a:solidFill>
                      <a:srgbClr val="7030A0"/>
                    </a:solidFill>
                  </a:rPr>
                  <a:t>RSA</a:t>
                </a:r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  <a:r>
                  <a:rPr lang="en-US" dirty="0"/>
                  <a:t>modulus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𝒑𝒒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Let </a:t>
                </a:r>
              </a:p>
              <a:p>
                <a:pPr>
                  <a:buFont typeface="Arial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851" y="2357430"/>
                <a:ext cx="4969093" cy="185738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71472" y="1643050"/>
            <a:ext cx="1000132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 bit </a:t>
            </a:r>
            <a:r>
              <a:rPr lang="en-US" sz="2000" b="1" i="1" dirty="0">
                <a:solidFill>
                  <a:srgbClr val="FF0000"/>
                </a:solidFill>
              </a:rPr>
              <a:t>b</a:t>
            </a:r>
          </a:p>
        </p:txBody>
      </p:sp>
      <p:cxnSp>
        <p:nvCxnSpPr>
          <p:cNvPr id="9" name="Straight Arrow Connector 8"/>
          <p:cNvCxnSpPr>
            <a:stCxn id="8" idx="2"/>
            <a:endCxn id="5" idx="0"/>
          </p:cNvCxnSpPr>
          <p:nvPr/>
        </p:nvCxnSpPr>
        <p:spPr>
          <a:xfrm rot="5400000">
            <a:off x="613568" y="2470964"/>
            <a:ext cx="885774" cy="3016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17"/>
          <p:cNvGrpSpPr/>
          <p:nvPr/>
        </p:nvGrpSpPr>
        <p:grpSpPr>
          <a:xfrm>
            <a:off x="1428727" y="3286125"/>
            <a:ext cx="4354993" cy="961154"/>
            <a:chOff x="1181443" y="4786322"/>
            <a:chExt cx="3083956" cy="10169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1181443" y="5013082"/>
                  <a:ext cx="403207" cy="3907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n-US" b="1" dirty="0"/>
                    <a:t> :=</a:t>
                  </a: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1443" y="5013082"/>
                  <a:ext cx="403207" cy="390780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t="-9836" r="-9574" b="-22951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1854708" y="4786322"/>
                  <a:ext cx="2410691" cy="3907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a random </a:t>
                  </a:r>
                  <a14:m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𝐐𝐑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a14:m>
                  <a:r>
                    <a:rPr lang="en-US" b="1" baseline="-25000" dirty="0">
                      <a:solidFill>
                        <a:srgbClr val="C00000"/>
                      </a:solidFill>
                    </a:rPr>
                    <a:t> </a:t>
                  </a:r>
                  <a:r>
                    <a:rPr lang="en-US" b="1" dirty="0"/>
                    <a:t>            if 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4708" y="4786322"/>
                  <a:ext cx="2410691" cy="39078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1431" t="-9836" b="-22951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1854707" y="5214952"/>
                  <a:ext cx="2319322" cy="5883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a random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∖</m:t>
                      </m:r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𝐐𝐑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</m:oMath>
                  </a14:m>
                  <a:r>
                    <a:rPr lang="en-US" b="1" dirty="0"/>
                    <a:t>if 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en-US" b="1" dirty="0">
                    <a:solidFill>
                      <a:srgbClr val="FF0000"/>
                    </a:solidFill>
                  </a:endParaRPr>
                </a:p>
                <a:p>
                  <a:endParaRPr lang="en-US" b="1" baseline="-250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4707" y="5214952"/>
                  <a:ext cx="2319322" cy="588341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1487" t="-7692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Left Brace 16"/>
            <p:cNvSpPr/>
            <p:nvPr/>
          </p:nvSpPr>
          <p:spPr>
            <a:xfrm>
              <a:off x="1571604" y="4857760"/>
              <a:ext cx="285752" cy="714380"/>
            </a:xfrm>
            <a:prstGeom prst="leftBrace">
              <a:avLst>
                <a:gd name="adj1" fmla="val 35000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ight Arrow 18"/>
              <p:cNvSpPr/>
              <p:nvPr/>
            </p:nvSpPr>
            <p:spPr>
              <a:xfrm>
                <a:off x="1643042" y="4286256"/>
                <a:ext cx="4214842" cy="714380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to </a:t>
                </a:r>
                <a:r>
                  <a:rPr lang="en-US" b="1" dirty="0">
                    <a:solidFill>
                      <a:srgbClr val="0070C0"/>
                    </a:solidFill>
                  </a:rPr>
                  <a:t>commit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to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sends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Right Arrow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3042" y="4286256"/>
                <a:ext cx="4214842" cy="714380"/>
              </a:xfrm>
              <a:prstGeom prst="rightArrow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ight Arrow 20"/>
              <p:cNvSpPr/>
              <p:nvPr/>
            </p:nvSpPr>
            <p:spPr>
              <a:xfrm>
                <a:off x="1713420" y="5025025"/>
                <a:ext cx="4214842" cy="1259888"/>
              </a:xfrm>
              <a:prstGeom prst="rightArrow">
                <a:avLst>
                  <a:gd name="adj1" fmla="val 50000"/>
                  <a:gd name="adj2" fmla="val 32635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to </a:t>
                </a:r>
                <a:r>
                  <a:rPr lang="en-US" b="1" dirty="0">
                    <a:solidFill>
                      <a:srgbClr val="0070C0"/>
                    </a:solidFill>
                  </a:rPr>
                  <a:t>open</a:t>
                </a:r>
                <a:r>
                  <a:rPr lang="en-US" dirty="0"/>
                  <a:t> a commitment send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  <a:endParaRPr lang="en-US" b="1" dirty="0"/>
              </a:p>
            </p:txBody>
          </p:sp>
        </mc:Choice>
        <mc:Fallback xmlns="">
          <p:sp>
            <p:nvSpPr>
              <p:cNvPr id="21" name="Right Arrow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420" y="5025025"/>
                <a:ext cx="4214842" cy="1259888"/>
              </a:xfrm>
              <a:prstGeom prst="rightArrow">
                <a:avLst>
                  <a:gd name="adj1" fmla="val 50000"/>
                  <a:gd name="adj2" fmla="val 32635"/>
                </a:avLst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053663" y="4967277"/>
                <a:ext cx="2857520" cy="1571636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𝒑𝒒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then output </a:t>
                </a:r>
                <a:r>
                  <a:rPr lang="en-US" b="1" dirty="0">
                    <a:solidFill>
                      <a:schemeClr val="tx1"/>
                    </a:solidFill>
                  </a:rPr>
                  <a:t>error</a:t>
                </a: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Otherwise output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663" y="4967277"/>
                <a:ext cx="2857520" cy="1571636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15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9" grpId="0" animBg="1"/>
      <p:bldP spid="21" grpId="0" animBg="1"/>
      <p:bldP spid="2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703" y="124169"/>
            <a:ext cx="8150826" cy="1325563"/>
          </a:xfrm>
        </p:spPr>
        <p:txBody>
          <a:bodyPr>
            <a:normAutofit/>
          </a:bodyPr>
          <a:lstStyle/>
          <a:p>
            <a:r>
              <a:rPr lang="en-US" dirty="0"/>
              <a:t>This commitment scheme is unconditionally binding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2875" y="1887939"/>
                <a:ext cx="8458200" cy="1050153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2400" b="1" dirty="0"/>
                  <a:t>Why?</a:t>
                </a:r>
              </a:p>
              <a:p>
                <a:pPr>
                  <a:buNone/>
                </a:pPr>
                <a:r>
                  <a:rPr lang="en-US" sz="2400" dirty="0"/>
                  <a:t>Suppose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Alice</a:t>
                </a:r>
                <a:r>
                  <a:rPr lang="en-US" sz="2400" dirty="0"/>
                  <a:t> has sent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/>
                  <a:t>to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Bob</a:t>
                </a:r>
                <a:r>
                  <a:rPr lang="en-US" sz="2400" dirty="0"/>
                  <a:t>.</a:t>
                </a:r>
              </a:p>
              <a:p>
                <a:pPr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875" y="1887939"/>
                <a:ext cx="8458200" cy="1050153"/>
              </a:xfrm>
              <a:blipFill rotWithShape="0">
                <a:blip r:embed="rId3"/>
                <a:stretch>
                  <a:fillRect l="-1081" t="-814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0" y="3376300"/>
                <a:ext cx="9144000" cy="2677656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lIns="365760" rIns="182880">
                <a:spAutoFit/>
              </a:bodyPr>
              <a:lstStyle/>
              <a:p>
                <a:pPr>
                  <a:buNone/>
                </a:pPr>
                <a:r>
                  <a:rPr lang="en-US" sz="2400" dirty="0"/>
                  <a:t>What can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Bob</a:t>
                </a:r>
                <a:r>
                  <a:rPr lang="en-US" sz="2400" dirty="0"/>
                  <a:t> output at the end of the opening phase?</a:t>
                </a:r>
                <a:br>
                  <a:rPr lang="en-US" sz="2400" dirty="0"/>
                </a:br>
                <a:endParaRPr lang="en-US" sz="2400" dirty="0"/>
              </a:p>
              <a:p>
                <a:pPr>
                  <a:buNone/>
                </a:pPr>
                <a:r>
                  <a:rPr lang="en-US" sz="2400" dirty="0"/>
                  <a:t>There exists the following options:</a:t>
                </a:r>
              </a:p>
              <a:p>
                <a:pPr marL="514350" indent="-5143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/>
                  <a:t>is not an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RSA</a:t>
                </a:r>
                <a:r>
                  <a:rPr lang="en-US" sz="2400" dirty="0"/>
                  <a:t> modulus – in this case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Bob</a:t>
                </a:r>
                <a:r>
                  <a:rPr lang="en-US" sz="2400" dirty="0"/>
                  <a:t> will always output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error</a:t>
                </a:r>
                <a:r>
                  <a:rPr lang="en-US" sz="2400" dirty="0"/>
                  <a:t>,</a:t>
                </a:r>
              </a:p>
              <a:p>
                <a:pPr marL="514350" indent="-5143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sz="2400" dirty="0"/>
                  <a:t>– in this case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Bob</a:t>
                </a:r>
                <a:r>
                  <a:rPr lang="en-US" sz="2400" dirty="0"/>
                  <a:t> can only output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or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error</a:t>
                </a:r>
                <a:r>
                  <a:rPr lang="en-US" sz="2400" dirty="0"/>
                  <a:t>,</a:t>
                </a:r>
              </a:p>
              <a:p>
                <a:pPr marL="514350" indent="-5143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sz="2400" dirty="0"/>
                  <a:t>– in this case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Bob</a:t>
                </a:r>
                <a:r>
                  <a:rPr lang="en-US" sz="2400" dirty="0"/>
                  <a:t> can only output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or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error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76300"/>
                <a:ext cx="9144000" cy="267765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39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571480"/>
            <a:ext cx="8229600" cy="1511288"/>
          </a:xfrm>
        </p:spPr>
        <p:txBody>
          <a:bodyPr>
            <a:normAutofit fontScale="90000"/>
          </a:bodyPr>
          <a:lstStyle/>
          <a:p>
            <a:r>
              <a:rPr lang="en-US" dirty="0"/>
              <a:t>This commitment scheme is computationally hiding, assuming QRA holds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0034" y="2897269"/>
                <a:ext cx="8229600" cy="2521169"/>
              </a:xfr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>
                  <a:buNone/>
                </a:pPr>
                <a:r>
                  <a:rPr lang="en-US" b="1" u="sng" dirty="0">
                    <a:solidFill>
                      <a:srgbClr val="0070C0"/>
                    </a:solidFill>
                  </a:rPr>
                  <a:t>Proof (intuition)</a:t>
                </a:r>
              </a:p>
              <a:p>
                <a:pPr>
                  <a:buNone/>
                </a:pPr>
                <a:endParaRPr lang="en-US" b="1" u="sng" dirty="0"/>
              </a:p>
              <a:p>
                <a:pPr marL="0" indent="0">
                  <a:buNone/>
                </a:pPr>
                <a:r>
                  <a:rPr lang="en-US" dirty="0"/>
                  <a:t>To distinguish between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 malicious </a:t>
                </a:r>
                <a:r>
                  <a:rPr lang="en-US" b="1" dirty="0">
                    <a:solidFill>
                      <a:srgbClr val="0070C0"/>
                    </a:solidFill>
                  </a:rPr>
                  <a:t>Bob</a:t>
                </a:r>
                <a:r>
                  <a:rPr lang="en-US" dirty="0"/>
                  <a:t> would need to distinguish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𝐐𝐑</m:t>
                    </m:r>
                    <m:r>
                      <a:rPr lang="en-US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b="1" baseline="-25000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from the other elements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it-IT" b="1" baseline="-25000" dirty="0">
                    <a:solidFill>
                      <a:srgbClr val="C00000"/>
                    </a:solidFill>
                  </a:rPr>
                  <a:t> </a:t>
                </a:r>
                <a:r>
                  <a:rPr lang="it-IT" dirty="0"/>
                  <a:t>...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0034" y="2897269"/>
                <a:ext cx="8229600" cy="2521169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379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5918" y="1428736"/>
            <a:ext cx="6929486" cy="492922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Coin-flipping by telephone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Commitment schemes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definition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construction based on QRA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construction based on discrete log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construction based on PRG</a:t>
            </a:r>
          </a:p>
          <a:p>
            <a:pPr marL="400050" lvl="1" indent="0">
              <a:buNone/>
            </a:pPr>
            <a:endParaRPr lang="en-US" dirty="0"/>
          </a:p>
          <a:p>
            <a:pPr marL="914400" lvl="1" indent="-514350">
              <a:buNone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428596" y="3071810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3418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dirty="0"/>
              <a:t>A construction based on discrete log</a:t>
            </a:r>
          </a:p>
        </p:txBody>
      </p:sp>
      <p:pic>
        <p:nvPicPr>
          <p:cNvPr id="4" name="Picture 32" descr="MCj0411466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15140" y="2500306"/>
            <a:ext cx="1401763" cy="1457325"/>
          </a:xfrm>
          <a:prstGeom prst="rect">
            <a:avLst/>
          </a:prstGeom>
          <a:noFill/>
        </p:spPr>
      </p:pic>
      <p:pic>
        <p:nvPicPr>
          <p:cNvPr id="5" name="Picture 6" descr="MCj04158080000[1]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58" y="2714620"/>
            <a:ext cx="1368425" cy="14382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00034" y="1285860"/>
                <a:ext cx="1000132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a bit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34" y="1285860"/>
                <a:ext cx="1000132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>
            <a:stCxn id="6" idx="2"/>
            <a:endCxn id="5" idx="0"/>
          </p:cNvCxnSpPr>
          <p:nvPr/>
        </p:nvCxnSpPr>
        <p:spPr>
          <a:xfrm rot="16200000" flipH="1">
            <a:off x="506410" y="2179659"/>
            <a:ext cx="1028650" cy="4127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142976" y="2000240"/>
                <a:ext cx="3357586" cy="250033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t" anchorCtr="0"/>
              <a:lstStyle/>
              <a:p>
                <a:r>
                  <a:rPr lang="en-US" sz="2000" dirty="0"/>
                  <a:t>Select a random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Let </a:t>
                </a:r>
              </a:p>
              <a:p>
                <a:pPr>
                  <a:buFont typeface="Arial" pitchFamily="34" charset="0"/>
                  <a:buChar char="•"/>
                </a:pPr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76" y="2000240"/>
                <a:ext cx="3357586" cy="2500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10"/>
          <p:cNvGrpSpPr/>
          <p:nvPr/>
        </p:nvGrpSpPr>
        <p:grpSpPr>
          <a:xfrm>
            <a:off x="1428728" y="3429003"/>
            <a:ext cx="3714776" cy="959099"/>
            <a:chOff x="1181443" y="4786322"/>
            <a:chExt cx="2857520" cy="10147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1181443" y="5013082"/>
                  <a:ext cx="437990" cy="3907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n-US" b="1" dirty="0"/>
                    <a:t> :=</a:t>
                  </a: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1443" y="5013082"/>
                  <a:ext cx="437990" cy="39078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t="-11667" r="-9574" b="-25000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1854708" y="4786322"/>
                  <a:ext cx="2184255" cy="3907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b="1" i="1" baseline="30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b="1" dirty="0"/>
                    <a:t>          if 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4708" y="4786322"/>
                  <a:ext cx="2184255" cy="390780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t="-11667" b="-23333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1854708" y="5214948"/>
                  <a:ext cx="2170269" cy="5861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b="1" i="1" baseline="30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</m:oMath>
                  </a14:m>
                  <a:r>
                    <a:rPr lang="en-US" b="1" dirty="0"/>
                    <a:t>if 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en-US" b="1" dirty="0">
                    <a:solidFill>
                      <a:srgbClr val="FF0000"/>
                    </a:solidFill>
                  </a:endParaRPr>
                </a:p>
                <a:p>
                  <a:endParaRPr lang="en-US" b="1" baseline="-250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4708" y="5214948"/>
                  <a:ext cx="2170269" cy="586170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t="-7692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Left Brace 14"/>
            <p:cNvSpPr/>
            <p:nvPr/>
          </p:nvSpPr>
          <p:spPr>
            <a:xfrm>
              <a:off x="1571604" y="4857760"/>
              <a:ext cx="285752" cy="714380"/>
            </a:xfrm>
            <a:prstGeom prst="leftBrace">
              <a:avLst>
                <a:gd name="adj1" fmla="val 35000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349076" y="1922813"/>
                <a:ext cx="3498868" cy="369332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Select  </a:t>
                </a:r>
                <a14:m>
                  <m:oMath xmlns:m="http://schemas.openxmlformats.org/officeDocument/2006/math"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it-IT" dirty="0"/>
                  <a:t> – a random element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9076" y="1922813"/>
                <a:ext cx="349886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ight Arrow 16"/>
              <p:cNvSpPr/>
              <p:nvPr/>
            </p:nvSpPr>
            <p:spPr>
              <a:xfrm>
                <a:off x="1357290" y="4500570"/>
                <a:ext cx="4929222" cy="714380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to commit to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send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ight Arrow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290" y="4500570"/>
                <a:ext cx="4929222" cy="714380"/>
              </a:xfrm>
              <a:prstGeom prst="rightArrow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ight Arrow 17"/>
              <p:cNvSpPr/>
              <p:nvPr/>
            </p:nvSpPr>
            <p:spPr>
              <a:xfrm>
                <a:off x="1357290" y="5286388"/>
                <a:ext cx="4929222" cy="785818"/>
              </a:xfrm>
              <a:prstGeom prst="rightArrow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to open a commitment send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dirty="0"/>
                  <a:t>. </a:t>
                </a:r>
                <a:endParaRPr lang="en-US" b="1" dirty="0"/>
              </a:p>
            </p:txBody>
          </p:sp>
        </mc:Choice>
        <mc:Fallback xmlns="">
          <p:sp>
            <p:nvSpPr>
              <p:cNvPr id="18" name="Right Arrow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290" y="5286388"/>
                <a:ext cx="4929222" cy="785818"/>
              </a:xfrm>
              <a:prstGeom prst="rightArrow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6221625" y="5286388"/>
                <a:ext cx="2787637" cy="906520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b="1" i="1" baseline="30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     </a:t>
                </a:r>
                <a:r>
                  <a:rPr lang="en-US" dirty="0"/>
                  <a:t>output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·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b="1" i="1" baseline="30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output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625" y="5286388"/>
                <a:ext cx="2787637" cy="90652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Left Arrow 19"/>
              <p:cNvSpPr/>
              <p:nvPr/>
            </p:nvSpPr>
            <p:spPr>
              <a:xfrm>
                <a:off x="4714876" y="2500306"/>
                <a:ext cx="1714512" cy="714380"/>
              </a:xfrm>
              <a:prstGeom prst="lef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Left Arrow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76" y="2500306"/>
                <a:ext cx="1714512" cy="714380"/>
              </a:xfrm>
              <a:prstGeom prst="leftArrow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oter Placeholder 7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rostokąt 8">
                <a:extLst>
                  <a:ext uri="{FF2B5EF4-FFF2-40B4-BE49-F238E27FC236}">
                    <a16:creationId xmlns:a16="http://schemas.microsoft.com/office/drawing/2014/main" id="{16F1497E-57D6-4726-B641-331C1E4D43EE}"/>
                  </a:ext>
                </a:extLst>
              </p:cNvPr>
              <p:cNvSpPr/>
              <p:nvPr/>
            </p:nvSpPr>
            <p:spPr>
              <a:xfrm>
                <a:off x="4067186" y="887868"/>
                <a:ext cx="514427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dirty="0"/>
                  <a:t> – </a:t>
                </a:r>
                <a:r>
                  <a:rPr lang="pl-PL" dirty="0"/>
                  <a:t>a </a:t>
                </a:r>
                <a:r>
                  <a:rPr lang="en-US" dirty="0"/>
                  <a:t>group in which discrete log is hard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dirty="0"/>
                  <a:t> – a generator of </a:t>
                </a:r>
                <a14:m>
                  <m:oMath xmlns:m="http://schemas.openxmlformats.org/officeDocument/2006/math">
                    <m:r>
                      <a:rPr lang="pl-PL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Prostokąt 8">
                <a:extLst>
                  <a:ext uri="{FF2B5EF4-FFF2-40B4-BE49-F238E27FC236}">
                    <a16:creationId xmlns:a16="http://schemas.microsoft.com/office/drawing/2014/main" id="{16F1497E-57D6-4726-B641-331C1E4D43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186" y="887868"/>
                <a:ext cx="5144270" cy="646331"/>
              </a:xfrm>
              <a:prstGeom prst="rect">
                <a:avLst/>
              </a:prstGeom>
              <a:blipFill>
                <a:blip r:embed="rId15"/>
                <a:stretch>
                  <a:fillRect t="-6604" b="-1320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640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59493" y="365126"/>
                <a:ext cx="8600302" cy="1325563"/>
              </a:xfrm>
            </p:spPr>
            <p:txBody>
              <a:bodyPr>
                <a:noAutofit/>
              </a:bodyPr>
              <a:lstStyle/>
              <a:p>
                <a:br>
                  <a:rPr lang="en-US" sz="3600" dirty="0"/>
                </a:br>
                <a:r>
                  <a:rPr lang="en-US" sz="3600" dirty="0"/>
                  <a:t>This commitment scheme is </a:t>
                </a:r>
                <a:r>
                  <a:rPr lang="en-US" sz="3600" b="1" dirty="0">
                    <a:solidFill>
                      <a:srgbClr val="0070C0"/>
                    </a:solidFill>
                  </a:rPr>
                  <a:t>computationally binding</a:t>
                </a:r>
                <a:r>
                  <a:rPr lang="en-US" sz="3600" dirty="0"/>
                  <a:t>, assuming that the discrete log is hard in 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endParaRPr lang="en-US" sz="36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59493" y="365126"/>
                <a:ext cx="8600302" cy="1325563"/>
              </a:xfrm>
              <a:blipFill>
                <a:blip r:embed="rId3"/>
                <a:stretch>
                  <a:fillRect l="-2199" t="-1843" b="-4562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7158" y="2643182"/>
                <a:ext cx="8229600" cy="3286148"/>
              </a:xfr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b="1" u="sng" dirty="0">
                    <a:solidFill>
                      <a:srgbClr val="0070C0"/>
                    </a:solidFill>
                  </a:rPr>
                  <a:t>Proof (intuition)</a:t>
                </a:r>
              </a:p>
              <a:p>
                <a:pPr>
                  <a:buNone/>
                </a:pPr>
                <a:r>
                  <a:rPr lang="en-US" dirty="0"/>
                  <a:t>To be able to open the commitment in two ways, a </a:t>
                </a:r>
                <a:r>
                  <a:rPr lang="en-US" b="1" dirty="0">
                    <a:solidFill>
                      <a:srgbClr val="0070C0"/>
                    </a:solidFill>
                  </a:rPr>
                  <a:t>cheating Alice </a:t>
                </a:r>
                <a:r>
                  <a:rPr lang="en-US" dirty="0"/>
                  <a:t>needs to know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such that there exists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such that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b="1" i="1" baseline="30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err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sSup>
                            <m:sSupPr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b="1" baseline="30000" dirty="0">
                  <a:solidFill>
                    <a:srgbClr val="FF0000"/>
                  </a:solidFill>
                </a:endParaRPr>
              </a:p>
              <a:p>
                <a:pPr>
                  <a:buNone/>
                </a:pPr>
                <a:r>
                  <a:rPr lang="en-US" dirty="0"/>
                  <a:t>But this means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dirty="0"/>
                  <a:t>.  So, she would know the discrete log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dirty="0"/>
                  <a:t>.</a:t>
                </a:r>
                <a:endParaRPr lang="it-IT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7158" y="2643182"/>
                <a:ext cx="8229600" cy="3286148"/>
              </a:xfrm>
              <a:blipFill rotWithShape="0">
                <a:blip r:embed="rId4"/>
                <a:stretch>
                  <a:fillRect l="-1251" t="-255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68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571480"/>
            <a:ext cx="8229600" cy="1511288"/>
          </a:xfrm>
        </p:spPr>
        <p:txBody>
          <a:bodyPr>
            <a:normAutofit/>
          </a:bodyPr>
          <a:lstStyle/>
          <a:p>
            <a:r>
              <a:rPr lang="en-US" dirty="0"/>
              <a:t>This commitment scheme is unconditionally hiding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714621"/>
                <a:ext cx="8229600" cy="2085980"/>
              </a:xfr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>
                  <a:buNone/>
                </a:pPr>
                <a:r>
                  <a:rPr lang="en-US" b="1" u="sng" dirty="0">
                    <a:solidFill>
                      <a:srgbClr val="0070C0"/>
                    </a:solidFill>
                  </a:rPr>
                  <a:t>Why?</a:t>
                </a:r>
              </a:p>
              <a:p>
                <a:pPr>
                  <a:buNone/>
                </a:pPr>
                <a:endParaRPr lang="en-US" sz="2000" b="1" u="sng" dirty="0"/>
              </a:p>
              <a:p>
                <a:pPr marL="0" indent="0" algn="ctr">
                  <a:buNone/>
                </a:pPr>
                <a:r>
                  <a:rPr lang="en-US" dirty="0"/>
                  <a:t>Because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is just a random element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dirty="0"/>
                  <a:t>.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714621"/>
                <a:ext cx="8229600" cy="2085980"/>
              </a:xfrm>
              <a:blipFill>
                <a:blip r:embed="rId3"/>
                <a:stretch>
                  <a:fillRect l="-1177" t="-369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985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5918" y="1428736"/>
            <a:ext cx="6929486" cy="492922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Coin-flipping by telephone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Commitment schemes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definition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construction based on QRA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construction based on discrete log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construction based on PRG</a:t>
            </a:r>
          </a:p>
          <a:p>
            <a:pPr marL="400050" lvl="1" indent="0">
              <a:buNone/>
            </a:pPr>
            <a:endParaRPr lang="en-US" dirty="0"/>
          </a:p>
          <a:p>
            <a:pPr marL="914400" lvl="1" indent="-514350">
              <a:buNone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500034" y="3526972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4211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A construction based on PRGs </a:t>
            </a:r>
            <a:r>
              <a:rPr lang="en-US" sz="3600" b="1" dirty="0">
                <a:solidFill>
                  <a:srgbClr val="0070C0"/>
                </a:solidFill>
              </a:rPr>
              <a:t>[Naor’91]</a:t>
            </a:r>
          </a:p>
        </p:txBody>
      </p:sp>
      <p:pic>
        <p:nvPicPr>
          <p:cNvPr id="4" name="Picture 32" descr="MCj0411466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29454" y="2571744"/>
            <a:ext cx="1401763" cy="1457325"/>
          </a:xfrm>
          <a:prstGeom prst="rect">
            <a:avLst/>
          </a:prstGeom>
          <a:noFill/>
        </p:spPr>
      </p:pic>
      <p:pic>
        <p:nvPicPr>
          <p:cNvPr id="5" name="Picture 6" descr="MCj04158080000[1]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58" y="2714620"/>
            <a:ext cx="1368425" cy="14382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71472" y="1857364"/>
                <a:ext cx="1000132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a bit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72" y="1857364"/>
                <a:ext cx="1000132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>
            <a:stCxn id="6" idx="2"/>
            <a:endCxn id="5" idx="0"/>
          </p:cNvCxnSpPr>
          <p:nvPr/>
        </p:nvCxnSpPr>
        <p:spPr>
          <a:xfrm rot="5400000">
            <a:off x="827882" y="2470964"/>
            <a:ext cx="457146" cy="3016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Left Arrow 7"/>
              <p:cNvSpPr/>
              <p:nvPr/>
            </p:nvSpPr>
            <p:spPr>
              <a:xfrm>
                <a:off x="2571736" y="2500306"/>
                <a:ext cx="3929090" cy="714380"/>
              </a:xfrm>
              <a:prstGeom prst="lef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Left Arrow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736" y="2500306"/>
                <a:ext cx="3929090" cy="714380"/>
              </a:xfrm>
              <a:prstGeom prst="leftArrow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785918" y="1214422"/>
                <a:ext cx="361720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:{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→{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 </a:t>
                </a:r>
                <a:r>
                  <a:rPr lang="en-US" sz="2400" b="1" dirty="0"/>
                  <a:t>PRG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918" y="1214422"/>
                <a:ext cx="3617209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506" t="-10526" r="-1518" b="-2894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715008" y="1714488"/>
                <a:ext cx="3286148" cy="70788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select a random string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8" y="1714488"/>
                <a:ext cx="3286148" cy="70788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 rot="5400000">
            <a:off x="827882" y="2470964"/>
            <a:ext cx="457146" cy="3016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071538" y="3286124"/>
                <a:ext cx="3071834" cy="178595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t" anchorCtr="0"/>
              <a:lstStyle/>
              <a:p>
                <a:r>
                  <a:rPr lang="en-US" dirty="0"/>
                  <a:t>select a random string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and let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538" y="3286124"/>
                <a:ext cx="3071834" cy="178595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12"/>
          <p:cNvGrpSpPr/>
          <p:nvPr/>
        </p:nvGrpSpPr>
        <p:grpSpPr>
          <a:xfrm>
            <a:off x="1214414" y="4071942"/>
            <a:ext cx="3500462" cy="959099"/>
            <a:chOff x="1181443" y="4786324"/>
            <a:chExt cx="2857520" cy="10147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1181443" y="5013082"/>
                  <a:ext cx="475274" cy="3907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a14:m>
                  <a:r>
                    <a:rPr lang="en-US" b="1" dirty="0"/>
                    <a:t> :=</a:t>
                  </a: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1443" y="5013082"/>
                  <a:ext cx="475274" cy="390780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t="-9836" r="-9375" b="-22951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1854708" y="4786324"/>
                  <a:ext cx="2184255" cy="3907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d>
                        <m:d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a14:m>
                  <a:r>
                    <a:rPr lang="en-US" b="1" dirty="0"/>
                    <a:t>if 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4708" y="4786324"/>
                  <a:ext cx="2184255" cy="390780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 t="-11475" b="-22951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1854708" y="5214951"/>
                  <a:ext cx="2170269" cy="5861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b="1" dirty="0">
                      <a:solidFill>
                        <a:srgbClr val="C00000"/>
                      </a:solidFill>
                    </a:rPr>
                    <a:t>            </a:t>
                  </a:r>
                  <a:r>
                    <a:rPr lang="en-US" b="1" dirty="0"/>
                    <a:t>if 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en-US" b="1" dirty="0">
                    <a:solidFill>
                      <a:srgbClr val="FF0000"/>
                    </a:solidFill>
                  </a:endParaRPr>
                </a:p>
                <a:p>
                  <a:endParaRPr lang="en-US" b="1" baseline="-250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4708" y="5214951"/>
                  <a:ext cx="2170269" cy="586170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t="-6593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Left Brace 16"/>
            <p:cNvSpPr/>
            <p:nvPr/>
          </p:nvSpPr>
          <p:spPr>
            <a:xfrm>
              <a:off x="1571604" y="4857760"/>
              <a:ext cx="285752" cy="714380"/>
            </a:xfrm>
            <a:prstGeom prst="leftBrace">
              <a:avLst>
                <a:gd name="adj1" fmla="val 35000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ight Arrow 17"/>
              <p:cNvSpPr/>
              <p:nvPr/>
            </p:nvSpPr>
            <p:spPr>
              <a:xfrm>
                <a:off x="1357290" y="5857892"/>
                <a:ext cx="4357718" cy="785818"/>
              </a:xfrm>
              <a:prstGeom prst="rightArrow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to open a commitment send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en-US" dirty="0"/>
                  <a:t>. </a:t>
                </a:r>
                <a:endParaRPr lang="en-US" b="1" dirty="0"/>
              </a:p>
            </p:txBody>
          </p:sp>
        </mc:Choice>
        <mc:Fallback xmlns="">
          <p:sp>
            <p:nvSpPr>
              <p:cNvPr id="18" name="Right Arrow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290" y="5857892"/>
                <a:ext cx="4357718" cy="785818"/>
              </a:xfrm>
              <a:prstGeom prst="rightArrow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831648" y="5857892"/>
                <a:ext cx="3211242" cy="857256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d>
                      <m:d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</m:d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/>
                  <a:t>output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          </a:t>
                </a:r>
                <a:r>
                  <a:rPr lang="en-US" dirty="0"/>
                  <a:t>output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1648" y="5857892"/>
                <a:ext cx="3211242" cy="857256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ight Arrow 20"/>
              <p:cNvSpPr/>
              <p:nvPr/>
            </p:nvSpPr>
            <p:spPr>
              <a:xfrm>
                <a:off x="1357290" y="5072074"/>
                <a:ext cx="4357718" cy="714380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to commit to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send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Right Arrow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290" y="5072074"/>
                <a:ext cx="4357718" cy="714380"/>
              </a:xfrm>
              <a:prstGeom prst="rightArrow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151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8" grpId="0" animBg="1"/>
      <p:bldP spid="19" grpId="0" animBg="1"/>
      <p:bldP spid="2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41" y="42369"/>
            <a:ext cx="8929718" cy="1325563"/>
          </a:xfrm>
        </p:spPr>
        <p:txBody>
          <a:bodyPr>
            <a:noAutofit/>
          </a:bodyPr>
          <a:lstStyle/>
          <a:p>
            <a:r>
              <a:rPr lang="en-US" sz="3600" dirty="0"/>
              <a:t>This commitment scheme is unconditionally binding</a:t>
            </a:r>
            <a:endParaRPr lang="en-US" sz="3600" b="1" baseline="-250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677" y="1326126"/>
            <a:ext cx="8572560" cy="42862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u="sng" dirty="0">
                <a:solidFill>
                  <a:srgbClr val="0070C0"/>
                </a:solidFill>
              </a:rPr>
              <a:t>Proof (intuition)</a:t>
            </a:r>
          </a:p>
          <a:p>
            <a:pPr>
              <a:buNone/>
            </a:pPr>
            <a:endParaRPr lang="en-US" b="1" dirty="0">
              <a:solidFill>
                <a:srgbClr val="C00000"/>
              </a:solidFill>
            </a:endParaRP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it-IT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0" y="3381767"/>
                <a:ext cx="9144000" cy="290411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lIns="216000">
                <a:noAutofit/>
              </a:bodyPr>
              <a:lstStyle/>
              <a:p>
                <a:pPr>
                  <a:buNone/>
                </a:pPr>
                <a:r>
                  <a:rPr lang="en-US" sz="2400" dirty="0"/>
                  <a:t>How many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400" dirty="0"/>
                  <a:t>’s have the property that </a:t>
                </a:r>
              </a:p>
              <a:p>
                <a:pPr algn="ctr">
                  <a:buNone/>
                </a:pPr>
                <a:r>
                  <a:rPr lang="en-US" sz="2400" dirty="0"/>
                  <a:t> </a:t>
                </a:r>
                <a:r>
                  <a:rPr lang="en-US" sz="2400" b="1" dirty="0"/>
                  <a:t>there exist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b="1" dirty="0"/>
                  <a:t>and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b="1" dirty="0"/>
                  <a:t>such that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d>
                      <m:d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</m:d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’) = 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?</a:t>
                </a:r>
                <a:endParaRPr lang="en-US" sz="2400" b="1" dirty="0">
                  <a:solidFill>
                    <a:srgbClr val="FF0000"/>
                  </a:solidFill>
                </a:endParaRPr>
              </a:p>
              <a:p>
                <a:pPr>
                  <a:buNone/>
                </a:pPr>
                <a:r>
                  <a:rPr lang="en-US" sz="2400" dirty="0"/>
                  <a:t>By the counting argument: at most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l-PL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l-PL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sup>
                                <m:r>
                                  <a:rPr lang="pl-PL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l-PL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pl-P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l-PL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pl-PL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pl-PL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sup>
                    </m:sSup>
                  </m:oMath>
                </a14:m>
                <a:r>
                  <a:rPr lang="en-US" sz="2400" dirty="0"/>
                  <a:t>.</a:t>
                </a:r>
                <a:br>
                  <a:rPr lang="en-US" sz="2400" dirty="0"/>
                </a:br>
                <a:endParaRPr lang="en-US" sz="500" dirty="0"/>
              </a:p>
              <a:p>
                <a:pPr>
                  <a:buNone/>
                </a:pPr>
                <a:r>
                  <a:rPr lang="en-US" sz="2400" dirty="0"/>
                  <a:t>Therefore, the probability that a </a:t>
                </a:r>
                <a:r>
                  <a:rPr lang="en-US" sz="2400" b="1" dirty="0"/>
                  <a:t>random </a:t>
                </a:r>
                <a14:m>
                  <m:oMath xmlns:m="http://schemas.openxmlformats.org/officeDocument/2006/math">
                    <m:r>
                      <a:rPr lang="pl-P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pl-P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l-PL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pl-PL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l-PL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pl-PL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l-PL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pl-PL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pl-PL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sup>
                    </m:sSup>
                  </m:oMath>
                </a14:m>
                <a:r>
                  <a:rPr lang="en-US" sz="2400" b="1" baseline="30000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b="1" dirty="0"/>
                  <a:t> </a:t>
                </a:r>
                <a:r>
                  <a:rPr lang="en-US" sz="2400" dirty="0"/>
                  <a:t>has this property is at most</a:t>
                </a:r>
                <a:endParaRPr lang="pl-PL" sz="2400" dirty="0"/>
              </a:p>
              <a:p>
                <a:pPr algn="ctr">
                  <a:buNone/>
                </a:pPr>
                <a:r>
                  <a:rPr lang="en-US" sz="36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l-PL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l-PL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pl-PL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pl-PL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pl-PL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l-PL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pl-PL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pl-PL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sup>
                        </m:sSup>
                      </m:den>
                    </m:f>
                    <m:r>
                      <a:rPr lang="pl-PL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l-PL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pl-PL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l-PL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sup>
                    </m:sSup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81767"/>
                <a:ext cx="9144000" cy="290411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8286776" y="6286520"/>
            <a:ext cx="7409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400" b="1" dirty="0"/>
              <a:t>QED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0" y="1707621"/>
                <a:ext cx="9144000" cy="156966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lIns="216000">
                <a:spAutoFit/>
              </a:bodyPr>
              <a:lstStyle/>
              <a:p>
                <a:pPr>
                  <a:buNone/>
                </a:pPr>
                <a:r>
                  <a:rPr lang="en-US" sz="2400" dirty="0"/>
                  <a:t>To be able to open the commitment in two ways, a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cheating Alice</a:t>
                </a:r>
                <a:r>
                  <a:rPr lang="en-US" sz="2400" dirty="0"/>
                  <a:t> needs to find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such that there exists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sz="2400" dirty="0"/>
                  <a:t> such that: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d>
                        <m:d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’)</m:t>
                      </m:r>
                    </m:oMath>
                  </m:oMathPara>
                </a14:m>
                <a:endParaRPr lang="en-US" sz="2400" b="1" baseline="30000" dirty="0">
                  <a:solidFill>
                    <a:srgbClr val="FF0000"/>
                  </a:solidFill>
                </a:endParaRPr>
              </a:p>
              <a:p>
                <a:pPr>
                  <a:buNone/>
                </a:pPr>
                <a:r>
                  <a:rPr lang="en-US" sz="2400" dirty="0"/>
                  <a:t>This means that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d>
                      <m:d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</m:d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’) = 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07621"/>
                <a:ext cx="9144000" cy="156966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233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animBg="1"/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571480"/>
            <a:ext cx="8229600" cy="1511288"/>
          </a:xfrm>
        </p:spPr>
        <p:txBody>
          <a:bodyPr>
            <a:normAutofit fontScale="90000"/>
          </a:bodyPr>
          <a:lstStyle/>
          <a:p>
            <a:r>
              <a:rPr lang="en-US" dirty="0"/>
              <a:t>This commitment scheme is computationally hiding, assuming </a:t>
            </a:r>
            <a:r>
              <a:rPr lang="en-US" b="1" i="1" dirty="0">
                <a:solidFill>
                  <a:srgbClr val="FF0000"/>
                </a:solidFill>
              </a:rPr>
              <a:t>G</a:t>
            </a:r>
            <a:r>
              <a:rPr lang="en-US" dirty="0"/>
              <a:t> is a secure </a:t>
            </a:r>
            <a:r>
              <a:rPr lang="en-US" b="1" dirty="0">
                <a:solidFill>
                  <a:srgbClr val="0070C0"/>
                </a:solidFill>
              </a:rPr>
              <a:t>PRG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563586"/>
                <a:ext cx="8229600" cy="3562577"/>
              </a:xfr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lIns="182880" tIns="182880" rIns="274320" bIns="182880">
                <a:normAutofit fontScale="92500" lnSpcReduction="20000"/>
              </a:bodyPr>
              <a:lstStyle/>
              <a:p>
                <a:pPr algn="ctr">
                  <a:buNone/>
                </a:pPr>
                <a:r>
                  <a:rPr lang="en-US" b="1" u="sng" dirty="0">
                    <a:solidFill>
                      <a:srgbClr val="0070C0"/>
                    </a:solidFill>
                  </a:rPr>
                  <a:t>Why?</a:t>
                </a:r>
              </a:p>
              <a:p>
                <a:pPr>
                  <a:buNone/>
                </a:pPr>
                <a:endParaRPr lang="en-US" b="1" u="sng" dirty="0"/>
              </a:p>
              <a:p>
                <a:pPr marL="0" indent="0">
                  <a:buNone/>
                </a:pPr>
                <a:r>
                  <a:rPr lang="en-US" dirty="0"/>
                  <a:t>Obviously, if, instead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b="1" dirty="0">
                    <a:solidFill>
                      <a:srgbClr val="0070C0"/>
                    </a:solidFill>
                  </a:rPr>
                  <a:t>Alice</a:t>
                </a:r>
                <a:r>
                  <a:rPr lang="en-US" dirty="0"/>
                  <a:t> uses a completely random string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dirty="0"/>
                  <a:t>, then the scheme is secure against a </a:t>
                </a:r>
                <a:r>
                  <a:rPr lang="en-US" b="1" dirty="0">
                    <a:solidFill>
                      <a:srgbClr val="0070C0"/>
                    </a:solidFill>
                  </a:rPr>
                  <a:t>cheating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0070C0"/>
                    </a:solidFill>
                  </a:rPr>
                  <a:t>Bob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If a scheme behaved differently with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with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</a:t>
                </a:r>
                <a:r>
                  <a:rPr lang="en-US" b="1" dirty="0"/>
                  <a:t> </a:t>
                </a:r>
                <a:r>
                  <a:rPr lang="en-US" dirty="0"/>
                  <a:t>then a </a:t>
                </a:r>
                <a:r>
                  <a:rPr lang="en-US" b="1" dirty="0">
                    <a:solidFill>
                      <a:srgbClr val="0070C0"/>
                    </a:solidFill>
                  </a:rPr>
                  <a:t>cheating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0070C0"/>
                    </a:solidFill>
                  </a:rPr>
                  <a:t>Bob</a:t>
                </a:r>
                <a:r>
                  <a:rPr lang="en-US" dirty="0"/>
                  <a:t> could be used as a distinguisher for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563586"/>
                <a:ext cx="8229600" cy="3562577"/>
              </a:xfrm>
              <a:blipFill rotWithShape="0">
                <a:blip r:embed="rId3"/>
                <a:stretch>
                  <a:fillRect t="-33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975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loud 9"/>
          <p:cNvSpPr/>
          <p:nvPr/>
        </p:nvSpPr>
        <p:spPr>
          <a:xfrm>
            <a:off x="214282" y="1357298"/>
            <a:ext cx="8786874" cy="4214842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910" y="0"/>
            <a:ext cx="8229600" cy="1143000"/>
          </a:xfrm>
        </p:spPr>
        <p:txBody>
          <a:bodyPr/>
          <a:lstStyle/>
          <a:p>
            <a:r>
              <a:rPr lang="en-US" dirty="0"/>
              <a:t>Moral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5715016"/>
            <a:ext cx="8229600" cy="739749"/>
          </a:xfrm>
        </p:spPr>
        <p:txBody>
          <a:bodyPr/>
          <a:lstStyle/>
          <a:p>
            <a:pPr>
              <a:buNone/>
            </a:pPr>
            <a:r>
              <a:rPr lang="en-US" dirty="0"/>
              <a:t>Commitment schemes are a part of </a:t>
            </a:r>
            <a:r>
              <a:rPr lang="en-US" b="1" dirty="0" err="1"/>
              <a:t>Minicrypt</a:t>
            </a:r>
            <a:r>
              <a:rPr lang="en-US" dirty="0"/>
              <a:t>!</a:t>
            </a:r>
          </a:p>
        </p:txBody>
      </p:sp>
      <p:sp>
        <p:nvSpPr>
          <p:cNvPr id="4" name="AutoShape 8"/>
          <p:cNvSpPr>
            <a:spLocks noChangeArrowheads="1"/>
          </p:cNvSpPr>
          <p:nvPr/>
        </p:nvSpPr>
        <p:spPr bwMode="auto">
          <a:xfrm>
            <a:off x="4000496" y="2500306"/>
            <a:ext cx="1285884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500166" y="2711231"/>
            <a:ext cx="2214578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dirty="0"/>
              <a:t>one-way functions</a:t>
            </a:r>
          </a:p>
          <a:p>
            <a:pPr marL="609600" indent="-609600" algn="ctr">
              <a:buFontTx/>
              <a:buNone/>
            </a:pPr>
            <a:r>
              <a:rPr lang="en-US" dirty="0"/>
              <a:t>exist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429256" y="2714620"/>
            <a:ext cx="2714644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dirty="0"/>
              <a:t>commitment schemes</a:t>
            </a:r>
          </a:p>
          <a:p>
            <a:pPr marL="609600" indent="-609600" algn="ctr">
              <a:buFontTx/>
              <a:buNone/>
            </a:pPr>
            <a:r>
              <a:rPr lang="en-US" dirty="0"/>
              <a:t>exist</a:t>
            </a: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 rot="10800000">
            <a:off x="3929058" y="3071810"/>
            <a:ext cx="1285884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" name="Rectangular Callout 8"/>
          <p:cNvSpPr/>
          <p:nvPr/>
        </p:nvSpPr>
        <p:spPr>
          <a:xfrm>
            <a:off x="4429124" y="4143380"/>
            <a:ext cx="2500330" cy="500066"/>
          </a:xfrm>
          <a:prstGeom prst="wedgeRectCallout">
            <a:avLst>
              <a:gd name="adj1" fmla="val -43037"/>
              <a:gd name="adj2" fmla="val -21396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this can also be shown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917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229" y="161019"/>
            <a:ext cx="7886700" cy="1325563"/>
          </a:xfrm>
        </p:spPr>
        <p:txBody>
          <a:bodyPr/>
          <a:lstStyle/>
          <a:p>
            <a:r>
              <a:rPr lang="en-US" dirty="0"/>
              <a:t>String commitment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87779" y="1825625"/>
                <a:ext cx="8629649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How to commit to a longer string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Just commit to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 separately.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To open the commitment, open each commitment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r">
                  <a:buNone/>
                </a:pPr>
                <a:r>
                  <a:rPr lang="en-US" dirty="0"/>
                  <a:t>(</a:t>
                </a:r>
                <a:r>
                  <a:rPr lang="en-US" b="1" dirty="0">
                    <a:solidFill>
                      <a:srgbClr val="7030A0"/>
                    </a:solidFill>
                  </a:rPr>
                  <a:t>Bob </a:t>
                </a:r>
                <a:r>
                  <a:rPr lang="en-US" dirty="0"/>
                  <a:t>accepts only if all the openings were </a:t>
                </a:r>
                <a:r>
                  <a:rPr lang="en-US" b="1" dirty="0"/>
                  <a:t>ok</a:t>
                </a:r>
                <a:r>
                  <a:rPr lang="en-US" dirty="0"/>
                  <a:t>)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pl-P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779" y="1825625"/>
                <a:ext cx="8629649" cy="4351338"/>
              </a:xfrm>
              <a:blipFill rotWithShape="0">
                <a:blip r:embed="rId2"/>
                <a:stretch>
                  <a:fillRect l="-1484" t="-2381" r="-240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Pismo odręczne 4">
                <a:extLst>
                  <a:ext uri="{FF2B5EF4-FFF2-40B4-BE49-F238E27FC236}">
                    <a16:creationId xmlns:a16="http://schemas.microsoft.com/office/drawing/2014/main" id="{D8B14855-ABDB-4EEE-AF9F-E30321148830}"/>
                  </a:ext>
                </a:extLst>
              </p14:cNvPr>
              <p14:cNvContentPartPr/>
              <p14:nvPr/>
            </p14:nvContentPartPr>
            <p14:xfrm>
              <a:off x="4636800" y="6152040"/>
              <a:ext cx="360" cy="360"/>
            </p14:xfrm>
          </p:contentPart>
        </mc:Choice>
        <mc:Fallback xmlns="">
          <p:pic>
            <p:nvPicPr>
              <p:cNvPr id="5" name="Pismo odręczne 4">
                <a:extLst>
                  <a:ext uri="{FF2B5EF4-FFF2-40B4-BE49-F238E27FC236}">
                    <a16:creationId xmlns:a16="http://schemas.microsoft.com/office/drawing/2014/main" id="{D8B14855-ABDB-4EEE-AF9F-E303211488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27440" y="614268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2271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5750" y="5429250"/>
            <a:ext cx="8429625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Arial"/>
              </a:rPr>
              <a:t>©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+mn-cs"/>
              </a:rPr>
              <a:t>202</a:t>
            </a:r>
            <a:r>
              <a:rPr lang="en-GB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</a:rPr>
              <a:t>3</a:t>
            </a:r>
            <a:r>
              <a:rPr lang="en-US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+mn-cs"/>
              </a:rPr>
              <a:t>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+mn-cs"/>
              </a:rPr>
              <a:t>by Stefan Dziembowski. Permission to make digital or hard copies of part or all of this material is currently granted without fee </a:t>
            </a:r>
            <a:r>
              <a:rPr lang="en-US" i="1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+mn-cs"/>
              </a:rPr>
              <a:t>provided that copies are made only for personal or classroom use, are not distributed for profit or commercial advantage, and that new copies bear this notice and the full citation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+mn-cs"/>
              </a:rPr>
              <a:t>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075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2080</Words>
  <Application>Microsoft Office PowerPoint</Application>
  <PresentationFormat>Pokaz na ekranie (4:3)</PresentationFormat>
  <Paragraphs>380</Paragraphs>
  <Slides>39</Slides>
  <Notes>36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39</vt:i4>
      </vt:variant>
    </vt:vector>
  </HeadingPairs>
  <TitlesOfParts>
    <vt:vector size="45" baseType="lpstr">
      <vt:lpstr>Arial</vt:lpstr>
      <vt:lpstr>Calibri</vt:lpstr>
      <vt:lpstr>Cambria</vt:lpstr>
      <vt:lpstr>Cambria Math</vt:lpstr>
      <vt:lpstr>Wingdings</vt:lpstr>
      <vt:lpstr>Office Theme</vt:lpstr>
      <vt:lpstr>Prezentacja programu PowerPoint</vt:lpstr>
      <vt:lpstr>Plan</vt:lpstr>
      <vt:lpstr>Coin-flipping by telephone [Blum’81]</vt:lpstr>
      <vt:lpstr>How to define security? [1/2]</vt:lpstr>
      <vt:lpstr>How to define security? [2/2]</vt:lpstr>
      <vt:lpstr>Note the difference</vt:lpstr>
      <vt:lpstr>How to solve this problem?</vt:lpstr>
      <vt:lpstr>Prezentacja programu PowerPoint</vt:lpstr>
      <vt:lpstr>Let’s simplify this game</vt:lpstr>
      <vt:lpstr>Another way to look at it</vt:lpstr>
      <vt:lpstr>What to do?</vt:lpstr>
      <vt:lpstr>How to prevent this?</vt:lpstr>
      <vt:lpstr>Plan</vt:lpstr>
      <vt:lpstr>Commitment schemes – an intuition</vt:lpstr>
      <vt:lpstr>Commitment schemes – a functional definition</vt:lpstr>
      <vt:lpstr>Security requirements - informally</vt:lpstr>
      <vt:lpstr>How to define security formally?</vt:lpstr>
      <vt:lpstr>The computational power of the adversary</vt:lpstr>
      <vt:lpstr>Unconditionally hiding and binding commitment schemes do not exist</vt:lpstr>
      <vt:lpstr>So, how does it solve the coin-flipping problem?</vt:lpstr>
      <vt:lpstr>Problem</vt:lpstr>
      <vt:lpstr>Plan</vt:lpstr>
      <vt:lpstr>Remember quadratic residues modulo an RSA modulus?</vt:lpstr>
      <vt:lpstr>Jacobi Symbol</vt:lpstr>
      <vt:lpstr>Quadratic Residuosity Assumption </vt:lpstr>
      <vt:lpstr>A construction based on QRA</vt:lpstr>
      <vt:lpstr>This commitment scheme is unconditionally binding </vt:lpstr>
      <vt:lpstr>This commitment scheme is computationally hiding, assuming QRA holds </vt:lpstr>
      <vt:lpstr>Plan</vt:lpstr>
      <vt:lpstr>A construction based on discrete log</vt:lpstr>
      <vt:lpstr> This commitment scheme is computationally binding, assuming that the discrete log is hard in G</vt:lpstr>
      <vt:lpstr>This commitment scheme is unconditionally hiding</vt:lpstr>
      <vt:lpstr>Plan</vt:lpstr>
      <vt:lpstr>A construction based on PRGs [Naor’91]</vt:lpstr>
      <vt:lpstr>This commitment scheme is unconditionally binding</vt:lpstr>
      <vt:lpstr>This commitment scheme is computationally hiding, assuming G is a secure PRG</vt:lpstr>
      <vt:lpstr>Moral</vt:lpstr>
      <vt:lpstr>String commitment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 Dziembowski</dc:creator>
  <cp:lastModifiedBy>Stefan Dziembowski</cp:lastModifiedBy>
  <cp:revision>1275</cp:revision>
  <cp:lastPrinted>2018-12-12T15:05:54Z</cp:lastPrinted>
  <dcterms:created xsi:type="dcterms:W3CDTF">2015-07-03T16:44:25Z</dcterms:created>
  <dcterms:modified xsi:type="dcterms:W3CDTF">2026-01-12T08:56:45Z</dcterms:modified>
</cp:coreProperties>
</file>