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1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ink/ink2.xml" ContentType="application/inkml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ink/ink5.xml" ContentType="application/inkml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0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1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14.xml" ContentType="application/vnd.openxmlformats-officedocument.presentationml.notesSlide+xml"/>
  <Override PartName="/ppt/ink/ink6.xml" ContentType="application/inkml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8"/>
  </p:notesMasterIdLst>
  <p:handoutMasterIdLst>
    <p:handoutMasterId r:id="rId199"/>
  </p:handoutMasterIdLst>
  <p:sldIdLst>
    <p:sldId id="469" r:id="rId2"/>
    <p:sldId id="692" r:id="rId3"/>
    <p:sldId id="683" r:id="rId4"/>
    <p:sldId id="684" r:id="rId5"/>
    <p:sldId id="681" r:id="rId6"/>
    <p:sldId id="685" r:id="rId7"/>
    <p:sldId id="686" r:id="rId8"/>
    <p:sldId id="687" r:id="rId9"/>
    <p:sldId id="688" r:id="rId10"/>
    <p:sldId id="689" r:id="rId11"/>
    <p:sldId id="690" r:id="rId12"/>
    <p:sldId id="691" r:id="rId13"/>
    <p:sldId id="470" r:id="rId14"/>
    <p:sldId id="734" r:id="rId15"/>
    <p:sldId id="537" r:id="rId16"/>
    <p:sldId id="665" r:id="rId17"/>
    <p:sldId id="538" r:id="rId18"/>
    <p:sldId id="473" r:id="rId19"/>
    <p:sldId id="540" r:id="rId20"/>
    <p:sldId id="541" r:id="rId21"/>
    <p:sldId id="543" r:id="rId22"/>
    <p:sldId id="476" r:id="rId23"/>
    <p:sldId id="477" r:id="rId24"/>
    <p:sldId id="735" r:id="rId25"/>
    <p:sldId id="578" r:id="rId26"/>
    <p:sldId id="559" r:id="rId27"/>
    <p:sldId id="560" r:id="rId28"/>
    <p:sldId id="579" r:id="rId29"/>
    <p:sldId id="561" r:id="rId30"/>
    <p:sldId id="562" r:id="rId31"/>
    <p:sldId id="563" r:id="rId32"/>
    <p:sldId id="564" r:id="rId33"/>
    <p:sldId id="565" r:id="rId34"/>
    <p:sldId id="566" r:id="rId35"/>
    <p:sldId id="567" r:id="rId36"/>
    <p:sldId id="568" r:id="rId37"/>
    <p:sldId id="569" r:id="rId38"/>
    <p:sldId id="570" r:id="rId39"/>
    <p:sldId id="571" r:id="rId40"/>
    <p:sldId id="572" r:id="rId41"/>
    <p:sldId id="580" r:id="rId42"/>
    <p:sldId id="581" r:id="rId43"/>
    <p:sldId id="573" r:id="rId44"/>
    <p:sldId id="736" r:id="rId45"/>
    <p:sldId id="479" r:id="rId46"/>
    <p:sldId id="480" r:id="rId47"/>
    <p:sldId id="481" r:id="rId48"/>
    <p:sldId id="482" r:id="rId49"/>
    <p:sldId id="483" r:id="rId50"/>
    <p:sldId id="484" r:id="rId51"/>
    <p:sldId id="737" r:id="rId52"/>
    <p:sldId id="701" r:id="rId53"/>
    <p:sldId id="471" r:id="rId54"/>
    <p:sldId id="539" r:id="rId55"/>
    <p:sldId id="702" r:id="rId56"/>
    <p:sldId id="472" r:id="rId57"/>
    <p:sldId id="703" r:id="rId58"/>
    <p:sldId id="474" r:id="rId59"/>
    <p:sldId id="475" r:id="rId60"/>
    <p:sldId id="704" r:id="rId61"/>
    <p:sldId id="705" r:id="rId62"/>
    <p:sldId id="706" r:id="rId63"/>
    <p:sldId id="544" r:id="rId64"/>
    <p:sldId id="707" r:id="rId65"/>
    <p:sldId id="708" r:id="rId66"/>
    <p:sldId id="709" r:id="rId67"/>
    <p:sldId id="738" r:id="rId68"/>
    <p:sldId id="488" r:id="rId69"/>
    <p:sldId id="489" r:id="rId70"/>
    <p:sldId id="490" r:id="rId71"/>
    <p:sldId id="739" r:id="rId72"/>
    <p:sldId id="491" r:id="rId73"/>
    <p:sldId id="492" r:id="rId74"/>
    <p:sldId id="493" r:id="rId75"/>
    <p:sldId id="494" r:id="rId76"/>
    <p:sldId id="546" r:id="rId77"/>
    <p:sldId id="499" r:id="rId78"/>
    <p:sldId id="548" r:id="rId79"/>
    <p:sldId id="550" r:id="rId80"/>
    <p:sldId id="500" r:id="rId81"/>
    <p:sldId id="501" r:id="rId82"/>
    <p:sldId id="502" r:id="rId83"/>
    <p:sldId id="503" r:id="rId84"/>
    <p:sldId id="551" r:id="rId85"/>
    <p:sldId id="552" r:id="rId86"/>
    <p:sldId id="505" r:id="rId87"/>
    <p:sldId id="554" r:id="rId88"/>
    <p:sldId id="555" r:id="rId89"/>
    <p:sldId id="507" r:id="rId90"/>
    <p:sldId id="508" r:id="rId91"/>
    <p:sldId id="509" r:id="rId92"/>
    <p:sldId id="740" r:id="rId93"/>
    <p:sldId id="511" r:id="rId94"/>
    <p:sldId id="512" r:id="rId95"/>
    <p:sldId id="513" r:id="rId96"/>
    <p:sldId id="556" r:id="rId97"/>
    <p:sldId id="557" r:id="rId98"/>
    <p:sldId id="517" r:id="rId99"/>
    <p:sldId id="518" r:id="rId100"/>
    <p:sldId id="519" r:id="rId101"/>
    <p:sldId id="558" r:id="rId102"/>
    <p:sldId id="522" r:id="rId103"/>
    <p:sldId id="741" r:id="rId104"/>
    <p:sldId id="711" r:id="rId105"/>
    <p:sldId id="712" r:id="rId106"/>
    <p:sldId id="713" r:id="rId107"/>
    <p:sldId id="714" r:id="rId108"/>
    <p:sldId id="715" r:id="rId109"/>
    <p:sldId id="716" r:id="rId110"/>
    <p:sldId id="717" r:id="rId111"/>
    <p:sldId id="718" r:id="rId112"/>
    <p:sldId id="719" r:id="rId113"/>
    <p:sldId id="720" r:id="rId114"/>
    <p:sldId id="721" r:id="rId115"/>
    <p:sldId id="722" r:id="rId116"/>
    <p:sldId id="723" r:id="rId117"/>
    <p:sldId id="575" r:id="rId118"/>
    <p:sldId id="576" r:id="rId119"/>
    <p:sldId id="577" r:id="rId120"/>
    <p:sldId id="724" r:id="rId121"/>
    <p:sldId id="725" r:id="rId122"/>
    <p:sldId id="582" r:id="rId123"/>
    <p:sldId id="726" r:id="rId124"/>
    <p:sldId id="727" r:id="rId125"/>
    <p:sldId id="728" r:id="rId126"/>
    <p:sldId id="583" r:id="rId127"/>
    <p:sldId id="729" r:id="rId128"/>
    <p:sldId id="730" r:id="rId129"/>
    <p:sldId id="586" r:id="rId130"/>
    <p:sldId id="587" r:id="rId131"/>
    <p:sldId id="588" r:id="rId132"/>
    <p:sldId id="731" r:id="rId133"/>
    <p:sldId id="743" r:id="rId134"/>
    <p:sldId id="628" r:id="rId135"/>
    <p:sldId id="676" r:id="rId136"/>
    <p:sldId id="629" r:id="rId137"/>
    <p:sldId id="644" r:id="rId138"/>
    <p:sldId id="645" r:id="rId139"/>
    <p:sldId id="646" r:id="rId140"/>
    <p:sldId id="648" r:id="rId141"/>
    <p:sldId id="651" r:id="rId142"/>
    <p:sldId id="650" r:id="rId143"/>
    <p:sldId id="642" r:id="rId144"/>
    <p:sldId id="742" r:id="rId145"/>
    <p:sldId id="632" r:id="rId146"/>
    <p:sldId id="653" r:id="rId147"/>
    <p:sldId id="654" r:id="rId148"/>
    <p:sldId id="655" r:id="rId149"/>
    <p:sldId id="636" r:id="rId150"/>
    <p:sldId id="637" r:id="rId151"/>
    <p:sldId id="656" r:id="rId152"/>
    <p:sldId id="638" r:id="rId153"/>
    <p:sldId id="658" r:id="rId154"/>
    <p:sldId id="660" r:id="rId155"/>
    <p:sldId id="661" r:id="rId156"/>
    <p:sldId id="659" r:id="rId157"/>
    <p:sldId id="744" r:id="rId158"/>
    <p:sldId id="633" r:id="rId159"/>
    <p:sldId id="679" r:id="rId160"/>
    <p:sldId id="667" r:id="rId161"/>
    <p:sldId id="745" r:id="rId162"/>
    <p:sldId id="584" r:id="rId163"/>
    <p:sldId id="585" r:id="rId164"/>
    <p:sldId id="609" r:id="rId165"/>
    <p:sldId id="589" r:id="rId166"/>
    <p:sldId id="590" r:id="rId167"/>
    <p:sldId id="591" r:id="rId168"/>
    <p:sldId id="592" r:id="rId169"/>
    <p:sldId id="593" r:id="rId170"/>
    <p:sldId id="594" r:id="rId171"/>
    <p:sldId id="595" r:id="rId172"/>
    <p:sldId id="596" r:id="rId173"/>
    <p:sldId id="597" r:id="rId174"/>
    <p:sldId id="598" r:id="rId175"/>
    <p:sldId id="599" r:id="rId176"/>
    <p:sldId id="600" r:id="rId177"/>
    <p:sldId id="601" r:id="rId178"/>
    <p:sldId id="602" r:id="rId179"/>
    <p:sldId id="603" r:id="rId180"/>
    <p:sldId id="604" r:id="rId181"/>
    <p:sldId id="677" r:id="rId182"/>
    <p:sldId id="605" r:id="rId183"/>
    <p:sldId id="606" r:id="rId184"/>
    <p:sldId id="678" r:id="rId185"/>
    <p:sldId id="675" r:id="rId186"/>
    <p:sldId id="746" r:id="rId187"/>
    <p:sldId id="524" r:id="rId188"/>
    <p:sldId id="574" r:id="rId189"/>
    <p:sldId id="732" r:id="rId190"/>
    <p:sldId id="747" r:id="rId191"/>
    <p:sldId id="733" r:id="rId192"/>
    <p:sldId id="528" r:id="rId193"/>
    <p:sldId id="530" r:id="rId194"/>
    <p:sldId id="531" r:id="rId195"/>
    <p:sldId id="532" r:id="rId196"/>
    <p:sldId id="332" r:id="rId197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2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92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407"/>
    </p:cViewPr>
  </p:sorterViewPr>
  <p:notesViewPr>
    <p:cSldViewPr snapToGrid="0">
      <p:cViewPr varScale="1">
        <p:scale>
          <a:sx n="92" d="100"/>
          <a:sy n="92" d="100"/>
        </p:scale>
        <p:origin x="4481" y="6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handoutMaster" Target="handoutMasters/handoutMaster1.xml"/><Relationship Id="rId203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notesMaster" Target="notesMasters/notesMaster1.xml"/><Relationship Id="rId202" Type="http://schemas.openxmlformats.org/officeDocument/2006/relationships/theme" Target="theme/theme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B2BFDA-F965-4B68-9558-F7A9633C94D3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761322-63A5-4F2A-9328-B67D228D88BD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b="1" dirty="0"/>
            <a:t>1</a:t>
          </a:r>
        </a:p>
      </dgm:t>
    </dgm:pt>
    <dgm:pt modelId="{45997535-8724-433B-AF22-58C39DF8C14A}" type="parTrans" cxnId="{B06109E3-206A-4961-8DAC-F06154A8E8A0}">
      <dgm:prSet/>
      <dgm:spPr/>
      <dgm:t>
        <a:bodyPr/>
        <a:lstStyle/>
        <a:p>
          <a:endParaRPr lang="en-US"/>
        </a:p>
      </dgm:t>
    </dgm:pt>
    <dgm:pt modelId="{ADF6EBD9-8AFA-4AB3-94E5-C35E3FE26754}" type="sibTrans" cxnId="{B06109E3-206A-4961-8DAC-F06154A8E8A0}">
      <dgm:prSet/>
      <dgm:spPr>
        <a:solidFill>
          <a:schemeClr val="bg1"/>
        </a:solidFill>
      </dgm:spPr>
      <dgm:t>
        <a:bodyPr/>
        <a:lstStyle/>
        <a:p>
          <a:endParaRPr lang="en-US"/>
        </a:p>
      </dgm:t>
    </dgm:pt>
    <dgm:pt modelId="{E9F6786A-EF03-43DE-A3CE-12AA24BF1A71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2</a:t>
          </a:r>
        </a:p>
      </dgm:t>
    </dgm:pt>
    <dgm:pt modelId="{767E7941-A2BE-4076-88E5-0B09BE8B1DBE}" type="parTrans" cxnId="{39C2309E-7B04-4927-A480-0B586E98A992}">
      <dgm:prSet/>
      <dgm:spPr/>
      <dgm:t>
        <a:bodyPr/>
        <a:lstStyle/>
        <a:p>
          <a:endParaRPr lang="en-US"/>
        </a:p>
      </dgm:t>
    </dgm:pt>
    <dgm:pt modelId="{C3FB0FDC-9E5F-4726-9288-EB0043EC482A}" type="sibTrans" cxnId="{39C2309E-7B04-4927-A480-0B586E98A992}">
      <dgm:prSet/>
      <dgm:spPr>
        <a:solidFill>
          <a:schemeClr val="bg1"/>
        </a:solidFill>
      </dgm:spPr>
      <dgm:t>
        <a:bodyPr/>
        <a:lstStyle/>
        <a:p>
          <a:endParaRPr lang="en-US"/>
        </a:p>
      </dgm:t>
    </dgm:pt>
    <dgm:pt modelId="{FA0A8B78-55AC-4DF1-ADD0-CFF832887B2F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3</a:t>
          </a:r>
        </a:p>
      </dgm:t>
    </dgm:pt>
    <dgm:pt modelId="{CDF9B8C2-0101-43A5-8F91-4D8B385FBA42}" type="parTrans" cxnId="{679D2823-2E10-44E5-BD71-02E96A37856D}">
      <dgm:prSet/>
      <dgm:spPr/>
      <dgm:t>
        <a:bodyPr/>
        <a:lstStyle/>
        <a:p>
          <a:endParaRPr lang="en-US"/>
        </a:p>
      </dgm:t>
    </dgm:pt>
    <dgm:pt modelId="{FAD894DE-FA1C-4B20-BC71-6EFF6F403352}" type="sibTrans" cxnId="{679D2823-2E10-44E5-BD71-02E96A37856D}">
      <dgm:prSet/>
      <dgm:spPr>
        <a:solidFill>
          <a:schemeClr val="bg1"/>
        </a:solidFill>
      </dgm:spPr>
      <dgm:t>
        <a:bodyPr/>
        <a:lstStyle/>
        <a:p>
          <a:endParaRPr lang="en-US"/>
        </a:p>
      </dgm:t>
    </dgm:pt>
    <dgm:pt modelId="{5E0BE414-9B83-4A79-881E-330C67CC4794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4</a:t>
          </a:r>
        </a:p>
      </dgm:t>
    </dgm:pt>
    <dgm:pt modelId="{88192EE1-27D0-4C10-B4EE-07CDD2EC379A}" type="parTrans" cxnId="{83180A04-065D-40C4-9DC4-1834645B01EC}">
      <dgm:prSet/>
      <dgm:spPr/>
      <dgm:t>
        <a:bodyPr/>
        <a:lstStyle/>
        <a:p>
          <a:endParaRPr lang="en-US"/>
        </a:p>
      </dgm:t>
    </dgm:pt>
    <dgm:pt modelId="{0003E5A2-5626-48D7-AE03-7575D762B1F0}" type="sibTrans" cxnId="{83180A04-065D-40C4-9DC4-1834645B01EC}">
      <dgm:prSet/>
      <dgm:spPr>
        <a:solidFill>
          <a:schemeClr val="bg1"/>
        </a:solidFill>
      </dgm:spPr>
      <dgm:t>
        <a:bodyPr/>
        <a:lstStyle/>
        <a:p>
          <a:endParaRPr lang="en-US"/>
        </a:p>
      </dgm:t>
    </dgm:pt>
    <dgm:pt modelId="{79631E01-9735-48F9-8A37-4A7D1F227667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5</a:t>
          </a:r>
        </a:p>
      </dgm:t>
    </dgm:pt>
    <dgm:pt modelId="{BD06BB2E-2429-4CD1-ABD4-1BEF2E6A94FB}" type="parTrans" cxnId="{8808EA45-D978-4F19-A479-31341DE904A1}">
      <dgm:prSet/>
      <dgm:spPr/>
      <dgm:t>
        <a:bodyPr/>
        <a:lstStyle/>
        <a:p>
          <a:endParaRPr lang="en-US"/>
        </a:p>
      </dgm:t>
    </dgm:pt>
    <dgm:pt modelId="{1B8E04AB-920F-47A8-99EA-8F14B19683A6}" type="sibTrans" cxnId="{8808EA45-D978-4F19-A479-31341DE904A1}">
      <dgm:prSet/>
      <dgm:spPr>
        <a:solidFill>
          <a:schemeClr val="bg1"/>
        </a:solidFill>
      </dgm:spPr>
      <dgm:t>
        <a:bodyPr/>
        <a:lstStyle/>
        <a:p>
          <a:endParaRPr lang="en-US"/>
        </a:p>
      </dgm:t>
    </dgm:pt>
    <dgm:pt modelId="{CD4F6E8F-E7A4-4F83-AC93-F54A2399821B}">
      <dgm:prSet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6</a:t>
          </a:r>
        </a:p>
      </dgm:t>
    </dgm:pt>
    <dgm:pt modelId="{630A5262-B28A-42FF-958D-BEE8934EEA37}" type="parTrans" cxnId="{8DCBC097-DF62-481C-A9F5-356114B2A8C5}">
      <dgm:prSet/>
      <dgm:spPr/>
      <dgm:t>
        <a:bodyPr/>
        <a:lstStyle/>
        <a:p>
          <a:endParaRPr lang="en-US"/>
        </a:p>
      </dgm:t>
    </dgm:pt>
    <dgm:pt modelId="{19275F1F-881A-4E55-986D-7A7614EAD9CE}" type="sibTrans" cxnId="{8DCBC097-DF62-481C-A9F5-356114B2A8C5}">
      <dgm:prSet/>
      <dgm:spPr>
        <a:solidFill>
          <a:schemeClr val="bg1"/>
        </a:solidFill>
      </dgm:spPr>
      <dgm:t>
        <a:bodyPr/>
        <a:lstStyle/>
        <a:p>
          <a:endParaRPr lang="en-US"/>
        </a:p>
      </dgm:t>
    </dgm:pt>
    <dgm:pt modelId="{6A8F1908-2A3A-4484-8F09-8867A5EB0667}">
      <dgm:prSet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7</a:t>
          </a:r>
        </a:p>
      </dgm:t>
    </dgm:pt>
    <dgm:pt modelId="{0815586B-699E-4E13-A519-137D596EB495}" type="parTrans" cxnId="{17472108-FA1D-45B8-BDBE-85BDC25621B9}">
      <dgm:prSet/>
      <dgm:spPr/>
      <dgm:t>
        <a:bodyPr/>
        <a:lstStyle/>
        <a:p>
          <a:endParaRPr lang="en-US"/>
        </a:p>
      </dgm:t>
    </dgm:pt>
    <dgm:pt modelId="{B780CF43-9178-4897-8820-69A451C9A8D0}" type="sibTrans" cxnId="{17472108-FA1D-45B8-BDBE-85BDC25621B9}">
      <dgm:prSet/>
      <dgm:spPr>
        <a:solidFill>
          <a:schemeClr val="bg1"/>
        </a:solidFill>
      </dgm:spPr>
      <dgm:t>
        <a:bodyPr/>
        <a:lstStyle/>
        <a:p>
          <a:endParaRPr lang="en-US"/>
        </a:p>
      </dgm:t>
    </dgm:pt>
    <dgm:pt modelId="{05F25B51-2507-4556-ABD6-91F3B1ED7021}">
      <dgm:prSet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8</a:t>
          </a:r>
        </a:p>
      </dgm:t>
    </dgm:pt>
    <dgm:pt modelId="{45EC10E6-8E2F-49B1-91AD-B0D2400BC6DB}" type="parTrans" cxnId="{D55EBF88-DF46-4FA1-882D-108AA642C158}">
      <dgm:prSet/>
      <dgm:spPr/>
      <dgm:t>
        <a:bodyPr/>
        <a:lstStyle/>
        <a:p>
          <a:endParaRPr lang="en-US"/>
        </a:p>
      </dgm:t>
    </dgm:pt>
    <dgm:pt modelId="{93041A9A-A5E8-4F52-8544-22704A711CC3}" type="sibTrans" cxnId="{D55EBF88-DF46-4FA1-882D-108AA642C158}">
      <dgm:prSet/>
      <dgm:spPr>
        <a:solidFill>
          <a:schemeClr val="bg1"/>
        </a:solidFill>
      </dgm:spPr>
      <dgm:t>
        <a:bodyPr/>
        <a:lstStyle/>
        <a:p>
          <a:endParaRPr lang="en-US"/>
        </a:p>
      </dgm:t>
    </dgm:pt>
    <dgm:pt modelId="{D595874A-4F65-4BFD-96ED-857B4B0E41F2}">
      <dgm:prSet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9</a:t>
          </a:r>
        </a:p>
      </dgm:t>
    </dgm:pt>
    <dgm:pt modelId="{6F3AA08B-E3AF-4EAB-9A37-48940CF15D80}" type="parTrans" cxnId="{D9D5C92B-0E5E-4C0C-929A-540C877EAC4E}">
      <dgm:prSet/>
      <dgm:spPr/>
      <dgm:t>
        <a:bodyPr/>
        <a:lstStyle/>
        <a:p>
          <a:endParaRPr lang="en-US"/>
        </a:p>
      </dgm:t>
    </dgm:pt>
    <dgm:pt modelId="{2159E816-5435-4311-A050-4CEAE791880A}" type="sibTrans" cxnId="{D9D5C92B-0E5E-4C0C-929A-540C877EAC4E}">
      <dgm:prSet/>
      <dgm:spPr>
        <a:solidFill>
          <a:schemeClr val="bg1"/>
        </a:solidFill>
      </dgm:spPr>
      <dgm:t>
        <a:bodyPr/>
        <a:lstStyle/>
        <a:p>
          <a:endParaRPr lang="en-US"/>
        </a:p>
      </dgm:t>
    </dgm:pt>
    <dgm:pt modelId="{7DB9DC71-D194-46C5-B4BB-A44D094252B6}">
      <dgm:prSet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10</a:t>
          </a:r>
        </a:p>
      </dgm:t>
    </dgm:pt>
    <dgm:pt modelId="{82E4A1C5-5F38-42BE-8D90-EA309818F7DE}" type="parTrans" cxnId="{1E46A553-D95A-4A7B-B728-BB0EC1799D9D}">
      <dgm:prSet/>
      <dgm:spPr/>
      <dgm:t>
        <a:bodyPr/>
        <a:lstStyle/>
        <a:p>
          <a:endParaRPr lang="en-US"/>
        </a:p>
      </dgm:t>
    </dgm:pt>
    <dgm:pt modelId="{A2BDC5FA-97B9-4FAD-97F6-005D6588FBD8}" type="sibTrans" cxnId="{1E46A553-D95A-4A7B-B728-BB0EC1799D9D}">
      <dgm:prSet/>
      <dgm:spPr>
        <a:solidFill>
          <a:schemeClr val="bg1"/>
        </a:solidFill>
      </dgm:spPr>
      <dgm:t>
        <a:bodyPr/>
        <a:lstStyle/>
        <a:p>
          <a:endParaRPr lang="en-US"/>
        </a:p>
      </dgm:t>
    </dgm:pt>
    <dgm:pt modelId="{BB6F640B-508F-494E-B2CC-4DFC2B269793}" type="pres">
      <dgm:prSet presAssocID="{D5B2BFDA-F965-4B68-9558-F7A9633C94D3}" presName="cycle" presStyleCnt="0">
        <dgm:presLayoutVars>
          <dgm:dir/>
          <dgm:resizeHandles val="exact"/>
        </dgm:presLayoutVars>
      </dgm:prSet>
      <dgm:spPr/>
    </dgm:pt>
    <dgm:pt modelId="{2CC2DF4B-2390-4229-9977-9B2766604DFA}" type="pres">
      <dgm:prSet presAssocID="{A8761322-63A5-4F2A-9328-B67D228D88BD}" presName="node" presStyleLbl="node1" presStyleIdx="0" presStyleCnt="10">
        <dgm:presLayoutVars>
          <dgm:bulletEnabled val="1"/>
        </dgm:presLayoutVars>
      </dgm:prSet>
      <dgm:spPr/>
    </dgm:pt>
    <dgm:pt modelId="{1207202A-8498-4AF5-B1B5-180AEA94F7F9}" type="pres">
      <dgm:prSet presAssocID="{ADF6EBD9-8AFA-4AB3-94E5-C35E3FE26754}" presName="sibTrans" presStyleLbl="sibTrans2D1" presStyleIdx="0" presStyleCnt="10"/>
      <dgm:spPr/>
    </dgm:pt>
    <dgm:pt modelId="{64FBC1CA-B9D4-4D10-9C77-03773373FDF5}" type="pres">
      <dgm:prSet presAssocID="{ADF6EBD9-8AFA-4AB3-94E5-C35E3FE26754}" presName="connectorText" presStyleLbl="sibTrans2D1" presStyleIdx="0" presStyleCnt="10"/>
      <dgm:spPr/>
    </dgm:pt>
    <dgm:pt modelId="{F70ED628-EFAA-43FA-86D3-A33D2CF46C63}" type="pres">
      <dgm:prSet presAssocID="{E9F6786A-EF03-43DE-A3CE-12AA24BF1A71}" presName="node" presStyleLbl="node1" presStyleIdx="1" presStyleCnt="10" custRadScaleRad="99836" custRadScaleInc="2187">
        <dgm:presLayoutVars>
          <dgm:bulletEnabled val="1"/>
        </dgm:presLayoutVars>
      </dgm:prSet>
      <dgm:spPr/>
    </dgm:pt>
    <dgm:pt modelId="{7FBDCEB2-3724-4A00-B04C-69A7364D59F9}" type="pres">
      <dgm:prSet presAssocID="{C3FB0FDC-9E5F-4726-9288-EB0043EC482A}" presName="sibTrans" presStyleLbl="sibTrans2D1" presStyleIdx="1" presStyleCnt="10"/>
      <dgm:spPr/>
    </dgm:pt>
    <dgm:pt modelId="{E8B89A02-A712-40FF-99E6-25DE29BD1405}" type="pres">
      <dgm:prSet presAssocID="{C3FB0FDC-9E5F-4726-9288-EB0043EC482A}" presName="connectorText" presStyleLbl="sibTrans2D1" presStyleIdx="1" presStyleCnt="10"/>
      <dgm:spPr/>
    </dgm:pt>
    <dgm:pt modelId="{8A239B37-9E96-4770-8B1B-3313270917F6}" type="pres">
      <dgm:prSet presAssocID="{FA0A8B78-55AC-4DF1-ADD0-CFF832887B2F}" presName="node" presStyleLbl="node1" presStyleIdx="2" presStyleCnt="10" custRadScaleRad="100270" custRadScaleInc="2073">
        <dgm:presLayoutVars>
          <dgm:bulletEnabled val="1"/>
        </dgm:presLayoutVars>
      </dgm:prSet>
      <dgm:spPr/>
    </dgm:pt>
    <dgm:pt modelId="{910F3E83-A29D-4562-A5F2-CDA43C10C961}" type="pres">
      <dgm:prSet presAssocID="{FAD894DE-FA1C-4B20-BC71-6EFF6F403352}" presName="sibTrans" presStyleLbl="sibTrans2D1" presStyleIdx="2" presStyleCnt="10" custAng="16523531" custFlipVert="0" custFlipHor="1" custScaleX="172735" custScaleY="37747"/>
      <dgm:spPr/>
    </dgm:pt>
    <dgm:pt modelId="{6E489443-0A72-4270-9997-A14B1EB80651}" type="pres">
      <dgm:prSet presAssocID="{FAD894DE-FA1C-4B20-BC71-6EFF6F403352}" presName="connectorText" presStyleLbl="sibTrans2D1" presStyleIdx="2" presStyleCnt="10"/>
      <dgm:spPr/>
    </dgm:pt>
    <dgm:pt modelId="{756FAFC5-3760-40A9-81C1-F48AA496E6A1}" type="pres">
      <dgm:prSet presAssocID="{5E0BE414-9B83-4A79-881E-330C67CC4794}" presName="node" presStyleLbl="node1" presStyleIdx="3" presStyleCnt="10">
        <dgm:presLayoutVars>
          <dgm:bulletEnabled val="1"/>
        </dgm:presLayoutVars>
      </dgm:prSet>
      <dgm:spPr/>
    </dgm:pt>
    <dgm:pt modelId="{36D401AC-3085-4ADD-BF05-1C885976C979}" type="pres">
      <dgm:prSet presAssocID="{0003E5A2-5626-48D7-AE03-7575D762B1F0}" presName="sibTrans" presStyleLbl="sibTrans2D1" presStyleIdx="3" presStyleCnt="10"/>
      <dgm:spPr/>
    </dgm:pt>
    <dgm:pt modelId="{60BC9069-6719-4016-B0F6-85F52BBC4B4A}" type="pres">
      <dgm:prSet presAssocID="{0003E5A2-5626-48D7-AE03-7575D762B1F0}" presName="connectorText" presStyleLbl="sibTrans2D1" presStyleIdx="3" presStyleCnt="10"/>
      <dgm:spPr/>
    </dgm:pt>
    <dgm:pt modelId="{165CF8C7-8A25-4E03-B8ED-B2F3D41AE8DC}" type="pres">
      <dgm:prSet presAssocID="{79631E01-9735-48F9-8A37-4A7D1F227667}" presName="node" presStyleLbl="node1" presStyleIdx="4" presStyleCnt="10">
        <dgm:presLayoutVars>
          <dgm:bulletEnabled val="1"/>
        </dgm:presLayoutVars>
      </dgm:prSet>
      <dgm:spPr/>
    </dgm:pt>
    <dgm:pt modelId="{9C1B7D29-197E-4359-882E-A1F8C7D698FC}" type="pres">
      <dgm:prSet presAssocID="{1B8E04AB-920F-47A8-99EA-8F14B19683A6}" presName="sibTrans" presStyleLbl="sibTrans2D1" presStyleIdx="4" presStyleCnt="10"/>
      <dgm:spPr/>
    </dgm:pt>
    <dgm:pt modelId="{E1568270-D3EB-44E2-8962-F589D4E9988A}" type="pres">
      <dgm:prSet presAssocID="{1B8E04AB-920F-47A8-99EA-8F14B19683A6}" presName="connectorText" presStyleLbl="sibTrans2D1" presStyleIdx="4" presStyleCnt="10"/>
      <dgm:spPr/>
    </dgm:pt>
    <dgm:pt modelId="{02A8C892-99F5-416B-9A97-9D038DB2BFE6}" type="pres">
      <dgm:prSet presAssocID="{CD4F6E8F-E7A4-4F83-AC93-F54A2399821B}" presName="node" presStyleLbl="node1" presStyleIdx="5" presStyleCnt="10">
        <dgm:presLayoutVars>
          <dgm:bulletEnabled val="1"/>
        </dgm:presLayoutVars>
      </dgm:prSet>
      <dgm:spPr/>
    </dgm:pt>
    <dgm:pt modelId="{00ADE51F-D771-4FD1-B22E-61E85434CE4F}" type="pres">
      <dgm:prSet presAssocID="{19275F1F-881A-4E55-986D-7A7614EAD9CE}" presName="sibTrans" presStyleLbl="sibTrans2D1" presStyleIdx="5" presStyleCnt="10"/>
      <dgm:spPr/>
    </dgm:pt>
    <dgm:pt modelId="{9BEB03A5-D1F2-4F82-BDCA-F6956E1E7308}" type="pres">
      <dgm:prSet presAssocID="{19275F1F-881A-4E55-986D-7A7614EAD9CE}" presName="connectorText" presStyleLbl="sibTrans2D1" presStyleIdx="5" presStyleCnt="10"/>
      <dgm:spPr/>
    </dgm:pt>
    <dgm:pt modelId="{41A03034-12FB-45B8-83C1-0A27510B9502}" type="pres">
      <dgm:prSet presAssocID="{6A8F1908-2A3A-4484-8F09-8867A5EB0667}" presName="node" presStyleLbl="node1" presStyleIdx="6" presStyleCnt="10">
        <dgm:presLayoutVars>
          <dgm:bulletEnabled val="1"/>
        </dgm:presLayoutVars>
      </dgm:prSet>
      <dgm:spPr/>
    </dgm:pt>
    <dgm:pt modelId="{BFE695C8-65B7-452B-B400-2516B2A857EE}" type="pres">
      <dgm:prSet presAssocID="{B780CF43-9178-4897-8820-69A451C9A8D0}" presName="sibTrans" presStyleLbl="sibTrans2D1" presStyleIdx="6" presStyleCnt="10"/>
      <dgm:spPr/>
    </dgm:pt>
    <dgm:pt modelId="{47311881-D9AE-43E2-A695-C21AA7728E26}" type="pres">
      <dgm:prSet presAssocID="{B780CF43-9178-4897-8820-69A451C9A8D0}" presName="connectorText" presStyleLbl="sibTrans2D1" presStyleIdx="6" presStyleCnt="10"/>
      <dgm:spPr/>
    </dgm:pt>
    <dgm:pt modelId="{6932CD04-30E8-4429-A34E-928C6C93BC91}" type="pres">
      <dgm:prSet presAssocID="{05F25B51-2507-4556-ABD6-91F3B1ED7021}" presName="node" presStyleLbl="node1" presStyleIdx="7" presStyleCnt="10">
        <dgm:presLayoutVars>
          <dgm:bulletEnabled val="1"/>
        </dgm:presLayoutVars>
      </dgm:prSet>
      <dgm:spPr/>
    </dgm:pt>
    <dgm:pt modelId="{45E8905A-F2FB-42EA-8FDA-5D04B7E54B89}" type="pres">
      <dgm:prSet presAssocID="{93041A9A-A5E8-4F52-8544-22704A711CC3}" presName="sibTrans" presStyleLbl="sibTrans2D1" presStyleIdx="7" presStyleCnt="10"/>
      <dgm:spPr/>
    </dgm:pt>
    <dgm:pt modelId="{A7EDA7AC-B4BA-4FD7-88FF-065CE09BC58C}" type="pres">
      <dgm:prSet presAssocID="{93041A9A-A5E8-4F52-8544-22704A711CC3}" presName="connectorText" presStyleLbl="sibTrans2D1" presStyleIdx="7" presStyleCnt="10"/>
      <dgm:spPr/>
    </dgm:pt>
    <dgm:pt modelId="{C828B1D5-578C-4A99-A851-97A6807DA6E2}" type="pres">
      <dgm:prSet presAssocID="{D595874A-4F65-4BFD-96ED-857B4B0E41F2}" presName="node" presStyleLbl="node1" presStyleIdx="8" presStyleCnt="10">
        <dgm:presLayoutVars>
          <dgm:bulletEnabled val="1"/>
        </dgm:presLayoutVars>
      </dgm:prSet>
      <dgm:spPr/>
    </dgm:pt>
    <dgm:pt modelId="{BCE03FDC-1828-4C76-BFC0-6A6D44DE7AF6}" type="pres">
      <dgm:prSet presAssocID="{2159E816-5435-4311-A050-4CEAE791880A}" presName="sibTrans" presStyleLbl="sibTrans2D1" presStyleIdx="8" presStyleCnt="10"/>
      <dgm:spPr/>
    </dgm:pt>
    <dgm:pt modelId="{47AF57B7-3A96-4C4E-A831-B505C9E539E9}" type="pres">
      <dgm:prSet presAssocID="{2159E816-5435-4311-A050-4CEAE791880A}" presName="connectorText" presStyleLbl="sibTrans2D1" presStyleIdx="8" presStyleCnt="10"/>
      <dgm:spPr/>
    </dgm:pt>
    <dgm:pt modelId="{C8FB5029-79B4-44D7-9DA7-FCC5FB1E4936}" type="pres">
      <dgm:prSet presAssocID="{7DB9DC71-D194-46C5-B4BB-A44D094252B6}" presName="node" presStyleLbl="node1" presStyleIdx="9" presStyleCnt="10">
        <dgm:presLayoutVars>
          <dgm:bulletEnabled val="1"/>
        </dgm:presLayoutVars>
      </dgm:prSet>
      <dgm:spPr/>
    </dgm:pt>
    <dgm:pt modelId="{B6CDDC98-6BB6-41CB-B134-C3916FD93A90}" type="pres">
      <dgm:prSet presAssocID="{A2BDC5FA-97B9-4FAD-97F6-005D6588FBD8}" presName="sibTrans" presStyleLbl="sibTrans2D1" presStyleIdx="9" presStyleCnt="10"/>
      <dgm:spPr/>
    </dgm:pt>
    <dgm:pt modelId="{905EA2D9-FE20-4D3E-BD57-E9634A25D3EA}" type="pres">
      <dgm:prSet presAssocID="{A2BDC5FA-97B9-4FAD-97F6-005D6588FBD8}" presName="connectorText" presStyleLbl="sibTrans2D1" presStyleIdx="9" presStyleCnt="10"/>
      <dgm:spPr/>
    </dgm:pt>
  </dgm:ptLst>
  <dgm:cxnLst>
    <dgm:cxn modelId="{83180A04-065D-40C4-9DC4-1834645B01EC}" srcId="{D5B2BFDA-F965-4B68-9558-F7A9633C94D3}" destId="{5E0BE414-9B83-4A79-881E-330C67CC4794}" srcOrd="3" destOrd="0" parTransId="{88192EE1-27D0-4C10-B4EE-07CDD2EC379A}" sibTransId="{0003E5A2-5626-48D7-AE03-7575D762B1F0}"/>
    <dgm:cxn modelId="{17472108-FA1D-45B8-BDBE-85BDC25621B9}" srcId="{D5B2BFDA-F965-4B68-9558-F7A9633C94D3}" destId="{6A8F1908-2A3A-4484-8F09-8867A5EB0667}" srcOrd="6" destOrd="0" parTransId="{0815586B-699E-4E13-A519-137D596EB495}" sibTransId="{B780CF43-9178-4897-8820-69A451C9A8D0}"/>
    <dgm:cxn modelId="{CDD38009-33DE-4E60-A938-0C1852481183}" type="presOf" srcId="{C3FB0FDC-9E5F-4726-9288-EB0043EC482A}" destId="{E8B89A02-A712-40FF-99E6-25DE29BD1405}" srcOrd="1" destOrd="0" presId="urn:microsoft.com/office/officeart/2005/8/layout/cycle2"/>
    <dgm:cxn modelId="{DF70CD0F-4FE3-4170-9E55-48227FCB90A3}" type="presOf" srcId="{1B8E04AB-920F-47A8-99EA-8F14B19683A6}" destId="{9C1B7D29-197E-4359-882E-A1F8C7D698FC}" srcOrd="0" destOrd="0" presId="urn:microsoft.com/office/officeart/2005/8/layout/cycle2"/>
    <dgm:cxn modelId="{43EC6210-725E-4D23-9FE6-F8DA2F66A9AB}" type="presOf" srcId="{05F25B51-2507-4556-ABD6-91F3B1ED7021}" destId="{6932CD04-30E8-4429-A34E-928C6C93BC91}" srcOrd="0" destOrd="0" presId="urn:microsoft.com/office/officeart/2005/8/layout/cycle2"/>
    <dgm:cxn modelId="{A3E86617-42C5-4A8A-9B29-1B3DDBD0B9DF}" type="presOf" srcId="{E9F6786A-EF03-43DE-A3CE-12AA24BF1A71}" destId="{F70ED628-EFAA-43FA-86D3-A33D2CF46C63}" srcOrd="0" destOrd="0" presId="urn:microsoft.com/office/officeart/2005/8/layout/cycle2"/>
    <dgm:cxn modelId="{64D79519-55CF-4FAD-A26D-839F9C73E395}" type="presOf" srcId="{5E0BE414-9B83-4A79-881E-330C67CC4794}" destId="{756FAFC5-3760-40A9-81C1-F48AA496E6A1}" srcOrd="0" destOrd="0" presId="urn:microsoft.com/office/officeart/2005/8/layout/cycle2"/>
    <dgm:cxn modelId="{1F73551B-71F9-4409-855C-2B603A026C22}" type="presOf" srcId="{7DB9DC71-D194-46C5-B4BB-A44D094252B6}" destId="{C8FB5029-79B4-44D7-9DA7-FCC5FB1E4936}" srcOrd="0" destOrd="0" presId="urn:microsoft.com/office/officeart/2005/8/layout/cycle2"/>
    <dgm:cxn modelId="{7FF24420-9FE8-4354-B0EB-211C55EB33BE}" type="presOf" srcId="{A2BDC5FA-97B9-4FAD-97F6-005D6588FBD8}" destId="{905EA2D9-FE20-4D3E-BD57-E9634A25D3EA}" srcOrd="1" destOrd="0" presId="urn:microsoft.com/office/officeart/2005/8/layout/cycle2"/>
    <dgm:cxn modelId="{679D2823-2E10-44E5-BD71-02E96A37856D}" srcId="{D5B2BFDA-F965-4B68-9558-F7A9633C94D3}" destId="{FA0A8B78-55AC-4DF1-ADD0-CFF832887B2F}" srcOrd="2" destOrd="0" parTransId="{CDF9B8C2-0101-43A5-8F91-4D8B385FBA42}" sibTransId="{FAD894DE-FA1C-4B20-BC71-6EFF6F403352}"/>
    <dgm:cxn modelId="{D9D5C92B-0E5E-4C0C-929A-540C877EAC4E}" srcId="{D5B2BFDA-F965-4B68-9558-F7A9633C94D3}" destId="{D595874A-4F65-4BFD-96ED-857B4B0E41F2}" srcOrd="8" destOrd="0" parTransId="{6F3AA08B-E3AF-4EAB-9A37-48940CF15D80}" sibTransId="{2159E816-5435-4311-A050-4CEAE791880A}"/>
    <dgm:cxn modelId="{D830AF2F-506E-4A19-AAA7-1CFA548AFFA2}" type="presOf" srcId="{1B8E04AB-920F-47A8-99EA-8F14B19683A6}" destId="{E1568270-D3EB-44E2-8962-F589D4E9988A}" srcOrd="1" destOrd="0" presId="urn:microsoft.com/office/officeart/2005/8/layout/cycle2"/>
    <dgm:cxn modelId="{2C8A0031-BB92-4C1C-98F4-BE5D6632F3A9}" type="presOf" srcId="{FAD894DE-FA1C-4B20-BC71-6EFF6F403352}" destId="{910F3E83-A29D-4562-A5F2-CDA43C10C961}" srcOrd="0" destOrd="0" presId="urn:microsoft.com/office/officeart/2005/8/layout/cycle2"/>
    <dgm:cxn modelId="{BA08F732-285F-4B16-88F1-9C171E94ABD8}" type="presOf" srcId="{A2BDC5FA-97B9-4FAD-97F6-005D6588FBD8}" destId="{B6CDDC98-6BB6-41CB-B134-C3916FD93A90}" srcOrd="0" destOrd="0" presId="urn:microsoft.com/office/officeart/2005/8/layout/cycle2"/>
    <dgm:cxn modelId="{189D8739-39DA-4049-9019-7C8BB7D07D51}" type="presOf" srcId="{B780CF43-9178-4897-8820-69A451C9A8D0}" destId="{BFE695C8-65B7-452B-B400-2516B2A857EE}" srcOrd="0" destOrd="0" presId="urn:microsoft.com/office/officeart/2005/8/layout/cycle2"/>
    <dgm:cxn modelId="{8808EA45-D978-4F19-A479-31341DE904A1}" srcId="{D5B2BFDA-F965-4B68-9558-F7A9633C94D3}" destId="{79631E01-9735-48F9-8A37-4A7D1F227667}" srcOrd="4" destOrd="0" parTransId="{BD06BB2E-2429-4CD1-ABD4-1BEF2E6A94FB}" sibTransId="{1B8E04AB-920F-47A8-99EA-8F14B19683A6}"/>
    <dgm:cxn modelId="{1E46A553-D95A-4A7B-B728-BB0EC1799D9D}" srcId="{D5B2BFDA-F965-4B68-9558-F7A9633C94D3}" destId="{7DB9DC71-D194-46C5-B4BB-A44D094252B6}" srcOrd="9" destOrd="0" parTransId="{82E4A1C5-5F38-42BE-8D90-EA309818F7DE}" sibTransId="{A2BDC5FA-97B9-4FAD-97F6-005D6588FBD8}"/>
    <dgm:cxn modelId="{1E8C1968-EE30-47D2-BB0E-CE8ABA6D9258}" type="presOf" srcId="{ADF6EBD9-8AFA-4AB3-94E5-C35E3FE26754}" destId="{64FBC1CA-B9D4-4D10-9C77-03773373FDF5}" srcOrd="1" destOrd="0" presId="urn:microsoft.com/office/officeart/2005/8/layout/cycle2"/>
    <dgm:cxn modelId="{64389C69-5AE7-4B85-A76A-7B88EE87ADC1}" type="presOf" srcId="{19275F1F-881A-4E55-986D-7A7614EAD9CE}" destId="{00ADE51F-D771-4FD1-B22E-61E85434CE4F}" srcOrd="0" destOrd="0" presId="urn:microsoft.com/office/officeart/2005/8/layout/cycle2"/>
    <dgm:cxn modelId="{93036870-168B-4B04-A856-024B15D127CB}" type="presOf" srcId="{79631E01-9735-48F9-8A37-4A7D1F227667}" destId="{165CF8C7-8A25-4E03-B8ED-B2F3D41AE8DC}" srcOrd="0" destOrd="0" presId="urn:microsoft.com/office/officeart/2005/8/layout/cycle2"/>
    <dgm:cxn modelId="{F8A96476-FB16-46E8-89CF-F5733AC1E552}" type="presOf" srcId="{93041A9A-A5E8-4F52-8544-22704A711CC3}" destId="{45E8905A-F2FB-42EA-8FDA-5D04B7E54B89}" srcOrd="0" destOrd="0" presId="urn:microsoft.com/office/officeart/2005/8/layout/cycle2"/>
    <dgm:cxn modelId="{D7A9CB76-FF80-411B-96F7-84919DA621AA}" type="presOf" srcId="{19275F1F-881A-4E55-986D-7A7614EAD9CE}" destId="{9BEB03A5-D1F2-4F82-BDCA-F6956E1E7308}" srcOrd="1" destOrd="0" presId="urn:microsoft.com/office/officeart/2005/8/layout/cycle2"/>
    <dgm:cxn modelId="{D55EBF88-DF46-4FA1-882D-108AA642C158}" srcId="{D5B2BFDA-F965-4B68-9558-F7A9633C94D3}" destId="{05F25B51-2507-4556-ABD6-91F3B1ED7021}" srcOrd="7" destOrd="0" parTransId="{45EC10E6-8E2F-49B1-91AD-B0D2400BC6DB}" sibTransId="{93041A9A-A5E8-4F52-8544-22704A711CC3}"/>
    <dgm:cxn modelId="{CE21D889-41D6-4CDF-8069-4DFE13797328}" type="presOf" srcId="{C3FB0FDC-9E5F-4726-9288-EB0043EC482A}" destId="{7FBDCEB2-3724-4A00-B04C-69A7364D59F9}" srcOrd="0" destOrd="0" presId="urn:microsoft.com/office/officeart/2005/8/layout/cycle2"/>
    <dgm:cxn modelId="{550E4F8D-6466-4634-88CF-EF1AB61DCACA}" type="presOf" srcId="{6A8F1908-2A3A-4484-8F09-8867A5EB0667}" destId="{41A03034-12FB-45B8-83C1-0A27510B9502}" srcOrd="0" destOrd="0" presId="urn:microsoft.com/office/officeart/2005/8/layout/cycle2"/>
    <dgm:cxn modelId="{8DCBC097-DF62-481C-A9F5-356114B2A8C5}" srcId="{D5B2BFDA-F965-4B68-9558-F7A9633C94D3}" destId="{CD4F6E8F-E7A4-4F83-AC93-F54A2399821B}" srcOrd="5" destOrd="0" parTransId="{630A5262-B28A-42FF-958D-BEE8934EEA37}" sibTransId="{19275F1F-881A-4E55-986D-7A7614EAD9CE}"/>
    <dgm:cxn modelId="{39C2309E-7B04-4927-A480-0B586E98A992}" srcId="{D5B2BFDA-F965-4B68-9558-F7A9633C94D3}" destId="{E9F6786A-EF03-43DE-A3CE-12AA24BF1A71}" srcOrd="1" destOrd="0" parTransId="{767E7941-A2BE-4076-88E5-0B09BE8B1DBE}" sibTransId="{C3FB0FDC-9E5F-4726-9288-EB0043EC482A}"/>
    <dgm:cxn modelId="{48F286AD-7C5A-4BCA-BA8B-5339BC788588}" type="presOf" srcId="{D595874A-4F65-4BFD-96ED-857B4B0E41F2}" destId="{C828B1D5-578C-4A99-A851-97A6807DA6E2}" srcOrd="0" destOrd="0" presId="urn:microsoft.com/office/officeart/2005/8/layout/cycle2"/>
    <dgm:cxn modelId="{A07FC1BC-CAAD-41EC-82B4-042672D189BB}" type="presOf" srcId="{FA0A8B78-55AC-4DF1-ADD0-CFF832887B2F}" destId="{8A239B37-9E96-4770-8B1B-3313270917F6}" srcOrd="0" destOrd="0" presId="urn:microsoft.com/office/officeart/2005/8/layout/cycle2"/>
    <dgm:cxn modelId="{2A93DFBF-8EF0-476A-B68E-79AD3528202F}" type="presOf" srcId="{2159E816-5435-4311-A050-4CEAE791880A}" destId="{47AF57B7-3A96-4C4E-A831-B505C9E539E9}" srcOrd="1" destOrd="0" presId="urn:microsoft.com/office/officeart/2005/8/layout/cycle2"/>
    <dgm:cxn modelId="{5CA876C7-58B0-4F25-8EF6-5115E37DC95D}" type="presOf" srcId="{B780CF43-9178-4897-8820-69A451C9A8D0}" destId="{47311881-D9AE-43E2-A695-C21AA7728E26}" srcOrd="1" destOrd="0" presId="urn:microsoft.com/office/officeart/2005/8/layout/cycle2"/>
    <dgm:cxn modelId="{E24ADEC7-2E4F-4E8F-B462-DD99EDB1A5A5}" type="presOf" srcId="{FAD894DE-FA1C-4B20-BC71-6EFF6F403352}" destId="{6E489443-0A72-4270-9997-A14B1EB80651}" srcOrd="1" destOrd="0" presId="urn:microsoft.com/office/officeart/2005/8/layout/cycle2"/>
    <dgm:cxn modelId="{510BC9CA-C8CC-4C0C-A54C-4F0BAC3C15C0}" type="presOf" srcId="{0003E5A2-5626-48D7-AE03-7575D762B1F0}" destId="{60BC9069-6719-4016-B0F6-85F52BBC4B4A}" srcOrd="1" destOrd="0" presId="urn:microsoft.com/office/officeart/2005/8/layout/cycle2"/>
    <dgm:cxn modelId="{D5404FCB-6CEA-45F7-9D82-7455CEFDDDA8}" type="presOf" srcId="{ADF6EBD9-8AFA-4AB3-94E5-C35E3FE26754}" destId="{1207202A-8498-4AF5-B1B5-180AEA94F7F9}" srcOrd="0" destOrd="0" presId="urn:microsoft.com/office/officeart/2005/8/layout/cycle2"/>
    <dgm:cxn modelId="{C316B2D6-C125-459C-9A09-EBD3D4B7498C}" type="presOf" srcId="{CD4F6E8F-E7A4-4F83-AC93-F54A2399821B}" destId="{02A8C892-99F5-416B-9A97-9D038DB2BFE6}" srcOrd="0" destOrd="0" presId="urn:microsoft.com/office/officeart/2005/8/layout/cycle2"/>
    <dgm:cxn modelId="{B06109E3-206A-4961-8DAC-F06154A8E8A0}" srcId="{D5B2BFDA-F965-4B68-9558-F7A9633C94D3}" destId="{A8761322-63A5-4F2A-9328-B67D228D88BD}" srcOrd="0" destOrd="0" parTransId="{45997535-8724-433B-AF22-58C39DF8C14A}" sibTransId="{ADF6EBD9-8AFA-4AB3-94E5-C35E3FE26754}"/>
    <dgm:cxn modelId="{A3E007E6-6274-417B-910B-919B1773034A}" type="presOf" srcId="{D5B2BFDA-F965-4B68-9558-F7A9633C94D3}" destId="{BB6F640B-508F-494E-B2CC-4DFC2B269793}" srcOrd="0" destOrd="0" presId="urn:microsoft.com/office/officeart/2005/8/layout/cycle2"/>
    <dgm:cxn modelId="{EBD6BAE6-A5FB-4048-9134-C0C83EAA844C}" type="presOf" srcId="{2159E816-5435-4311-A050-4CEAE791880A}" destId="{BCE03FDC-1828-4C76-BFC0-6A6D44DE7AF6}" srcOrd="0" destOrd="0" presId="urn:microsoft.com/office/officeart/2005/8/layout/cycle2"/>
    <dgm:cxn modelId="{78E5E9E7-97C5-45E7-9A5A-136755BC62EE}" type="presOf" srcId="{93041A9A-A5E8-4F52-8544-22704A711CC3}" destId="{A7EDA7AC-B4BA-4FD7-88FF-065CE09BC58C}" srcOrd="1" destOrd="0" presId="urn:microsoft.com/office/officeart/2005/8/layout/cycle2"/>
    <dgm:cxn modelId="{415B44E9-56AE-4147-BB62-5C4F30BAA9C1}" type="presOf" srcId="{A8761322-63A5-4F2A-9328-B67D228D88BD}" destId="{2CC2DF4B-2390-4229-9977-9B2766604DFA}" srcOrd="0" destOrd="0" presId="urn:microsoft.com/office/officeart/2005/8/layout/cycle2"/>
    <dgm:cxn modelId="{F62BBFF0-AB5F-477B-BA39-32A8C42DFAF4}" type="presOf" srcId="{0003E5A2-5626-48D7-AE03-7575D762B1F0}" destId="{36D401AC-3085-4ADD-BF05-1C885976C979}" srcOrd="0" destOrd="0" presId="urn:microsoft.com/office/officeart/2005/8/layout/cycle2"/>
    <dgm:cxn modelId="{0455751C-1B9C-4CCF-BDB6-183B4EC27578}" type="presParOf" srcId="{BB6F640B-508F-494E-B2CC-4DFC2B269793}" destId="{2CC2DF4B-2390-4229-9977-9B2766604DFA}" srcOrd="0" destOrd="0" presId="urn:microsoft.com/office/officeart/2005/8/layout/cycle2"/>
    <dgm:cxn modelId="{BA04E230-FD03-4CBB-A780-8BC952231280}" type="presParOf" srcId="{BB6F640B-508F-494E-B2CC-4DFC2B269793}" destId="{1207202A-8498-4AF5-B1B5-180AEA94F7F9}" srcOrd="1" destOrd="0" presId="urn:microsoft.com/office/officeart/2005/8/layout/cycle2"/>
    <dgm:cxn modelId="{C490B2D7-6DE4-410A-97FC-52E6F6A73BFE}" type="presParOf" srcId="{1207202A-8498-4AF5-B1B5-180AEA94F7F9}" destId="{64FBC1CA-B9D4-4D10-9C77-03773373FDF5}" srcOrd="0" destOrd="0" presId="urn:microsoft.com/office/officeart/2005/8/layout/cycle2"/>
    <dgm:cxn modelId="{887E0423-1458-4CEA-8456-4B5021D6477D}" type="presParOf" srcId="{BB6F640B-508F-494E-B2CC-4DFC2B269793}" destId="{F70ED628-EFAA-43FA-86D3-A33D2CF46C63}" srcOrd="2" destOrd="0" presId="urn:microsoft.com/office/officeart/2005/8/layout/cycle2"/>
    <dgm:cxn modelId="{E72F57EA-453F-4E5A-8EDB-9173621AE18B}" type="presParOf" srcId="{BB6F640B-508F-494E-B2CC-4DFC2B269793}" destId="{7FBDCEB2-3724-4A00-B04C-69A7364D59F9}" srcOrd="3" destOrd="0" presId="urn:microsoft.com/office/officeart/2005/8/layout/cycle2"/>
    <dgm:cxn modelId="{5EBFCC02-F108-4D72-A2C3-8F95EF8DB074}" type="presParOf" srcId="{7FBDCEB2-3724-4A00-B04C-69A7364D59F9}" destId="{E8B89A02-A712-40FF-99E6-25DE29BD1405}" srcOrd="0" destOrd="0" presId="urn:microsoft.com/office/officeart/2005/8/layout/cycle2"/>
    <dgm:cxn modelId="{3A729E23-E382-4C40-8B47-89247AE9716F}" type="presParOf" srcId="{BB6F640B-508F-494E-B2CC-4DFC2B269793}" destId="{8A239B37-9E96-4770-8B1B-3313270917F6}" srcOrd="4" destOrd="0" presId="urn:microsoft.com/office/officeart/2005/8/layout/cycle2"/>
    <dgm:cxn modelId="{2A60561B-7AC6-4FB7-AE35-442A063DE42A}" type="presParOf" srcId="{BB6F640B-508F-494E-B2CC-4DFC2B269793}" destId="{910F3E83-A29D-4562-A5F2-CDA43C10C961}" srcOrd="5" destOrd="0" presId="urn:microsoft.com/office/officeart/2005/8/layout/cycle2"/>
    <dgm:cxn modelId="{7BB8A41F-CD95-4A37-BD9F-0463B9DDCF83}" type="presParOf" srcId="{910F3E83-A29D-4562-A5F2-CDA43C10C961}" destId="{6E489443-0A72-4270-9997-A14B1EB80651}" srcOrd="0" destOrd="0" presId="urn:microsoft.com/office/officeart/2005/8/layout/cycle2"/>
    <dgm:cxn modelId="{45BAEE87-0E0D-488D-BC0D-BD40B8835F81}" type="presParOf" srcId="{BB6F640B-508F-494E-B2CC-4DFC2B269793}" destId="{756FAFC5-3760-40A9-81C1-F48AA496E6A1}" srcOrd="6" destOrd="0" presId="urn:microsoft.com/office/officeart/2005/8/layout/cycle2"/>
    <dgm:cxn modelId="{5254B2D1-3833-401E-B05D-DF5B94B7C8AA}" type="presParOf" srcId="{BB6F640B-508F-494E-B2CC-4DFC2B269793}" destId="{36D401AC-3085-4ADD-BF05-1C885976C979}" srcOrd="7" destOrd="0" presId="urn:microsoft.com/office/officeart/2005/8/layout/cycle2"/>
    <dgm:cxn modelId="{0805B081-6CA8-4099-9236-47C97475178E}" type="presParOf" srcId="{36D401AC-3085-4ADD-BF05-1C885976C979}" destId="{60BC9069-6719-4016-B0F6-85F52BBC4B4A}" srcOrd="0" destOrd="0" presId="urn:microsoft.com/office/officeart/2005/8/layout/cycle2"/>
    <dgm:cxn modelId="{6E9AFEB0-D4A7-431C-BF68-C48BFDC2D514}" type="presParOf" srcId="{BB6F640B-508F-494E-B2CC-4DFC2B269793}" destId="{165CF8C7-8A25-4E03-B8ED-B2F3D41AE8DC}" srcOrd="8" destOrd="0" presId="urn:microsoft.com/office/officeart/2005/8/layout/cycle2"/>
    <dgm:cxn modelId="{D850134B-100D-498F-B9D9-411D1711060E}" type="presParOf" srcId="{BB6F640B-508F-494E-B2CC-4DFC2B269793}" destId="{9C1B7D29-197E-4359-882E-A1F8C7D698FC}" srcOrd="9" destOrd="0" presId="urn:microsoft.com/office/officeart/2005/8/layout/cycle2"/>
    <dgm:cxn modelId="{718AFE42-2E19-44EC-A974-E048755DAD6E}" type="presParOf" srcId="{9C1B7D29-197E-4359-882E-A1F8C7D698FC}" destId="{E1568270-D3EB-44E2-8962-F589D4E9988A}" srcOrd="0" destOrd="0" presId="urn:microsoft.com/office/officeart/2005/8/layout/cycle2"/>
    <dgm:cxn modelId="{8E9BF47E-8164-42C8-B3F5-1443415A43CF}" type="presParOf" srcId="{BB6F640B-508F-494E-B2CC-4DFC2B269793}" destId="{02A8C892-99F5-416B-9A97-9D038DB2BFE6}" srcOrd="10" destOrd="0" presId="urn:microsoft.com/office/officeart/2005/8/layout/cycle2"/>
    <dgm:cxn modelId="{5123C0A7-3499-4F70-B6A4-66E84BCD6C1D}" type="presParOf" srcId="{BB6F640B-508F-494E-B2CC-4DFC2B269793}" destId="{00ADE51F-D771-4FD1-B22E-61E85434CE4F}" srcOrd="11" destOrd="0" presId="urn:microsoft.com/office/officeart/2005/8/layout/cycle2"/>
    <dgm:cxn modelId="{2FD689D8-FAE0-4EE2-B974-87C0BA57D28B}" type="presParOf" srcId="{00ADE51F-D771-4FD1-B22E-61E85434CE4F}" destId="{9BEB03A5-D1F2-4F82-BDCA-F6956E1E7308}" srcOrd="0" destOrd="0" presId="urn:microsoft.com/office/officeart/2005/8/layout/cycle2"/>
    <dgm:cxn modelId="{DE645DE5-1BF6-4487-8ABF-41BA977617C5}" type="presParOf" srcId="{BB6F640B-508F-494E-B2CC-4DFC2B269793}" destId="{41A03034-12FB-45B8-83C1-0A27510B9502}" srcOrd="12" destOrd="0" presId="urn:microsoft.com/office/officeart/2005/8/layout/cycle2"/>
    <dgm:cxn modelId="{57DCF713-73CA-4632-AF94-88912C58E5BF}" type="presParOf" srcId="{BB6F640B-508F-494E-B2CC-4DFC2B269793}" destId="{BFE695C8-65B7-452B-B400-2516B2A857EE}" srcOrd="13" destOrd="0" presId="urn:microsoft.com/office/officeart/2005/8/layout/cycle2"/>
    <dgm:cxn modelId="{BCD70DB1-373E-45E2-A532-70355BE6B96C}" type="presParOf" srcId="{BFE695C8-65B7-452B-B400-2516B2A857EE}" destId="{47311881-D9AE-43E2-A695-C21AA7728E26}" srcOrd="0" destOrd="0" presId="urn:microsoft.com/office/officeart/2005/8/layout/cycle2"/>
    <dgm:cxn modelId="{BED59F4E-A9C2-4D28-8A9D-BC0957D905CE}" type="presParOf" srcId="{BB6F640B-508F-494E-B2CC-4DFC2B269793}" destId="{6932CD04-30E8-4429-A34E-928C6C93BC91}" srcOrd="14" destOrd="0" presId="urn:microsoft.com/office/officeart/2005/8/layout/cycle2"/>
    <dgm:cxn modelId="{37E7F454-2307-4A60-A3FE-00429373158C}" type="presParOf" srcId="{BB6F640B-508F-494E-B2CC-4DFC2B269793}" destId="{45E8905A-F2FB-42EA-8FDA-5D04B7E54B89}" srcOrd="15" destOrd="0" presId="urn:microsoft.com/office/officeart/2005/8/layout/cycle2"/>
    <dgm:cxn modelId="{DC291E2D-46CD-4FE6-B5F2-B5931234CED1}" type="presParOf" srcId="{45E8905A-F2FB-42EA-8FDA-5D04B7E54B89}" destId="{A7EDA7AC-B4BA-4FD7-88FF-065CE09BC58C}" srcOrd="0" destOrd="0" presId="urn:microsoft.com/office/officeart/2005/8/layout/cycle2"/>
    <dgm:cxn modelId="{B7FD1290-07EB-4DE9-9B29-100EF9E6630C}" type="presParOf" srcId="{BB6F640B-508F-494E-B2CC-4DFC2B269793}" destId="{C828B1D5-578C-4A99-A851-97A6807DA6E2}" srcOrd="16" destOrd="0" presId="urn:microsoft.com/office/officeart/2005/8/layout/cycle2"/>
    <dgm:cxn modelId="{5A2456D5-8228-4D4C-A332-74789D2A399C}" type="presParOf" srcId="{BB6F640B-508F-494E-B2CC-4DFC2B269793}" destId="{BCE03FDC-1828-4C76-BFC0-6A6D44DE7AF6}" srcOrd="17" destOrd="0" presId="urn:microsoft.com/office/officeart/2005/8/layout/cycle2"/>
    <dgm:cxn modelId="{5FAEEAA3-2ADA-44C0-B708-14A89E47EE4E}" type="presParOf" srcId="{BCE03FDC-1828-4C76-BFC0-6A6D44DE7AF6}" destId="{47AF57B7-3A96-4C4E-A831-B505C9E539E9}" srcOrd="0" destOrd="0" presId="urn:microsoft.com/office/officeart/2005/8/layout/cycle2"/>
    <dgm:cxn modelId="{0807C605-18C7-4766-B37A-99602A1699A1}" type="presParOf" srcId="{BB6F640B-508F-494E-B2CC-4DFC2B269793}" destId="{C8FB5029-79B4-44D7-9DA7-FCC5FB1E4936}" srcOrd="18" destOrd="0" presId="urn:microsoft.com/office/officeart/2005/8/layout/cycle2"/>
    <dgm:cxn modelId="{86BC6439-0588-459C-B7B8-9A1FB23EFFEB}" type="presParOf" srcId="{BB6F640B-508F-494E-B2CC-4DFC2B269793}" destId="{B6CDDC98-6BB6-41CB-B134-C3916FD93A90}" srcOrd="19" destOrd="0" presId="urn:microsoft.com/office/officeart/2005/8/layout/cycle2"/>
    <dgm:cxn modelId="{264FF0F7-3719-45CD-BF7C-D46502DB9042}" type="presParOf" srcId="{B6CDDC98-6BB6-41CB-B134-C3916FD93A90}" destId="{905EA2D9-FE20-4D3E-BD57-E9634A25D3E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2DF4B-2390-4229-9977-9B2766604DFA}">
      <dsp:nvSpPr>
        <dsp:cNvPr id="0" name=""/>
        <dsp:cNvSpPr/>
      </dsp:nvSpPr>
      <dsp:spPr>
        <a:xfrm>
          <a:off x="2701230" y="1704"/>
          <a:ext cx="693539" cy="693539"/>
        </a:xfrm>
        <a:prstGeom prst="ellipse">
          <a:avLst/>
        </a:prstGeom>
        <a:gradFill rotWithShape="1">
          <a:gsLst>
            <a:gs pos="0">
              <a:schemeClr val="accent2">
                <a:shade val="15000"/>
                <a:satMod val="180000"/>
              </a:schemeClr>
            </a:gs>
            <a:gs pos="50000">
              <a:schemeClr val="accent2">
                <a:shade val="45000"/>
                <a:satMod val="170000"/>
              </a:schemeClr>
            </a:gs>
            <a:gs pos="70000">
              <a:schemeClr val="accent2">
                <a:tint val="99000"/>
                <a:shade val="65000"/>
                <a:satMod val="155000"/>
              </a:schemeClr>
            </a:gs>
            <a:gs pos="100000">
              <a:schemeClr val="accent2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2">
              <a:satMod val="300000"/>
            </a:schemeClr>
          </a:contourClr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1</a:t>
          </a:r>
        </a:p>
      </dsp:txBody>
      <dsp:txXfrm>
        <a:off x="2802796" y="103270"/>
        <a:ext cx="490407" cy="490407"/>
      </dsp:txXfrm>
    </dsp:sp>
    <dsp:sp modelId="{1207202A-8498-4AF5-B1B5-180AEA94F7F9}">
      <dsp:nvSpPr>
        <dsp:cNvPr id="0" name=""/>
        <dsp:cNvSpPr/>
      </dsp:nvSpPr>
      <dsp:spPr>
        <a:xfrm rot="1100392">
          <a:off x="3446915" y="395043"/>
          <a:ext cx="189248" cy="234069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448357" y="432925"/>
        <a:ext cx="132474" cy="140441"/>
      </dsp:txXfrm>
    </dsp:sp>
    <dsp:sp modelId="{F70ED628-EFAA-43FA-86D3-A33D2CF46C63}">
      <dsp:nvSpPr>
        <dsp:cNvPr id="0" name=""/>
        <dsp:cNvSpPr/>
      </dsp:nvSpPr>
      <dsp:spPr>
        <a:xfrm>
          <a:off x="3698478" y="332282"/>
          <a:ext cx="693539" cy="693539"/>
        </a:xfrm>
        <a:prstGeom prst="ellipse">
          <a:avLst/>
        </a:prstGeom>
        <a:gradFill rotWithShape="1">
          <a:gsLst>
            <a:gs pos="0">
              <a:schemeClr val="accent1">
                <a:shade val="15000"/>
                <a:satMod val="180000"/>
              </a:schemeClr>
            </a:gs>
            <a:gs pos="50000">
              <a:schemeClr val="accent1">
                <a:shade val="45000"/>
                <a:satMod val="170000"/>
              </a:schemeClr>
            </a:gs>
            <a:gs pos="70000">
              <a:schemeClr val="accent1">
                <a:tint val="99000"/>
                <a:shade val="65000"/>
                <a:satMod val="155000"/>
              </a:schemeClr>
            </a:gs>
            <a:gs pos="100000">
              <a:schemeClr val="accent1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satMod val="300000"/>
            </a:schemeClr>
          </a:contourClr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2</a:t>
          </a:r>
        </a:p>
      </dsp:txBody>
      <dsp:txXfrm>
        <a:off x="3800044" y="433848"/>
        <a:ext cx="490407" cy="490407"/>
      </dsp:txXfrm>
    </dsp:sp>
    <dsp:sp modelId="{7FBDCEB2-3724-4A00-B04C-69A7364D59F9}">
      <dsp:nvSpPr>
        <dsp:cNvPr id="0" name=""/>
        <dsp:cNvSpPr/>
      </dsp:nvSpPr>
      <dsp:spPr>
        <a:xfrm rot="3240043">
          <a:off x="4256033" y="978693"/>
          <a:ext cx="183877" cy="234069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267403" y="1003193"/>
        <a:ext cx="128714" cy="140441"/>
      </dsp:txXfrm>
    </dsp:sp>
    <dsp:sp modelId="{8A239B37-9E96-4770-8B1B-3313270917F6}">
      <dsp:nvSpPr>
        <dsp:cNvPr id="0" name=""/>
        <dsp:cNvSpPr/>
      </dsp:nvSpPr>
      <dsp:spPr>
        <a:xfrm>
          <a:off x="4310044" y="1174054"/>
          <a:ext cx="693539" cy="693539"/>
        </a:xfrm>
        <a:prstGeom prst="ellipse">
          <a:avLst/>
        </a:prstGeom>
        <a:gradFill rotWithShape="1">
          <a:gsLst>
            <a:gs pos="0">
              <a:schemeClr val="accent1">
                <a:shade val="15000"/>
                <a:satMod val="180000"/>
              </a:schemeClr>
            </a:gs>
            <a:gs pos="50000">
              <a:schemeClr val="accent1">
                <a:shade val="45000"/>
                <a:satMod val="170000"/>
              </a:schemeClr>
            </a:gs>
            <a:gs pos="70000">
              <a:schemeClr val="accent1">
                <a:tint val="99000"/>
                <a:shade val="65000"/>
                <a:satMod val="155000"/>
              </a:schemeClr>
            </a:gs>
            <a:gs pos="100000">
              <a:schemeClr val="accent1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satMod val="300000"/>
            </a:schemeClr>
          </a:contourClr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3</a:t>
          </a:r>
        </a:p>
      </dsp:txBody>
      <dsp:txXfrm>
        <a:off x="4411610" y="1275620"/>
        <a:ext cx="490407" cy="490407"/>
      </dsp:txXfrm>
    </dsp:sp>
    <dsp:sp modelId="{910F3E83-A29D-4562-A5F2-CDA43C10C961}">
      <dsp:nvSpPr>
        <dsp:cNvPr id="0" name=""/>
        <dsp:cNvSpPr/>
      </dsp:nvSpPr>
      <dsp:spPr>
        <a:xfrm rot="21250851" flipH="1">
          <a:off x="4498334" y="1987285"/>
          <a:ext cx="309349" cy="88354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524772" y="2003612"/>
        <a:ext cx="282843" cy="53012"/>
      </dsp:txXfrm>
    </dsp:sp>
    <dsp:sp modelId="{756FAFC5-3760-40A9-81C1-F48AA496E6A1}">
      <dsp:nvSpPr>
        <dsp:cNvPr id="0" name=""/>
        <dsp:cNvSpPr/>
      </dsp:nvSpPr>
      <dsp:spPr>
        <a:xfrm>
          <a:off x="4302358" y="2205468"/>
          <a:ext cx="693539" cy="693539"/>
        </a:xfrm>
        <a:prstGeom prst="ellipse">
          <a:avLst/>
        </a:prstGeom>
        <a:gradFill rotWithShape="1">
          <a:gsLst>
            <a:gs pos="0">
              <a:schemeClr val="accent1">
                <a:shade val="15000"/>
                <a:satMod val="180000"/>
              </a:schemeClr>
            </a:gs>
            <a:gs pos="50000">
              <a:schemeClr val="accent1">
                <a:shade val="45000"/>
                <a:satMod val="170000"/>
              </a:schemeClr>
            </a:gs>
            <a:gs pos="70000">
              <a:schemeClr val="accent1">
                <a:tint val="99000"/>
                <a:shade val="65000"/>
                <a:satMod val="155000"/>
              </a:schemeClr>
            </a:gs>
            <a:gs pos="100000">
              <a:schemeClr val="accent1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satMod val="300000"/>
            </a:schemeClr>
          </a:contourClr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4</a:t>
          </a:r>
        </a:p>
      </dsp:txBody>
      <dsp:txXfrm>
        <a:off x="4403924" y="2307034"/>
        <a:ext cx="490407" cy="490407"/>
      </dsp:txXfrm>
    </dsp:sp>
    <dsp:sp modelId="{36D401AC-3085-4ADD-BF05-1C885976C979}">
      <dsp:nvSpPr>
        <dsp:cNvPr id="0" name=""/>
        <dsp:cNvSpPr/>
      </dsp:nvSpPr>
      <dsp:spPr>
        <a:xfrm rot="7560000">
          <a:off x="4254460" y="2851874"/>
          <a:ext cx="183876" cy="234069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4298253" y="2876374"/>
        <a:ext cx="128713" cy="140441"/>
      </dsp:txXfrm>
    </dsp:sp>
    <dsp:sp modelId="{165CF8C7-8A25-4E03-B8ED-B2F3D41AE8DC}">
      <dsp:nvSpPr>
        <dsp:cNvPr id="0" name=""/>
        <dsp:cNvSpPr/>
      </dsp:nvSpPr>
      <dsp:spPr>
        <a:xfrm>
          <a:off x="3690782" y="3047231"/>
          <a:ext cx="693539" cy="693539"/>
        </a:xfrm>
        <a:prstGeom prst="ellipse">
          <a:avLst/>
        </a:prstGeom>
        <a:gradFill rotWithShape="1">
          <a:gsLst>
            <a:gs pos="0">
              <a:schemeClr val="accent1">
                <a:shade val="15000"/>
                <a:satMod val="180000"/>
              </a:schemeClr>
            </a:gs>
            <a:gs pos="50000">
              <a:schemeClr val="accent1">
                <a:shade val="45000"/>
                <a:satMod val="170000"/>
              </a:schemeClr>
            </a:gs>
            <a:gs pos="70000">
              <a:schemeClr val="accent1">
                <a:tint val="99000"/>
                <a:shade val="65000"/>
                <a:satMod val="155000"/>
              </a:schemeClr>
            </a:gs>
            <a:gs pos="100000">
              <a:schemeClr val="accent1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satMod val="300000"/>
            </a:schemeClr>
          </a:contourClr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5</a:t>
          </a:r>
        </a:p>
      </dsp:txBody>
      <dsp:txXfrm>
        <a:off x="3792348" y="3148797"/>
        <a:ext cx="490407" cy="490407"/>
      </dsp:txXfrm>
    </dsp:sp>
    <dsp:sp modelId="{9C1B7D29-197E-4359-882E-A1F8C7D698FC}">
      <dsp:nvSpPr>
        <dsp:cNvPr id="0" name=""/>
        <dsp:cNvSpPr/>
      </dsp:nvSpPr>
      <dsp:spPr>
        <a:xfrm rot="9720000">
          <a:off x="3455786" y="3436120"/>
          <a:ext cx="183876" cy="234069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3509599" y="3474411"/>
        <a:ext cx="128713" cy="140441"/>
      </dsp:txXfrm>
    </dsp:sp>
    <dsp:sp modelId="{02A8C892-99F5-416B-9A97-9D038DB2BFE6}">
      <dsp:nvSpPr>
        <dsp:cNvPr id="0" name=""/>
        <dsp:cNvSpPr/>
      </dsp:nvSpPr>
      <dsp:spPr>
        <a:xfrm>
          <a:off x="2701230" y="3368756"/>
          <a:ext cx="693539" cy="693539"/>
        </a:xfrm>
        <a:prstGeom prst="ellipse">
          <a:avLst/>
        </a:prstGeom>
        <a:gradFill rotWithShape="1">
          <a:gsLst>
            <a:gs pos="0">
              <a:schemeClr val="accent1">
                <a:shade val="15000"/>
                <a:satMod val="180000"/>
              </a:schemeClr>
            </a:gs>
            <a:gs pos="50000">
              <a:schemeClr val="accent1">
                <a:shade val="45000"/>
                <a:satMod val="170000"/>
              </a:schemeClr>
            </a:gs>
            <a:gs pos="70000">
              <a:schemeClr val="accent1">
                <a:tint val="99000"/>
                <a:shade val="65000"/>
                <a:satMod val="155000"/>
              </a:schemeClr>
            </a:gs>
            <a:gs pos="100000">
              <a:schemeClr val="accent1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satMod val="300000"/>
            </a:schemeClr>
          </a:contourClr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6</a:t>
          </a:r>
        </a:p>
      </dsp:txBody>
      <dsp:txXfrm>
        <a:off x="2802796" y="3470322"/>
        <a:ext cx="490407" cy="490407"/>
      </dsp:txXfrm>
    </dsp:sp>
    <dsp:sp modelId="{00ADE51F-D771-4FD1-B22E-61E85434CE4F}">
      <dsp:nvSpPr>
        <dsp:cNvPr id="0" name=""/>
        <dsp:cNvSpPr/>
      </dsp:nvSpPr>
      <dsp:spPr>
        <a:xfrm rot="11880000">
          <a:off x="2466235" y="3439336"/>
          <a:ext cx="183876" cy="234069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2520048" y="3494673"/>
        <a:ext cx="128713" cy="140441"/>
      </dsp:txXfrm>
    </dsp:sp>
    <dsp:sp modelId="{41A03034-12FB-45B8-83C1-0A27510B9502}">
      <dsp:nvSpPr>
        <dsp:cNvPr id="0" name=""/>
        <dsp:cNvSpPr/>
      </dsp:nvSpPr>
      <dsp:spPr>
        <a:xfrm>
          <a:off x="1711678" y="3047231"/>
          <a:ext cx="693539" cy="693539"/>
        </a:xfrm>
        <a:prstGeom prst="ellipse">
          <a:avLst/>
        </a:prstGeom>
        <a:gradFill rotWithShape="1">
          <a:gsLst>
            <a:gs pos="0">
              <a:schemeClr val="accent1">
                <a:shade val="15000"/>
                <a:satMod val="180000"/>
              </a:schemeClr>
            </a:gs>
            <a:gs pos="50000">
              <a:schemeClr val="accent1">
                <a:shade val="45000"/>
                <a:satMod val="170000"/>
              </a:schemeClr>
            </a:gs>
            <a:gs pos="70000">
              <a:schemeClr val="accent1">
                <a:tint val="99000"/>
                <a:shade val="65000"/>
                <a:satMod val="155000"/>
              </a:schemeClr>
            </a:gs>
            <a:gs pos="100000">
              <a:schemeClr val="accent1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satMod val="300000"/>
            </a:schemeClr>
          </a:contourClr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7</a:t>
          </a:r>
        </a:p>
      </dsp:txBody>
      <dsp:txXfrm>
        <a:off x="1813244" y="3148797"/>
        <a:ext cx="490407" cy="490407"/>
      </dsp:txXfrm>
    </dsp:sp>
    <dsp:sp modelId="{BFE695C8-65B7-452B-B400-2516B2A857EE}">
      <dsp:nvSpPr>
        <dsp:cNvPr id="0" name=""/>
        <dsp:cNvSpPr/>
      </dsp:nvSpPr>
      <dsp:spPr>
        <a:xfrm rot="14040000">
          <a:off x="1663780" y="2860295"/>
          <a:ext cx="183876" cy="234069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1707573" y="2929423"/>
        <a:ext cx="128713" cy="140441"/>
      </dsp:txXfrm>
    </dsp:sp>
    <dsp:sp modelId="{6932CD04-30E8-4429-A34E-928C6C93BC91}">
      <dsp:nvSpPr>
        <dsp:cNvPr id="0" name=""/>
        <dsp:cNvSpPr/>
      </dsp:nvSpPr>
      <dsp:spPr>
        <a:xfrm>
          <a:off x="1100102" y="2205468"/>
          <a:ext cx="693539" cy="693539"/>
        </a:xfrm>
        <a:prstGeom prst="ellipse">
          <a:avLst/>
        </a:prstGeom>
        <a:gradFill rotWithShape="1">
          <a:gsLst>
            <a:gs pos="0">
              <a:schemeClr val="accent1">
                <a:shade val="15000"/>
                <a:satMod val="180000"/>
              </a:schemeClr>
            </a:gs>
            <a:gs pos="50000">
              <a:schemeClr val="accent1">
                <a:shade val="45000"/>
                <a:satMod val="170000"/>
              </a:schemeClr>
            </a:gs>
            <a:gs pos="70000">
              <a:schemeClr val="accent1">
                <a:tint val="99000"/>
                <a:shade val="65000"/>
                <a:satMod val="155000"/>
              </a:schemeClr>
            </a:gs>
            <a:gs pos="100000">
              <a:schemeClr val="accent1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satMod val="300000"/>
            </a:schemeClr>
          </a:contourClr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8</a:t>
          </a:r>
        </a:p>
      </dsp:txBody>
      <dsp:txXfrm>
        <a:off x="1201668" y="2307034"/>
        <a:ext cx="490407" cy="490407"/>
      </dsp:txXfrm>
    </dsp:sp>
    <dsp:sp modelId="{45E8905A-F2FB-42EA-8FDA-5D04B7E54B89}">
      <dsp:nvSpPr>
        <dsp:cNvPr id="0" name=""/>
        <dsp:cNvSpPr/>
      </dsp:nvSpPr>
      <dsp:spPr>
        <a:xfrm rot="16200000">
          <a:off x="1354933" y="1920169"/>
          <a:ext cx="183876" cy="234069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382515" y="1994565"/>
        <a:ext cx="128713" cy="140441"/>
      </dsp:txXfrm>
    </dsp:sp>
    <dsp:sp modelId="{C828B1D5-578C-4A99-A851-97A6807DA6E2}">
      <dsp:nvSpPr>
        <dsp:cNvPr id="0" name=""/>
        <dsp:cNvSpPr/>
      </dsp:nvSpPr>
      <dsp:spPr>
        <a:xfrm>
          <a:off x="1100102" y="1164992"/>
          <a:ext cx="693539" cy="693539"/>
        </a:xfrm>
        <a:prstGeom prst="ellipse">
          <a:avLst/>
        </a:prstGeom>
        <a:gradFill rotWithShape="1">
          <a:gsLst>
            <a:gs pos="0">
              <a:schemeClr val="accent1">
                <a:shade val="15000"/>
                <a:satMod val="180000"/>
              </a:schemeClr>
            </a:gs>
            <a:gs pos="50000">
              <a:schemeClr val="accent1">
                <a:shade val="45000"/>
                <a:satMod val="170000"/>
              </a:schemeClr>
            </a:gs>
            <a:gs pos="70000">
              <a:schemeClr val="accent1">
                <a:tint val="99000"/>
                <a:shade val="65000"/>
                <a:satMod val="155000"/>
              </a:schemeClr>
            </a:gs>
            <a:gs pos="100000">
              <a:schemeClr val="accent1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satMod val="300000"/>
            </a:schemeClr>
          </a:contourClr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9</a:t>
          </a:r>
        </a:p>
      </dsp:txBody>
      <dsp:txXfrm>
        <a:off x="1201668" y="1266558"/>
        <a:ext cx="490407" cy="490407"/>
      </dsp:txXfrm>
    </dsp:sp>
    <dsp:sp modelId="{BCE03FDC-1828-4C76-BFC0-6A6D44DE7AF6}">
      <dsp:nvSpPr>
        <dsp:cNvPr id="0" name=""/>
        <dsp:cNvSpPr/>
      </dsp:nvSpPr>
      <dsp:spPr>
        <a:xfrm rot="18360000">
          <a:off x="1657662" y="978055"/>
          <a:ext cx="183876" cy="234069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669032" y="1047183"/>
        <a:ext cx="128713" cy="140441"/>
      </dsp:txXfrm>
    </dsp:sp>
    <dsp:sp modelId="{C8FB5029-79B4-44D7-9DA7-FCC5FB1E4936}">
      <dsp:nvSpPr>
        <dsp:cNvPr id="0" name=""/>
        <dsp:cNvSpPr/>
      </dsp:nvSpPr>
      <dsp:spPr>
        <a:xfrm>
          <a:off x="1711678" y="323229"/>
          <a:ext cx="693539" cy="693539"/>
        </a:xfrm>
        <a:prstGeom prst="ellipse">
          <a:avLst/>
        </a:prstGeom>
        <a:gradFill rotWithShape="1">
          <a:gsLst>
            <a:gs pos="0">
              <a:schemeClr val="accent1">
                <a:shade val="15000"/>
                <a:satMod val="180000"/>
              </a:schemeClr>
            </a:gs>
            <a:gs pos="50000">
              <a:schemeClr val="accent1">
                <a:shade val="45000"/>
                <a:satMod val="170000"/>
              </a:schemeClr>
            </a:gs>
            <a:gs pos="70000">
              <a:schemeClr val="accent1">
                <a:tint val="99000"/>
                <a:shade val="65000"/>
                <a:satMod val="155000"/>
              </a:schemeClr>
            </a:gs>
            <a:gs pos="100000">
              <a:schemeClr val="accent1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1">
              <a:satMod val="300000"/>
            </a:schemeClr>
          </a:contourClr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10</a:t>
          </a:r>
        </a:p>
      </dsp:txBody>
      <dsp:txXfrm>
        <a:off x="1813244" y="424795"/>
        <a:ext cx="490407" cy="490407"/>
      </dsp:txXfrm>
    </dsp:sp>
    <dsp:sp modelId="{B6CDDC98-6BB6-41CB-B134-C3916FD93A90}">
      <dsp:nvSpPr>
        <dsp:cNvPr id="0" name=""/>
        <dsp:cNvSpPr/>
      </dsp:nvSpPr>
      <dsp:spPr>
        <a:xfrm rot="20520000">
          <a:off x="2456336" y="393809"/>
          <a:ext cx="183876" cy="234069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57686" y="449146"/>
        <a:ext cx="128713" cy="1404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496380-99FE-8B06-0ECF-977F7D6956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5003D-D47E-9359-DABC-324A6A557D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222A1-021F-4AE0-9E35-D4AF17CF2AE5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60700-2CB1-9179-8D4E-D5C9CBEC39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87DB3-2EA8-32CC-5CCA-6F66C2402F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EF22C-3490-46F0-97AF-4D002B0541F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91111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04-29T13:10:29.962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20324 5428 194 0,'0'0'1022'16,"0"0"-1022"-16,0 0-1216 0</inkml:trace>
  <inkml:trace contextRef="#ctx0" brushRef="#br0" timeOffset="38239.55">20669 10160 5795 0,'0'0'548'15,"0"0"-368"-15,0 0-49 0,0 0 45 16,0 0-45-16,0 0-104 0,0 0-27 16,0 0-58-16,0 0 18 0,0 0-60 15,3 29-203-15,6-18-561 0,6-8-4112 0</inkml:trace>
  <inkml:trace contextRef="#ctx0" brushRef="#br1" timeOffset="84210.9">13010 2658 707 0,'0'0'1292'16,"0"0"-1292"-16,0 0-94 0,0 0-923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24T17:45:55.60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20425 11737 1868 0,'0'0'41'0,"0"0"9"0,0 0 2 0,0 0 0 0,0 0-42 0,6 5-10 16,0-2 0-16,-1 0-828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05-06T14:50:59.62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4272 8890 625 0,'0'0'477'0,"0"0"-477"0,0 0-329 15</inkml:trace>
  <inkml:trace contextRef="#ctx0" brushRef="#br0" timeOffset="197.49">4272 8890 1003 0,'-3'31'949'0,"3"-31"-143"16,0 0-409-16,0 0-185 15,0 0-67-15,0 0 42 0,0 0 90 16,0 0 20-16,-3 0-244 0,0 0-44 16,0-2 70-16,-3-1 59 0,2 3 2 15,4 0 51-15,-3-3-188 0,0 3-3 16,3 0 0-16,0 0-61 0,-3 0-43 15,3 0-141-15,0 0-455 0,-3 0-257 16,3 3 498-16,-6 6 245 0,0-4-21 16,-1 4-293-16,7-1-159 0,-9 5-9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05-06T14:55:04.67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21701 11728 5572 0,'0'0'119'0,"0"0"0"0,0 0 229 16,0 0-178-16,0 0-33 0,0 0-42 15,0 0-95-15,0 0-78 0,0 0-303 16,0-21-211-16,28 21-948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04-29T14:36:41.5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6294 7308 608 0,'0'0'608'0,"0"0"3"16,0 0-173-16,0 0-93 0,0 0-112 15,0 0-186-15,0 0-47 0,0 0-380 16,0 0-1006-16</inkml:trace>
  <inkml:trace contextRef="#ctx0" brushRef="#br0" timeOffset="385.17">8071 7299 310 0,'0'0'446'15,"0"0"-133"-15,0 0-85 0,0 0-2 0,0 0-113 16,0 0-48-16,0 0 45 16,0 0 251-16,0 0 353 0,0 0 14 15,31-35-223-15,-31 32-362 0,0 3-143 16,-4 0-271-16,1 0-603 0,-3 3-1465 16</inkml:trace>
  <inkml:trace contextRef="#ctx0" brushRef="#br0" timeOffset="2801.6">15047 9202 238 0,'0'0'381'16,"0"0"14"-16,0 0-247 0,0 0-143 15,59 12-5-15,-50-7-11 0,7-5-71 16,-1 6-362-16,1 1-186 0</inkml:trace>
  <inkml:trace contextRef="#ctx0" brushRef="#br0" timeOffset="6735.92">11949 8337 227 0,'0'0'858'0,"0"0"-404"0,0 0-260 16,0 0-100-16,35-54-94 0,-29 45-16 0,-3 6-127 15,6 3-571-15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04-29T15:19:07.1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17078 1676 888 0,'0'0'409'0,"0"0"-409"0,0 0-656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>
                <a:latin typeface="Cambria" panose="02040503050406030204" pitchFamily="18" charset="0"/>
              </a:defRPr>
            </a:lvl1pPr>
          </a:lstStyle>
          <a:p>
            <a:fld id="{9A9543F3-0831-4635-AD48-8E4410E96487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>
                <a:latin typeface="Cambria" panose="02040503050406030204" pitchFamily="18" charset="0"/>
              </a:defRPr>
            </a:lvl1pPr>
          </a:lstStyle>
          <a:p>
            <a:fld id="{8BBDC37B-729A-4393-B484-407F8F0BFA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8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380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561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1F78A8-523F-4BFC-80CC-40890F21BE7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525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805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536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819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393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067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380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57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0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50CF2-92C1-46B5-9E68-A16B5869142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08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50CF2-92C1-46B5-9E68-A16B5869142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52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50CF2-92C1-46B5-9E68-A16B5869142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03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31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74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3809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1680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215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9064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5174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2445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385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8159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6851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8275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450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2197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7268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536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336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7415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256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450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806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091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1146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679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3809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886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218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1F78A8-523F-4BFC-80CC-40890F21BE70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3278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1961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3E5448-E0B6-4C44-907F-D2B09D236B92}" type="slidenum">
              <a:rPr lang="en-US"/>
              <a:pPr/>
              <a:t>57</a:t>
            </a:fld>
            <a:endParaRPr lang="en-US" dirty="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8144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951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368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494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893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561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016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38094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37116-5B44-4F07-99AC-7D809BCE14D1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37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4087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36243B-458B-423D-8E58-69E166CB38A6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387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38094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5607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7977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58206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0623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1335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1F78A8-523F-4BFC-80CC-40890F21BE70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63306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5163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2921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0023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6386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5924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3967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8918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1134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3770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88193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7378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36243B-458B-423D-8E58-69E166CB38A6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3123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7357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8274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4645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36243B-458B-423D-8E58-69E166CB38A6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3265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36243B-458B-423D-8E58-69E166CB38A6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70964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7765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1F78A8-523F-4BFC-80CC-40890F21BE70}" type="slidenum">
              <a:rPr lang="en-US" smtClean="0"/>
              <a:pPr/>
              <a:t>101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3085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2559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103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94912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60366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5502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1138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8845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38094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2093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6264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50CF2-92C1-46B5-9E68-A16B58691424}" type="slidenum">
              <a:rPr lang="en-US" smtClean="0"/>
              <a:pPr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8489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50CF2-92C1-46B5-9E68-A16B58691424}" type="slidenum">
              <a:rPr lang="en-US" smtClean="0"/>
              <a:pPr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0656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1A5FB-7BE6-4996-B005-71C3A9AA5F92}" type="slidenum">
              <a:rPr lang="en-US" smtClean="0"/>
              <a:pPr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5357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2694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00747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4197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66354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2852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4123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7890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444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6286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4899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18952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0680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6235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6460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9541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09845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828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1075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95680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57047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29129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0581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8385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06862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01204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56879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13638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023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3768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41499-5498-497B-829C-C3B04AFB971B}" type="slidenum">
              <a:rPr lang="en-US" smtClean="0"/>
              <a:pPr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28628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4632A10-DCC6-4A20-9C12-577EF1D0366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17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41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68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85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75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23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55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>
                <a:latin typeface="Cambria" panose="02040503050406030204" pitchFamily="18" charset="0"/>
              </a:defRPr>
            </a:lvl1pPr>
            <a:lvl2pPr>
              <a:defRPr sz="2800">
                <a:latin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</a:defRPr>
            </a:lvl3pPr>
            <a:lvl4pPr>
              <a:defRPr sz="2000">
                <a:latin typeface="Cambria" panose="02040503050406030204" pitchFamily="18" charset="0"/>
              </a:defRPr>
            </a:lvl4pPr>
            <a:lvl5pPr>
              <a:defRPr sz="2000">
                <a:latin typeface="Cambria" panose="020405030504060302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5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>
                <a:latin typeface="Cambria" panose="020405030504060302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8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66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62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64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crypto.edu.pl/Dziembowski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56.png"/><Relationship Id="rId15" Type="http://schemas.openxmlformats.org/officeDocument/2006/relationships/image" Target="../media/image166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png"/><Relationship Id="rId5" Type="http://schemas.openxmlformats.org/officeDocument/2006/relationships/image" Target="../media/image23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40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1.png"/><Relationship Id="rId3" Type="http://schemas.openxmlformats.org/officeDocument/2006/relationships/image" Target="../media/image510.png"/><Relationship Id="rId7" Type="http://schemas.openxmlformats.org/officeDocument/2006/relationships/image" Target="../media/image911.png"/><Relationship Id="rId12" Type="http://schemas.openxmlformats.org/officeDocument/2006/relationships/image" Target="../media/image14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2.png"/><Relationship Id="rId11" Type="http://schemas.openxmlformats.org/officeDocument/2006/relationships/image" Target="../media/image13.png"/><Relationship Id="rId5" Type="http://schemas.openxmlformats.org/officeDocument/2006/relationships/image" Target="../media/image712.png"/><Relationship Id="rId10" Type="http://schemas.openxmlformats.org/officeDocument/2006/relationships/image" Target="../media/image12.png"/><Relationship Id="rId4" Type="http://schemas.openxmlformats.org/officeDocument/2006/relationships/image" Target="../media/image610.png"/><Relationship Id="rId9" Type="http://schemas.openxmlformats.org/officeDocument/2006/relationships/image" Target="../media/image11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.wmf"/><Relationship Id="rId7" Type="http://schemas.openxmlformats.org/officeDocument/2006/relationships/image" Target="../media/image7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910.png"/><Relationship Id="rId5" Type="http://schemas.openxmlformats.org/officeDocument/2006/relationships/image" Target="../media/image55.png"/><Relationship Id="rId10" Type="http://schemas.openxmlformats.org/officeDocument/2006/relationships/image" Target="../media/image810.png"/><Relationship Id="rId4" Type="http://schemas.openxmlformats.org/officeDocument/2006/relationships/image" Target="../media/image3.wmf"/><Relationship Id="rId9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148.png"/><Relationship Id="rId3" Type="http://schemas.openxmlformats.org/officeDocument/2006/relationships/image" Target="../media/image2.wmf"/><Relationship Id="rId7" Type="http://schemas.openxmlformats.org/officeDocument/2006/relationships/image" Target="../media/image1010.png"/><Relationship Id="rId12" Type="http://schemas.openxmlformats.org/officeDocument/2006/relationships/image" Target="../media/image13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1210.png"/><Relationship Id="rId5" Type="http://schemas.openxmlformats.org/officeDocument/2006/relationships/image" Target="../media/image55.png"/><Relationship Id="rId10" Type="http://schemas.openxmlformats.org/officeDocument/2006/relationships/image" Target="../media/image1110.png"/><Relationship Id="rId4" Type="http://schemas.openxmlformats.org/officeDocument/2006/relationships/image" Target="../media/image3.wmf"/><Relationship Id="rId9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0.png"/><Relationship Id="rId4" Type="http://schemas.openxmlformats.org/officeDocument/2006/relationships/image" Target="../media/image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46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6.png"/><Relationship Id="rId5" Type="http://schemas.openxmlformats.org/officeDocument/2006/relationships/image" Target="../media/image245.png"/><Relationship Id="rId4" Type="http://schemas.openxmlformats.org/officeDocument/2006/relationships/image" Target="../media/image24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1812.png"/><Relationship Id="rId7" Type="http://schemas.openxmlformats.org/officeDocument/2006/relationships/image" Target="../media/image2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2.wmf"/><Relationship Id="rId10" Type="http://schemas.openxmlformats.org/officeDocument/2006/relationships/image" Target="../media/image21.png"/><Relationship Id="rId4" Type="http://schemas.openxmlformats.org/officeDocument/2006/relationships/image" Target="../media/image239.png"/><Relationship Id="rId9" Type="http://schemas.openxmlformats.org/officeDocument/2006/relationships/image" Target="../media/image2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sdom.weizmann.ac.il/~oded/p_acgs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wmf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2.png"/><Relationship Id="rId5" Type="http://schemas.openxmlformats.org/officeDocument/2006/relationships/image" Target="../media/image252.png"/><Relationship Id="rId10" Type="http://schemas.openxmlformats.org/officeDocument/2006/relationships/image" Target="../media/image26.png"/><Relationship Id="rId4" Type="http://schemas.openxmlformats.org/officeDocument/2006/relationships/image" Target="../media/image3.wmf"/><Relationship Id="rId9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3" Type="http://schemas.openxmlformats.org/officeDocument/2006/relationships/image" Target="../media/image27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59.png"/><Relationship Id="rId4" Type="http://schemas.openxmlformats.org/officeDocument/2006/relationships/image" Target="../media/image4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7.png"/><Relationship Id="rId5" Type="http://schemas.openxmlformats.org/officeDocument/2006/relationships/image" Target="../media/image32.png"/><Relationship Id="rId10" Type="http://schemas.openxmlformats.org/officeDocument/2006/relationships/image" Target="../media/image269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png"/><Relationship Id="rId13" Type="http://schemas.openxmlformats.org/officeDocument/2006/relationships/image" Target="../media/image53.png"/><Relationship Id="rId3" Type="http://schemas.openxmlformats.org/officeDocument/2006/relationships/image" Target="../media/image38.png"/><Relationship Id="rId7" Type="http://schemas.openxmlformats.org/officeDocument/2006/relationships/image" Target="../media/image48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279.png"/><Relationship Id="rId5" Type="http://schemas.openxmlformats.org/officeDocument/2006/relationships/image" Target="../media/image40.png"/><Relationship Id="rId10" Type="http://schemas.openxmlformats.org/officeDocument/2006/relationships/image" Target="../media/image278.png"/><Relationship Id="rId4" Type="http://schemas.openxmlformats.org/officeDocument/2006/relationships/image" Target="../media/image39.png"/><Relationship Id="rId9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6.png"/><Relationship Id="rId3" Type="http://schemas.openxmlformats.org/officeDocument/2006/relationships/image" Target="../media/image54.png"/><Relationship Id="rId7" Type="http://schemas.openxmlformats.org/officeDocument/2006/relationships/image" Target="../media/image286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4.png"/><Relationship Id="rId5" Type="http://schemas.openxmlformats.org/officeDocument/2006/relationships/image" Target="../media/image60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28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93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29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5" Type="http://schemas.openxmlformats.org/officeDocument/2006/relationships/image" Target="../media/image570.png"/><Relationship Id="rId4" Type="http://schemas.openxmlformats.org/officeDocument/2006/relationships/image" Target="../media/image54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221.png"/><Relationship Id="rId4" Type="http://schemas.openxmlformats.org/officeDocument/2006/relationships/image" Target="../media/image62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5" Type="http://schemas.openxmlformats.org/officeDocument/2006/relationships/image" Target="../media/image251.png"/><Relationship Id="rId4" Type="http://schemas.openxmlformats.org/officeDocument/2006/relationships/image" Target="../media/image6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2.png"/><Relationship Id="rId7" Type="http://schemas.openxmlformats.org/officeDocument/2006/relationships/image" Target="../media/image10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2.png"/><Relationship Id="rId5" Type="http://schemas.openxmlformats.org/officeDocument/2006/relationships/image" Target="../media/image813.png"/><Relationship Id="rId4" Type="http://schemas.openxmlformats.org/officeDocument/2006/relationships/image" Target="../media/image71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2.png"/><Relationship Id="rId7" Type="http://schemas.openxmlformats.org/officeDocument/2006/relationships/image" Target="../media/image15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10.png"/><Relationship Id="rId5" Type="http://schemas.openxmlformats.org/officeDocument/2006/relationships/image" Target="../media/image1311.png"/><Relationship Id="rId4" Type="http://schemas.openxmlformats.org/officeDocument/2006/relationships/image" Target="../media/image121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0.png"/><Relationship Id="rId5" Type="http://schemas.openxmlformats.org/officeDocument/2006/relationships/image" Target="../media/image2011.png"/><Relationship Id="rId4" Type="http://schemas.openxmlformats.org/officeDocument/2006/relationships/image" Target="../media/image19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0.png"/><Relationship Id="rId7" Type="http://schemas.openxmlformats.org/officeDocument/2006/relationships/image" Target="../media/image28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3.png"/><Relationship Id="rId5" Type="http://schemas.openxmlformats.org/officeDocument/2006/relationships/image" Target="../media/image2611.png"/><Relationship Id="rId4" Type="http://schemas.openxmlformats.org/officeDocument/2006/relationships/image" Target="../media/image251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3" Type="http://schemas.openxmlformats.org/officeDocument/2006/relationships/image" Target="../media/image291.png"/><Relationship Id="rId7" Type="http://schemas.openxmlformats.org/officeDocument/2006/relationships/image" Target="../media/image27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1.png"/><Relationship Id="rId5" Type="http://schemas.openxmlformats.org/officeDocument/2006/relationships/image" Target="../media/image2510.png"/><Relationship Id="rId4" Type="http://schemas.openxmlformats.org/officeDocument/2006/relationships/image" Target="../media/image24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png"/><Relationship Id="rId13" Type="http://schemas.openxmlformats.org/officeDocument/2006/relationships/image" Target="../media/image430.png"/><Relationship Id="rId3" Type="http://schemas.openxmlformats.org/officeDocument/2006/relationships/image" Target="../media/image331.png"/><Relationship Id="rId7" Type="http://schemas.openxmlformats.org/officeDocument/2006/relationships/image" Target="../media/image372.png"/><Relationship Id="rId12" Type="http://schemas.openxmlformats.org/officeDocument/2006/relationships/image" Target="../media/image420.png"/><Relationship Id="rId2" Type="http://schemas.openxmlformats.org/officeDocument/2006/relationships/image" Target="../media/image3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2.png"/><Relationship Id="rId11" Type="http://schemas.openxmlformats.org/officeDocument/2006/relationships/image" Target="../media/image412.png"/><Relationship Id="rId5" Type="http://schemas.openxmlformats.org/officeDocument/2006/relationships/image" Target="../media/image351.png"/><Relationship Id="rId15" Type="http://schemas.openxmlformats.org/officeDocument/2006/relationships/image" Target="../media/image451.png"/><Relationship Id="rId10" Type="http://schemas.openxmlformats.org/officeDocument/2006/relationships/image" Target="../media/image400.png"/><Relationship Id="rId4" Type="http://schemas.openxmlformats.org/officeDocument/2006/relationships/image" Target="../media/image342.png"/><Relationship Id="rId9" Type="http://schemas.openxmlformats.org/officeDocument/2006/relationships/image" Target="../media/image391.png"/><Relationship Id="rId14" Type="http://schemas.openxmlformats.org/officeDocument/2006/relationships/image" Target="../media/image44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5" Type="http://schemas.openxmlformats.org/officeDocument/2006/relationships/image" Target="../media/image470.png"/><Relationship Id="rId4" Type="http://schemas.openxmlformats.org/officeDocument/2006/relationships/image" Target="../media/image460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50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1.png"/><Relationship Id="rId4" Type="http://schemas.openxmlformats.org/officeDocument/2006/relationships/image" Target="../media/image52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3" Type="http://schemas.openxmlformats.org/officeDocument/2006/relationships/image" Target="../media/image21.wmf"/><Relationship Id="rId7" Type="http://schemas.openxmlformats.org/officeDocument/2006/relationships/image" Target="../media/image58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1.png"/><Relationship Id="rId5" Type="http://schemas.openxmlformats.org/officeDocument/2006/relationships/image" Target="../media/image22.wmf"/><Relationship Id="rId4" Type="http://schemas.openxmlformats.org/officeDocument/2006/relationships/image" Target="../media/image3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1.png"/><Relationship Id="rId13" Type="http://schemas.openxmlformats.org/officeDocument/2006/relationships/image" Target="../media/image650.png"/><Relationship Id="rId3" Type="http://schemas.openxmlformats.org/officeDocument/2006/relationships/image" Target="../media/image541.png"/><Relationship Id="rId7" Type="http://schemas.openxmlformats.org/officeDocument/2006/relationships/image" Target="../media/image560.png"/><Relationship Id="rId12" Type="http://schemas.openxmlformats.org/officeDocument/2006/relationships/image" Target="../media/image6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11" Type="http://schemas.openxmlformats.org/officeDocument/2006/relationships/image" Target="../media/image630.png"/><Relationship Id="rId5" Type="http://schemas.openxmlformats.org/officeDocument/2006/relationships/image" Target="../media/image22.wmf"/><Relationship Id="rId10" Type="http://schemas.openxmlformats.org/officeDocument/2006/relationships/image" Target="../media/image621.png"/><Relationship Id="rId4" Type="http://schemas.openxmlformats.org/officeDocument/2006/relationships/image" Target="../media/image21.wmf"/><Relationship Id="rId9" Type="http://schemas.openxmlformats.org/officeDocument/2006/relationships/image" Target="../media/image613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1.png"/><Relationship Id="rId3" Type="http://schemas.openxmlformats.org/officeDocument/2006/relationships/image" Target="../media/image3.wmf"/><Relationship Id="rId7" Type="http://schemas.openxmlformats.org/officeDocument/2006/relationships/image" Target="../media/image69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1.png"/><Relationship Id="rId5" Type="http://schemas.openxmlformats.org/officeDocument/2006/relationships/image" Target="../media/image670.png"/><Relationship Id="rId4" Type="http://schemas.openxmlformats.org/officeDocument/2006/relationships/image" Target="../media/image66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5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image" Target="../media/image80.png"/><Relationship Id="rId5" Type="http://schemas.openxmlformats.org/officeDocument/2006/relationships/image" Target="../media/image22.wmf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21.wmf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6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22.wmf"/><Relationship Id="rId10" Type="http://schemas.openxmlformats.org/officeDocument/2006/relationships/image" Target="../media/image91.png"/><Relationship Id="rId4" Type="http://schemas.openxmlformats.org/officeDocument/2006/relationships/image" Target="../media/image21.wmf"/><Relationship Id="rId9" Type="http://schemas.openxmlformats.org/officeDocument/2006/relationships/image" Target="../media/image90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0.png"/><Relationship Id="rId3" Type="http://schemas.openxmlformats.org/officeDocument/2006/relationships/image" Target="../media/image21.wmf"/><Relationship Id="rId7" Type="http://schemas.openxmlformats.org/officeDocument/2006/relationships/image" Target="../media/image95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3.wmf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22.wmf"/><Relationship Id="rId9" Type="http://schemas.openxmlformats.org/officeDocument/2006/relationships/image" Target="../media/image97.png"/><Relationship Id="rId14" Type="http://schemas.openxmlformats.org/officeDocument/2006/relationships/image" Target="../media/image101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3" Type="http://schemas.openxmlformats.org/officeDocument/2006/relationships/image" Target="../media/image21.wmf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65.xml"/><Relationship Id="rId16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4" Type="http://schemas.openxmlformats.org/officeDocument/2006/relationships/image" Target="../media/image22.wmf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2.png"/><Relationship Id="rId4" Type="http://schemas.openxmlformats.org/officeDocument/2006/relationships/image" Target="../media/image1213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21.wmf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0.png"/><Relationship Id="rId10" Type="http://schemas.openxmlformats.org/officeDocument/2006/relationships/image" Target="../media/image127.png"/><Relationship Id="rId4" Type="http://schemas.openxmlformats.org/officeDocument/2006/relationships/image" Target="../media/image22.wmf"/><Relationship Id="rId9" Type="http://schemas.openxmlformats.org/officeDocument/2006/relationships/image" Target="../media/image126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emf"/><Relationship Id="rId5" Type="http://schemas.openxmlformats.org/officeDocument/2006/relationships/customXml" Target="../ink/ink2.xml"/><Relationship Id="rId4" Type="http://schemas.openxmlformats.org/officeDocument/2006/relationships/image" Target="../media/image133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21.wmf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22.wmf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8.png"/><Relationship Id="rId7" Type="http://schemas.openxmlformats.org/officeDocument/2006/relationships/image" Target="../media/image22.wm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00.png"/><Relationship Id="rId3" Type="http://schemas.openxmlformats.org/officeDocument/2006/relationships/image" Target="../media/image21.wmf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11" Type="http://schemas.openxmlformats.org/officeDocument/2006/relationships/image" Target="../media/image1480.png"/><Relationship Id="rId5" Type="http://schemas.openxmlformats.org/officeDocument/2006/relationships/image" Target="../media/image142.png"/><Relationship Id="rId15" Type="http://schemas.openxmlformats.org/officeDocument/2006/relationships/image" Target="../media/image152.png"/><Relationship Id="rId10" Type="http://schemas.openxmlformats.org/officeDocument/2006/relationships/image" Target="../media/image147.png"/><Relationship Id="rId4" Type="http://schemas.openxmlformats.org/officeDocument/2006/relationships/image" Target="../media/image22.wmf"/><Relationship Id="rId9" Type="http://schemas.openxmlformats.org/officeDocument/2006/relationships/image" Target="../media/image146.png"/><Relationship Id="rId14" Type="http://schemas.openxmlformats.org/officeDocument/2006/relationships/image" Target="../media/image151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2.png"/><Relationship Id="rId3" Type="http://schemas.openxmlformats.org/officeDocument/2006/relationships/image" Target="../media/image21.wmf"/><Relationship Id="rId7" Type="http://schemas.openxmlformats.org/officeDocument/2006/relationships/image" Target="../media/image153.png"/><Relationship Id="rId12" Type="http://schemas.openxmlformats.org/officeDocument/2006/relationships/image" Target="../media/image14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11" Type="http://schemas.openxmlformats.org/officeDocument/2006/relationships/image" Target="../media/image1480.png"/><Relationship Id="rId5" Type="http://schemas.openxmlformats.org/officeDocument/2006/relationships/image" Target="../media/image142.png"/><Relationship Id="rId10" Type="http://schemas.openxmlformats.org/officeDocument/2006/relationships/image" Target="../media/image1551.png"/><Relationship Id="rId4" Type="http://schemas.openxmlformats.org/officeDocument/2006/relationships/image" Target="../media/image22.wmf"/><Relationship Id="rId9" Type="http://schemas.openxmlformats.org/officeDocument/2006/relationships/image" Target="../media/image1541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2.png"/><Relationship Id="rId3" Type="http://schemas.openxmlformats.org/officeDocument/2006/relationships/image" Target="../media/image21.wmf"/><Relationship Id="rId7" Type="http://schemas.openxmlformats.org/officeDocument/2006/relationships/image" Target="../media/image153.png"/><Relationship Id="rId12" Type="http://schemas.openxmlformats.org/officeDocument/2006/relationships/image" Target="../media/image14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11" Type="http://schemas.openxmlformats.org/officeDocument/2006/relationships/image" Target="../media/image1480.png"/><Relationship Id="rId5" Type="http://schemas.openxmlformats.org/officeDocument/2006/relationships/image" Target="../media/image142.png"/><Relationship Id="rId10" Type="http://schemas.openxmlformats.org/officeDocument/2006/relationships/image" Target="../media/image1571.png"/><Relationship Id="rId4" Type="http://schemas.openxmlformats.org/officeDocument/2006/relationships/image" Target="../media/image22.wmf"/><Relationship Id="rId9" Type="http://schemas.openxmlformats.org/officeDocument/2006/relationships/image" Target="../media/image156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1.png"/><Relationship Id="rId7" Type="http://schemas.openxmlformats.org/officeDocument/2006/relationships/image" Target="../media/image162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3.png"/><Relationship Id="rId5" Type="http://schemas.openxmlformats.org/officeDocument/2006/relationships/image" Target="../media/image137.png"/><Relationship Id="rId4" Type="http://schemas.openxmlformats.org/officeDocument/2006/relationships/image" Target="../media/image1590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1.png"/><Relationship Id="rId3" Type="http://schemas.openxmlformats.org/officeDocument/2006/relationships/image" Target="../media/image1631.png"/><Relationship Id="rId7" Type="http://schemas.openxmlformats.org/officeDocument/2006/relationships/image" Target="../media/image167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0.png"/><Relationship Id="rId5" Type="http://schemas.openxmlformats.org/officeDocument/2006/relationships/image" Target="../media/image1651.png"/><Relationship Id="rId4" Type="http://schemas.openxmlformats.org/officeDocument/2006/relationships/image" Target="../media/image1641.png"/><Relationship Id="rId9" Type="http://schemas.openxmlformats.org/officeDocument/2006/relationships/image" Target="../media/image169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1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2.png"/><Relationship Id="rId5" Type="http://schemas.openxmlformats.org/officeDocument/2006/relationships/image" Target="../media/image813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77.png"/><Relationship Id="rId7" Type="http://schemas.openxmlformats.org/officeDocument/2006/relationships/image" Target="../media/image183.png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11" Type="http://schemas.openxmlformats.org/officeDocument/2006/relationships/image" Target="../media/image190.png"/><Relationship Id="rId5" Type="http://schemas.openxmlformats.org/officeDocument/2006/relationships/image" Target="../media/image184.png"/><Relationship Id="rId10" Type="http://schemas.openxmlformats.org/officeDocument/2006/relationships/image" Target="../media/image189.png"/><Relationship Id="rId4" Type="http://schemas.openxmlformats.org/officeDocument/2006/relationships/image" Target="../media/image1804.png"/><Relationship Id="rId9" Type="http://schemas.openxmlformats.org/officeDocument/2006/relationships/image" Target="../media/image188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177.png"/><Relationship Id="rId7" Type="http://schemas.openxmlformats.org/officeDocument/2006/relationships/image" Target="../media/image194.png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6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customXml" Target="../ink/ink4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0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6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3" Type="http://schemas.openxmlformats.org/officeDocument/2006/relationships/image" Target="../media/image208.png"/><Relationship Id="rId7" Type="http://schemas.openxmlformats.org/officeDocument/2006/relationships/image" Target="../media/image212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11" Type="http://schemas.openxmlformats.org/officeDocument/2006/relationships/image" Target="../media/image216.png"/><Relationship Id="rId5" Type="http://schemas.openxmlformats.org/officeDocument/2006/relationships/image" Target="../media/image210.png"/><Relationship Id="rId10" Type="http://schemas.openxmlformats.org/officeDocument/2006/relationships/image" Target="../media/image215.png"/><Relationship Id="rId4" Type="http://schemas.openxmlformats.org/officeDocument/2006/relationships/image" Target="../media/image209.png"/><Relationship Id="rId9" Type="http://schemas.openxmlformats.org/officeDocument/2006/relationships/image" Target="../media/image214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3" Type="http://schemas.openxmlformats.org/officeDocument/2006/relationships/image" Target="../media/image218.png"/><Relationship Id="rId7" Type="http://schemas.openxmlformats.org/officeDocument/2006/relationships/image" Target="../media/image2220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1.png"/><Relationship Id="rId5" Type="http://schemas.openxmlformats.org/officeDocument/2006/relationships/image" Target="../media/image220.png"/><Relationship Id="rId10" Type="http://schemas.openxmlformats.org/officeDocument/2006/relationships/image" Target="../media/image225.png"/><Relationship Id="rId4" Type="http://schemas.openxmlformats.org/officeDocument/2006/relationships/image" Target="../media/image219.png"/><Relationship Id="rId9" Type="http://schemas.openxmlformats.org/officeDocument/2006/relationships/image" Target="../media/image224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1802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276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23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20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0.png"/><Relationship Id="rId3" Type="http://schemas.openxmlformats.org/officeDocument/2006/relationships/image" Target="../media/image2340.png"/><Relationship Id="rId7" Type="http://schemas.openxmlformats.org/officeDocument/2006/relationships/image" Target="../media/image238.png"/><Relationship Id="rId12" Type="http://schemas.openxmlformats.org/officeDocument/2006/relationships/image" Target="../media/image2430.png"/><Relationship Id="rId2" Type="http://schemas.openxmlformats.org/officeDocument/2006/relationships/image" Target="../media/image2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70.png"/><Relationship Id="rId11" Type="http://schemas.openxmlformats.org/officeDocument/2006/relationships/image" Target="../media/image2420.png"/><Relationship Id="rId5" Type="http://schemas.openxmlformats.org/officeDocument/2006/relationships/image" Target="../media/image2360.png"/><Relationship Id="rId10" Type="http://schemas.openxmlformats.org/officeDocument/2006/relationships/image" Target="../media/image2411.png"/><Relationship Id="rId4" Type="http://schemas.openxmlformats.org/officeDocument/2006/relationships/image" Target="../media/image2350.png"/><Relationship Id="rId9" Type="http://schemas.openxmlformats.org/officeDocument/2006/relationships/image" Target="../media/image2401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0.png"/><Relationship Id="rId3" Type="http://schemas.openxmlformats.org/officeDocument/2006/relationships/image" Target="../media/image2440.png"/><Relationship Id="rId7" Type="http://schemas.openxmlformats.org/officeDocument/2006/relationships/image" Target="../media/image248.png"/><Relationship Id="rId12" Type="http://schemas.openxmlformats.org/officeDocument/2006/relationships/image" Target="../media/image253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70.png"/><Relationship Id="rId11" Type="http://schemas.openxmlformats.org/officeDocument/2006/relationships/image" Target="../media/image2521.png"/><Relationship Id="rId5" Type="http://schemas.openxmlformats.org/officeDocument/2006/relationships/image" Target="../media/image2461.png"/><Relationship Id="rId10" Type="http://schemas.openxmlformats.org/officeDocument/2006/relationships/image" Target="../media/image2511.png"/><Relationship Id="rId4" Type="http://schemas.openxmlformats.org/officeDocument/2006/relationships/image" Target="../media/image2451.png"/><Relationship Id="rId9" Type="http://schemas.openxmlformats.org/officeDocument/2006/relationships/image" Target="../media/image250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0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image" Target="../media/image2460.png"/></Relationships>
</file>

<file path=ppt/slides/_rels/slide124.xml.rels><?xml version="1.0" encoding="UTF-8" standalone="yes"?>
<Relationships xmlns="http://schemas.openxmlformats.org/package/2006/relationships"><Relationship Id="rId7" Type="http://schemas.openxmlformats.org/officeDocument/2006/relationships/image" Target="../media/image28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9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image" Target="../media/image23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5.png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3.png"/><Relationship Id="rId4" Type="http://schemas.openxmlformats.org/officeDocument/2006/relationships/image" Target="../media/image282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2.png"/><Relationship Id="rId2" Type="http://schemas.openxmlformats.org/officeDocument/2006/relationships/image" Target="../media/image18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3.png"/><Relationship Id="rId5" Type="http://schemas.openxmlformats.org/officeDocument/2006/relationships/image" Target="../media/image260.png"/><Relationship Id="rId4" Type="http://schemas.openxmlformats.org/officeDocument/2006/relationships/image" Target="../media/image2590.pn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2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6.png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2800.png"/><Relationship Id="rId7" Type="http://schemas.openxmlformats.org/officeDocument/2006/relationships/image" Target="../media/image32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2.png"/><Relationship Id="rId11" Type="http://schemas.openxmlformats.org/officeDocument/2006/relationships/image" Target="../media/image361.png"/><Relationship Id="rId5" Type="http://schemas.openxmlformats.org/officeDocument/2006/relationships/image" Target="../media/image300.png"/><Relationship Id="rId10" Type="http://schemas.openxmlformats.org/officeDocument/2006/relationships/image" Target="../media/image350.png"/><Relationship Id="rId4" Type="http://schemas.openxmlformats.org/officeDocument/2006/relationships/image" Target="../media/image290.png"/><Relationship Id="rId9" Type="http://schemas.openxmlformats.org/officeDocument/2006/relationships/image" Target="../media/image34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1.png"/><Relationship Id="rId3" Type="http://schemas.openxmlformats.org/officeDocument/2006/relationships/image" Target="../media/image814.png"/><Relationship Id="rId7" Type="http://schemas.openxmlformats.org/officeDocument/2006/relationships/image" Target="../media/image851.png"/><Relationship Id="rId12" Type="http://schemas.openxmlformats.org/officeDocument/2006/relationships/image" Target="../media/image900.png"/><Relationship Id="rId2" Type="http://schemas.openxmlformats.org/officeDocument/2006/relationships/image" Target="../media/image8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0.png"/><Relationship Id="rId11" Type="http://schemas.openxmlformats.org/officeDocument/2006/relationships/image" Target="../media/image891.png"/><Relationship Id="rId5" Type="http://schemas.openxmlformats.org/officeDocument/2006/relationships/image" Target="../media/image830.png"/><Relationship Id="rId10" Type="http://schemas.openxmlformats.org/officeDocument/2006/relationships/image" Target="../media/image881.png"/><Relationship Id="rId4" Type="http://schemas.openxmlformats.org/officeDocument/2006/relationships/image" Target="../media/image820.png"/><Relationship Id="rId9" Type="http://schemas.openxmlformats.org/officeDocument/2006/relationships/image" Target="../media/image871.pn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1.png"/><Relationship Id="rId3" Type="http://schemas.openxmlformats.org/officeDocument/2006/relationships/image" Target="../media/image921.png"/><Relationship Id="rId7" Type="http://schemas.openxmlformats.org/officeDocument/2006/relationships/image" Target="../media/image961.png"/><Relationship Id="rId2" Type="http://schemas.openxmlformats.org/officeDocument/2006/relationships/image" Target="../media/image9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0.png"/><Relationship Id="rId11" Type="http://schemas.openxmlformats.org/officeDocument/2006/relationships/image" Target="../media/image1000.png"/><Relationship Id="rId5" Type="http://schemas.openxmlformats.org/officeDocument/2006/relationships/image" Target="../media/image940.png"/><Relationship Id="rId10" Type="http://schemas.openxmlformats.org/officeDocument/2006/relationships/image" Target="../media/image990.png"/><Relationship Id="rId4" Type="http://schemas.openxmlformats.org/officeDocument/2006/relationships/image" Target="../media/image931.png"/><Relationship Id="rId9" Type="http://schemas.openxmlformats.org/officeDocument/2006/relationships/image" Target="../media/image981.pn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0.png"/><Relationship Id="rId3" Type="http://schemas.openxmlformats.org/officeDocument/2006/relationships/image" Target="../media/image1013.png"/><Relationship Id="rId7" Type="http://schemas.openxmlformats.org/officeDocument/2006/relationships/image" Target="../media/image105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0.png"/><Relationship Id="rId5" Type="http://schemas.openxmlformats.org/officeDocument/2006/relationships/image" Target="../media/image1030.png"/><Relationship Id="rId4" Type="http://schemas.openxmlformats.org/officeDocument/2006/relationships/image" Target="../media/image1020.png"/><Relationship Id="rId9" Type="http://schemas.openxmlformats.org/officeDocument/2006/relationships/image" Target="../media/image1070.pn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5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0.png"/><Relationship Id="rId13" Type="http://schemas.openxmlformats.org/officeDocument/2006/relationships/image" Target="../media/image1131.png"/><Relationship Id="rId3" Type="http://schemas.openxmlformats.org/officeDocument/2006/relationships/image" Target="../media/image741.png"/><Relationship Id="rId7" Type="http://schemas.openxmlformats.org/officeDocument/2006/relationships/image" Target="../media/image780.png"/><Relationship Id="rId12" Type="http://schemas.openxmlformats.org/officeDocument/2006/relationships/image" Target="../media/image1121.png"/><Relationship Id="rId2" Type="http://schemas.openxmlformats.org/officeDocument/2006/relationships/image" Target="../media/image731.png"/><Relationship Id="rId16" Type="http://schemas.openxmlformats.org/officeDocument/2006/relationships/image" Target="../media/image1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1.png"/><Relationship Id="rId11" Type="http://schemas.openxmlformats.org/officeDocument/2006/relationships/image" Target="../media/image1113.png"/><Relationship Id="rId5" Type="http://schemas.openxmlformats.org/officeDocument/2006/relationships/image" Target="../media/image761.png"/><Relationship Id="rId15" Type="http://schemas.openxmlformats.org/officeDocument/2006/relationships/image" Target="../media/image1151.png"/><Relationship Id="rId10" Type="http://schemas.openxmlformats.org/officeDocument/2006/relationships/image" Target="../media/image1100.png"/><Relationship Id="rId4" Type="http://schemas.openxmlformats.org/officeDocument/2006/relationships/image" Target="../media/image751.png"/><Relationship Id="rId9" Type="http://schemas.openxmlformats.org/officeDocument/2006/relationships/image" Target="../media/image1090.png"/><Relationship Id="rId14" Type="http://schemas.openxmlformats.org/officeDocument/2006/relationships/image" Target="../media/image1141.png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0.png"/><Relationship Id="rId3" Type="http://schemas.openxmlformats.org/officeDocument/2006/relationships/image" Target="../media/image3.wmf"/><Relationship Id="rId7" Type="http://schemas.openxmlformats.org/officeDocument/2006/relationships/image" Target="../media/image1240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0.png"/><Relationship Id="rId5" Type="http://schemas.openxmlformats.org/officeDocument/2006/relationships/image" Target="../media/image1860.png"/><Relationship Id="rId9" Type="http://schemas.openxmlformats.org/officeDocument/2006/relationships/image" Target="../media/image220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61.png"/><Relationship Id="rId4" Type="http://schemas.openxmlformats.org/officeDocument/2006/relationships/image" Target="../media/image1250.png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2.png"/><Relationship Id="rId3" Type="http://schemas.openxmlformats.org/officeDocument/2006/relationships/image" Target="../media/image1271.png"/><Relationship Id="rId7" Type="http://schemas.openxmlformats.org/officeDocument/2006/relationships/image" Target="../media/image1300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0.png"/><Relationship Id="rId5" Type="http://schemas.openxmlformats.org/officeDocument/2006/relationships/image" Target="../media/image2.wmf"/><Relationship Id="rId4" Type="http://schemas.openxmlformats.org/officeDocument/2006/relationships/image" Target="../media/image1281.png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0.png"/><Relationship Id="rId3" Type="http://schemas.openxmlformats.org/officeDocument/2006/relationships/image" Target="../media/image2.wmf"/><Relationship Id="rId7" Type="http://schemas.openxmlformats.org/officeDocument/2006/relationships/image" Target="../media/image2501.png"/><Relationship Id="rId12" Type="http://schemas.openxmlformats.org/officeDocument/2006/relationships/image" Target="../media/image1320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0.png"/><Relationship Id="rId11" Type="http://schemas.openxmlformats.org/officeDocument/2006/relationships/image" Target="../media/image299.png"/><Relationship Id="rId5" Type="http://schemas.openxmlformats.org/officeDocument/2006/relationships/image" Target="../media/image3.wmf"/><Relationship Id="rId10" Type="http://schemas.openxmlformats.org/officeDocument/2006/relationships/image" Target="../media/image2810.png"/><Relationship Id="rId4" Type="http://schemas.openxmlformats.org/officeDocument/2006/relationships/image" Target="../media/image2300.png"/><Relationship Id="rId9" Type="http://schemas.openxmlformats.org/officeDocument/2006/relationships/image" Target="../media/image2710.png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2.wmf"/><Relationship Id="rId7" Type="http://schemas.openxmlformats.org/officeDocument/2006/relationships/image" Target="../media/image133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image" Target="../media/image3.wmf"/><Relationship Id="rId4" Type="http://schemas.openxmlformats.org/officeDocument/2006/relationships/image" Target="../media/image310.png"/><Relationship Id="rId9" Type="http://schemas.openxmlformats.org/officeDocument/2006/relationships/image" Target="../media/image1330.pn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2.wmf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0.png"/><Relationship Id="rId5" Type="http://schemas.openxmlformats.org/officeDocument/2006/relationships/image" Target="../media/image1340.png"/><Relationship Id="rId4" Type="http://schemas.openxmlformats.org/officeDocument/2006/relationships/image" Target="../media/image3.wmf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2.wmf"/><Relationship Id="rId7" Type="http://schemas.openxmlformats.org/officeDocument/2006/relationships/image" Target="../media/image370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1360.png"/><Relationship Id="rId4" Type="http://schemas.openxmlformats.org/officeDocument/2006/relationships/image" Target="../media/image3.wmf"/><Relationship Id="rId9" Type="http://schemas.openxmlformats.org/officeDocument/2006/relationships/image" Target="../media/image390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5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0.png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1390.png"/><Relationship Id="rId7" Type="http://schemas.openxmlformats.org/officeDocument/2006/relationships/image" Target="../media/image1420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1.png"/><Relationship Id="rId5" Type="http://schemas.openxmlformats.org/officeDocument/2006/relationships/image" Target="../media/image1400.png"/><Relationship Id="rId4" Type="http://schemas.openxmlformats.org/officeDocument/2006/relationships/image" Target="../media/image2.wmf"/><Relationship Id="rId9" Type="http://schemas.openxmlformats.org/officeDocument/2006/relationships/image" Target="../media/image1430.png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0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4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4.png"/><Relationship Id="rId4" Type="http://schemas.openxmlformats.org/officeDocument/2006/relationships/image" Target="../media/image1450.png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hyperlink" Target="ftp://ftp.rsasecurity.com/pub/pdfs/bulletn7.pdf" TargetMode="External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3" Type="http://schemas.openxmlformats.org/officeDocument/2006/relationships/image" Target="../media/image3.wmf"/><Relationship Id="rId7" Type="http://schemas.openxmlformats.org/officeDocument/2006/relationships/image" Target="../media/image720.png"/><Relationship Id="rId12" Type="http://schemas.openxmlformats.org/officeDocument/2006/relationships/image" Target="../media/image77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1.png"/><Relationship Id="rId11" Type="http://schemas.openxmlformats.org/officeDocument/2006/relationships/image" Target="../media/image760.png"/><Relationship Id="rId5" Type="http://schemas.openxmlformats.org/officeDocument/2006/relationships/image" Target="../media/image700.png"/><Relationship Id="rId10" Type="http://schemas.openxmlformats.org/officeDocument/2006/relationships/image" Target="../media/image750.png"/><Relationship Id="rId4" Type="http://schemas.openxmlformats.org/officeDocument/2006/relationships/image" Target="../media/image257.png"/><Relationship Id="rId9" Type="http://schemas.openxmlformats.org/officeDocument/2006/relationships/image" Target="../media/image740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jpeg"/><Relationship Id="rId7" Type="http://schemas.openxmlformats.org/officeDocument/2006/relationships/image" Target="../media/image1530.png"/><Relationship Id="rId2" Type="http://schemas.openxmlformats.org/officeDocument/2006/relationships/image" Target="../media/image25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jpeg"/><Relationship Id="rId5" Type="http://schemas.openxmlformats.org/officeDocument/2006/relationships/image" Target="../media/image261.jpeg"/><Relationship Id="rId4" Type="http://schemas.openxmlformats.org/officeDocument/2006/relationships/image" Target="../media/image260.jpe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0.png"/><Relationship Id="rId4" Type="http://schemas.openxmlformats.org/officeDocument/2006/relationships/image" Target="../media/image155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70.png"/><Relationship Id="rId4" Type="http://schemas.openxmlformats.org/officeDocument/2006/relationships/image" Target="../media/image156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0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0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86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png"/><Relationship Id="rId7" Type="http://schemas.openxmlformats.org/officeDocument/2006/relationships/image" Target="../media/image930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0.png"/><Relationship Id="rId5" Type="http://schemas.openxmlformats.org/officeDocument/2006/relationships/image" Target="../media/image1601.png"/><Relationship Id="rId4" Type="http://schemas.openxmlformats.org/officeDocument/2006/relationships/image" Target="../media/image275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0.png"/><Relationship Id="rId7" Type="http://schemas.openxmlformats.org/officeDocument/2006/relationships/image" Target="../media/image2890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0.png"/><Relationship Id="rId5" Type="http://schemas.openxmlformats.org/officeDocument/2006/relationships/image" Target="../media/image960.png"/><Relationship Id="rId4" Type="http://schemas.openxmlformats.org/officeDocument/2006/relationships/image" Target="../media/image161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0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0.png"/><Relationship Id="rId13" Type="http://schemas.openxmlformats.org/officeDocument/2006/relationships/image" Target="../media/image170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40.png"/><Relationship Id="rId12" Type="http://schemas.openxmlformats.org/officeDocument/2006/relationships/image" Target="../media/image1690.png"/><Relationship Id="rId17" Type="http://schemas.openxmlformats.org/officeDocument/2006/relationships/image" Target="../media/image1740.png"/><Relationship Id="rId2" Type="http://schemas.openxmlformats.org/officeDocument/2006/relationships/tags" Target="../tags/tag2.xml"/><Relationship Id="rId16" Type="http://schemas.openxmlformats.org/officeDocument/2006/relationships/image" Target="../media/image1730.png"/><Relationship Id="rId1" Type="http://schemas.openxmlformats.org/officeDocument/2006/relationships/tags" Target="../tags/tag1.xml"/><Relationship Id="rId6" Type="http://schemas.openxmlformats.org/officeDocument/2006/relationships/image" Target="../media/image1630.png"/><Relationship Id="rId11" Type="http://schemas.openxmlformats.org/officeDocument/2006/relationships/image" Target="../media/image1680.png"/><Relationship Id="rId5" Type="http://schemas.openxmlformats.org/officeDocument/2006/relationships/image" Target="../media/image1620.png"/><Relationship Id="rId15" Type="http://schemas.openxmlformats.org/officeDocument/2006/relationships/image" Target="../media/image1720.png"/><Relationship Id="rId10" Type="http://schemas.openxmlformats.org/officeDocument/2006/relationships/image" Target="../media/image1670.png"/><Relationship Id="rId4" Type="http://schemas.openxmlformats.org/officeDocument/2006/relationships/notesSlide" Target="../notesSlides/notesSlide106.xml"/><Relationship Id="rId9" Type="http://schemas.openxmlformats.org/officeDocument/2006/relationships/image" Target="../media/image277.png"/><Relationship Id="rId14" Type="http://schemas.openxmlformats.org/officeDocument/2006/relationships/image" Target="../media/image1711.png"/></Relationships>
</file>

<file path=ppt/slides/_rels/slide1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77.png"/><Relationship Id="rId12" Type="http://schemas.openxmlformats.org/officeDocument/2006/relationships/image" Target="../media/image1750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130.png"/><Relationship Id="rId11" Type="http://schemas.openxmlformats.org/officeDocument/2006/relationships/image" Target="../media/image1170.png"/><Relationship Id="rId5" Type="http://schemas.openxmlformats.org/officeDocument/2006/relationships/image" Target="../media/image1120.png"/><Relationship Id="rId10" Type="http://schemas.openxmlformats.org/officeDocument/2006/relationships/image" Target="../media/image1160.png"/><Relationship Id="rId4" Type="http://schemas.openxmlformats.org/officeDocument/2006/relationships/notesSlide" Target="../notesSlides/notesSlide107.xml"/><Relationship Id="rId9" Type="http://schemas.openxmlformats.org/officeDocument/2006/relationships/image" Target="../media/image1150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0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70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1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0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0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3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277.png"/><Relationship Id="rId4" Type="http://schemas.openxmlformats.org/officeDocument/2006/relationships/notesSlide" Target="../notesSlides/notesSlide112.xml"/></Relationships>
</file>

<file path=ppt/slides/_rels/slide1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60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120.png"/><Relationship Id="rId5" Type="http://schemas.openxmlformats.org/officeDocument/2006/relationships/image" Target="../media/image1811.png"/><Relationship Id="rId4" Type="http://schemas.openxmlformats.org/officeDocument/2006/relationships/notesSlide" Target="../notesSlides/notesSlide113.xml"/><Relationship Id="rId9" Type="http://schemas.openxmlformats.org/officeDocument/2006/relationships/image" Target="../media/image277.png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0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31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280.png"/><Relationship Id="rId5" Type="http://schemas.openxmlformats.org/officeDocument/2006/relationships/image" Target="../media/image277.png"/><Relationship Id="rId4" Type="http://schemas.openxmlformats.org/officeDocument/2006/relationships/notesSlide" Target="../notesSlides/notesSlide114.xml"/><Relationship Id="rId9" Type="http://schemas.openxmlformats.org/officeDocument/2006/relationships/image" Target="../media/image184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0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0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0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0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0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jpe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0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0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0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80.png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3673" y="728292"/>
            <a:ext cx="8216362" cy="2088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</a:lstStyle>
          <a:p>
            <a:pPr algn="ctr"/>
            <a:r>
              <a:rPr lang="pl-PL" sz="4600" b="1" dirty="0" err="1"/>
              <a:t>Chapter</a:t>
            </a:r>
            <a:r>
              <a:rPr lang="pl-PL" sz="4600" b="1" dirty="0"/>
              <a:t> </a:t>
            </a:r>
            <a:r>
              <a:rPr lang="en-GB" sz="4600" b="1" dirty="0"/>
              <a:t>7</a:t>
            </a:r>
            <a:br>
              <a:rPr lang="en-US" sz="4600" b="1" dirty="0"/>
            </a:br>
            <a:br>
              <a:rPr lang="pl-PL" sz="1000" dirty="0"/>
            </a:br>
            <a:r>
              <a:rPr lang="pl-PL" sz="4600" b="1" dirty="0">
                <a:solidFill>
                  <a:srgbClr val="0070C0"/>
                </a:solidFill>
              </a:rPr>
              <a:t>Public-</a:t>
            </a:r>
            <a:r>
              <a:rPr lang="en-US" sz="4600" b="1" dirty="0">
                <a:solidFill>
                  <a:srgbClr val="0070C0"/>
                </a:solidFill>
              </a:rPr>
              <a:t>Key Encryption</a:t>
            </a:r>
            <a:br>
              <a:rPr lang="en-US" sz="5400" b="1" dirty="0">
                <a:solidFill>
                  <a:srgbClr val="7030A0"/>
                </a:solidFill>
              </a:rPr>
            </a:br>
            <a:endParaRPr lang="en-US" sz="4600" b="1" dirty="0">
              <a:solidFill>
                <a:srgbClr val="0070C0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645881" y="3045847"/>
            <a:ext cx="3962400" cy="177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  <a:t>Stefan</a:t>
            </a:r>
            <a:r>
              <a:rPr lang="en-US" sz="300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  <a:t>Dziembowski</a:t>
            </a:r>
            <a:b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r>
              <a:rPr lang="en-US" sz="1800" dirty="0">
                <a:solidFill>
                  <a:srgbClr val="FF0000"/>
                </a:solidFill>
                <a:latin typeface="Cambria" panose="02040503050406030204" pitchFamily="18" charset="0"/>
                <a:hlinkClick r:id="rId2"/>
              </a:rPr>
              <a:t>www.crypto.edu.pl/Dziembowski</a:t>
            </a:r>
            <a:br>
              <a:rPr lang="en-US" sz="1800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b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r>
              <a:rPr lang="en-US" sz="2600" b="1" dirty="0">
                <a:solidFill>
                  <a:schemeClr val="tx1"/>
                </a:solidFill>
                <a:latin typeface="Cambria" panose="02040503050406030204" pitchFamily="18" charset="0"/>
              </a:rPr>
              <a:t>University of Warsaw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58267"/>
          <a:stretch/>
        </p:blipFill>
        <p:spPr>
          <a:xfrm>
            <a:off x="3822360" y="4864120"/>
            <a:ext cx="1418989" cy="152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5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IND-CCA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02134" y="1189495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838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927" y="-66627"/>
            <a:ext cx="7886700" cy="1325563"/>
          </a:xfrm>
        </p:spPr>
        <p:txBody>
          <a:bodyPr/>
          <a:lstStyle/>
          <a:p>
            <a:r>
              <a:rPr lang="en-US" dirty="0"/>
              <a:t>“Handbook RSA</a:t>
            </a:r>
            <a:r>
              <a:rPr lang="pl-PL" dirty="0"/>
              <a:t>” encryption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3927" y="3632531"/>
                <a:ext cx="7957184" cy="1700696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Handbook RSA encryption scheme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messages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and </a:t>
                </a:r>
                <a:r>
                  <a:rPr lang="en-US" sz="2000" b="1" dirty="0" err="1">
                    <a:solidFill>
                      <a:srgbClr val="0070C0"/>
                    </a:solidFill>
                  </a:rPr>
                  <a:t>ciphertexts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p>
                    </m:sSup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p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3927" y="3632531"/>
                <a:ext cx="7957184" cy="1700696"/>
              </a:xfrm>
              <a:prstGeom prst="roundRect">
                <a:avLst/>
              </a:prstGeom>
              <a:blipFill>
                <a:blip r:embed="rId2"/>
                <a:stretch>
                  <a:fillRect b="-3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9779" y="1301724"/>
                <a:ext cx="7898683" cy="186058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Take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000" dirty="0"/>
                  <a:t>(where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are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two distinct odd primes</a:t>
                </a:r>
                <a:r>
                  <a:rPr lang="en-US" sz="2000" dirty="0"/>
                  <a:t>), defined as follows: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  <m:d>
                          <m:d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d>
                      </m:sub>
                      <m:sup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0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 </a:t>
                </a:r>
                <a:endParaRPr lang="pl-PL" sz="2000" b="1" dirty="0">
                  <a:solidFill>
                    <a:srgbClr val="FF0000"/>
                  </a:solidFill>
                </a:endParaRPr>
              </a:p>
              <a:p>
                <a:r>
                  <a:rPr lang="pl-PL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pl-PL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pl-PL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pl-PL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pl-PL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pl-PL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l-PL" b="1" dirty="0">
                    <a:solidFill>
                      <a:srgbClr val="FF0000"/>
                    </a:solidFill>
                  </a:rPr>
                  <a:t> </a:t>
                </a:r>
                <a:r>
                  <a:rPr lang="pl-PL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9" y="1301724"/>
                <a:ext cx="7898683" cy="186058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 flipH="1">
            <a:off x="6115680" y="5803453"/>
            <a:ext cx="197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400" dirty="0"/>
              <a:t>Is it secure?</a:t>
            </a:r>
          </a:p>
        </p:txBody>
      </p:sp>
    </p:spTree>
    <p:extLst>
      <p:ext uri="{BB962C8B-B14F-4D97-AF65-F5344CB8AC3E}">
        <p14:creationId xmlns:p14="http://schemas.microsoft.com/office/powerpoint/2010/main" val="330384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21272" cy="1325563"/>
          </a:xfrm>
        </p:spPr>
        <p:txBody>
          <a:bodyPr/>
          <a:lstStyle/>
          <a:p>
            <a:r>
              <a:rPr lang="en-US" dirty="0"/>
              <a:t>Issues with the “h</a:t>
            </a:r>
            <a:r>
              <a:rPr lang="pl-PL" dirty="0"/>
              <a:t>andbook RSA</a:t>
            </a:r>
            <a:r>
              <a:rPr lang="en-US" dirty="0"/>
              <a:t>”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381617"/>
                <a:ext cx="7886700" cy="2057129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pl-PL" dirty="0"/>
                  <a:t>It is </a:t>
                </a:r>
                <a:r>
                  <a:rPr lang="pl-PL" b="1" dirty="0">
                    <a:solidFill>
                      <a:srgbClr val="0070C0"/>
                    </a:solidFill>
                  </a:rPr>
                  <a:t>deterministic</a:t>
                </a:r>
                <a:r>
                  <a:rPr lang="en-US" dirty="0"/>
                  <a:t>.</a:t>
                </a:r>
                <a:endParaRPr lang="pl-PL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l-PL" dirty="0"/>
                  <a:t>It has some </a:t>
                </a:r>
                <a:r>
                  <a:rPr lang="en-US" dirty="0"/>
                  <a:t>“</a:t>
                </a:r>
                <a:r>
                  <a:rPr lang="en-US" b="1" dirty="0">
                    <a:solidFill>
                      <a:srgbClr val="00B050"/>
                    </a:solidFill>
                  </a:rPr>
                  <a:t>algebraic properties</a:t>
                </a:r>
                <a:r>
                  <a:rPr lang="en-US" dirty="0"/>
                  <a:t>”.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It is defined over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and not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514350" indent="-514350">
                  <a:buFont typeface="+mj-lt"/>
                  <a:buAutoNum type="arabicPeriod"/>
                </a:pP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381617"/>
                <a:ext cx="7886700" cy="2057129"/>
              </a:xfrm>
              <a:blipFill>
                <a:blip r:embed="rId2"/>
                <a:stretch>
                  <a:fillRect l="-1468" t="-534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ular Callout 4"/>
          <p:cNvSpPr/>
          <p:nvPr/>
        </p:nvSpPr>
        <p:spPr>
          <a:xfrm>
            <a:off x="2205588" y="4590380"/>
            <a:ext cx="5863188" cy="693841"/>
          </a:xfrm>
          <a:prstGeom prst="wedgeRoundRectCallout">
            <a:avLst>
              <a:gd name="adj1" fmla="val -12761"/>
              <a:gd name="adj2" fmla="val -158030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is not really a problem (exercise)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126991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559" y="196770"/>
            <a:ext cx="7886700" cy="764714"/>
          </a:xfrm>
        </p:spPr>
        <p:txBody>
          <a:bodyPr/>
          <a:lstStyle/>
          <a:p>
            <a:r>
              <a:rPr lang="en-US" dirty="0"/>
              <a:t>Algebraic properties of RSA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32579" y="1187351"/>
                <a:ext cx="8100116" cy="4012768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anchor="ctr">
                <a:noAutofit/>
              </a:bodyPr>
              <a:lstStyle/>
              <a:p>
                <a:pPr marL="533400" indent="-5334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500" b="1" dirty="0">
                    <a:latin typeface="Cambria" panose="02040503050406030204" pitchFamily="18" charset="0"/>
                  </a:rPr>
                  <a:t>RSA</a:t>
                </a:r>
                <a:r>
                  <a:rPr lang="en-US" sz="2500" dirty="0">
                    <a:latin typeface="Cambria" panose="02040503050406030204" pitchFamily="18" charset="0"/>
                  </a:rPr>
                  <a:t> is homomorphic:</a:t>
                </a:r>
                <a:br>
                  <a:rPr lang="en-US" sz="2500" dirty="0">
                    <a:latin typeface="Cambria" panose="02040503050406030204" pitchFamily="18" charset="0"/>
                  </a:rPr>
                </a:br>
                <a:endParaRPr lang="en-US" sz="700" dirty="0">
                  <a:latin typeface="Cambria" panose="02040503050406030204" pitchFamily="18" charset="0"/>
                </a:endParaRPr>
              </a:p>
              <a:p>
                <a:pPr lvl="2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5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𝐑𝐒</m:t>
                      </m:r>
                      <m:sSub>
                        <m:sSubPr>
                          <m:ctrlPr>
                            <a:rPr lang="en-US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n-US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d>
                        <m:dPr>
                          <m:ctrlPr>
                            <a:rPr lang="en-GB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GB" sz="2500" b="1" i="1" baseline="-250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·</m:t>
                          </m:r>
                          <m:r>
                            <a:rPr lang="en-GB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GB" sz="2500" b="1" i="1" baseline="-250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25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5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5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5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25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·</m:t>
                              </m:r>
                              <m:sSub>
                                <m:sSubPr>
                                  <m:ctrlPr>
                                    <a:rPr lang="en-US" sz="25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5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5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p>
                      </m:sSup>
                      <m:r>
                        <a:rPr lang="en-GB" sz="25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5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>
                  <a:lnSpc>
                    <a:spcPct val="80000"/>
                  </a:lnSpc>
                </a:pPr>
                <a:endParaRPr lang="en-GB" sz="25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>
                  <a:lnSpc>
                    <a:spcPct val="80000"/>
                  </a:lnSpc>
                </a:pPr>
                <a:endParaRPr lang="en-GB" sz="25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>
                  <a:lnSpc>
                    <a:spcPct val="80000"/>
                  </a:lnSpc>
                </a:pPr>
                <a:endParaRPr lang="en-GB" sz="25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>
                  <a:lnSpc>
                    <a:spcPct val="80000"/>
                  </a:lnSpc>
                </a:pPr>
                <a:endParaRPr lang="en-GB" sz="25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Tx/>
                  <a:buNone/>
                </a:pPr>
                <a:r>
                  <a:rPr lang="en-US" sz="2500" dirty="0">
                    <a:latin typeface="Cambria" panose="02040503050406030204" pitchFamily="18" charset="0"/>
                  </a:rPr>
                  <a:t>	why is it bad?</a:t>
                </a:r>
              </a:p>
              <a:p>
                <a:pPr marL="533400" indent="-533400">
                  <a:lnSpc>
                    <a:spcPct val="80000"/>
                  </a:lnSpc>
                  <a:buFontTx/>
                  <a:buNone/>
                </a:pPr>
                <a:br>
                  <a:rPr lang="en-US" sz="2500" dirty="0">
                    <a:latin typeface="Cambria" panose="02040503050406030204" pitchFamily="18" charset="0"/>
                  </a:rPr>
                </a:br>
                <a:r>
                  <a:rPr lang="en-US" sz="2500" dirty="0">
                    <a:latin typeface="Cambria" panose="02040503050406030204" pitchFamily="18" charset="0"/>
                  </a:rPr>
                  <a:t>By checking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sz="2500" b="1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GB" sz="2500" dirty="0">
                    <a:latin typeface="Cambria" panose="02040503050406030204" pitchFamily="18" charset="0"/>
                  </a:rPr>
                  <a:t>the adversary can check if the messages </a:t>
                </a:r>
                <a14:m>
                  <m:oMath xmlns:m="http://schemas.openxmlformats.org/officeDocument/2006/math"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sz="2500" b="1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GB" sz="25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corresponding to </a:t>
                </a:r>
                <a14:m>
                  <m:oMath xmlns:m="http://schemas.openxmlformats.org/officeDocument/2006/math"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sz="2500" b="1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GB" sz="25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satisfy:</a:t>
                </a:r>
              </a:p>
              <a:p>
                <a:pPr marL="533400" indent="-533400"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5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5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5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5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GB" sz="25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79" y="1187351"/>
                <a:ext cx="8100116" cy="4012768"/>
              </a:xfrm>
              <a:prstGeom prst="rect">
                <a:avLst/>
              </a:prstGeom>
              <a:blipFill>
                <a:blip r:embed="rId3"/>
                <a:stretch>
                  <a:fillRect l="-897" t="-45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532579" y="5601191"/>
            <a:ext cx="8100116" cy="58681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marL="533400" indent="-533400">
              <a:lnSpc>
                <a:spcPct val="80000"/>
              </a:lnSpc>
              <a:buFontTx/>
              <a:buAutoNum type="arabicPeriod" startAt="2"/>
            </a:pPr>
            <a:r>
              <a:rPr lang="en-US" sz="2500" dirty="0">
                <a:latin typeface="Cambria" panose="02040503050406030204" pitchFamily="18" charset="0"/>
              </a:rPr>
              <a:t>The </a:t>
            </a:r>
            <a:r>
              <a:rPr lang="en-US" sz="2500" b="1" dirty="0">
                <a:latin typeface="Cambria" panose="02040503050406030204" pitchFamily="18" charset="0"/>
              </a:rPr>
              <a:t>Jacobi symbol </a:t>
            </a:r>
            <a:r>
              <a:rPr lang="en-US" sz="2500" dirty="0">
                <a:latin typeface="Cambria" panose="02040503050406030204" pitchFamily="18" charset="0"/>
              </a:rPr>
              <a:t>leaks.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834866" y="2545673"/>
                <a:ext cx="1714059" cy="4010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533400" indent="-533400" algn="ctr">
                  <a:lnSpc>
                    <a:spcPct val="80000"/>
                  </a:lnSpc>
                  <a:buFontTx/>
                  <a:buNone/>
                </a:pPr>
                <a:r>
                  <a:rPr lang="en-GB" sz="2500" b="1" dirty="0">
                    <a:solidFill>
                      <a:srgbClr val="9933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5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5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5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25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p>
                    </m:sSubSup>
                    <m:r>
                      <a:rPr lang="en-US" sz="25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5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5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5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p>
                    </m:sSubSup>
                  </m:oMath>
                </a14:m>
                <a:endParaRPr lang="en-GB" sz="2500" b="1" dirty="0">
                  <a:solidFill>
                    <a:srgbClr val="9933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866" y="2545673"/>
                <a:ext cx="1714059" cy="401072"/>
              </a:xfrm>
              <a:prstGeom prst="rect">
                <a:avLst/>
              </a:prstGeom>
              <a:blipFill rotWithShape="0">
                <a:blip r:embed="rId4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34866" y="2946745"/>
                <a:ext cx="4315733" cy="493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5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𝐑𝐒</m:t>
                      </m:r>
                      <m:sSub>
                        <m:sSubPr>
                          <m:ctrlPr>
                            <a:rPr lang="en-US" sz="2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n-US" sz="2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sz="2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d>
                        <m:dPr>
                          <m:ctrlPr>
                            <a:rPr lang="en-GB" sz="2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pl-PL" sz="2500" b="1" i="1" baseline="-250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5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5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𝐑𝐒</m:t>
                      </m:r>
                      <m:sSub>
                        <m:sSubPr>
                          <m:ctrlPr>
                            <a:rPr lang="en-US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n-US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d>
                        <m:dPr>
                          <m:ctrlPr>
                            <a:rPr lang="en-US" sz="2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5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pl-PL" sz="25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l-PL" sz="25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866" y="2946745"/>
                <a:ext cx="4315733" cy="493981"/>
              </a:xfrm>
              <a:prstGeom prst="rect">
                <a:avLst/>
              </a:prstGeom>
              <a:blipFill>
                <a:blip r:embed="rId5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97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238589" y="970225"/>
            <a:ext cx="7264400" cy="1593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567354" y="3194558"/>
            <a:ext cx="1571636" cy="767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138990" y="3980376"/>
            <a:ext cx="1571636" cy="7143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296" y="215959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/>
              <a:t>Jacobi Symbol (from the Chapter 6)</a:t>
            </a:r>
          </a:p>
        </p:txBody>
      </p:sp>
      <p:sp>
        <p:nvSpPr>
          <p:cNvPr id="3" name="Rectangle 2" descr="Light vertical"/>
          <p:cNvSpPr>
            <a:spLocks noChangeArrowheads="1"/>
          </p:cNvSpPr>
          <p:nvPr/>
        </p:nvSpPr>
        <p:spPr bwMode="auto">
          <a:xfrm>
            <a:off x="1338528" y="3199631"/>
            <a:ext cx="1576136" cy="762000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graphicFrame>
        <p:nvGraphicFramePr>
          <p:cNvPr id="4" name="Group 5"/>
          <p:cNvGraphicFramePr>
            <a:graphicFrameLocks/>
          </p:cNvGraphicFramePr>
          <p:nvPr/>
        </p:nvGraphicFramePr>
        <p:xfrm>
          <a:off x="1376616" y="3199631"/>
          <a:ext cx="3119446" cy="1524000"/>
        </p:xfrm>
        <a:graphic>
          <a:graphicData uri="http://schemas.openxmlformats.org/drawingml/2006/table">
            <a:tbl>
              <a:tblPr/>
              <a:tblGrid>
                <a:gridCol w="155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6"/>
              <p:cNvSpPr txBox="1">
                <a:spLocks noChangeArrowheads="1"/>
              </p:cNvSpPr>
              <p:nvPr/>
            </p:nvSpPr>
            <p:spPr bwMode="auto">
              <a:xfrm>
                <a:off x="1908365" y="2702005"/>
                <a:ext cx="677750" cy="3942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8365" y="2702005"/>
                <a:ext cx="677750" cy="394210"/>
              </a:xfrm>
              <a:prstGeom prst="rect">
                <a:avLst/>
              </a:prstGeom>
              <a:blipFill rotWithShape="0">
                <a:blip r:embed="rId3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17"/>
              <p:cNvSpPr txBox="1">
                <a:spLocks noChangeArrowheads="1"/>
              </p:cNvSpPr>
              <p:nvPr/>
            </p:nvSpPr>
            <p:spPr bwMode="auto">
              <a:xfrm>
                <a:off x="500328" y="3352031"/>
                <a:ext cx="677750" cy="3943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328" y="3352031"/>
                <a:ext cx="677750" cy="394339"/>
              </a:xfrm>
              <a:prstGeom prst="rect">
                <a:avLst/>
              </a:prstGeom>
              <a:blipFill rotWithShape="0">
                <a:blip r:embed="rId4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18" descr="Light horizontal"/>
          <p:cNvSpPr>
            <a:spLocks noChangeArrowheads="1"/>
          </p:cNvSpPr>
          <p:nvPr/>
        </p:nvSpPr>
        <p:spPr bwMode="auto">
          <a:xfrm>
            <a:off x="2924426" y="3223433"/>
            <a:ext cx="1576136" cy="762000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0"/>
              <p:cNvSpPr txBox="1">
                <a:spLocks noChangeArrowheads="1"/>
              </p:cNvSpPr>
              <p:nvPr/>
            </p:nvSpPr>
            <p:spPr bwMode="auto">
              <a:xfrm>
                <a:off x="455210" y="3788633"/>
                <a:ext cx="92365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210" y="3788633"/>
                <a:ext cx="923650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81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1"/>
              <p:cNvSpPr txBox="1">
                <a:spLocks noChangeArrowheads="1"/>
              </p:cNvSpPr>
              <p:nvPr/>
            </p:nvSpPr>
            <p:spPr bwMode="auto">
              <a:xfrm>
                <a:off x="2591610" y="2788338"/>
                <a:ext cx="8699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1610" y="2788338"/>
                <a:ext cx="869950" cy="366713"/>
              </a:xfrm>
              <a:prstGeom prst="rect">
                <a:avLst/>
              </a:prstGeom>
              <a:blipFill rotWithShape="0">
                <a:blip r:embed="rId6"/>
                <a:stretch>
                  <a:fillRect b="-81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3" descr="Light vertical"/>
          <p:cNvSpPr>
            <a:spLocks noChangeArrowheads="1"/>
          </p:cNvSpPr>
          <p:nvPr/>
        </p:nvSpPr>
        <p:spPr bwMode="auto">
          <a:xfrm>
            <a:off x="1371854" y="3175829"/>
            <a:ext cx="1543310" cy="154780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12" name="Rectangle 22" descr="Small grid"/>
          <p:cNvSpPr>
            <a:spLocks noChangeArrowheads="1"/>
          </p:cNvSpPr>
          <p:nvPr/>
        </p:nvSpPr>
        <p:spPr bwMode="auto">
          <a:xfrm>
            <a:off x="1376616" y="3175829"/>
            <a:ext cx="1539206" cy="785818"/>
          </a:xfrm>
          <a:prstGeom prst="rect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4"/>
              <p:cNvSpPr txBox="1">
                <a:spLocks noChangeArrowheads="1"/>
              </p:cNvSpPr>
              <p:nvPr/>
            </p:nvSpPr>
            <p:spPr bwMode="auto">
              <a:xfrm>
                <a:off x="1690964" y="3352031"/>
                <a:ext cx="895151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0964" y="3352031"/>
                <a:ext cx="895151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292350" y="1990441"/>
                <a:ext cx="536871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ambria" panose="02040503050406030204" pitchFamily="18" charset="0"/>
                  </a:rPr>
                  <a:t>for</a:t>
                </a:r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define</a:t>
                </a:r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):=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)·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350" y="1990441"/>
                <a:ext cx="5368714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703" t="-10667" b="-30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642238" y="1043279"/>
                <a:ext cx="23112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it-IT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  </a:t>
                </a:r>
                <a:r>
                  <a:rPr lang="en-US" sz="2400" dirty="0">
                    <a:latin typeface="Cambria" panose="02040503050406030204" pitchFamily="18" charset="0"/>
                  </a:rPr>
                  <a:t>if</a:t>
                </a:r>
                <a:r>
                  <a:rPr lang="it-IT" sz="24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it-IT" sz="2400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it-IT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238" y="1043279"/>
                <a:ext cx="2311274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64" t="-10526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243884" y="1214271"/>
                <a:ext cx="49847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Cambria" panose="02040503050406030204" pitchFamily="18" charset="0"/>
                  </a:rPr>
                  <a:t>for any prime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define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:=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884" y="1214271"/>
                <a:ext cx="4984778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834" t="-10526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570800" y="1400469"/>
                <a:ext cx="22573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otherwise</a:t>
                </a:r>
                <a:endParaRPr lang="en-US" sz="2400" b="1" dirty="0">
                  <a:solidFill>
                    <a:srgbClr val="C0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800" y="1400469"/>
                <a:ext cx="2257349" cy="461665"/>
              </a:xfrm>
              <a:prstGeom prst="rect">
                <a:avLst/>
              </a:prstGeom>
              <a:blipFill rotWithShape="0">
                <a:blip r:embed="rId11"/>
                <a:stretch>
                  <a:fillRect t="-10667" r="-270" b="-30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/>
          <p:cNvSpPr/>
          <p:nvPr/>
        </p:nvSpPr>
        <p:spPr>
          <a:xfrm>
            <a:off x="5424478" y="1143845"/>
            <a:ext cx="285752" cy="642942"/>
          </a:xfrm>
          <a:prstGeom prst="leftBrace">
            <a:avLst>
              <a:gd name="adj1" fmla="val 43261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dirty="0">
              <a:latin typeface="Cambria" panose="02040503050406030204" pitchFamily="18" charset="0"/>
            </a:endParaRPr>
          </a:p>
        </p:txBody>
      </p:sp>
      <p:graphicFrame>
        <p:nvGraphicFramePr>
          <p:cNvPr id="19" name="Group 5"/>
          <p:cNvGraphicFramePr>
            <a:graphicFrameLocks/>
          </p:cNvGraphicFramePr>
          <p:nvPr/>
        </p:nvGraphicFramePr>
        <p:xfrm>
          <a:off x="5579267" y="3198833"/>
          <a:ext cx="3119446" cy="1524000"/>
        </p:xfrm>
        <a:graphic>
          <a:graphicData uri="http://schemas.openxmlformats.org/drawingml/2006/table">
            <a:tbl>
              <a:tblPr/>
              <a:tblGrid>
                <a:gridCol w="155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+1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-1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-1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+1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929190" y="2651929"/>
                <a:ext cx="144834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it-IT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90" y="2651929"/>
                <a:ext cx="1448345" cy="461665"/>
              </a:xfrm>
              <a:prstGeom prst="rect">
                <a:avLst/>
              </a:prstGeom>
              <a:blipFill rotWithShape="0">
                <a:blip r:embed="rId1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892586" y="5149322"/>
                <a:ext cx="4194545" cy="4644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:= {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Sup>
                        <m:sSub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)=+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586" y="5149322"/>
                <a:ext cx="4194545" cy="464423"/>
              </a:xfrm>
              <a:prstGeom prst="rect">
                <a:avLst/>
              </a:prstGeom>
              <a:blipFill rotWithShape="0">
                <a:blip r:embed="rId1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0" y="5927464"/>
                <a:ext cx="9144000" cy="89255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274320" rtlCol="0">
                <a:spAutoFit/>
              </a:bodyPr>
              <a:lstStyle/>
              <a:p>
                <a:r>
                  <a:rPr lang="en-US" sz="2800" b="1" dirty="0">
                    <a:latin typeface="Cambria" panose="02040503050406030204" pitchFamily="18" charset="0"/>
                  </a:rPr>
                  <a:t>Jacobi symbol can be computed efficiently!</a:t>
                </a:r>
                <a:br>
                  <a:rPr lang="en-US" sz="2800" b="1" dirty="0">
                    <a:latin typeface="Cambria" panose="02040503050406030204" pitchFamily="18" charset="0"/>
                  </a:rPr>
                </a:br>
                <a:r>
                  <a:rPr lang="en-US" sz="2400" dirty="0">
                    <a:latin typeface="Cambria" panose="02040503050406030204" pitchFamily="18" charset="0"/>
                  </a:rPr>
                  <a:t>(even in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are unknown)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927464"/>
                <a:ext cx="9144000" cy="89255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ular Callout 25"/>
              <p:cNvSpPr/>
              <p:nvPr/>
            </p:nvSpPr>
            <p:spPr>
              <a:xfrm>
                <a:off x="288831" y="5002679"/>
                <a:ext cx="3714776" cy="642942"/>
              </a:xfrm>
              <a:prstGeom prst="wedgeRectCallout">
                <a:avLst>
                  <a:gd name="adj1" fmla="val 68501"/>
                  <a:gd name="adj2" fmla="val -6214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Cambria" panose="02040503050406030204" pitchFamily="18" charset="0"/>
                  </a:rPr>
                  <a:t>It is a subgroup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400" b="1" dirty="0">
                  <a:solidFill>
                    <a:srgbClr val="C0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Rectangular Callou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31" y="5002679"/>
                <a:ext cx="3714776" cy="642942"/>
              </a:xfrm>
              <a:prstGeom prst="wedgeRectCallout">
                <a:avLst>
                  <a:gd name="adj1" fmla="val 68501"/>
                  <a:gd name="adj2" fmla="val -6214"/>
                </a:avLst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72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3" grpId="0" animBg="1"/>
      <p:bldP spid="3" grpId="0" animBg="1"/>
      <p:bldP spid="5" grpId="0"/>
      <p:bldP spid="6" grpId="0"/>
      <p:bldP spid="7" grpId="0" animBg="1"/>
      <p:bldP spid="9" grpId="0"/>
      <p:bldP spid="10" grpId="0"/>
      <p:bldP spid="11" grpId="0" animBg="1"/>
      <p:bldP spid="12" grpId="0" animBg="1"/>
      <p:bldP spid="13" grpId="0" animBg="1"/>
      <p:bldP spid="14" grpId="0"/>
      <p:bldP spid="20" grpId="0"/>
      <p:bldP spid="21" grpId="0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365126"/>
            <a:ext cx="860298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Fact: the </a:t>
            </a:r>
            <a:r>
              <a:rPr lang="en-US" b="1" dirty="0">
                <a:solidFill>
                  <a:srgbClr val="7030A0"/>
                </a:solidFill>
              </a:rPr>
              <a:t>RSA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function “preserves” the </a:t>
            </a:r>
            <a:r>
              <a:rPr lang="en-US" b="1" dirty="0"/>
              <a:t>Jacobi symbol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22960" y="4183380"/>
                <a:ext cx="7155180" cy="1334214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5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5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5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5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sSub>
                        <m:sSubPr>
                          <m:ctrlPr>
                            <a:rPr lang="en-US" sz="5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5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sz="5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50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5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5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5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5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5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0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183380"/>
                <a:ext cx="7155180" cy="133421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048000" y="1912642"/>
                <a:ext cx="5364480" cy="1630657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anchor="ctr">
                <a:noAutofit/>
              </a:bodyPr>
              <a:lstStyle/>
              <a:p>
                <a:pPr marL="342900" lvl="0" indent="-342900"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800" dirty="0">
                    <a:latin typeface="Cambria" panose="02040503050406030204" pitchFamily="18" charset="0"/>
                  </a:rPr>
                  <a:t>- </a:t>
                </a:r>
                <a:r>
                  <a:rPr lang="it-IT" sz="2800" b="1" dirty="0">
                    <a:latin typeface="Cambria" panose="02040503050406030204" pitchFamily="18" charset="0"/>
                  </a:rPr>
                  <a:t>RSA</a:t>
                </a:r>
                <a:r>
                  <a:rPr lang="it-IT" sz="2800" dirty="0">
                    <a:latin typeface="Cambria" panose="02040503050406030204" pitchFamily="18" charset="0"/>
                  </a:rPr>
                  <a:t> </a:t>
                </a:r>
                <a:r>
                  <a:rPr lang="en-US" sz="2800" dirty="0">
                    <a:latin typeface="Cambria" panose="02040503050406030204" pitchFamily="18" charset="0"/>
                  </a:rPr>
                  <a:t>modulus</a:t>
                </a:r>
              </a:p>
              <a:p>
                <a:pPr marL="342900" lvl="0" indent="-342900"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it-IT" sz="2800" dirty="0">
                  <a:latin typeface="Cambria" panose="02040503050406030204" pitchFamily="18" charset="0"/>
                </a:endParaRPr>
              </a:p>
              <a:p>
                <a:pPr lvl="0" algn="ctr">
                  <a:lnSpc>
                    <a:spcPct val="80000"/>
                  </a:lnSpc>
                  <a:buNone/>
                  <a:defRPr/>
                </a:pP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GB" sz="2800" dirty="0">
                    <a:solidFill>
                      <a:srgbClr val="9933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GB" sz="2800" dirty="0">
                    <a:latin typeface="Cambria" panose="02040503050406030204" pitchFamily="18" charset="0"/>
                  </a:rPr>
                  <a:t>is such that</a:t>
                </a:r>
                <a:r>
                  <a:rPr lang="en-GB" sz="2800" dirty="0">
                    <a:solidFill>
                      <a:srgbClr val="9933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8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912642"/>
                <a:ext cx="5364480" cy="163065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484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132569"/>
            <a:ext cx="9032586" cy="1143000"/>
          </a:xfrm>
        </p:spPr>
        <p:txBody>
          <a:bodyPr>
            <a:normAutofit/>
          </a:bodyPr>
          <a:lstStyle/>
          <a:p>
            <a:r>
              <a:rPr lang="en-US" sz="3800" dirty="0"/>
              <a:t>Actually, something even stronger holds: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057276" y="2714620"/>
          <a:ext cx="3443286" cy="200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1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0132"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32"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/>
          <p:cNvGraphicFramePr>
            <a:graphicFrameLocks/>
          </p:cNvGraphicFramePr>
          <p:nvPr/>
        </p:nvGraphicFramePr>
        <p:xfrm>
          <a:off x="5414994" y="2714620"/>
          <a:ext cx="3443286" cy="200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1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0132"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32"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18"/>
          <p:cNvGrpSpPr/>
          <p:nvPr/>
        </p:nvGrpSpPr>
        <p:grpSpPr>
          <a:xfrm>
            <a:off x="1343028" y="3000372"/>
            <a:ext cx="5572164" cy="571504"/>
            <a:chOff x="1214414" y="3143248"/>
            <a:chExt cx="5572164" cy="571504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1285852" y="3143248"/>
              <a:ext cx="4429156" cy="158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1214414" y="3357562"/>
              <a:ext cx="5572164" cy="35719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1643042" y="3214686"/>
              <a:ext cx="4857784" cy="7143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2214546" y="3429000"/>
              <a:ext cx="4286280" cy="214314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V="1">
              <a:off x="1428728" y="3214686"/>
              <a:ext cx="5286412" cy="35719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9"/>
          <p:cNvGrpSpPr/>
          <p:nvPr/>
        </p:nvGrpSpPr>
        <p:grpSpPr>
          <a:xfrm>
            <a:off x="3128978" y="2928934"/>
            <a:ext cx="5500726" cy="500066"/>
            <a:chOff x="1214414" y="3143248"/>
            <a:chExt cx="5500726" cy="500066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1285852" y="3143248"/>
              <a:ext cx="4429156" cy="158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1214414" y="3357562"/>
              <a:ext cx="4786346" cy="285752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643042" y="3214686"/>
              <a:ext cx="5072098" cy="158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2214546" y="3429000"/>
              <a:ext cx="3857652" cy="214314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1428728" y="3571876"/>
              <a:ext cx="5214974" cy="158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36"/>
          <p:cNvGrpSpPr/>
          <p:nvPr/>
        </p:nvGrpSpPr>
        <p:grpSpPr>
          <a:xfrm>
            <a:off x="1271590" y="3929066"/>
            <a:ext cx="5572164" cy="571504"/>
            <a:chOff x="1214414" y="3071810"/>
            <a:chExt cx="5572164" cy="571504"/>
          </a:xfrm>
        </p:grpSpPr>
        <p:cxnSp>
          <p:nvCxnSpPr>
            <p:cNvPr id="38" name="Straight Arrow Connector 37"/>
            <p:cNvCxnSpPr/>
            <p:nvPr/>
          </p:nvCxnSpPr>
          <p:spPr>
            <a:xfrm flipV="1">
              <a:off x="1285852" y="3071810"/>
              <a:ext cx="5500726" cy="142876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V="1">
              <a:off x="1214414" y="3214686"/>
              <a:ext cx="5143536" cy="142876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1643042" y="3214686"/>
              <a:ext cx="4929222" cy="142876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2214546" y="3429000"/>
              <a:ext cx="3500462" cy="214314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1428728" y="3571876"/>
              <a:ext cx="5214974" cy="158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46"/>
          <p:cNvGrpSpPr/>
          <p:nvPr/>
        </p:nvGrpSpPr>
        <p:grpSpPr>
          <a:xfrm>
            <a:off x="3057540" y="3929066"/>
            <a:ext cx="5572164" cy="571504"/>
            <a:chOff x="1214414" y="3143248"/>
            <a:chExt cx="5572164" cy="571504"/>
          </a:xfrm>
        </p:grpSpPr>
        <p:cxnSp>
          <p:nvCxnSpPr>
            <p:cNvPr id="48" name="Straight Arrow Connector 47"/>
            <p:cNvCxnSpPr/>
            <p:nvPr/>
          </p:nvCxnSpPr>
          <p:spPr>
            <a:xfrm>
              <a:off x="1285852" y="3143248"/>
              <a:ext cx="4429156" cy="158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1214414" y="3357562"/>
              <a:ext cx="5572164" cy="35719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1643042" y="3214686"/>
              <a:ext cx="4857784" cy="7143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V="1">
              <a:off x="2214546" y="3429000"/>
              <a:ext cx="4286280" cy="214314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flipV="1">
              <a:off x="1428728" y="3214686"/>
              <a:ext cx="5286412" cy="35719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80983" y="1217227"/>
                <a:ext cx="7541103" cy="542136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𝐑𝐒</m:t>
                    </m:r>
                    <m:sSub>
                      <m:sSubPr>
                        <m:ctrlP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is a permutation on each “quarter”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36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983" y="1217227"/>
                <a:ext cx="7541103" cy="542136"/>
              </a:xfrm>
              <a:prstGeom prst="rect">
                <a:avLst/>
              </a:prstGeom>
              <a:blipFill rotWithShape="0">
                <a:blip r:embed="rId3"/>
                <a:stretch>
                  <a:fillRect t="-8163" b="-183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542952" y="5074108"/>
                <a:ext cx="808675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u="sng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In other words</a:t>
                </a:r>
                <a:r>
                  <a:rPr lang="en-US" sz="2800" dirty="0">
                    <a:latin typeface="Cambria" panose="02040503050406030204" pitchFamily="18" charset="0"/>
                  </a:rPr>
                  <a:t>: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𝐐𝐑</m:t>
                    </m:r>
                    <m:r>
                      <a:rPr lang="en-US" sz="28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𝒑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rgbClr val="0070C0"/>
                    </a:solidFill>
                    <a:latin typeface="Cambria" panose="02040503050406030204" pitchFamily="18" charset="0"/>
                    <a:sym typeface="Symbol"/>
                  </a:rPr>
                  <a:t>iff</a:t>
                </a:r>
                <a:r>
                  <a:rPr lang="en-US" sz="2800" dirty="0">
                    <a:solidFill>
                      <a:srgbClr val="0070C0"/>
                    </a:solidFill>
                    <a:latin typeface="Cambria" panose="02040503050406030204" pitchFamily="18" charset="0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𝐐𝐑</m:t>
                    </m:r>
                    <m:r>
                      <a:rPr lang="en-US" sz="28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𝒑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  <a:latin typeface="Cambria" panose="02040503050406030204" pitchFamily="18" charset="0"/>
                  <a:sym typeface="Symbol"/>
                </a:endParaRP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𝐐𝐑</m:t>
                    </m:r>
                    <m:r>
                      <a:rPr lang="en-US" sz="28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𝒒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rgbClr val="0070C0"/>
                    </a:solidFill>
                    <a:latin typeface="Cambria" panose="02040503050406030204" pitchFamily="18" charset="0"/>
                    <a:sym typeface="Symbol"/>
                  </a:rPr>
                  <a:t>iff</a:t>
                </a:r>
                <a:r>
                  <a:rPr lang="en-US" sz="2800" dirty="0">
                    <a:solidFill>
                      <a:srgbClr val="0070C0"/>
                    </a:solidFill>
                    <a:latin typeface="Cambria" panose="02040503050406030204" pitchFamily="18" charset="0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𝐐𝐑</m:t>
                    </m:r>
                    <m:r>
                      <a:rPr lang="en-US" sz="28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𝒒</m:t>
                    </m:r>
                  </m:oMath>
                </a14:m>
                <a:endParaRPr lang="en-US" sz="2800" b="1" dirty="0">
                  <a:solidFill>
                    <a:srgbClr val="C00000"/>
                  </a:solidFill>
                  <a:latin typeface="Cambria" panose="02040503050406030204" pitchFamily="18" charset="0"/>
                  <a:sym typeface="Symbol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52" y="5074108"/>
                <a:ext cx="8086752" cy="1384995"/>
              </a:xfrm>
              <a:prstGeom prst="rect">
                <a:avLst/>
              </a:prstGeom>
              <a:blipFill>
                <a:blip r:embed="rId4"/>
                <a:stretch>
                  <a:fillRect l="-1507" t="-4386" b="-1096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Left Brace 54"/>
          <p:cNvSpPr/>
          <p:nvPr/>
        </p:nvSpPr>
        <p:spPr>
          <a:xfrm rot="5400000">
            <a:off x="1700216" y="1571612"/>
            <a:ext cx="428628" cy="1714512"/>
          </a:xfrm>
          <a:prstGeom prst="leftBrace">
            <a:avLst>
              <a:gd name="adj1" fmla="val 3880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 flipH="1">
                <a:off x="1558304" y="1840807"/>
                <a:ext cx="8023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𝐐𝐑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58304" y="1840807"/>
                <a:ext cx="802394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Left Brace 56"/>
          <p:cNvSpPr/>
          <p:nvPr/>
        </p:nvSpPr>
        <p:spPr>
          <a:xfrm rot="5400000">
            <a:off x="6057936" y="1571612"/>
            <a:ext cx="428628" cy="1714512"/>
          </a:xfrm>
          <a:prstGeom prst="leftBrace">
            <a:avLst>
              <a:gd name="adj1" fmla="val 3880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 flipH="1">
                <a:off x="5915060" y="1851293"/>
                <a:ext cx="8023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𝐐𝐑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15060" y="1851293"/>
                <a:ext cx="802394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Left Brace 58"/>
          <p:cNvSpPr/>
          <p:nvPr/>
        </p:nvSpPr>
        <p:spPr>
          <a:xfrm>
            <a:off x="628648" y="2714620"/>
            <a:ext cx="428628" cy="1000132"/>
          </a:xfrm>
          <a:prstGeom prst="leftBrace">
            <a:avLst>
              <a:gd name="adj1" fmla="val 3880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 flipH="1">
                <a:off x="88600" y="2988230"/>
                <a:ext cx="6686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𝐐𝐑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8600" y="2988230"/>
                <a:ext cx="668662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76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65403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Example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𝟑𝟓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654032"/>
              </a:xfrm>
              <a:blipFill rotWithShape="0">
                <a:blip r:embed="rId3"/>
                <a:stretch>
                  <a:fillRect l="-2593" t="-26168" b="-3831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6295" y="3343275"/>
          <a:ext cx="3786216" cy="126682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40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31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34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32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33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Left Brace 5"/>
          <p:cNvSpPr/>
          <p:nvPr/>
        </p:nvSpPr>
        <p:spPr>
          <a:xfrm rot="5400000">
            <a:off x="2050746" y="2414581"/>
            <a:ext cx="285752" cy="1571636"/>
          </a:xfrm>
          <a:prstGeom prst="leftBrace">
            <a:avLst>
              <a:gd name="adj1" fmla="val 3880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1891658" y="2621513"/>
            <a:ext cx="66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QR</a:t>
            </a:r>
            <a:r>
              <a:rPr lang="en-US" b="1" baseline="-25000" dirty="0">
                <a:solidFill>
                  <a:srgbClr val="FF0000"/>
                </a:solidFill>
                <a:latin typeface="Cambria" panose="02040503050406030204" pitchFamily="18" charset="0"/>
              </a:rPr>
              <a:t>7</a:t>
            </a:r>
          </a:p>
        </p:txBody>
      </p:sp>
      <p:sp>
        <p:nvSpPr>
          <p:cNvPr id="8" name="Left Brace 7"/>
          <p:cNvSpPr/>
          <p:nvPr/>
        </p:nvSpPr>
        <p:spPr>
          <a:xfrm>
            <a:off x="407672" y="3629027"/>
            <a:ext cx="428628" cy="473871"/>
          </a:xfrm>
          <a:prstGeom prst="leftBrace">
            <a:avLst>
              <a:gd name="adj1" fmla="val 3880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 flipH="1">
            <a:off x="121920" y="3252778"/>
            <a:ext cx="668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ambria" panose="02040503050406030204" pitchFamily="18" charset="0"/>
              </a:rPr>
              <a:t>QR</a:t>
            </a:r>
            <a:r>
              <a:rPr lang="en-US" sz="1600" b="1" baseline="-25000" dirty="0">
                <a:solidFill>
                  <a:srgbClr val="FF0000"/>
                </a:solidFill>
                <a:latin typeface="Cambria" panose="02040503050406030204" pitchFamily="18" charset="0"/>
              </a:rPr>
              <a:t>5</a:t>
            </a:r>
            <a:endParaRPr lang="en-US" b="1" baseline="-2500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266662" y="4035426"/>
            <a:ext cx="1500198" cy="15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07857" y="4109815"/>
            <a:ext cx="3809967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129218" y="3343275"/>
          <a:ext cx="3786216" cy="126682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40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31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34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33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latin typeface="Cambria" panose="02040503050406030204" pitchFamily="18" charset="0"/>
                        </a:rPr>
                        <a:t>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32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17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latin typeface="Cambria" panose="02040503050406030204" pitchFamily="18" charset="0"/>
                        </a:rPr>
                        <a:t>27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423866" y="1278653"/>
                <a:ext cx="6859955" cy="5421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latin typeface="Cambria" panose="02040503050406030204" pitchFamily="18" charset="0"/>
                  </a:rPr>
                  <a:t>We calculate 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𝐑𝐒</m:t>
                    </m:r>
                    <m:sSub>
                      <m:sSubPr>
                        <m:ctrlP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𝟐𝟑</m:t>
                        </m:r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𝟑𝟓</m:t>
                        </m:r>
                      </m:sub>
                    </m:sSub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𝟐𝟑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𝟑𝟓</m:t>
                    </m:r>
                  </m:oMath>
                </a14:m>
                <a:endParaRPr lang="en-US" sz="28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66" y="1278653"/>
                <a:ext cx="6859955" cy="542136"/>
              </a:xfrm>
              <a:prstGeom prst="rect">
                <a:avLst/>
              </a:prstGeom>
              <a:blipFill rotWithShape="0">
                <a:blip r:embed="rId4"/>
                <a:stretch>
                  <a:fillRect l="-1867" t="-13483" b="-2584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/>
          <p:cNvSpPr txBox="1"/>
          <p:nvPr/>
        </p:nvSpPr>
        <p:spPr>
          <a:xfrm>
            <a:off x="2693690" y="2752712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ambria" panose="02040503050406030204" pitchFamily="18" charset="0"/>
              </a:rPr>
              <a:t>mod 7</a:t>
            </a:r>
          </a:p>
        </p:txBody>
      </p:sp>
      <p:sp>
        <p:nvSpPr>
          <p:cNvPr id="66" name="TextBox 65"/>
          <p:cNvSpPr txBox="1"/>
          <p:nvPr/>
        </p:nvSpPr>
        <p:spPr>
          <a:xfrm rot="16200000">
            <a:off x="119030" y="4159518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ambria" panose="02040503050406030204" pitchFamily="18" charset="0"/>
              </a:rPr>
              <a:t>mod 5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701671" y="3728815"/>
            <a:ext cx="342934" cy="762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52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64" grpId="0"/>
      <p:bldP spid="65" grpId="0"/>
      <p:bldP spid="3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prove it?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/>
                  <a:t>By the </a:t>
                </a:r>
                <a:r>
                  <a:rPr lang="en-US" b="1" dirty="0">
                    <a:solidFill>
                      <a:srgbClr val="7030A0"/>
                    </a:solidFill>
                  </a:rPr>
                  <a:t>CRT </a:t>
                </a:r>
                <a:r>
                  <a:rPr lang="en-US" dirty="0"/>
                  <a:t>and by the fact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dirty="0"/>
                  <a:t> are symmetric it is enough to show that</a:t>
                </a:r>
              </a:p>
              <a:p>
                <a:pPr>
                  <a:buNone/>
                </a:pPr>
                <a:endParaRPr lang="en-US" dirty="0"/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QR</a:t>
                </a:r>
                <a:r>
                  <a:rPr lang="en-US" b="1" i="1" baseline="-25000" dirty="0" err="1">
                    <a:solidFill>
                      <a:srgbClr val="FF0000"/>
                    </a:solidFill>
                  </a:rPr>
                  <a:t>p</a:t>
                </a:r>
                <a:endParaRPr lang="en-US" b="1" i="1" baseline="-25000" dirty="0">
                  <a:solidFill>
                    <a:srgbClr val="FF0000"/>
                  </a:solidFill>
                </a:endParaRPr>
              </a:p>
              <a:p>
                <a:pPr algn="ctr">
                  <a:buNone/>
                </a:pPr>
                <a:r>
                  <a:rPr lang="en-US" dirty="0"/>
                  <a:t>iff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QR</a:t>
                </a:r>
                <a:r>
                  <a:rPr lang="en-US" b="1" i="1" baseline="-25000" dirty="0" err="1">
                    <a:solidFill>
                      <a:srgbClr val="FF0000"/>
                    </a:solidFill>
                  </a:rPr>
                  <a:t>p</a:t>
                </a:r>
                <a:endParaRPr lang="en-US" b="1" i="1" baseline="30000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11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68" y="192096"/>
            <a:ext cx="8229600" cy="623243"/>
          </a:xfrm>
        </p:spPr>
        <p:txBody>
          <a:bodyPr>
            <a:normAutofit fontScale="90000"/>
          </a:bodyPr>
          <a:lstStyle/>
          <a:p>
            <a:r>
              <a:rPr lang="en-US" dirty="0"/>
              <a:t>Fact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0018" y="2542539"/>
                <a:ext cx="8358246" cy="441452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000" b="1" u="sng" dirty="0">
                    <a:solidFill>
                      <a:srgbClr val="0070C0"/>
                    </a:solidFill>
                  </a:rPr>
                  <a:t>Proof</a:t>
                </a:r>
                <a:r>
                  <a:rPr lang="en-GB" sz="2000" dirty="0">
                    <a:solidFill>
                      <a:srgbClr val="0070C0"/>
                    </a:solidFill>
                  </a:rPr>
                  <a:t>: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GB" sz="2000" dirty="0"/>
                  <a:t> be the generator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sz="2000" b="1" dirty="0">
                    <a:solidFill>
                      <a:srgbClr val="990000"/>
                    </a:solidFill>
                  </a:rPr>
                  <a:t>.  </a:t>
                </a:r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be such that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sz="2000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2000" dirty="0"/>
                  <a:t>. </a:t>
                </a:r>
                <a:endParaRPr lang="en-GB" sz="4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000" dirty="0"/>
                  <a:t>Recall that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000" dirty="0"/>
                  <a:t> is a </a:t>
                </a:r>
                <a14:m>
                  <m:oMath xmlns:m="http://schemas.openxmlformats.org/officeDocument/2006/math">
                    <m:r>
                      <a:rPr lang="en-GB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en-GB" sz="20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2000" dirty="0"/>
                  <a:t>iff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000" dirty="0"/>
                  <a:t> is an even power of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endParaRPr lang="en-GB" sz="20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pl-PL" sz="2000" b="1" dirty="0">
                    <a:solidFill>
                      <a:srgbClr val="0070C0"/>
                    </a:solidFill>
                    <a:cs typeface="Arial" charset="0"/>
                  </a:rPr>
                  <a:t>We have </a:t>
                </a:r>
                <a:r>
                  <a:rPr lang="en-GB" sz="2000" b="1" dirty="0">
                    <a:solidFill>
                      <a:srgbClr val="0070C0"/>
                    </a:solidFill>
                    <a:cs typeface="Arial" charset="0"/>
                  </a:rPr>
                  <a:t>that </a:t>
                </a:r>
                <a:endParaRPr lang="pl-PL" sz="2000" b="1" dirty="0">
                  <a:solidFill>
                    <a:srgbClr val="0070C0"/>
                  </a:solidFill>
                  <a:cs typeface="Arial" charset="0"/>
                </a:endParaRP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0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2000" dirty="0"/>
                  <a:t>is a</a:t>
                </a:r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en-GB" sz="20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endParaRPr lang="pl-PL" sz="2000" b="1" dirty="0">
                  <a:solidFill>
                    <a:srgbClr val="0070C0"/>
                  </a:solidFill>
                  <a:cs typeface="Arial" charset="0"/>
                </a:endParaRP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pl-PL" sz="2000" dirty="0">
                    <a:cs typeface="Arial" charset="0"/>
                  </a:rPr>
                  <a:t>iff</a:t>
                </a:r>
                <a:endParaRPr lang="en-GB" sz="2000" dirty="0">
                  <a:cs typeface="Arial" charset="0"/>
                </a:endParaRP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sz="2000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0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is an </a:t>
                </a:r>
                <a:r>
                  <a:rPr lang="en-GB" sz="2000" b="1" dirty="0">
                    <a:solidFill>
                      <a:srgbClr val="7030A0"/>
                    </a:solidFill>
                  </a:rPr>
                  <a:t>even</a:t>
                </a:r>
                <a:r>
                  <a:rPr lang="en-GB" sz="2000" dirty="0">
                    <a:solidFill>
                      <a:srgbClr val="7030A0"/>
                    </a:solidFill>
                  </a:rPr>
                  <a:t> </a:t>
                </a:r>
                <a:r>
                  <a:rPr lang="en-GB" sz="2000" dirty="0"/>
                  <a:t>power of</a:t>
                </a:r>
                <a:r>
                  <a:rPr lang="en-GB" sz="2000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:endParaRPr lang="pl-PL" sz="2000" b="1" dirty="0">
                  <a:solidFill>
                    <a:srgbClr val="993300"/>
                  </a:solidFill>
                </a:endParaRP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GB" sz="2000" dirty="0"/>
                  <a:t>iff</a:t>
                </a:r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:br>
                  <a:rPr lang="en-GB" sz="2000" b="1" dirty="0">
                    <a:solidFill>
                      <a:srgbClr val="993300"/>
                    </a:solidFill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𝒚𝒆</m:t>
                        </m:r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GB" sz="2000" dirty="0"/>
                  <a:t> is an </a:t>
                </a:r>
                <a:r>
                  <a:rPr lang="en-GB" sz="2000" b="1" dirty="0">
                    <a:solidFill>
                      <a:srgbClr val="7030A0"/>
                    </a:solidFill>
                  </a:rPr>
                  <a:t>even</a:t>
                </a:r>
                <a:r>
                  <a:rPr lang="en-GB" sz="2000" dirty="0">
                    <a:solidFill>
                      <a:srgbClr val="7030A0"/>
                    </a:solidFill>
                  </a:rPr>
                  <a:t> </a:t>
                </a:r>
                <a:r>
                  <a:rPr lang="en-GB" sz="2000" dirty="0"/>
                  <a:t>power of </a:t>
                </a:r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endParaRPr lang="pl-PL" sz="20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GB" sz="2000" dirty="0"/>
                  <a:t>iff</a:t>
                </a:r>
                <a:br>
                  <a:rPr lang="pl-PL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sz="2000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is an </a:t>
                </a:r>
                <a:r>
                  <a:rPr lang="en-GB" sz="2000" b="1" dirty="0">
                    <a:solidFill>
                      <a:srgbClr val="7030A0"/>
                    </a:solidFill>
                  </a:rPr>
                  <a:t>even</a:t>
                </a:r>
                <a:r>
                  <a:rPr lang="en-GB" sz="2000" dirty="0">
                    <a:solidFill>
                      <a:srgbClr val="7030A0"/>
                    </a:solidFill>
                  </a:rPr>
                  <a:t> </a:t>
                </a:r>
                <a:r>
                  <a:rPr lang="en-GB" sz="2000" dirty="0"/>
                  <a:t>power of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algn="r">
                  <a:lnSpc>
                    <a:spcPct val="80000"/>
                  </a:lnSpc>
                  <a:buFontTx/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QED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018" y="2542539"/>
                <a:ext cx="8358246" cy="4414521"/>
              </a:xfrm>
              <a:blipFill>
                <a:blip r:embed="rId3"/>
                <a:stretch>
                  <a:fillRect l="-729" t="-2072" r="-80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ular Callout 3"/>
              <p:cNvSpPr/>
              <p:nvPr/>
            </p:nvSpPr>
            <p:spPr>
              <a:xfrm>
                <a:off x="6740828" y="4663939"/>
                <a:ext cx="2228563" cy="827056"/>
              </a:xfrm>
              <a:prstGeom prst="wedgeRectCallout">
                <a:avLst>
                  <a:gd name="adj1" fmla="val -64047"/>
                  <a:gd name="adj2" fmla="val 36819"/>
                </a:avLst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remember that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and</a:t>
                </a:r>
                <a:r>
                  <a:rPr lang="en-US" sz="20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are</a:t>
                </a:r>
                <a:r>
                  <a:rPr lang="en-US" sz="20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000" b="1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odd</a:t>
                </a: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828" y="4663939"/>
                <a:ext cx="2228563" cy="827056"/>
              </a:xfrm>
              <a:prstGeom prst="wedgeRectCallout">
                <a:avLst>
                  <a:gd name="adj1" fmla="val -64047"/>
                  <a:gd name="adj2" fmla="val 36819"/>
                </a:avLst>
              </a:prstGeom>
              <a:blipFill>
                <a:blip r:embed="rId4"/>
                <a:stretch>
                  <a:fillRect b="-137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80018" y="1113779"/>
                <a:ext cx="8358246" cy="12815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400" dirty="0">
                    <a:latin typeface="Cambria" panose="02040503050406030204" pitchFamily="18" charset="0"/>
                  </a:rPr>
                  <a:t>For an odd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GB" sz="2400" dirty="0">
                    <a:latin typeface="Cambria" panose="02040503050406030204" pitchFamily="18" charset="0"/>
                  </a:rPr>
                  <a:t>:</a:t>
                </a: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sz="2400" b="1" dirty="0">
                    <a:solidFill>
                      <a:srgbClr val="9933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GB" sz="2400" dirty="0">
                    <a:latin typeface="Cambria" panose="02040503050406030204" pitchFamily="18" charset="0"/>
                  </a:rPr>
                  <a:t>is a</a:t>
                </a:r>
                <a:r>
                  <a:rPr lang="en-GB" sz="2400" b="1" dirty="0">
                    <a:solidFill>
                      <a:srgbClr val="9933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en-GB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sz="2400" b="1" dirty="0">
                    <a:solidFill>
                      <a:srgbClr val="993300"/>
                    </a:solidFill>
                    <a:latin typeface="Cambria" panose="02040503050406030204" pitchFamily="18" charset="0"/>
                  </a:rPr>
                  <a:t> </a:t>
                </a:r>
                <a:br>
                  <a:rPr lang="en-GB" sz="2400" b="1" dirty="0">
                    <a:solidFill>
                      <a:srgbClr val="993300"/>
                    </a:solidFill>
                    <a:latin typeface="Cambria" panose="02040503050406030204" pitchFamily="18" charset="0"/>
                  </a:rPr>
                </a:br>
                <a:r>
                  <a:rPr lang="en-GB" sz="2400" dirty="0" err="1">
                    <a:latin typeface="Cambria" panose="02040503050406030204" pitchFamily="18" charset="0"/>
                  </a:rPr>
                  <a:t>iff</a:t>
                </a:r>
                <a:r>
                  <a:rPr lang="en-GB" sz="2400" b="1" dirty="0">
                    <a:solidFill>
                      <a:srgbClr val="993300"/>
                    </a:solidFill>
                    <a:latin typeface="Cambria" panose="02040503050406030204" pitchFamily="18" charset="0"/>
                  </a:rPr>
                  <a:t> </a:t>
                </a:r>
                <a:br>
                  <a:rPr lang="en-GB" sz="2400" b="1" dirty="0">
                    <a:solidFill>
                      <a:srgbClr val="993300"/>
                    </a:solidFill>
                    <a:latin typeface="Cambria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sz="2400" b="1" dirty="0">
                    <a:solidFill>
                      <a:srgbClr val="9933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GB" sz="2400" dirty="0">
                    <a:latin typeface="Cambria" panose="02040503050406030204" pitchFamily="18" charset="0"/>
                  </a:rPr>
                  <a:t>is a</a:t>
                </a:r>
                <a:r>
                  <a:rPr lang="en-GB" sz="2400" b="1" dirty="0">
                    <a:solidFill>
                      <a:srgbClr val="9933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en-GB" sz="24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endParaRPr lang="en-GB" sz="2400" b="1" baseline="-25000" dirty="0">
                  <a:solidFill>
                    <a:srgbClr val="9933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18" y="1113779"/>
                <a:ext cx="8358246" cy="1281569"/>
              </a:xfrm>
              <a:prstGeom prst="rect">
                <a:avLst/>
              </a:prstGeom>
              <a:blipFill rotWithShape="0">
                <a:blip r:embed="rId5"/>
                <a:stretch>
                  <a:fillRect l="-797" t="-7306" b="-684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ular Callout 5"/>
              <p:cNvSpPr/>
              <p:nvPr/>
            </p:nvSpPr>
            <p:spPr>
              <a:xfrm>
                <a:off x="974135" y="6083746"/>
                <a:ext cx="1516342" cy="438039"/>
              </a:xfrm>
              <a:prstGeom prst="wedgeRectCallout">
                <a:avLst>
                  <a:gd name="adj1" fmla="val 65082"/>
                  <a:gd name="adj2" fmla="val 9999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GB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6" name="Rectangular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135" y="6083746"/>
                <a:ext cx="1516342" cy="438039"/>
              </a:xfrm>
              <a:prstGeom prst="wedgeRectCallout">
                <a:avLst>
                  <a:gd name="adj1" fmla="val 65082"/>
                  <a:gd name="adj2" fmla="val 9999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24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0960"/>
            <a:ext cx="8229600" cy="11430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53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1"/>
                <a:ext cx="8401080" cy="2276476"/>
              </a:xfr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b="1" dirty="0"/>
                  <a:t>The Jacobi symbol “leaks”</a:t>
                </a:r>
                <a:r>
                  <a:rPr lang="en-US" dirty="0"/>
                  <a:t>, i.e.:</a:t>
                </a: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:r>
                  <a:rPr lang="en-US" dirty="0"/>
                  <a:t>from</a:t>
                </a:r>
                <a:r>
                  <a:rPr lang="en-US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:r>
                  <a:rPr lang="en-US" dirty="0"/>
                  <a:t>one can compute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:r>
                  <a:rPr lang="en-US" dirty="0"/>
                  <a:t>(without knowing the factorization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655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1"/>
                <a:ext cx="8401080" cy="2276476"/>
              </a:xfrm>
              <a:blipFill rotWithShape="0">
                <a:blip r:embed="rId3"/>
                <a:stretch>
                  <a:fillRect l="-1154" b="-52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278380" y="4857760"/>
            <a:ext cx="6579900" cy="12557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b="1" dirty="0">
                <a:latin typeface="Cambria" panose="02040503050406030204" pitchFamily="18" charset="0"/>
              </a:rPr>
              <a:t>Is it a big problem?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 dirty="0">
              <a:latin typeface="Cambria" panose="02040503050406030204" pitchFamily="18" charset="0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lang="en-US" sz="2800" dirty="0">
                <a:latin typeface="Cambria" panose="02040503050406030204" pitchFamily="18" charset="0"/>
              </a:rPr>
              <a:t>Depends on the application...</a:t>
            </a:r>
          </a:p>
        </p:txBody>
      </p:sp>
    </p:spTree>
    <p:extLst>
      <p:ext uri="{BB962C8B-B14F-4D97-AF65-F5344CB8AC3E}">
        <p14:creationId xmlns:p14="http://schemas.microsoft.com/office/powerpoint/2010/main" val="106904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0" y="2590800"/>
            <a:ext cx="9144000" cy="2667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457200" anchor="ctr"/>
          <a:lstStyle/>
          <a:p>
            <a:pPr marL="609600" indent="-609600">
              <a:buFontTx/>
              <a:buAutoNum type="arabicPeriod"/>
            </a:pPr>
            <a:r>
              <a:rPr lang="en-US" sz="2800" dirty="0"/>
              <a:t>Provide a formal security definition of public key encryption.</a:t>
            </a:r>
            <a:br>
              <a:rPr lang="en-US" sz="2800" dirty="0"/>
            </a:br>
            <a:endParaRPr lang="en-US" sz="2800" dirty="0"/>
          </a:p>
          <a:p>
            <a:pPr marL="609600" indent="-609600">
              <a:buFontTx/>
              <a:buAutoNum type="arabicPeriod"/>
            </a:pPr>
            <a:r>
              <a:rPr lang="en-US" sz="2800" dirty="0"/>
              <a:t>Modify </a:t>
            </a:r>
            <a:r>
              <a:rPr lang="en-US" sz="2800" b="1" dirty="0">
                <a:solidFill>
                  <a:srgbClr val="FF0000"/>
                </a:solidFill>
              </a:rPr>
              <a:t>RSA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so that it is secure according to this definition.</a:t>
            </a:r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2805" y="365125"/>
            <a:ext cx="8262545" cy="963443"/>
          </a:xfrm>
        </p:spPr>
        <p:txBody>
          <a:bodyPr>
            <a:normAutofit/>
          </a:bodyPr>
          <a:lstStyle/>
          <a:p>
            <a:r>
              <a:rPr lang="en-US" sz="3600" dirty="0"/>
              <a:t>Plan for the next slides</a:t>
            </a:r>
          </a:p>
        </p:txBody>
      </p:sp>
    </p:spTree>
    <p:extLst>
      <p:ext uri="{BB962C8B-B14F-4D97-AF65-F5344CB8AC3E}">
        <p14:creationId xmlns:p14="http://schemas.microsoft.com/office/powerpoint/2010/main" val="308810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 uiExpand="1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IND-CCA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670050" y="1598569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239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0"/>
            <a:ext cx="8433654" cy="1143000"/>
          </a:xfrm>
        </p:spPr>
        <p:txBody>
          <a:bodyPr/>
          <a:lstStyle/>
          <a:p>
            <a:r>
              <a:rPr lang="en-GB" dirty="0"/>
              <a:t>A mathematical view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5154" y="1127452"/>
                <a:ext cx="8696596" cy="3797965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ctr">
                <a:noAutofit/>
              </a:bodyPr>
              <a:lstStyle/>
              <a:p>
                <a:pPr>
                  <a:buNone/>
                </a:pPr>
                <a:r>
                  <a:rPr lang="en-US" sz="2200" dirty="0">
                    <a:solidFill>
                      <a:schemeClr val="tx1"/>
                    </a:solidFill>
                  </a:rPr>
                  <a:t>A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public-key encryption (PKE) </a:t>
                </a:r>
                <a:r>
                  <a:rPr lang="en-US" sz="2200" dirty="0">
                    <a:solidFill>
                      <a:schemeClr val="tx1"/>
                    </a:solidFill>
                  </a:rPr>
                  <a:t>scheme is a triple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(Gen, Enc, Dec)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</a:rPr>
                  <a:t>of poly-time algorithms,  where</a:t>
                </a:r>
              </a:p>
              <a:p>
                <a:pPr marL="365760" lvl="0" indent="-283464"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/>
                </a:pPr>
                <a:r>
                  <a:rPr lang="it-IT" sz="2200" b="1" dirty="0">
                    <a:solidFill>
                      <a:srgbClr val="FF0000"/>
                    </a:solidFill>
                  </a:rPr>
                  <a:t>Gen </a:t>
                </a:r>
                <a:r>
                  <a:rPr lang="it-IT" sz="2200" dirty="0">
                    <a:solidFill>
                      <a:schemeClr val="tx1"/>
                    </a:solidFill>
                  </a:rPr>
                  <a:t>is a </a:t>
                </a:r>
                <a:r>
                  <a:rPr lang="it-IT" sz="2200" b="1" dirty="0">
                    <a:solidFill>
                      <a:srgbClr val="0070C0"/>
                    </a:solidFill>
                  </a:rPr>
                  <a:t>key-generation</a:t>
                </a:r>
                <a:r>
                  <a:rPr lang="it-IT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</a:rPr>
                  <a:t>randomized algorithm that takes as input a security parameter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2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and outputs a key pair</a:t>
                </a:r>
                <a:r>
                  <a:rPr lang="it-IT" sz="22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𝒑𝒌</m:t>
                        </m:r>
                        <m:r>
                          <a:rPr lang="en-US" sz="2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𝒔𝒌</m:t>
                        </m:r>
                      </m:e>
                    </m:d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200" dirty="0">
                    <a:solidFill>
                      <a:schemeClr val="tx1"/>
                    </a:solidFill>
                  </a:rPr>
                  <a:t>.</a:t>
                </a:r>
                <a:endParaRPr lang="it-IT" sz="2200" b="1" dirty="0">
                  <a:solidFill>
                    <a:srgbClr val="C00000"/>
                  </a:solidFill>
                </a:endParaRPr>
              </a:p>
              <a:p>
                <a:pPr marL="365760" lvl="0" indent="-283464"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/>
                </a:pPr>
                <a:r>
                  <a:rPr lang="pl-PL" sz="2200" b="1" dirty="0">
                    <a:solidFill>
                      <a:srgbClr val="FF0000"/>
                    </a:solidFill>
                  </a:rPr>
                  <a:t>Enc</a:t>
                </a:r>
                <a:r>
                  <a:rPr lang="pl-PL" sz="2200" b="1" dirty="0">
                    <a:solidFill>
                      <a:srgbClr val="C00000"/>
                    </a:solidFill>
                  </a:rPr>
                  <a:t> </a:t>
                </a:r>
                <a:r>
                  <a:rPr lang="it-IT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pl-PL" sz="2200" dirty="0"/>
                  <a:t>is </a:t>
                </a:r>
                <a:r>
                  <a:rPr lang="pl-PL" sz="2200" dirty="0" err="1"/>
                  <a:t>an</a:t>
                </a:r>
                <a:r>
                  <a:rPr lang="pl-PL" sz="2200" dirty="0"/>
                  <a:t>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encryption</a:t>
                </a:r>
                <a:r>
                  <a:rPr lang="pl-PL" sz="22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200" dirty="0"/>
                  <a:t>algorithm</a:t>
                </a:r>
                <a:r>
                  <a:rPr lang="it-IT" sz="2200" dirty="0"/>
                  <a:t> </a:t>
                </a:r>
                <a:r>
                  <a:rPr lang="en-US" sz="2200" dirty="0"/>
                  <a:t>that takes as </a:t>
                </a:r>
                <a:r>
                  <a:rPr lang="it-IT" sz="2200" dirty="0"/>
                  <a:t>input the </a:t>
                </a:r>
                <a:r>
                  <a:rPr lang="it-IT" sz="2200" b="1" dirty="0"/>
                  <a:t>public key</a:t>
                </a:r>
                <a:r>
                  <a:rPr lang="it-IT" sz="2200" dirty="0"/>
                  <a:t> </a:t>
                </a:r>
                <a:r>
                  <a:rPr lang="it-IT" sz="2200" b="1" i="1" dirty="0">
                    <a:solidFill>
                      <a:srgbClr val="FF0000"/>
                    </a:solidFill>
                  </a:rPr>
                  <a:t>pk</a:t>
                </a:r>
                <a:r>
                  <a:rPr lang="it-IT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it-IT" sz="2200" dirty="0"/>
                  <a:t>and a </a:t>
                </a:r>
                <a:r>
                  <a:rPr lang="it-IT" sz="2200" b="1" dirty="0"/>
                  <a:t>message</a:t>
                </a:r>
                <a:r>
                  <a:rPr lang="it-IT" sz="2200" dirty="0"/>
                  <a:t> </a:t>
                </a:r>
                <a:r>
                  <a:rPr lang="it-IT" sz="2200" b="1" i="1" dirty="0">
                    <a:solidFill>
                      <a:srgbClr val="FF0000"/>
                    </a:solidFill>
                  </a:rPr>
                  <a:t>m</a:t>
                </a:r>
                <a:r>
                  <a:rPr lang="it-IT" sz="2200" b="1" dirty="0">
                    <a:solidFill>
                      <a:srgbClr val="C00000"/>
                    </a:solidFill>
                  </a:rPr>
                  <a:t> </a:t>
                </a:r>
                <a:r>
                  <a:rPr lang="it-IT" sz="2200" dirty="0"/>
                  <a:t>(from some set that </a:t>
                </a:r>
                <a:r>
                  <a:rPr lang="it-IT" sz="2200" b="1" dirty="0"/>
                  <a:t>may depend </a:t>
                </a:r>
                <a:r>
                  <a:rPr lang="it-IT" sz="2200" dirty="0"/>
                  <a:t>on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l-PL" sz="2200" dirty="0"/>
                  <a:t>,</a:t>
                </a:r>
                <a:r>
                  <a:rPr lang="it-IT" sz="2200" dirty="0"/>
                  <a:t> and </a:t>
                </a:r>
                <a:r>
                  <a:rPr lang="en-US" sz="2200" dirty="0"/>
                  <a:t>outputs a </a:t>
                </a:r>
                <a:r>
                  <a:rPr lang="en-US" sz="2200" b="1" dirty="0"/>
                  <a:t>ciphertext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it-IT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it-IT" sz="2200" dirty="0"/>
                  <a:t>,</a:t>
                </a:r>
                <a:endParaRPr lang="pl-PL" sz="2200" b="1" dirty="0"/>
              </a:p>
              <a:p>
                <a:pPr marL="365760" lvl="0" indent="-283464"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/>
                </a:pPr>
                <a:r>
                  <a:rPr lang="pl-PL" sz="2200" b="1" dirty="0">
                    <a:solidFill>
                      <a:srgbClr val="FF0000"/>
                    </a:solidFill>
                  </a:rPr>
                  <a:t>Dec</a:t>
                </a:r>
                <a:r>
                  <a:rPr lang="pl-PL" sz="22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200" dirty="0"/>
                  <a:t>is </a:t>
                </a:r>
                <a:r>
                  <a:rPr lang="pl-PL" sz="2200" dirty="0"/>
                  <a:t>a</a:t>
                </a:r>
                <a:r>
                  <a:rPr lang="en-US" sz="2200" dirty="0"/>
                  <a:t>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decryption</a:t>
                </a:r>
                <a:r>
                  <a:rPr lang="pl-PL" sz="22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200" dirty="0"/>
                  <a:t>algorithm</a:t>
                </a:r>
                <a:r>
                  <a:rPr lang="it-IT" sz="2200" dirty="0"/>
                  <a:t> </a:t>
                </a:r>
                <a:r>
                  <a:rPr lang="en-US" sz="2200" dirty="0"/>
                  <a:t>that takes as </a:t>
                </a:r>
                <a:r>
                  <a:rPr lang="it-IT" sz="2200" dirty="0"/>
                  <a:t>input the </a:t>
                </a:r>
                <a:r>
                  <a:rPr lang="it-IT" sz="2200" b="1" dirty="0"/>
                  <a:t>private key </a:t>
                </a:r>
                <a14:m>
                  <m:oMath xmlns:m="http://schemas.openxmlformats.org/officeDocument/2006/math">
                    <m:r>
                      <a:rPr lang="it-IT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r>
                  <a:rPr lang="it-IT" sz="2200" b="1" dirty="0"/>
                  <a:t> </a:t>
                </a:r>
                <a:r>
                  <a:rPr lang="it-IT" sz="2200" dirty="0"/>
                  <a:t>and the </a:t>
                </a:r>
                <a:r>
                  <a:rPr lang="it-IT" sz="2200" b="1" dirty="0"/>
                  <a:t>ciphertext</a:t>
                </a:r>
                <a:r>
                  <a:rPr lang="it-IT" sz="2200" dirty="0"/>
                  <a:t> </a:t>
                </a:r>
                <a14:m>
                  <m:oMath xmlns:m="http://schemas.openxmlformats.org/officeDocument/2006/math">
                    <m:r>
                      <a:rPr lang="it-IT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pl-PL" sz="2200" dirty="0"/>
                  <a:t>,</a:t>
                </a:r>
                <a:r>
                  <a:rPr lang="it-IT" sz="2200" dirty="0"/>
                  <a:t> and </a:t>
                </a:r>
                <a:r>
                  <a:rPr lang="en-US" sz="2200" dirty="0"/>
                  <a:t>outputs a </a:t>
                </a:r>
                <a:r>
                  <a:rPr lang="en-US" sz="2200" b="1" dirty="0"/>
                  <a:t>message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’∈</m:t>
                    </m:r>
                    <m:sSup>
                      <m:sSupPr>
                        <m:ctrlPr>
                          <a:rPr lang="en-US" sz="2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2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2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∪{⊥}</m:t>
                    </m:r>
                  </m:oMath>
                </a14:m>
                <a:r>
                  <a:rPr lang="en-US" sz="2200" dirty="0"/>
                  <a:t>.</a:t>
                </a:r>
                <a:endParaRPr lang="en-US" sz="2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5154" y="1127452"/>
                <a:ext cx="8696596" cy="379796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225154" y="5209116"/>
                <a:ext cx="8696596" cy="1023389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>
                <a:normAutofit/>
              </a:bodyPr>
              <a:lstStyle/>
              <a:p>
                <a:pPr marL="55563" marR="0" lvl="0" indent="4763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2"/>
                  <a:buNone/>
                  <a:tabLst/>
                  <a:defRPr/>
                </a:pPr>
                <a:r>
                  <a:rPr kumimoji="0" lang="pl-PL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Cambria" panose="02040503050406030204" pitchFamily="18" charset="0"/>
                  </a:rPr>
                  <a:t>We will sometimes write </a:t>
                </a:r>
                <a14:m>
                  <m:oMath xmlns:m="http://schemas.openxmlformats.org/officeDocument/2006/math">
                    <m:r>
                      <a:rPr kumimoji="0" lang="pl-PL" sz="2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𝐄𝐧𝐜</m:t>
                    </m:r>
                    <m:r>
                      <a:rPr kumimoji="0" lang="it-IT" sz="2200" b="1" i="1" u="none" strike="noStrike" kern="1200" cap="none" spc="0" normalizeH="0" baseline="-25000" noProof="0" dirty="0" err="1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𝒑𝒌</m:t>
                    </m:r>
                    <m:r>
                      <a:rPr kumimoji="0" lang="pl-PL" sz="2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pl-PL" sz="2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𝒎</m:t>
                    </m:r>
                    <m:r>
                      <a:rPr kumimoji="0" lang="pl-PL" sz="2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  <m:r>
                      <a:rPr kumimoji="0" lang="pl-PL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l-PL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Cambria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pl-PL" sz="2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it-IT" sz="22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kumimoji="0" lang="it-IT" sz="2200" b="1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𝒌</m:t>
                    </m:r>
                    <m:r>
                      <a:rPr kumimoji="0" lang="pl-PL" sz="2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it-IT" sz="2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𝒄</m:t>
                    </m:r>
                    <m:r>
                      <a:rPr kumimoji="0" lang="pl-PL" sz="2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  <m:r>
                      <a:rPr kumimoji="0" lang="pl-PL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l-PL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Cambria" panose="02040503050406030204" pitchFamily="18" charset="0"/>
                  </a:rPr>
                  <a:t>instead of</a:t>
                </a:r>
                <a:r>
                  <a:rPr kumimoji="0" lang="en-US" sz="2200" b="0" i="0" u="none" strike="noStrike" kern="1200" cap="none" spc="0" normalizeH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pl-PL" sz="2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𝐄𝐧𝐜</m:t>
                    </m:r>
                    <m:d>
                      <m:dPr>
                        <m:ctrlPr>
                          <a:rPr kumimoji="0" lang="pl-PL" sz="2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it-IT" sz="2200" b="1" i="1" u="none" strike="noStrike" kern="1200" cap="none" spc="0" normalizeH="0" baseline="0" noProof="0" dirty="0" err="1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𝒑𝒌</m:t>
                        </m:r>
                        <m:r>
                          <a:rPr kumimoji="0" lang="pl-PL" sz="2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pl-PL" sz="2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Cambria" panose="02040503050406030204" pitchFamily="18" charset="0"/>
                  </a:rPr>
                  <a:t> </a:t>
                </a:r>
                <a:r>
                  <a:rPr kumimoji="0" lang="pl-PL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Cambria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pl-PL" sz="2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𝐃𝐞𝐜</m:t>
                    </m:r>
                    <m:r>
                      <a:rPr kumimoji="0" lang="pl-PL" sz="2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it-IT" sz="2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𝒔</m:t>
                    </m:r>
                    <m:r>
                      <a:rPr kumimoji="0" lang="pl-PL" sz="2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𝒌</m:t>
                    </m:r>
                    <m:r>
                      <a:rPr kumimoji="0" lang="pl-PL" sz="2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  <m:r>
                      <a:rPr kumimoji="0" lang="it-IT" sz="2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𝒄</m:t>
                    </m:r>
                    <m:r>
                      <a:rPr kumimoji="0" lang="pl-PL" sz="2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Cambria" panose="02040503050406030204" pitchFamily="18" charset="0"/>
                  </a:rPr>
                  <a:t>.</a:t>
                </a:r>
                <a:endParaRPr kumimoji="0" lang="pl-PL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54" y="5209116"/>
                <a:ext cx="8696596" cy="10233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83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11959"/>
          </a:xfrm>
        </p:spPr>
        <p:txBody>
          <a:bodyPr/>
          <a:lstStyle/>
          <a:p>
            <a:r>
              <a:rPr lang="en-US" dirty="0"/>
              <a:t>Pictorially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15976" y="1696493"/>
                <a:ext cx="17089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security parameter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76" y="1696493"/>
                <a:ext cx="1708986" cy="707886"/>
              </a:xfrm>
              <a:prstGeom prst="rect">
                <a:avLst/>
              </a:prstGeom>
              <a:blipFill rotWithShape="0">
                <a:blip r:embed="rId2"/>
                <a:stretch>
                  <a:fillRect l="-2491" t="-4310" b="-1465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/>
              <p:cNvSpPr>
                <a:spLocks noChangeArrowheads="1"/>
              </p:cNvSpPr>
              <p:nvPr/>
            </p:nvSpPr>
            <p:spPr bwMode="auto">
              <a:xfrm>
                <a:off x="4017215" y="1776942"/>
                <a:ext cx="1110127" cy="47110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𝐆𝐞𝐧</m:t>
                      </m:r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7215" y="1776942"/>
                <a:ext cx="1110127" cy="47110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endCxn id="5" idx="1"/>
          </p:cNvCxnSpPr>
          <p:nvPr/>
        </p:nvCxnSpPr>
        <p:spPr>
          <a:xfrm>
            <a:off x="2951215" y="2004159"/>
            <a:ext cx="1066000" cy="8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5127342" y="2062046"/>
            <a:ext cx="781507" cy="173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11922" y="1814003"/>
                <a:ext cx="1342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2" y="1814003"/>
                <a:ext cx="1342034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452" r="-905" b="-21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ular Callout 8"/>
          <p:cNvSpPr/>
          <p:nvPr/>
        </p:nvSpPr>
        <p:spPr>
          <a:xfrm>
            <a:off x="5063011" y="1029726"/>
            <a:ext cx="1497821" cy="367719"/>
          </a:xfrm>
          <a:prstGeom prst="wedgeRectCallout">
            <a:avLst>
              <a:gd name="adj1" fmla="val 22987"/>
              <a:gd name="adj2" fmla="val 18144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public key</a:t>
            </a:r>
            <a:endParaRPr lang="pl-PL" sz="2000" dirty="0"/>
          </a:p>
        </p:txBody>
      </p:sp>
      <p:sp>
        <p:nvSpPr>
          <p:cNvPr id="10" name="Rectangular Callout 9"/>
          <p:cNvSpPr/>
          <p:nvPr/>
        </p:nvSpPr>
        <p:spPr>
          <a:xfrm>
            <a:off x="6835201" y="1029726"/>
            <a:ext cx="1497821" cy="367719"/>
          </a:xfrm>
          <a:prstGeom prst="wedgeRectCallout">
            <a:avLst>
              <a:gd name="adj1" fmla="val -58287"/>
              <a:gd name="adj2" fmla="val 1829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secret key</a:t>
            </a:r>
            <a:endParaRPr lang="pl-PL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5"/>
              <p:cNvSpPr>
                <a:spLocks noChangeArrowheads="1"/>
              </p:cNvSpPr>
              <p:nvPr/>
            </p:nvSpPr>
            <p:spPr bwMode="auto">
              <a:xfrm>
                <a:off x="1941899" y="4135140"/>
                <a:ext cx="1752600" cy="1524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sz="32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32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1899" y="4135140"/>
                <a:ext cx="1752600" cy="15240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2856299" y="3713698"/>
            <a:ext cx="0" cy="4214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1179899" y="489714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2856299" y="5659140"/>
            <a:ext cx="0" cy="5060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7"/>
              <p:cNvSpPr txBox="1">
                <a:spLocks noChangeArrowheads="1"/>
              </p:cNvSpPr>
              <p:nvPr/>
            </p:nvSpPr>
            <p:spPr bwMode="auto">
              <a:xfrm>
                <a:off x="2587635" y="3208668"/>
                <a:ext cx="53732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7635" y="3208668"/>
                <a:ext cx="537327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9"/>
              <p:cNvSpPr txBox="1">
                <a:spLocks noChangeArrowheads="1"/>
              </p:cNvSpPr>
              <p:nvPr/>
            </p:nvSpPr>
            <p:spPr bwMode="auto">
              <a:xfrm>
                <a:off x="625798" y="4631960"/>
                <a:ext cx="630301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5798" y="4631960"/>
                <a:ext cx="630301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2913" r="-3883" b="-1973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075831" y="6147128"/>
                <a:ext cx="1640129" cy="4947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831" y="6147128"/>
                <a:ext cx="1640129" cy="494751"/>
              </a:xfrm>
              <a:prstGeom prst="rect">
                <a:avLst/>
              </a:prstGeom>
              <a:blipFill rotWithShape="0">
                <a:blip r:embed="rId8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5"/>
              <p:cNvSpPr>
                <a:spLocks noChangeArrowheads="1"/>
              </p:cNvSpPr>
              <p:nvPr/>
            </p:nvSpPr>
            <p:spPr bwMode="auto">
              <a:xfrm>
                <a:off x="6189465" y="4135140"/>
                <a:ext cx="1752600" cy="1524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r>
                        <a:rPr lang="en-US" sz="32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32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32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9465" y="4135140"/>
                <a:ext cx="1752600" cy="1524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Line 7"/>
          <p:cNvSpPr>
            <a:spLocks noChangeShapeType="1"/>
          </p:cNvSpPr>
          <p:nvPr/>
        </p:nvSpPr>
        <p:spPr bwMode="auto">
          <a:xfrm>
            <a:off x="7103865" y="3713698"/>
            <a:ext cx="0" cy="4214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20" name="Line 14"/>
          <p:cNvSpPr>
            <a:spLocks noChangeShapeType="1"/>
          </p:cNvSpPr>
          <p:nvPr/>
        </p:nvSpPr>
        <p:spPr bwMode="auto">
          <a:xfrm>
            <a:off x="5427465" y="489714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>
            <a:off x="7103865" y="5659140"/>
            <a:ext cx="0" cy="5060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7"/>
              <p:cNvSpPr txBox="1">
                <a:spLocks noChangeArrowheads="1"/>
              </p:cNvSpPr>
              <p:nvPr/>
            </p:nvSpPr>
            <p:spPr bwMode="auto">
              <a:xfrm>
                <a:off x="6900123" y="3229870"/>
                <a:ext cx="407483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0123" y="3229870"/>
                <a:ext cx="407483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9"/>
              <p:cNvSpPr txBox="1">
                <a:spLocks noChangeArrowheads="1"/>
              </p:cNvSpPr>
              <p:nvPr/>
            </p:nvSpPr>
            <p:spPr bwMode="auto">
              <a:xfrm>
                <a:off x="4873364" y="4631960"/>
                <a:ext cx="59343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3364" y="4631960"/>
                <a:ext cx="593432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323397" y="6147128"/>
                <a:ext cx="14654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397" y="6147128"/>
                <a:ext cx="1465401" cy="461665"/>
              </a:xfrm>
              <a:prstGeom prst="rect">
                <a:avLst/>
              </a:prstGeom>
              <a:blipFill rotWithShape="0">
                <a:blip r:embed="rId12"/>
                <a:stretch>
                  <a:fillRect r="-1245" b="-197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urved Connector 25"/>
          <p:cNvCxnSpPr>
            <a:endCxn id="16" idx="0"/>
          </p:cNvCxnSpPr>
          <p:nvPr/>
        </p:nvCxnSpPr>
        <p:spPr>
          <a:xfrm rot="10800000" flipV="1">
            <a:off x="940949" y="2262808"/>
            <a:ext cx="5308386" cy="2369151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endCxn id="23" idx="0"/>
          </p:cNvCxnSpPr>
          <p:nvPr/>
        </p:nvCxnSpPr>
        <p:spPr>
          <a:xfrm rot="5400000">
            <a:off x="4782296" y="2660037"/>
            <a:ext cx="2359707" cy="1584138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36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659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We will require that it always holds that</a:t>
            </a:r>
          </a:p>
          <a:p>
            <a:pPr marL="0" indent="0">
              <a:buNone/>
            </a:pPr>
            <a:endParaRPr lang="en-US" sz="3000" dirty="0"/>
          </a:p>
          <a:p>
            <a:pPr marL="0" indent="0" algn="r">
              <a:buNone/>
            </a:pPr>
            <a:endParaRPr 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077084" y="2642222"/>
                <a:ext cx="7343249" cy="71805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pl-PL" sz="2800" b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𝐞𝐜</m:t>
                    </m:r>
                    <m:r>
                      <a:rPr lang="it-IT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pl-PL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800" b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it-IT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pl-PL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pl-PL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))≠ </m:t>
                    </m:r>
                    <m:r>
                      <a:rPr lang="pl-PL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it-IT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800" dirty="0"/>
                  <a:t>is negligible in </a:t>
                </a:r>
                <a14:m>
                  <m:oMath xmlns:m="http://schemas.openxmlformats.org/officeDocument/2006/math"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it-IT" sz="2800" dirty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84" y="2642222"/>
                <a:ext cx="7343249" cy="71805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28650" y="3747098"/>
                <a:ext cx="8049736" cy="1980524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r>
                  <a:rPr lang="en-US" sz="3000" dirty="0"/>
                  <a:t>assuming that: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𝒑𝒌</m:t>
                        </m:r>
                        <m:r>
                          <a:rPr lang="en-US" sz="3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𝒔𝒌</m:t>
                        </m:r>
                      </m:e>
                    </m:d>
                    <m:r>
                      <a:rPr lang="en-US" sz="3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30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3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3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3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30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000" dirty="0"/>
                  <a:t>and</a:t>
                </a:r>
                <a:r>
                  <a:rPr lang="en-US" sz="3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3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3000" dirty="0"/>
                  <a:t>is a “legal” plaintext for </a:t>
                </a:r>
                <a14:m>
                  <m:oMath xmlns:m="http://schemas.openxmlformats.org/officeDocument/2006/math">
                    <m:r>
                      <a:rPr lang="en-US" sz="3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r>
                  <a:rPr lang="en-US" sz="3000" dirty="0"/>
                  <a:t>.</a:t>
                </a:r>
                <a:endParaRPr lang="pl-PL" sz="3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747098"/>
                <a:ext cx="8049736" cy="1980524"/>
              </a:xfrm>
              <a:prstGeom prst="rect">
                <a:avLst/>
              </a:prstGeom>
              <a:blipFill rotWithShape="0">
                <a:blip r:embed="rId3"/>
                <a:stretch>
                  <a:fillRect l="-1741" t="-4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52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65126"/>
            <a:ext cx="8134350" cy="1325563"/>
          </a:xfrm>
        </p:spPr>
        <p:txBody>
          <a:bodyPr/>
          <a:lstStyle/>
          <a:p>
            <a:r>
              <a:rPr lang="en-US" dirty="0"/>
              <a:t>The security definition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229600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Remember the symmetric-key case?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We considered a </a:t>
            </a:r>
            <a:r>
              <a:rPr lang="en-US" b="1" dirty="0">
                <a:solidFill>
                  <a:srgbClr val="0070C0"/>
                </a:solidFill>
              </a:rPr>
              <a:t>chosen-plaintext attack</a:t>
            </a:r>
            <a:r>
              <a:rPr lang="en-US" dirty="0"/>
              <a:t>.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How would it look in the case of the </a:t>
            </a:r>
            <a:r>
              <a:rPr lang="en-US" b="1" dirty="0">
                <a:solidFill>
                  <a:srgbClr val="7030A0"/>
                </a:solidFill>
              </a:rPr>
              <a:t>public-key encryption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0064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3702" y="1071546"/>
            <a:ext cx="2002325" cy="1837853"/>
          </a:xfrm>
          <a:prstGeom prst="rect">
            <a:avLst/>
          </a:prstGeom>
          <a:noFill/>
        </p:spPr>
      </p:pic>
      <p:sp>
        <p:nvSpPr>
          <p:cNvPr id="58400" name="Rectangle 32"/>
          <p:cNvSpPr>
            <a:spLocks noChangeArrowheads="1"/>
          </p:cNvSpPr>
          <p:nvPr/>
        </p:nvSpPr>
        <p:spPr bwMode="auto">
          <a:xfrm>
            <a:off x="0" y="4461926"/>
            <a:ext cx="9144000" cy="10244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IND-CPA in the </a:t>
            </a:r>
            <a:r>
              <a:rPr lang="en-US" b="1" dirty="0"/>
              <a:t>symmetric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dirty="0"/>
              <a:t>settings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58371" name="Picture 3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066800"/>
            <a:ext cx="1676400" cy="1158875"/>
          </a:xfrm>
          <a:prstGeom prst="rect">
            <a:avLst/>
          </a:prstGeom>
          <a:noFill/>
        </p:spPr>
      </p:pic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7391400" y="2514600"/>
            <a:ext cx="8096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pl-PL"/>
              <a:t>oracle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4" name="Text Box 6"/>
              <p:cNvSpPr txBox="1">
                <a:spLocks noChangeArrowheads="1"/>
              </p:cNvSpPr>
              <p:nvPr/>
            </p:nvSpPr>
            <p:spPr bwMode="auto">
              <a:xfrm>
                <a:off x="838200" y="2057400"/>
                <a:ext cx="1600200" cy="369332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dirty="0"/>
                  <a:t>chooses</a:t>
                </a:r>
                <a:r>
                  <a:rPr lang="pl-PL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7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057400"/>
                <a:ext cx="1600200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11475" b="-2131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5" name="Line 7"/>
          <p:cNvSpPr>
            <a:spLocks noChangeShapeType="1"/>
          </p:cNvSpPr>
          <p:nvPr/>
        </p:nvSpPr>
        <p:spPr bwMode="auto">
          <a:xfrm>
            <a:off x="2743200" y="22860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6" name="Text Box 8"/>
              <p:cNvSpPr txBox="1">
                <a:spLocks noChangeArrowheads="1"/>
              </p:cNvSpPr>
              <p:nvPr/>
            </p:nvSpPr>
            <p:spPr bwMode="auto">
              <a:xfrm>
                <a:off x="4191000" y="2133600"/>
                <a:ext cx="6096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7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2133600"/>
                <a:ext cx="609600" cy="36988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2743200" y="27432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8" name="Text Box 10"/>
              <p:cNvSpPr txBox="1">
                <a:spLocks noChangeArrowheads="1"/>
              </p:cNvSpPr>
              <p:nvPr/>
            </p:nvSpPr>
            <p:spPr bwMode="auto">
              <a:xfrm>
                <a:off x="3505200" y="2590800"/>
                <a:ext cx="2057400" cy="369332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b="1" i="1" dirty="0">
                    <a:solidFill>
                      <a:srgbClr val="FF0000"/>
                    </a:solidFill>
                  </a:rPr>
                  <a:t>c</a:t>
                </a:r>
                <a:r>
                  <a:rPr lang="en-GB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pl-PL" b="1" dirty="0">
                    <a:solidFill>
                      <a:srgbClr val="FF0000"/>
                    </a:solidFill>
                  </a:rPr>
                  <a:t> = </a:t>
                </a:r>
                <a:r>
                  <a:rPr lang="pl-PL" b="1" dirty="0" err="1">
                    <a:solidFill>
                      <a:srgbClr val="FF0000"/>
                    </a:solidFill>
                  </a:rPr>
                  <a:t>Enc</a:t>
                </a:r>
                <a:r>
                  <a:rPr lang="pl-PL" b="1" dirty="0">
                    <a:solidFill>
                      <a:srgbClr val="FF0000"/>
                    </a:solidFill>
                  </a:rPr>
                  <a:t>(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k</a:t>
                </a:r>
                <a:r>
                  <a:rPr lang="pl-PL" b="1" dirty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pl-PL" b="1" dirty="0">
                    <a:solidFill>
                      <a:srgbClr val="FF0000"/>
                    </a:solidFill>
                  </a:rPr>
                  <a:t>)</a:t>
                </a:r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7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5200" y="2590800"/>
                <a:ext cx="2057400" cy="369332"/>
              </a:xfrm>
              <a:prstGeom prst="rect">
                <a:avLst/>
              </a:prstGeom>
              <a:blipFill rotWithShape="0">
                <a:blip r:embed="rId7"/>
                <a:stretch>
                  <a:fillRect t="-9677" b="-2096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533400" y="6019800"/>
            <a:ext cx="1828800" cy="3698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l-PL" dirty="0"/>
              <a:t>has to guess </a:t>
            </a:r>
            <a:r>
              <a:rPr lang="pl-PL" b="1" i="1" dirty="0">
                <a:solidFill>
                  <a:srgbClr val="FF0000"/>
                </a:solidFill>
              </a:rPr>
              <a:t>b</a:t>
            </a:r>
            <a:endParaRPr lang="en-US" b="1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80" name="Text Box 12"/>
              <p:cNvSpPr txBox="1">
                <a:spLocks noChangeArrowheads="1"/>
              </p:cNvSpPr>
              <p:nvPr/>
            </p:nvSpPr>
            <p:spPr bwMode="auto">
              <a:xfrm>
                <a:off x="838200" y="3429000"/>
                <a:ext cx="1752600" cy="378180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dirty="0"/>
                  <a:t>chooses</a:t>
                </a:r>
                <a:r>
                  <a:rPr lang="pl-PL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8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3429000"/>
                <a:ext cx="1752600" cy="378180"/>
              </a:xfrm>
              <a:prstGeom prst="rect">
                <a:avLst/>
              </a:prstGeom>
              <a:blipFill rotWithShape="0">
                <a:blip r:embed="rId8"/>
                <a:stretch>
                  <a:fillRect t="-11111" b="-1746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1" name="Line 13"/>
          <p:cNvSpPr>
            <a:spLocks noChangeShapeType="1"/>
          </p:cNvSpPr>
          <p:nvPr/>
        </p:nvSpPr>
        <p:spPr bwMode="auto">
          <a:xfrm>
            <a:off x="2819400" y="35814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82" name="Text Box 14"/>
              <p:cNvSpPr txBox="1">
                <a:spLocks noChangeArrowheads="1"/>
              </p:cNvSpPr>
              <p:nvPr/>
            </p:nvSpPr>
            <p:spPr bwMode="auto">
              <a:xfrm>
                <a:off x="4191000" y="3429000"/>
                <a:ext cx="6858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8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3429000"/>
                <a:ext cx="685800" cy="36988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3" name="Line 15"/>
          <p:cNvSpPr>
            <a:spLocks noChangeShapeType="1"/>
          </p:cNvSpPr>
          <p:nvPr/>
        </p:nvSpPr>
        <p:spPr bwMode="auto">
          <a:xfrm>
            <a:off x="2819400" y="41148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84" name="Text Box 16"/>
              <p:cNvSpPr txBox="1">
                <a:spLocks noChangeArrowheads="1"/>
              </p:cNvSpPr>
              <p:nvPr/>
            </p:nvSpPr>
            <p:spPr bwMode="auto">
              <a:xfrm>
                <a:off x="3581400" y="3895983"/>
                <a:ext cx="20574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b="1" i="1" dirty="0">
                    <a:solidFill>
                      <a:srgbClr val="FF0000"/>
                    </a:solidFill>
                  </a:rPr>
                  <a:t>c</a:t>
                </a:r>
                <a:r>
                  <a:rPr lang="en-GB" b="1" i="1" baseline="-25000" dirty="0">
                    <a:solidFill>
                      <a:srgbClr val="FF0000"/>
                    </a:solidFill>
                  </a:rPr>
                  <a:t>t</a:t>
                </a:r>
                <a:r>
                  <a:rPr lang="pl-PL" b="1" dirty="0">
                    <a:solidFill>
                      <a:srgbClr val="FF0000"/>
                    </a:solidFill>
                  </a:rPr>
                  <a:t> = </a:t>
                </a:r>
                <a:r>
                  <a:rPr lang="pl-PL" b="1" dirty="0" err="1">
                    <a:solidFill>
                      <a:srgbClr val="FF0000"/>
                    </a:solidFill>
                  </a:rPr>
                  <a:t>Enc</a:t>
                </a:r>
                <a:r>
                  <a:rPr lang="pl-PL" b="1" dirty="0">
                    <a:solidFill>
                      <a:srgbClr val="FF0000"/>
                    </a:solidFill>
                  </a:rPr>
                  <a:t>(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k</a:t>
                </a:r>
                <a:r>
                  <a:rPr lang="en-US" b="1" dirty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pl-PL" b="1" dirty="0">
                    <a:solidFill>
                      <a:srgbClr val="FF0000"/>
                    </a:solidFill>
                  </a:rPr>
                  <a:t>)</a:t>
                </a:r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84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3895983"/>
                <a:ext cx="2057400" cy="369888"/>
              </a:xfrm>
              <a:prstGeom prst="rect">
                <a:avLst/>
              </a:prstGeom>
              <a:blipFill rotWithShape="0">
                <a:blip r:embed="rId10"/>
                <a:stretch>
                  <a:fillRect t="-9677" b="-2096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5" name="Line 17"/>
          <p:cNvSpPr>
            <a:spLocks noChangeShapeType="1"/>
          </p:cNvSpPr>
          <p:nvPr/>
        </p:nvSpPr>
        <p:spPr bwMode="auto">
          <a:xfrm>
            <a:off x="2819400" y="46482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8386" name="Text Box 18"/>
          <p:cNvSpPr txBox="1">
            <a:spLocks noChangeArrowheads="1"/>
          </p:cNvSpPr>
          <p:nvPr/>
        </p:nvSpPr>
        <p:spPr bwMode="auto">
          <a:xfrm>
            <a:off x="4343400" y="4495800"/>
            <a:ext cx="94298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2819400" y="51816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3657600" y="5029200"/>
            <a:ext cx="19812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l-PL" b="1" i="1" dirty="0">
                <a:solidFill>
                  <a:srgbClr val="FF0000"/>
                </a:solidFill>
              </a:rPr>
              <a:t>c</a:t>
            </a:r>
            <a:r>
              <a:rPr lang="pl-PL" b="1" dirty="0">
                <a:solidFill>
                  <a:srgbClr val="FF0000"/>
                </a:solidFill>
              </a:rPr>
              <a:t> = </a:t>
            </a:r>
            <a:r>
              <a:rPr lang="pl-PL" b="1" dirty="0" err="1">
                <a:solidFill>
                  <a:srgbClr val="FF0000"/>
                </a:solidFill>
              </a:rPr>
              <a:t>Enc</a:t>
            </a:r>
            <a:r>
              <a:rPr lang="pl-PL" b="1" dirty="0">
                <a:solidFill>
                  <a:srgbClr val="FF0000"/>
                </a:solidFill>
              </a:rPr>
              <a:t>(</a:t>
            </a:r>
            <a:r>
              <a:rPr lang="en-US" b="1" i="1" dirty="0">
                <a:solidFill>
                  <a:srgbClr val="FF0000"/>
                </a:solidFill>
              </a:rPr>
              <a:t>k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 err="1">
                <a:solidFill>
                  <a:srgbClr val="FF0000"/>
                </a:solidFill>
              </a:rPr>
              <a:t>m</a:t>
            </a:r>
            <a:r>
              <a:rPr lang="pl-PL" b="1" i="1" baseline="-25000" dirty="0" err="1">
                <a:solidFill>
                  <a:srgbClr val="FF0000"/>
                </a:solidFill>
              </a:rPr>
              <a:t>b</a:t>
            </a:r>
            <a:r>
              <a:rPr lang="pl-PL" b="1" dirty="0">
                <a:solidFill>
                  <a:srgbClr val="FF0000"/>
                </a:solidFill>
              </a:rPr>
              <a:t>)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838200" y="4495800"/>
            <a:ext cx="17526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dirty="0"/>
              <a:t>chooses</a:t>
            </a:r>
            <a:r>
              <a:rPr lang="pl-PL" b="1" dirty="0">
                <a:solidFill>
                  <a:srgbClr val="990000"/>
                </a:solidFill>
              </a:rPr>
              <a:t> 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3200400" y="833626"/>
            <a:ext cx="2066976" cy="646331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pl-PL" dirty="0"/>
              <a:t>security parameter</a:t>
            </a:r>
          </a:p>
          <a:p>
            <a:pPr algn="ctr"/>
            <a:r>
              <a:rPr lang="pl-PL" b="1" dirty="0">
                <a:solidFill>
                  <a:srgbClr val="FF0000"/>
                </a:solidFill>
              </a:rPr>
              <a:t>1</a:t>
            </a:r>
            <a:r>
              <a:rPr lang="pl-PL" b="1" i="1" baseline="30000" dirty="0">
                <a:solidFill>
                  <a:srgbClr val="FF0000"/>
                </a:solidFill>
              </a:rPr>
              <a:t>n</a:t>
            </a:r>
            <a:endParaRPr lang="en-US" b="1" i="1" baseline="30000" dirty="0">
              <a:solidFill>
                <a:srgbClr val="FF0000"/>
              </a:solidFill>
            </a:endParaRPr>
          </a:p>
        </p:txBody>
      </p:sp>
      <p:sp>
        <p:nvSpPr>
          <p:cNvPr id="58392" name="Line 24"/>
          <p:cNvSpPr>
            <a:spLocks noChangeShapeType="1"/>
          </p:cNvSpPr>
          <p:nvPr/>
        </p:nvSpPr>
        <p:spPr bwMode="auto">
          <a:xfrm flipH="1">
            <a:off x="1752600" y="12192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393" name="Line 25"/>
          <p:cNvSpPr>
            <a:spLocks noChangeShapeType="1"/>
          </p:cNvSpPr>
          <p:nvPr/>
        </p:nvSpPr>
        <p:spPr bwMode="auto">
          <a:xfrm>
            <a:off x="5267375" y="1232999"/>
            <a:ext cx="1655137" cy="6574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94" name="Text Box 26"/>
              <p:cNvSpPr txBox="1">
                <a:spLocks noChangeArrowheads="1"/>
              </p:cNvSpPr>
              <p:nvPr/>
            </p:nvSpPr>
            <p:spPr bwMode="auto">
              <a:xfrm>
                <a:off x="5435911" y="1080599"/>
                <a:ext cx="3578128" cy="6463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342900" indent="-342900">
                  <a:buFontTx/>
                  <a:buAutoNum type="arabicPeriod"/>
                </a:pPr>
                <a:r>
                  <a:rPr lang="en-US" dirty="0"/>
                  <a:t>chooses</a:t>
                </a:r>
                <a:r>
                  <a:rPr lang="pl-PL" dirty="0"/>
                  <a:t> </a:t>
                </a:r>
                <a:r>
                  <a:rPr lang="en-US" dirty="0"/>
                  <a:t>random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342900" indent="-342900" algn="l">
                  <a:buFontTx/>
                  <a:buAutoNum type="arabicPeriod"/>
                </a:pPr>
                <a:r>
                  <a:rPr lang="en-US" dirty="0"/>
                  <a:t>chooses</a:t>
                </a:r>
                <a:r>
                  <a:rPr lang="pl-PL" dirty="0"/>
                  <a:t> </a:t>
                </a:r>
                <a:r>
                  <a:rPr lang="en-US" dirty="0"/>
                  <a:t>random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←{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pl-PL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583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5911" y="1080599"/>
                <a:ext cx="3578128" cy="646331"/>
              </a:xfrm>
              <a:prstGeom prst="rect">
                <a:avLst/>
              </a:prstGeom>
              <a:blipFill rotWithShape="0">
                <a:blip r:embed="rId11"/>
                <a:stretch>
                  <a:fillRect l="-1361" t="-5607" b="-1215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95" name="Text Box 27"/>
          <p:cNvSpPr txBox="1">
            <a:spLocks noChangeArrowheads="1"/>
          </p:cNvSpPr>
          <p:nvPr/>
        </p:nvSpPr>
        <p:spPr bwMode="auto">
          <a:xfrm rot="5400000">
            <a:off x="4303779" y="3037959"/>
            <a:ext cx="4459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pl-PL" b="1">
                <a:solidFill>
                  <a:srgbClr val="FF0000"/>
                </a:solidFill>
              </a:rPr>
              <a:t>. . .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58401" name="Text Box 33"/>
          <p:cNvSpPr txBox="1">
            <a:spLocks noChangeArrowheads="1"/>
          </p:cNvSpPr>
          <p:nvPr/>
        </p:nvSpPr>
        <p:spPr bwMode="auto">
          <a:xfrm>
            <a:off x="0" y="4038600"/>
            <a:ext cx="1914525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dirty="0"/>
              <a:t>challenge phase:</a:t>
            </a:r>
            <a:endParaRPr lang="en-US" dirty="0"/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3082925" y="5629275"/>
            <a:ext cx="2872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dirty="0"/>
              <a:t>the interaction continues </a:t>
            </a:r>
            <a:r>
              <a:rPr lang="pl-PL" dirty="0"/>
              <a:t>. .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89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00" grpId="0" animBg="1"/>
      <p:bldP spid="58374" grpId="0" animBg="1"/>
      <p:bldP spid="58375" grpId="0" animBg="1"/>
      <p:bldP spid="58376" grpId="0" animBg="1"/>
      <p:bldP spid="58377" grpId="0" animBg="1"/>
      <p:bldP spid="58378" grpId="0" animBg="1"/>
      <p:bldP spid="58379" grpId="0" animBg="1"/>
      <p:bldP spid="58380" grpId="0" animBg="1"/>
      <p:bldP spid="58381" grpId="0" animBg="1"/>
      <p:bldP spid="58382" grpId="0" animBg="1"/>
      <p:bldP spid="58383" grpId="0" animBg="1"/>
      <p:bldP spid="58384" grpId="0" animBg="1"/>
      <p:bldP spid="58385" grpId="0" animBg="1"/>
      <p:bldP spid="58386" grpId="0" animBg="1"/>
      <p:bldP spid="58387" grpId="0" animBg="1"/>
      <p:bldP spid="58388" grpId="0" animBg="1"/>
      <p:bldP spid="58389" grpId="0" animBg="1"/>
      <p:bldP spid="58394" grpId="0" animBg="1"/>
      <p:bldP spid="58395" grpId="0"/>
      <p:bldP spid="58401" grpId="0" animBg="1"/>
      <p:bldP spid="5839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ular Callout 1"/>
          <p:cNvSpPr/>
          <p:nvPr/>
        </p:nvSpPr>
        <p:spPr>
          <a:xfrm>
            <a:off x="2576498" y="2079606"/>
            <a:ext cx="4067204" cy="2263795"/>
          </a:xfrm>
          <a:prstGeom prst="wedgeRectCallout">
            <a:avLst>
              <a:gd name="adj1" fmla="val 58464"/>
              <a:gd name="adj2" fmla="val 1507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0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3702" y="1071546"/>
            <a:ext cx="2002325" cy="1837853"/>
          </a:xfrm>
          <a:prstGeom prst="rect">
            <a:avLst/>
          </a:prstGeom>
          <a:noFill/>
        </p:spPr>
      </p:pic>
      <p:sp>
        <p:nvSpPr>
          <p:cNvPr id="58400" name="Rectangle 32"/>
          <p:cNvSpPr>
            <a:spLocks noChangeArrowheads="1"/>
          </p:cNvSpPr>
          <p:nvPr/>
        </p:nvSpPr>
        <p:spPr bwMode="auto">
          <a:xfrm>
            <a:off x="0" y="4461926"/>
            <a:ext cx="9144000" cy="10244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IND-CPA in the </a:t>
            </a:r>
            <a:r>
              <a:rPr lang="en-US" b="1" u="sng" dirty="0">
                <a:solidFill>
                  <a:srgbClr val="7030A0"/>
                </a:solidFill>
              </a:rPr>
              <a:t>asymmetric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dirty="0"/>
              <a:t>settings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58371" name="Picture 3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066800"/>
            <a:ext cx="1676400" cy="1158875"/>
          </a:xfrm>
          <a:prstGeom prst="rect">
            <a:avLst/>
          </a:prstGeom>
          <a:noFill/>
        </p:spPr>
      </p:pic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7391400" y="2514600"/>
            <a:ext cx="8096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pl-PL"/>
              <a:t>oracle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4" name="Text Box 6"/>
              <p:cNvSpPr txBox="1">
                <a:spLocks noChangeArrowheads="1"/>
              </p:cNvSpPr>
              <p:nvPr/>
            </p:nvSpPr>
            <p:spPr bwMode="auto">
              <a:xfrm>
                <a:off x="838200" y="2057400"/>
                <a:ext cx="1600200" cy="369332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dirty="0"/>
                  <a:t>chooses</a:t>
                </a:r>
                <a:r>
                  <a:rPr lang="pl-PL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7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057400"/>
                <a:ext cx="1600200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11475" b="-2131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5" name="Line 7"/>
          <p:cNvSpPr>
            <a:spLocks noChangeShapeType="1"/>
          </p:cNvSpPr>
          <p:nvPr/>
        </p:nvSpPr>
        <p:spPr bwMode="auto">
          <a:xfrm>
            <a:off x="2743200" y="22860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6" name="Text Box 8"/>
              <p:cNvSpPr txBox="1">
                <a:spLocks noChangeArrowheads="1"/>
              </p:cNvSpPr>
              <p:nvPr/>
            </p:nvSpPr>
            <p:spPr bwMode="auto">
              <a:xfrm>
                <a:off x="4191000" y="2133600"/>
                <a:ext cx="6096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7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2133600"/>
                <a:ext cx="609600" cy="36988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2743200" y="27432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8" name="Text Box 10"/>
              <p:cNvSpPr txBox="1">
                <a:spLocks noChangeArrowheads="1"/>
              </p:cNvSpPr>
              <p:nvPr/>
            </p:nvSpPr>
            <p:spPr bwMode="auto">
              <a:xfrm>
                <a:off x="3505200" y="2590800"/>
                <a:ext cx="2057400" cy="369332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b="1" i="1" dirty="0">
                    <a:solidFill>
                      <a:srgbClr val="FF0000"/>
                    </a:solidFill>
                  </a:rPr>
                  <a:t>c</a:t>
                </a:r>
                <a:r>
                  <a:rPr lang="en-GB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pl-PL" b="1" dirty="0">
                    <a:solidFill>
                      <a:srgbClr val="FF0000"/>
                    </a:solidFill>
                  </a:rPr>
                  <a:t> = </a:t>
                </a:r>
                <a:r>
                  <a:rPr lang="pl-PL" b="1" dirty="0" err="1">
                    <a:solidFill>
                      <a:srgbClr val="FF0000"/>
                    </a:solidFill>
                  </a:rPr>
                  <a:t>Enc</a:t>
                </a:r>
                <a:r>
                  <a:rPr lang="pl-PL" b="1" dirty="0">
                    <a:solidFill>
                      <a:srgbClr val="FF0000"/>
                    </a:solidFill>
                  </a:rPr>
                  <a:t>(</a:t>
                </a:r>
                <a:r>
                  <a:rPr lang="en-US" b="1" i="1" dirty="0" err="1">
                    <a:solidFill>
                      <a:srgbClr val="FF0000"/>
                    </a:solidFill>
                  </a:rPr>
                  <a:t>pk</a:t>
                </a:r>
                <a:r>
                  <a:rPr lang="pl-PL" b="1" dirty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pl-PL" b="1" dirty="0">
                    <a:solidFill>
                      <a:srgbClr val="FF0000"/>
                    </a:solidFill>
                  </a:rPr>
                  <a:t>)</a:t>
                </a:r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7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5200" y="2590800"/>
                <a:ext cx="2057400" cy="369332"/>
              </a:xfrm>
              <a:prstGeom prst="rect">
                <a:avLst/>
              </a:prstGeom>
              <a:blipFill rotWithShape="0">
                <a:blip r:embed="rId7"/>
                <a:stretch>
                  <a:fillRect t="-9677" b="-2096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533400" y="6019800"/>
            <a:ext cx="1828800" cy="3698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l-PL" dirty="0"/>
              <a:t>has to guess </a:t>
            </a:r>
            <a:r>
              <a:rPr lang="pl-PL" b="1" i="1" dirty="0">
                <a:solidFill>
                  <a:srgbClr val="FF0000"/>
                </a:solidFill>
              </a:rPr>
              <a:t>b</a:t>
            </a:r>
            <a:endParaRPr lang="en-US" b="1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80" name="Text Box 12"/>
              <p:cNvSpPr txBox="1">
                <a:spLocks noChangeArrowheads="1"/>
              </p:cNvSpPr>
              <p:nvPr/>
            </p:nvSpPr>
            <p:spPr bwMode="auto">
              <a:xfrm>
                <a:off x="838200" y="3429000"/>
                <a:ext cx="1752600" cy="378180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dirty="0"/>
                  <a:t>chooses</a:t>
                </a:r>
                <a:r>
                  <a:rPr lang="pl-PL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8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3429000"/>
                <a:ext cx="1752600" cy="378180"/>
              </a:xfrm>
              <a:prstGeom prst="rect">
                <a:avLst/>
              </a:prstGeom>
              <a:blipFill rotWithShape="0">
                <a:blip r:embed="rId8"/>
                <a:stretch>
                  <a:fillRect t="-11111" b="-1746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1" name="Line 13"/>
          <p:cNvSpPr>
            <a:spLocks noChangeShapeType="1"/>
          </p:cNvSpPr>
          <p:nvPr/>
        </p:nvSpPr>
        <p:spPr bwMode="auto">
          <a:xfrm>
            <a:off x="2819400" y="35814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82" name="Text Box 14"/>
              <p:cNvSpPr txBox="1">
                <a:spLocks noChangeArrowheads="1"/>
              </p:cNvSpPr>
              <p:nvPr/>
            </p:nvSpPr>
            <p:spPr bwMode="auto">
              <a:xfrm>
                <a:off x="4191000" y="3429000"/>
                <a:ext cx="6858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8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3429000"/>
                <a:ext cx="685800" cy="36988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3" name="Line 15"/>
          <p:cNvSpPr>
            <a:spLocks noChangeShapeType="1"/>
          </p:cNvSpPr>
          <p:nvPr/>
        </p:nvSpPr>
        <p:spPr bwMode="auto">
          <a:xfrm>
            <a:off x="2819400" y="41148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84" name="Text Box 16"/>
              <p:cNvSpPr txBox="1">
                <a:spLocks noChangeArrowheads="1"/>
              </p:cNvSpPr>
              <p:nvPr/>
            </p:nvSpPr>
            <p:spPr bwMode="auto">
              <a:xfrm>
                <a:off x="3581400" y="3895983"/>
                <a:ext cx="20574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b="1" i="1" dirty="0">
                    <a:solidFill>
                      <a:srgbClr val="FF0000"/>
                    </a:solidFill>
                  </a:rPr>
                  <a:t>c</a:t>
                </a:r>
                <a:r>
                  <a:rPr lang="en-GB" b="1" i="1" baseline="-25000" dirty="0">
                    <a:solidFill>
                      <a:srgbClr val="FF0000"/>
                    </a:solidFill>
                  </a:rPr>
                  <a:t>t</a:t>
                </a:r>
                <a:r>
                  <a:rPr lang="pl-PL" b="1" dirty="0">
                    <a:solidFill>
                      <a:srgbClr val="FF0000"/>
                    </a:solidFill>
                  </a:rPr>
                  <a:t> = </a:t>
                </a:r>
                <a:r>
                  <a:rPr lang="pl-PL" b="1" dirty="0" err="1">
                    <a:solidFill>
                      <a:srgbClr val="FF0000"/>
                    </a:solidFill>
                  </a:rPr>
                  <a:t>Enc</a:t>
                </a:r>
                <a:r>
                  <a:rPr lang="pl-PL" b="1" dirty="0">
                    <a:solidFill>
                      <a:srgbClr val="FF0000"/>
                    </a:solidFill>
                  </a:rPr>
                  <a:t>(</a:t>
                </a:r>
                <a:r>
                  <a:rPr lang="en-US" b="1" i="1" dirty="0" err="1">
                    <a:solidFill>
                      <a:srgbClr val="FF0000"/>
                    </a:solidFill>
                  </a:rPr>
                  <a:t>pk</a:t>
                </a:r>
                <a:r>
                  <a:rPr lang="en-US" b="1" dirty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pl-PL" b="1" dirty="0">
                    <a:solidFill>
                      <a:srgbClr val="FF0000"/>
                    </a:solidFill>
                  </a:rPr>
                  <a:t>)</a:t>
                </a:r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84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3895983"/>
                <a:ext cx="2057400" cy="369888"/>
              </a:xfrm>
              <a:prstGeom prst="rect">
                <a:avLst/>
              </a:prstGeom>
              <a:blipFill rotWithShape="0">
                <a:blip r:embed="rId10"/>
                <a:stretch>
                  <a:fillRect t="-9677" b="-2096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5" name="Line 17"/>
          <p:cNvSpPr>
            <a:spLocks noChangeShapeType="1"/>
          </p:cNvSpPr>
          <p:nvPr/>
        </p:nvSpPr>
        <p:spPr bwMode="auto">
          <a:xfrm>
            <a:off x="2819400" y="46482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8386" name="Text Box 18"/>
          <p:cNvSpPr txBox="1">
            <a:spLocks noChangeArrowheads="1"/>
          </p:cNvSpPr>
          <p:nvPr/>
        </p:nvSpPr>
        <p:spPr bwMode="auto">
          <a:xfrm>
            <a:off x="4343400" y="4495800"/>
            <a:ext cx="94298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2819400" y="51816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3657600" y="5029200"/>
            <a:ext cx="19812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l-PL" b="1" i="1" dirty="0">
                <a:solidFill>
                  <a:srgbClr val="FF0000"/>
                </a:solidFill>
              </a:rPr>
              <a:t>c</a:t>
            </a:r>
            <a:r>
              <a:rPr lang="pl-PL" b="1" dirty="0">
                <a:solidFill>
                  <a:srgbClr val="FF0000"/>
                </a:solidFill>
              </a:rPr>
              <a:t> = </a:t>
            </a:r>
            <a:r>
              <a:rPr lang="pl-PL" b="1" dirty="0" err="1">
                <a:solidFill>
                  <a:srgbClr val="FF0000"/>
                </a:solidFill>
              </a:rPr>
              <a:t>Enc</a:t>
            </a:r>
            <a:r>
              <a:rPr lang="pl-PL" b="1" dirty="0">
                <a:solidFill>
                  <a:srgbClr val="FF0000"/>
                </a:solidFill>
              </a:rPr>
              <a:t>(</a:t>
            </a:r>
            <a:r>
              <a:rPr lang="en-US" b="1" i="1" dirty="0" err="1">
                <a:solidFill>
                  <a:srgbClr val="FF0000"/>
                </a:solidFill>
              </a:rPr>
              <a:t>pk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 err="1">
                <a:solidFill>
                  <a:srgbClr val="FF0000"/>
                </a:solidFill>
              </a:rPr>
              <a:t>m</a:t>
            </a:r>
            <a:r>
              <a:rPr lang="pl-PL" b="1" i="1" baseline="-25000" dirty="0" err="1">
                <a:solidFill>
                  <a:srgbClr val="FF0000"/>
                </a:solidFill>
              </a:rPr>
              <a:t>b</a:t>
            </a:r>
            <a:r>
              <a:rPr lang="pl-PL" b="1" dirty="0">
                <a:solidFill>
                  <a:srgbClr val="FF0000"/>
                </a:solidFill>
              </a:rPr>
              <a:t>)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838200" y="4495800"/>
            <a:ext cx="17526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dirty="0"/>
              <a:t>chooses</a:t>
            </a:r>
            <a:r>
              <a:rPr lang="pl-PL" b="1" dirty="0">
                <a:solidFill>
                  <a:srgbClr val="990000"/>
                </a:solidFill>
              </a:rPr>
              <a:t> 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3200400" y="833626"/>
            <a:ext cx="2066976" cy="646331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pl-PL" dirty="0"/>
              <a:t>security parameter</a:t>
            </a:r>
          </a:p>
          <a:p>
            <a:pPr algn="ctr"/>
            <a:r>
              <a:rPr lang="pl-PL" b="1" dirty="0">
                <a:solidFill>
                  <a:srgbClr val="FF0000"/>
                </a:solidFill>
              </a:rPr>
              <a:t>1</a:t>
            </a:r>
            <a:r>
              <a:rPr lang="pl-PL" b="1" baseline="30000" dirty="0">
                <a:solidFill>
                  <a:srgbClr val="FF0000"/>
                </a:solidFill>
              </a:rPr>
              <a:t>n</a:t>
            </a:r>
            <a:endParaRPr lang="en-US" b="1" baseline="30000" dirty="0">
              <a:solidFill>
                <a:srgbClr val="FF0000"/>
              </a:solidFill>
            </a:endParaRPr>
          </a:p>
        </p:txBody>
      </p:sp>
      <p:sp>
        <p:nvSpPr>
          <p:cNvPr id="58392" name="Line 24"/>
          <p:cNvSpPr>
            <a:spLocks noChangeShapeType="1"/>
          </p:cNvSpPr>
          <p:nvPr/>
        </p:nvSpPr>
        <p:spPr bwMode="auto">
          <a:xfrm flipH="1">
            <a:off x="1752600" y="12192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393" name="Line 25"/>
          <p:cNvSpPr>
            <a:spLocks noChangeShapeType="1"/>
          </p:cNvSpPr>
          <p:nvPr/>
        </p:nvSpPr>
        <p:spPr bwMode="auto">
          <a:xfrm>
            <a:off x="5267375" y="1232999"/>
            <a:ext cx="1655137" cy="6574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94" name="Text Box 26"/>
              <p:cNvSpPr txBox="1">
                <a:spLocks noChangeArrowheads="1"/>
              </p:cNvSpPr>
              <p:nvPr/>
            </p:nvSpPr>
            <p:spPr bwMode="auto">
              <a:xfrm>
                <a:off x="5435911" y="1080599"/>
                <a:ext cx="3578128" cy="6463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Tx/>
                  <a:buAutoNum type="arabicPeriod"/>
                </a:pPr>
                <a:r>
                  <a:rPr lang="en-US" dirty="0"/>
                  <a:t>generates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𝒑𝒌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𝒔𝒌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342900" indent="-342900" algn="l">
                  <a:buFontTx/>
                  <a:buAutoNum type="arabicPeriod"/>
                </a:pPr>
                <a:r>
                  <a:rPr lang="en-US" dirty="0"/>
                  <a:t>chooses</a:t>
                </a:r>
                <a:r>
                  <a:rPr lang="pl-PL" dirty="0"/>
                  <a:t> </a:t>
                </a:r>
                <a:r>
                  <a:rPr lang="en-US" dirty="0"/>
                  <a:t>random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←{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pl-PL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583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5911" y="1080599"/>
                <a:ext cx="3578128" cy="646331"/>
              </a:xfrm>
              <a:prstGeom prst="rect">
                <a:avLst/>
              </a:prstGeom>
              <a:blipFill rotWithShape="0">
                <a:blip r:embed="rId11"/>
                <a:stretch>
                  <a:fillRect l="-1361" t="-5607" b="-1215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95" name="Text Box 27"/>
          <p:cNvSpPr txBox="1">
            <a:spLocks noChangeArrowheads="1"/>
          </p:cNvSpPr>
          <p:nvPr/>
        </p:nvSpPr>
        <p:spPr bwMode="auto">
          <a:xfrm rot="5400000">
            <a:off x="4303779" y="3037959"/>
            <a:ext cx="4459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pl-PL" b="1">
                <a:solidFill>
                  <a:srgbClr val="FF0000"/>
                </a:solidFill>
              </a:rPr>
              <a:t>. . .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58401" name="Text Box 33"/>
          <p:cNvSpPr txBox="1">
            <a:spLocks noChangeArrowheads="1"/>
          </p:cNvSpPr>
          <p:nvPr/>
        </p:nvSpPr>
        <p:spPr bwMode="auto">
          <a:xfrm>
            <a:off x="0" y="4038600"/>
            <a:ext cx="1914525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dirty="0"/>
              <a:t>challenge phase:</a:t>
            </a:r>
            <a:endParaRPr lang="en-US" dirty="0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 flipH="1">
            <a:off x="2743200" y="1813573"/>
            <a:ext cx="36576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31"/>
              <p:cNvSpPr txBox="1">
                <a:spLocks noChangeArrowheads="1"/>
              </p:cNvSpPr>
              <p:nvPr/>
            </p:nvSpPr>
            <p:spPr bwMode="auto">
              <a:xfrm>
                <a:off x="4191000" y="1630921"/>
                <a:ext cx="609600" cy="369888"/>
              </a:xfrm>
              <a:prstGeom prst="rect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1630921"/>
                <a:ext cx="609600" cy="36988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ular Callout 2"/>
          <p:cNvSpPr/>
          <p:nvPr/>
        </p:nvSpPr>
        <p:spPr>
          <a:xfrm>
            <a:off x="2576498" y="5667328"/>
            <a:ext cx="4009426" cy="310254"/>
          </a:xfrm>
          <a:prstGeom prst="wedgeRectCallout">
            <a:avLst>
              <a:gd name="adj1" fmla="val 60598"/>
              <a:gd name="adj2" fmla="val -25392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3082925" y="5629275"/>
            <a:ext cx="2872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dirty="0"/>
              <a:t>the interaction continues </a:t>
            </a:r>
            <a:r>
              <a:rPr lang="pl-PL" dirty="0"/>
              <a:t>. . 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35"/>
              <p:cNvSpPr txBox="1">
                <a:spLocks noChangeArrowheads="1"/>
              </p:cNvSpPr>
              <p:nvPr/>
            </p:nvSpPr>
            <p:spPr bwMode="auto">
              <a:xfrm>
                <a:off x="7010400" y="3154432"/>
                <a:ext cx="1828800" cy="286232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70C0"/>
                    </a:solidFill>
                  </a:rPr>
                  <a:t>This is not</a:t>
                </a:r>
                <a:br>
                  <a:rPr lang="en-US" sz="2000" b="1" dirty="0">
                    <a:solidFill>
                      <a:srgbClr val="0070C0"/>
                    </a:solidFill>
                  </a:rPr>
                </a:br>
                <a:r>
                  <a:rPr lang="en-US" sz="2000" b="1" dirty="0">
                    <a:solidFill>
                      <a:srgbClr val="0070C0"/>
                    </a:solidFill>
                  </a:rPr>
                  <a:t>needed.</a:t>
                </a:r>
              </a:p>
              <a:p>
                <a:pPr algn="ctr"/>
                <a:r>
                  <a:rPr lang="en-US" sz="2000" b="1" u="sng" dirty="0"/>
                  <a:t>Why?</a:t>
                </a:r>
                <a:br>
                  <a:rPr lang="en-US" sz="2000" b="1" u="sng" dirty="0"/>
                </a:br>
                <a:r>
                  <a:rPr lang="en-US" sz="2000" dirty="0"/>
                  <a:t>Because if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Eve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knows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r>
                  <a:rPr lang="en-US" sz="2000" dirty="0"/>
                  <a:t> she can compute all these </a:t>
                </a:r>
                <a:r>
                  <a:rPr lang="en-US" sz="2000" dirty="0" err="1"/>
                  <a:t>ciphertexts</a:t>
                </a:r>
                <a:r>
                  <a:rPr lang="en-US" sz="2000" dirty="0"/>
                  <a:t> herself!</a:t>
                </a:r>
              </a:p>
            </p:txBody>
          </p:sp>
        </mc:Choice>
        <mc:Fallback xmlns="">
          <p:sp>
            <p:nvSpPr>
              <p:cNvPr id="34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3154432"/>
                <a:ext cx="1828800" cy="286232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95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3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43689" y="2293709"/>
            <a:ext cx="2002325" cy="1837853"/>
          </a:xfrm>
          <a:prstGeom prst="rect">
            <a:avLst/>
          </a:prstGeom>
          <a:noFill/>
        </p:spPr>
      </p:pic>
      <p:sp>
        <p:nvSpPr>
          <p:cNvPr id="58400" name="Rectangle 32"/>
          <p:cNvSpPr>
            <a:spLocks noChangeArrowheads="1"/>
          </p:cNvSpPr>
          <p:nvPr/>
        </p:nvSpPr>
        <p:spPr bwMode="auto">
          <a:xfrm>
            <a:off x="0" y="4461926"/>
            <a:ext cx="9144000" cy="10244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36122" y="332368"/>
            <a:ext cx="8229600" cy="838200"/>
          </a:xfrm>
        </p:spPr>
        <p:txBody>
          <a:bodyPr/>
          <a:lstStyle/>
          <a:p>
            <a:r>
              <a:rPr lang="en-US" dirty="0"/>
              <a:t>The game after simplifications</a:t>
            </a:r>
          </a:p>
        </p:txBody>
      </p:sp>
      <p:pic>
        <p:nvPicPr>
          <p:cNvPr id="58371" name="Picture 3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2441362"/>
            <a:ext cx="1676400" cy="1158875"/>
          </a:xfrm>
          <a:prstGeom prst="rect">
            <a:avLst/>
          </a:prstGeom>
          <a:noFill/>
        </p:spPr>
      </p:pic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7091387" y="3736763"/>
            <a:ext cx="8096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pl-PL"/>
              <a:t>oracle</a:t>
            </a:r>
            <a:endParaRPr lang="en-US"/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457200" y="5778664"/>
            <a:ext cx="1828800" cy="3698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l-PL" dirty="0"/>
              <a:t>has to guess </a:t>
            </a:r>
            <a:r>
              <a:rPr lang="pl-PL" b="1" i="1" dirty="0">
                <a:solidFill>
                  <a:srgbClr val="FF0000"/>
                </a:solidFill>
              </a:rPr>
              <a:t>b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58385" name="Line 17"/>
          <p:cNvSpPr>
            <a:spLocks noChangeShapeType="1"/>
          </p:cNvSpPr>
          <p:nvPr/>
        </p:nvSpPr>
        <p:spPr bwMode="auto">
          <a:xfrm>
            <a:off x="2819400" y="46482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8386" name="Text Box 18"/>
          <p:cNvSpPr txBox="1">
            <a:spLocks noChangeArrowheads="1"/>
          </p:cNvSpPr>
          <p:nvPr/>
        </p:nvSpPr>
        <p:spPr bwMode="auto">
          <a:xfrm>
            <a:off x="4343400" y="4495800"/>
            <a:ext cx="94298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2819400" y="518160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3657600" y="5029200"/>
            <a:ext cx="19812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l-PL" b="1" i="1" dirty="0">
                <a:solidFill>
                  <a:srgbClr val="FF0000"/>
                </a:solidFill>
              </a:rPr>
              <a:t>c</a:t>
            </a:r>
            <a:r>
              <a:rPr lang="pl-PL" b="1" dirty="0">
                <a:solidFill>
                  <a:srgbClr val="FF0000"/>
                </a:solidFill>
              </a:rPr>
              <a:t> = </a:t>
            </a:r>
            <a:r>
              <a:rPr lang="pl-PL" b="1" dirty="0" err="1">
                <a:solidFill>
                  <a:srgbClr val="FF0000"/>
                </a:solidFill>
              </a:rPr>
              <a:t>Enc</a:t>
            </a:r>
            <a:r>
              <a:rPr lang="pl-PL" b="1" dirty="0">
                <a:solidFill>
                  <a:srgbClr val="FF0000"/>
                </a:solidFill>
              </a:rPr>
              <a:t>(</a:t>
            </a:r>
            <a:r>
              <a:rPr lang="en-US" b="1" i="1" dirty="0" err="1">
                <a:solidFill>
                  <a:srgbClr val="FF0000"/>
                </a:solidFill>
              </a:rPr>
              <a:t>pk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 err="1">
                <a:solidFill>
                  <a:srgbClr val="FF0000"/>
                </a:solidFill>
              </a:rPr>
              <a:t>m</a:t>
            </a:r>
            <a:r>
              <a:rPr lang="pl-PL" b="1" i="1" baseline="-25000" dirty="0" err="1">
                <a:solidFill>
                  <a:srgbClr val="FF0000"/>
                </a:solidFill>
              </a:rPr>
              <a:t>b</a:t>
            </a:r>
            <a:r>
              <a:rPr lang="pl-PL" b="1" dirty="0">
                <a:solidFill>
                  <a:srgbClr val="FF0000"/>
                </a:solidFill>
              </a:rPr>
              <a:t>)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838200" y="4495800"/>
            <a:ext cx="17526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dirty="0"/>
              <a:t>chooses</a:t>
            </a:r>
            <a:r>
              <a:rPr lang="pl-PL" b="1" dirty="0">
                <a:solidFill>
                  <a:srgbClr val="990000"/>
                </a:solidFill>
              </a:rPr>
              <a:t> 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2900387" y="2055789"/>
            <a:ext cx="2066976" cy="646331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pl-PL" dirty="0"/>
              <a:t>security parameter</a:t>
            </a:r>
          </a:p>
          <a:p>
            <a:pPr algn="ctr"/>
            <a:r>
              <a:rPr lang="pl-PL" b="1" dirty="0">
                <a:solidFill>
                  <a:srgbClr val="FF0000"/>
                </a:solidFill>
              </a:rPr>
              <a:t>1</a:t>
            </a:r>
            <a:r>
              <a:rPr lang="pl-PL" b="1" i="1" baseline="30000" dirty="0">
                <a:solidFill>
                  <a:srgbClr val="FF0000"/>
                </a:solidFill>
              </a:rPr>
              <a:t>n</a:t>
            </a:r>
            <a:endParaRPr lang="en-US" b="1" i="1" baseline="30000" dirty="0">
              <a:solidFill>
                <a:srgbClr val="FF0000"/>
              </a:solidFill>
            </a:endParaRPr>
          </a:p>
        </p:txBody>
      </p:sp>
      <p:sp>
        <p:nvSpPr>
          <p:cNvPr id="58392" name="Line 24"/>
          <p:cNvSpPr>
            <a:spLocks noChangeShapeType="1"/>
          </p:cNvSpPr>
          <p:nvPr/>
        </p:nvSpPr>
        <p:spPr bwMode="auto">
          <a:xfrm flipH="1">
            <a:off x="1719520" y="2441362"/>
            <a:ext cx="1180865" cy="4434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393" name="Line 25"/>
          <p:cNvSpPr>
            <a:spLocks noChangeShapeType="1"/>
          </p:cNvSpPr>
          <p:nvPr/>
        </p:nvSpPr>
        <p:spPr bwMode="auto">
          <a:xfrm>
            <a:off x="4967362" y="2455162"/>
            <a:ext cx="1655137" cy="6574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94" name="Text Box 26"/>
              <p:cNvSpPr txBox="1">
                <a:spLocks noChangeArrowheads="1"/>
              </p:cNvSpPr>
              <p:nvPr/>
            </p:nvSpPr>
            <p:spPr bwMode="auto">
              <a:xfrm>
                <a:off x="5135898" y="2302762"/>
                <a:ext cx="3578128" cy="6463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Tx/>
                  <a:buAutoNum type="arabicPeriod"/>
                </a:pPr>
                <a:r>
                  <a:rPr lang="en-US" dirty="0"/>
                  <a:t>generates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𝒑𝒌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𝒔𝒌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342900" indent="-342900" algn="l">
                  <a:buFontTx/>
                  <a:buAutoNum type="arabicPeriod"/>
                </a:pPr>
                <a:r>
                  <a:rPr lang="en-US" dirty="0"/>
                  <a:t>chooses</a:t>
                </a:r>
                <a:r>
                  <a:rPr lang="pl-PL" dirty="0"/>
                  <a:t> </a:t>
                </a:r>
                <a:r>
                  <a:rPr lang="en-US" dirty="0"/>
                  <a:t>random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←{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pl-PL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583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35898" y="2302762"/>
                <a:ext cx="3578128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1363" t="-6542" b="-1215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01" name="Text Box 33"/>
          <p:cNvSpPr txBox="1">
            <a:spLocks noChangeArrowheads="1"/>
          </p:cNvSpPr>
          <p:nvPr/>
        </p:nvSpPr>
        <p:spPr bwMode="auto">
          <a:xfrm>
            <a:off x="0" y="4038600"/>
            <a:ext cx="1914525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dirty="0"/>
              <a:t>challenge phase:</a:t>
            </a:r>
            <a:endParaRPr lang="en-US" dirty="0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 flipH="1">
            <a:off x="2443187" y="3035736"/>
            <a:ext cx="36576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31"/>
              <p:cNvSpPr txBox="1">
                <a:spLocks noChangeArrowheads="1"/>
              </p:cNvSpPr>
              <p:nvPr/>
            </p:nvSpPr>
            <p:spPr bwMode="auto">
              <a:xfrm>
                <a:off x="3890987" y="2853084"/>
                <a:ext cx="609600" cy="3698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0987" y="2853084"/>
                <a:ext cx="609600" cy="36988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11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00" grpId="0" animBg="1"/>
      <p:bldP spid="58379" grpId="0" animBg="1"/>
      <p:bldP spid="58385" grpId="0" animBg="1"/>
      <p:bldP spid="58386" grpId="0" animBg="1"/>
      <p:bldP spid="58387" grpId="0" animBg="1"/>
      <p:bldP spid="58388" grpId="0" animBg="1"/>
      <p:bldP spid="58389" grpId="0" animBg="1"/>
      <p:bldP spid="58401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type="title"/>
          </p:nvPr>
        </p:nvSpPr>
        <p:spPr>
          <a:xfrm>
            <a:off x="246364" y="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IND-CPA</a:t>
            </a:r>
            <a:r>
              <a:rPr lang="en-US" dirty="0"/>
              <a:t> 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12" name="Text Box 4"/>
              <p:cNvSpPr txBox="1">
                <a:spLocks noChangeArrowheads="1"/>
              </p:cNvSpPr>
              <p:nvPr/>
            </p:nvSpPr>
            <p:spPr bwMode="auto">
              <a:xfrm>
                <a:off x="304800" y="1524000"/>
                <a:ext cx="8458200" cy="452431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r>
                  <a:rPr lang="en-GB" sz="2400" b="1" u="sng" dirty="0">
                    <a:solidFill>
                      <a:srgbClr val="0070C0"/>
                    </a:solidFill>
                  </a:rPr>
                  <a:t>Security d</a:t>
                </a:r>
                <a:r>
                  <a:rPr lang="pl-PL" sz="2400" b="1" u="sng" dirty="0">
                    <a:solidFill>
                      <a:srgbClr val="0070C0"/>
                    </a:solidFill>
                  </a:rPr>
                  <a:t>efinition:</a:t>
                </a:r>
              </a:p>
              <a:p>
                <a:endParaRPr lang="pl-PL" sz="2400" b="1" u="sng" dirty="0">
                  <a:solidFill>
                    <a:schemeClr val="tx2"/>
                  </a:solidFill>
                </a:endParaRPr>
              </a:p>
              <a:p>
                <a:r>
                  <a:rPr lang="pl-PL" sz="2400" dirty="0"/>
                  <a:t>We say that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pl-PL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has</a:t>
                </a:r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indistinguishable encryptions</a:t>
                </a:r>
                <a:r>
                  <a:rPr lang="pl-PL" sz="2400" b="1" dirty="0">
                    <a:solidFill>
                      <a:srgbClr val="7030A0"/>
                    </a:solidFill>
                  </a:rPr>
                  <a:t> under a chosen-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plaintext</a:t>
                </a:r>
                <a:r>
                  <a:rPr lang="pl-PL" sz="2400" b="1" dirty="0">
                    <a:solidFill>
                      <a:srgbClr val="7030A0"/>
                    </a:solidFill>
                  </a:rPr>
                  <a:t> </a:t>
                </a:r>
                <a:r>
                  <a:rPr lang="pl-PL" sz="2400" b="1" dirty="0" err="1">
                    <a:solidFill>
                      <a:srgbClr val="7030A0"/>
                    </a:solidFill>
                  </a:rPr>
                  <a:t>attack</a:t>
                </a:r>
                <a:r>
                  <a:rPr lang="pl-PL" sz="2400" b="1" dirty="0">
                    <a:solidFill>
                      <a:srgbClr val="7030A0"/>
                    </a:solidFill>
                  </a:rPr>
                  <a:t> (IND-CPA)</a:t>
                </a:r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pl-PL" sz="2400" dirty="0"/>
                  <a:t>if </a:t>
                </a:r>
                <a:r>
                  <a:rPr lang="en-US" sz="2400" dirty="0"/>
                  <a:t>any </a:t>
                </a:r>
                <a:br>
                  <a:rPr lang="en-US" sz="2400" dirty="0"/>
                </a:br>
                <a:endParaRPr lang="en-US" sz="2400" dirty="0"/>
              </a:p>
              <a:p>
                <a:pPr algn="ctr"/>
                <a:r>
                  <a:rPr lang="en-US" sz="2400" b="1" dirty="0">
                    <a:solidFill>
                      <a:srgbClr val="00B050"/>
                    </a:solidFill>
                  </a:rPr>
                  <a:t>randomized polynomial time</a:t>
                </a:r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pl-PL" sz="2400" dirty="0"/>
                  <a:t>adversary </a:t>
                </a:r>
                <a:br>
                  <a:rPr lang="en-US" sz="2400" dirty="0"/>
                </a:br>
                <a:endParaRPr lang="en-US" sz="2400" dirty="0"/>
              </a:p>
              <a:p>
                <a:pPr algn="ctr"/>
                <a:r>
                  <a:rPr lang="pl-PL" sz="2400" dirty="0"/>
                  <a:t>guesses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pl-PL" sz="2400" b="1" dirty="0">
                    <a:solidFill>
                      <a:srgbClr val="993300"/>
                    </a:solidFill>
                  </a:rPr>
                  <a:t> </a:t>
                </a:r>
                <a:r>
                  <a:rPr lang="pl-PL" sz="2400" dirty="0"/>
                  <a:t>correctly </a:t>
                </a:r>
                <a:br>
                  <a:rPr lang="en-US" sz="2400" dirty="0"/>
                </a:br>
                <a:endParaRPr lang="en-US" sz="2400" dirty="0"/>
              </a:p>
              <a:p>
                <a:pPr algn="ctr"/>
                <a:r>
                  <a:rPr lang="pl-PL" sz="2400" dirty="0"/>
                  <a:t>with probability at most</a:t>
                </a:r>
                <a:r>
                  <a:rPr lang="pl-PL" sz="24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𝜺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993300"/>
                    </a:solidFill>
                  </a:rPr>
                  <a:t> </a:t>
                </a:r>
                <a:r>
                  <a:rPr lang="pl-PL" sz="2400" b="1" dirty="0">
                    <a:solidFill>
                      <a:srgbClr val="993300"/>
                    </a:solidFill>
                  </a:rPr>
                  <a:t>,</a:t>
                </a:r>
                <a:r>
                  <a:rPr lang="pl-PL" sz="2400" dirty="0"/>
                  <a:t> where</a:t>
                </a:r>
                <a:r>
                  <a:rPr lang="pl-PL" sz="24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l-G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𝜺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400" dirty="0"/>
                  <a:t>is negligible.</a:t>
                </a:r>
                <a:br>
                  <a:rPr lang="en-GB" sz="2400" dirty="0"/>
                </a:br>
                <a:endParaRPr lang="en-GB" sz="2400" dirty="0"/>
              </a:p>
            </p:txBody>
          </p:sp>
        </mc:Choice>
        <mc:Fallback xmlns="">
          <p:sp>
            <p:nvSpPr>
              <p:cNvPr id="6861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524000"/>
                <a:ext cx="8458200" cy="45243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13" name="AutoShape 5"/>
          <p:cNvSpPr>
            <a:spLocks noChangeArrowheads="1"/>
          </p:cNvSpPr>
          <p:nvPr/>
        </p:nvSpPr>
        <p:spPr bwMode="auto">
          <a:xfrm>
            <a:off x="3052689" y="1071546"/>
            <a:ext cx="5700779" cy="457200"/>
          </a:xfrm>
          <a:prstGeom prst="wedgeRectCallout">
            <a:avLst>
              <a:gd name="adj1" fmla="val 9891"/>
              <a:gd name="adj2" fmla="val 231895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pl-PL" sz="2400" b="1" dirty="0"/>
              <a:t>Alternative name:</a:t>
            </a:r>
            <a:r>
              <a:rPr lang="pl-PL" sz="2400" dirty="0"/>
              <a:t> </a:t>
            </a:r>
            <a:r>
              <a:rPr lang="pl-PL" sz="2400" b="1" dirty="0">
                <a:solidFill>
                  <a:srgbClr val="7030A0"/>
                </a:solidFill>
              </a:rPr>
              <a:t>IND-CPA-</a:t>
            </a:r>
            <a:r>
              <a:rPr lang="pl-PL" sz="2400" b="1" dirty="0" err="1">
                <a:solidFill>
                  <a:srgbClr val="7030A0"/>
                </a:solidFill>
              </a:rPr>
              <a:t>secure</a:t>
            </a:r>
            <a:r>
              <a:rPr lang="en-GB" sz="2400" b="1" dirty="0">
                <a:solidFill>
                  <a:srgbClr val="7030A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394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 uiExpand="1" build="allAtOnce" animBg="1"/>
      <p:bldP spid="686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8191" y="129516"/>
            <a:ext cx="8853267" cy="734396"/>
          </a:xfrm>
        </p:spPr>
        <p:txBody>
          <a:bodyPr>
            <a:noAutofit/>
          </a:bodyPr>
          <a:lstStyle/>
          <a:p>
            <a:r>
              <a:rPr lang="en-US" sz="3600" dirty="0"/>
              <a:t>Is the “</a:t>
            </a:r>
            <a:r>
              <a:rPr lang="en-US" sz="3600" b="1" dirty="0"/>
              <a:t>handbook RSA</a:t>
            </a:r>
            <a:r>
              <a:rPr lang="en-US" sz="3600" dirty="0"/>
              <a:t>” </a:t>
            </a:r>
            <a:r>
              <a:rPr lang="pl-PL" sz="3600" dirty="0"/>
              <a:t>IND-CPA-</a:t>
            </a:r>
            <a:r>
              <a:rPr lang="en-US" sz="3600" dirty="0"/>
              <a:t>secure?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18353" y="3203205"/>
                <a:ext cx="8229600" cy="3321010"/>
              </a:xfr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>
                <a:noAutofit/>
              </a:bodyPr>
              <a:lstStyle/>
              <a:p>
                <a:pPr marL="533400" indent="-533400" algn="ctr">
                  <a:lnSpc>
                    <a:spcPct val="80000"/>
                  </a:lnSpc>
                  <a:buFontTx/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Not IND-CPA-secure!</a:t>
                </a:r>
              </a:p>
              <a:p>
                <a:pPr marL="533400" indent="-533400"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In fact: </a:t>
                </a:r>
                <a:r>
                  <a:rPr lang="en-US" sz="2400" b="1" dirty="0"/>
                  <a:t>no deterministic encryption scheme is secure</a:t>
                </a:r>
                <a:r>
                  <a:rPr lang="en-US" sz="2400" dirty="0"/>
                  <a:t>.</a:t>
                </a:r>
              </a:p>
              <a:p>
                <a:pPr marL="533400" indent="-533400">
                  <a:lnSpc>
                    <a:spcPct val="80000"/>
                  </a:lnSpc>
                  <a:buFontTx/>
                  <a:buNone/>
                </a:pPr>
                <a:endParaRPr lang="en-US" sz="100" dirty="0"/>
              </a:p>
              <a:p>
                <a:pPr marL="533400" indent="-533400"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How can the adversary win the game?</a:t>
                </a:r>
              </a:p>
              <a:p>
                <a:pPr marL="533400" indent="-5334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400" dirty="0"/>
                  <a:t>he chooses any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pl-PL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pl-PL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marL="533400" indent="-5334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400" dirty="0"/>
                  <a:t>computes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𝒑𝒌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himself</a:t>
                </a:r>
              </a:p>
              <a:p>
                <a:pPr marL="533400" indent="-5334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400" dirty="0"/>
                  <a:t>compares the result.</a:t>
                </a:r>
              </a:p>
              <a:p>
                <a:pPr marL="533400" indent="-533400" algn="r">
                  <a:lnSpc>
                    <a:spcPct val="80000"/>
                  </a:lnSpc>
                  <a:buFontTx/>
                  <a:buNone/>
                </a:pPr>
                <a:r>
                  <a:rPr lang="en-US" sz="2400" b="1" u="sng" dirty="0">
                    <a:solidFill>
                      <a:srgbClr val="0070C0"/>
                    </a:solidFill>
                  </a:rPr>
                  <a:t>Moral</a:t>
                </a:r>
                <a:r>
                  <a:rPr lang="en-US" sz="2400" dirty="0"/>
                  <a:t>: encryption has to be randomized.</a:t>
                </a:r>
              </a:p>
            </p:txBody>
          </p:sp>
        </mc:Choice>
        <mc:Fallback xmlns="">
          <p:sp>
            <p:nvSpPr>
              <p:cNvPr id="768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8353" y="3203205"/>
                <a:ext cx="8229600" cy="3321010"/>
              </a:xfrm>
              <a:blipFill>
                <a:blip r:embed="rId3"/>
                <a:stretch>
                  <a:fillRect l="-809" t="-542" r="-809" b="-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 txBox="1">
                <a:spLocks noChangeArrowheads="1"/>
              </p:cNvSpPr>
              <p:nvPr/>
            </p:nvSpPr>
            <p:spPr>
              <a:xfrm>
                <a:off x="3398566" y="1099246"/>
                <a:ext cx="5448114" cy="181224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GB" b="1" dirty="0">
                    <a:solidFill>
                      <a:srgbClr val="993300"/>
                    </a:solidFill>
                  </a:rPr>
                  <a:t>,</a:t>
                </a:r>
                <a:r>
                  <a:rPr lang="pl-PL" b="1" dirty="0">
                    <a:solidFill>
                      <a:srgbClr val="993300"/>
                    </a:solidFill>
                  </a:rPr>
                  <a:t> </a:t>
                </a:r>
                <a:r>
                  <a:rPr lang="pl-PL" dirty="0"/>
                  <a:t>such that </a:t>
                </a:r>
                <a14:m>
                  <m:oMath xmlns:m="http://schemas.openxmlformats.org/officeDocument/2006/math"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pl-P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dirty="0"/>
                  <a:t>and </a:t>
                </a:r>
                <a14:m>
                  <m:oMath xmlns:m="http://schemas.openxmlformats.org/officeDocument/2006/math"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pl-PL" dirty="0"/>
                  <a:t> </a:t>
                </a:r>
                <a:r>
                  <a:rPr lang="en-US" dirty="0"/>
                  <a:t>are</a:t>
                </a:r>
                <a:r>
                  <a:rPr lang="pl-PL" dirty="0"/>
                  <a:t> </a:t>
                </a:r>
                <a:r>
                  <a:rPr lang="en-US" dirty="0"/>
                  <a:t>random</a:t>
                </a:r>
                <a:r>
                  <a:rPr lang="it-IT" dirty="0"/>
                  <a:t> </a:t>
                </a:r>
                <a:r>
                  <a:rPr lang="pl-PL" dirty="0"/>
                  <a:t>primes</a:t>
                </a:r>
                <a:r>
                  <a:rPr lang="it-IT" dirty="0"/>
                  <a:t>,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it-IT" dirty="0"/>
                  <a:t>and </a:t>
                </a:r>
                <a14:m>
                  <m:oMath xmlns:m="http://schemas.openxmlformats.org/officeDocument/2006/math"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endParaRPr lang="it-IT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GB" dirty="0">
                    <a:solidFill>
                      <a:srgbClr val="993300"/>
                    </a:solidFill>
                  </a:rPr>
                  <a:t> </a:t>
                </a:r>
                <a:r>
                  <a:rPr lang="en-GB" dirty="0"/>
                  <a:t>– random such that </a:t>
                </a: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⊥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GB" b="1" dirty="0">
                    <a:solidFill>
                      <a:srgbClr val="993300"/>
                    </a:solidFill>
                  </a:rPr>
                  <a:t> </a:t>
                </a:r>
                <a:r>
                  <a:rPr lang="en-GB" dirty="0"/>
                  <a:t>– random such that </a:t>
                </a: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𝒆𝒅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GB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(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  </m:t>
                      </m:r>
                      <m:r>
                        <a:rPr lang="it-IT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(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GB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p>
                    </m:sSup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GB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GB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GB" dirty="0"/>
                  <a:t>.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566" y="1099246"/>
                <a:ext cx="5448114" cy="18122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54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uiExpand="1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theoretical construction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practical construction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CCA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84836" y="2176085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41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ular Callout 24"/>
          <p:cNvSpPr/>
          <p:nvPr/>
        </p:nvSpPr>
        <p:spPr>
          <a:xfrm>
            <a:off x="370249" y="3055676"/>
            <a:ext cx="8336186" cy="3636834"/>
          </a:xfrm>
          <a:prstGeom prst="wedgeRectCallout">
            <a:avLst>
              <a:gd name="adj1" fmla="val -31870"/>
              <a:gd name="adj2" fmla="val -5583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056" y="165490"/>
            <a:ext cx="8253022" cy="119056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IND-CPA</a:t>
            </a:r>
            <a:r>
              <a:rPr lang="en-US" dirty="0"/>
              <a:t>-secure encryption from the </a:t>
            </a:r>
            <a:r>
              <a:rPr lang="en-US" b="1" dirty="0">
                <a:solidFill>
                  <a:srgbClr val="7030A0"/>
                </a:solidFill>
              </a:rPr>
              <a:t>RSA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assumption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249" y="1408897"/>
            <a:ext cx="8571384" cy="12878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now show how to construct a provably secure encryption scheme whose security is based on the </a:t>
            </a:r>
            <a:r>
              <a:rPr lang="en-US" b="1" dirty="0">
                <a:solidFill>
                  <a:srgbClr val="FF0000"/>
                </a:solidFill>
              </a:rPr>
              <a:t>RSA assumption</a:t>
            </a:r>
            <a:r>
              <a:rPr lang="en-US" dirty="0"/>
              <a:t>.</a:t>
            </a:r>
            <a:endParaRPr lang="pl-PL" dirty="0"/>
          </a:p>
        </p:txBody>
      </p:sp>
      <p:pic>
        <p:nvPicPr>
          <p:cNvPr id="13" name="Picture 5" descr="MCj0435941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6774" y="4419483"/>
            <a:ext cx="1676400" cy="1158875"/>
          </a:xfrm>
          <a:prstGeom prst="rect">
            <a:avLst/>
          </a:prstGeom>
          <a:noFill/>
        </p:spPr>
      </p:pic>
      <p:pic>
        <p:nvPicPr>
          <p:cNvPr id="14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74" y="2863714"/>
            <a:ext cx="2002325" cy="183785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214810" y="3935284"/>
                <a:ext cx="4300540" cy="1631216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Cambria" panose="02040503050406030204" pitchFamily="18" charset="0"/>
                  </a:rPr>
                  <a:t>choose: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</a:rPr>
                  <a:t>where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</a:rPr>
                  <a:t> are random primes such that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= |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=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000" baseline="300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 marL="342900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–</a:t>
                </a:r>
                <a:r>
                  <a:rPr lang="en-US" sz="2000" b="1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000" dirty="0">
                    <a:solidFill>
                      <a:prstClr val="black"/>
                    </a:solidFill>
                    <a:latin typeface="Cambria" panose="02040503050406030204" pitchFamily="18" charset="0"/>
                  </a:rPr>
                  <a:t>a random element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prstClr val="black"/>
                    </a:solidFill>
                    <a:latin typeface="Cambria" panose="02040503050406030204" pitchFamily="18" charset="0"/>
                  </a:rPr>
                  <a:t>,</a:t>
                </a:r>
                <a:endParaRPr lang="it-IT" sz="2000" dirty="0">
                  <a:solidFill>
                    <a:srgbClr val="C00000"/>
                  </a:solidFill>
                  <a:latin typeface="Cambria" panose="02040503050406030204" pitchFamily="18" charset="0"/>
                  <a:cs typeface="Arial"/>
                </a:endParaRPr>
              </a:p>
              <a:p>
                <a:pPr marL="342900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𝒆</m:t>
                    </m:r>
                  </m:oMath>
                </a14:m>
                <a:r>
                  <a:rPr lang="it-IT" sz="2000" b="1" dirty="0">
                    <a:solidFill>
                      <a:srgbClr val="C00000"/>
                    </a:solidFill>
                    <a:latin typeface="Cambria" panose="02040503050406030204" pitchFamily="18" charset="0"/>
                    <a:cs typeface="Arial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–</a:t>
                </a:r>
                <a:r>
                  <a:rPr lang="en-US" sz="2000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it-IT" sz="2000" dirty="0">
                    <a:latin typeface="Cambria" panose="02040503050406030204" pitchFamily="18" charset="0"/>
                    <a:cs typeface="Arial"/>
                  </a:rPr>
                  <a:t>a random element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810" y="3935284"/>
                <a:ext cx="4300540" cy="1631216"/>
              </a:xfrm>
              <a:prstGeom prst="rect">
                <a:avLst/>
              </a:prstGeom>
              <a:blipFill rotWithShape="0">
                <a:blip r:embed="rId4"/>
                <a:stretch>
                  <a:fillRect l="-839" t="-725" r="-1818" b="-253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1036160" y="4022535"/>
            <a:ext cx="1166217" cy="64633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</a:rPr>
              <a:t>poly-time</a:t>
            </a:r>
            <a:br>
              <a:rPr lang="en-US" dirty="0">
                <a:latin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</a:rPr>
              <a:t>adversary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Left Arrow 16"/>
              <p:cNvSpPr/>
              <p:nvPr/>
            </p:nvSpPr>
            <p:spPr>
              <a:xfrm>
                <a:off x="2643174" y="4419483"/>
                <a:ext cx="1434057" cy="1285884"/>
              </a:xfrm>
              <a:prstGeom prst="lef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Left Arrow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74" y="4419483"/>
                <a:ext cx="1434057" cy="1285884"/>
              </a:xfrm>
              <a:prstGeom prst="leftArrow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ular Callout 17"/>
              <p:cNvSpPr/>
              <p:nvPr/>
            </p:nvSpPr>
            <p:spPr>
              <a:xfrm>
                <a:off x="455208" y="5975306"/>
                <a:ext cx="4299672" cy="612648"/>
              </a:xfrm>
              <a:prstGeom prst="wedgeRectCallout">
                <a:avLst>
                  <a:gd name="adj1" fmla="val -21229"/>
                  <a:gd name="adj2" fmla="val -147334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u="sng" dirty="0"/>
                  <a:t>cannot</a:t>
                </a:r>
                <a:r>
                  <a:rPr lang="en-US" sz="2000" dirty="0"/>
                  <a:t> compute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p>
                    </m:sSup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ular Callou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08" y="5975306"/>
                <a:ext cx="4299672" cy="612648"/>
              </a:xfrm>
              <a:prstGeom prst="wedgeRectCallout">
                <a:avLst>
                  <a:gd name="adj1" fmla="val -21229"/>
                  <a:gd name="adj2" fmla="val -147334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04281" y="3296013"/>
                <a:ext cx="2345899" cy="36933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</a:rPr>
                  <a:t>security parameter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281" y="3296013"/>
                <a:ext cx="2345899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9" idx="1"/>
            <a:endCxn id="16" idx="0"/>
          </p:cNvCxnSpPr>
          <p:nvPr/>
        </p:nvCxnSpPr>
        <p:spPr>
          <a:xfrm flipH="1">
            <a:off x="1619269" y="3480679"/>
            <a:ext cx="1285012" cy="5418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9" idx="3"/>
          </p:cNvCxnSpPr>
          <p:nvPr/>
        </p:nvCxnSpPr>
        <p:spPr>
          <a:xfrm>
            <a:off x="5250180" y="3480679"/>
            <a:ext cx="1394204" cy="110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21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hardcore bit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2489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00B050"/>
                </a:solidFill>
              </a:rPr>
              <a:t>Question</a:t>
            </a:r>
            <a:r>
              <a:rPr lang="en-US" sz="2400" dirty="0"/>
              <a:t>: does </a:t>
            </a:r>
            <a:r>
              <a:rPr lang="en-US" sz="2400" b="1" dirty="0">
                <a:solidFill>
                  <a:srgbClr val="FF0000"/>
                </a:solidFill>
              </a:rPr>
              <a:t>RSA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have a bit that is for sure well-hidden?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u="sng" dirty="0">
                <a:solidFill>
                  <a:srgbClr val="00B050"/>
                </a:solidFill>
              </a:rPr>
              <a:t>Answer</a:t>
            </a:r>
            <a:r>
              <a:rPr lang="en-US" sz="2400" dirty="0"/>
              <a:t>: if </a:t>
            </a:r>
            <a:r>
              <a:rPr lang="en-US" sz="2400" b="1" dirty="0">
                <a:solidFill>
                  <a:srgbClr val="FF0000"/>
                </a:solidFill>
              </a:rPr>
              <a:t>RSA assumption </a:t>
            </a:r>
            <a:r>
              <a:rPr lang="en-US" sz="2400" dirty="0"/>
              <a:t>doesn’t hold, then: </a:t>
            </a:r>
            <a:r>
              <a:rPr lang="en-US" sz="2400" b="1" dirty="0">
                <a:solidFill>
                  <a:srgbClr val="FF0000"/>
                </a:solidFill>
              </a:rPr>
              <a:t>no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But what if it holds?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</a:rPr>
              <a:t>Answer</a:t>
            </a:r>
            <a:r>
              <a:rPr lang="en-US" sz="2400" dirty="0"/>
              <a:t>: </a:t>
            </a:r>
            <a:r>
              <a:rPr lang="en-US" sz="2400" b="1" dirty="0">
                <a:solidFill>
                  <a:srgbClr val="FF0000"/>
                </a:solidFill>
              </a:rPr>
              <a:t>yes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– the </a:t>
            </a:r>
            <a:r>
              <a:rPr lang="en-US" sz="2400" b="1" dirty="0">
                <a:solidFill>
                  <a:srgbClr val="0070C0"/>
                </a:solidFill>
              </a:rPr>
              <a:t>least significant bit of the argument is hard to compute</a:t>
            </a:r>
            <a:r>
              <a:rPr lang="en-US" sz="2400" dirty="0"/>
              <a:t>.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24082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38" y="256529"/>
            <a:ext cx="7886700" cy="1325563"/>
          </a:xfrm>
        </p:spPr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68592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/>
                  <a:t>For an integer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we will write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𝐋𝐒𝐁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dirty="0"/>
                  <a:t>to denote the least significant bit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685923"/>
              </a:xfrm>
              <a:blipFill rotWithShape="0">
                <a:blip r:embed="rId3"/>
                <a:stretch>
                  <a:fillRect l="-1481" t="-652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86116" y="4629796"/>
          <a:ext cx="250032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5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25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25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25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>
            <a:stCxn id="7" idx="2"/>
          </p:cNvCxnSpPr>
          <p:nvPr/>
        </p:nvCxnSpPr>
        <p:spPr>
          <a:xfrm flipH="1">
            <a:off x="5642776" y="4091329"/>
            <a:ext cx="3644" cy="53926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57422" y="4058292"/>
                <a:ext cx="4860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422" y="4058292"/>
                <a:ext cx="486030" cy="523220"/>
              </a:xfrm>
              <a:prstGeom prst="rect">
                <a:avLst/>
              </a:prstGeom>
              <a:blipFill rotWithShape="0">
                <a:blip r:embed="rId4"/>
                <a:stretch>
                  <a:fillRect t="-12791" r="-25316" b="-3139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029200" y="3629664"/>
                <a:ext cx="1234440" cy="4616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𝐋𝐒𝐁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3629664"/>
                <a:ext cx="123444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71472" y="5572140"/>
                <a:ext cx="642054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Cambria" panose="02040503050406030204" pitchFamily="18" charset="0"/>
                  </a:rPr>
                  <a:t>In other words: </a:t>
                </a:r>
                <a14:m>
                  <m:oMath xmlns:m="http://schemas.openxmlformats.org/officeDocument/2006/math">
                    <m:r>
                      <a:rPr lang="en-US" sz="32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𝐋𝐒𝐁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32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72" y="5572140"/>
                <a:ext cx="6420540" cy="584775"/>
              </a:xfrm>
              <a:prstGeom prst="rect">
                <a:avLst/>
              </a:prstGeom>
              <a:blipFill rotWithShape="0">
                <a:blip r:embed="rId6"/>
                <a:stretch>
                  <a:fillRect l="-2469" t="-13542" b="-33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39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the construction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72951"/>
            <a:ext cx="7886700" cy="380401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We prove that the </a:t>
            </a:r>
            <a:r>
              <a:rPr lang="en-US" b="1" dirty="0">
                <a:solidFill>
                  <a:srgbClr val="0070C0"/>
                </a:solidFill>
              </a:rPr>
              <a:t>least significant bit </a:t>
            </a:r>
            <a:r>
              <a:rPr lang="en-US" dirty="0"/>
              <a:t>is a </a:t>
            </a:r>
            <a:r>
              <a:rPr lang="en-US" b="1" dirty="0">
                <a:solidFill>
                  <a:srgbClr val="7030A0"/>
                </a:solidFill>
              </a:rPr>
              <a:t>hard to compute</a:t>
            </a:r>
            <a:r>
              <a:rPr lang="en-US" dirty="0"/>
              <a:t> for </a:t>
            </a:r>
            <a:r>
              <a:rPr lang="en-US" b="1" dirty="0">
                <a:solidFill>
                  <a:srgbClr val="FF0000"/>
                </a:solidFill>
              </a:rPr>
              <a:t>RSA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show how to </a:t>
            </a:r>
            <a:r>
              <a:rPr lang="en-US" b="1" dirty="0">
                <a:solidFill>
                  <a:srgbClr val="00B050"/>
                </a:solidFill>
              </a:rPr>
              <a:t>“encrypt using this bit”</a:t>
            </a:r>
          </a:p>
          <a:p>
            <a:pPr marL="514350" indent="-514350">
              <a:buFont typeface="+mj-lt"/>
              <a:buAutoNum type="arabicPeriod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010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62181"/>
            <a:ext cx="7886700" cy="1325563"/>
          </a:xfrm>
        </p:spPr>
        <p:txBody>
          <a:bodyPr/>
          <a:lstStyle/>
          <a:p>
            <a:r>
              <a:rPr lang="en-US" dirty="0"/>
              <a:t>Fact (informally)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857364"/>
            <a:ext cx="8229600" cy="4714908"/>
          </a:xfrm>
          <a:ln>
            <a:solidFill>
              <a:schemeClr val="bg1"/>
            </a:solidFill>
          </a:ln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LSB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the “hardest bit to compute” in </a:t>
            </a:r>
            <a:r>
              <a:rPr lang="en-US" b="1" dirty="0">
                <a:solidFill>
                  <a:srgbClr val="FF0000"/>
                </a:solidFill>
              </a:rPr>
              <a:t>RSA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 algn="r">
              <a:buNone/>
            </a:pPr>
            <a:r>
              <a:rPr lang="en-US" dirty="0"/>
              <a:t>(it is called a “hard-core bit”).</a:t>
            </a:r>
          </a:p>
          <a:p>
            <a:pPr algn="r">
              <a:buNone/>
            </a:pPr>
            <a:endParaRPr lang="en-US" dirty="0"/>
          </a:p>
          <a:p>
            <a:pPr>
              <a:buNone/>
            </a:pPr>
            <a:r>
              <a:rPr lang="en-US" b="1" u="sng" dirty="0">
                <a:solidFill>
                  <a:srgbClr val="0070C0"/>
                </a:solidFill>
              </a:rPr>
              <a:t>More precisely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If you can compute </a:t>
            </a:r>
            <a:r>
              <a:rPr lang="en-US" b="1" dirty="0">
                <a:solidFill>
                  <a:srgbClr val="FF0000"/>
                </a:solidFill>
              </a:rPr>
              <a:t>LSB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then you can invert </a:t>
            </a:r>
            <a:r>
              <a:rPr lang="en-US" b="1" dirty="0">
                <a:solidFill>
                  <a:srgbClr val="FF0000"/>
                </a:solidFill>
              </a:rPr>
              <a:t>RSA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u="sng" dirty="0">
                <a:solidFill>
                  <a:srgbClr val="0070C0"/>
                </a:solidFill>
              </a:rPr>
              <a:t>Note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In some sense it is a “dual” predicate to Jacobi symbol...</a:t>
            </a:r>
          </a:p>
        </p:txBody>
      </p:sp>
    </p:spTree>
    <p:extLst>
      <p:ext uri="{BB962C8B-B14F-4D97-AF65-F5344CB8AC3E}">
        <p14:creationId xmlns:p14="http://schemas.microsoft.com/office/powerpoint/2010/main" val="151386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60" y="361375"/>
            <a:ext cx="284654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“</a:t>
            </a:r>
            <a:r>
              <a:rPr lang="en-US" b="1" dirty="0">
                <a:solidFill>
                  <a:srgbClr val="FF0000"/>
                </a:solidFill>
              </a:rPr>
              <a:t>LSB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game”: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4807" y="5305551"/>
                <a:ext cx="8286808" cy="88331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Cambria" panose="02040503050406030204" pitchFamily="18" charset="0"/>
                  </a:rPr>
                  <a:t>The adversary </a:t>
                </a:r>
                <a:r>
                  <a:rPr lang="en-US" sz="2400" b="1" dirty="0">
                    <a:solidFill>
                      <a:srgbClr val="002060"/>
                    </a:solidFill>
                    <a:latin typeface="Cambria" panose="02040503050406030204" pitchFamily="18" charset="0"/>
                  </a:rPr>
                  <a:t>wins</a:t>
                </a:r>
                <a:r>
                  <a:rPr lang="en-US" sz="2400" b="1" dirty="0"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if </a:t>
                </a:r>
                <a:endParaRPr lang="en-US" sz="24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 is the </a:t>
                </a:r>
                <a:r>
                  <a:rPr lang="en-US" sz="2400" b="1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least significant bit </a:t>
                </a:r>
                <a:r>
                  <a:rPr lang="en-US" sz="2400" dirty="0">
                    <a:latin typeface="Cambria" panose="020405030504060302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l-PL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𝐄𝐧𝐜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07" y="5305551"/>
                <a:ext cx="8286808" cy="88331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656250" y="1105524"/>
                <a:ext cx="2345899" cy="36933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</a:rPr>
                  <a:t>security parameter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250" y="1105524"/>
                <a:ext cx="2345899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3" idx="1"/>
          </p:cNvCxnSpPr>
          <p:nvPr/>
        </p:nvCxnSpPr>
        <p:spPr>
          <a:xfrm flipH="1">
            <a:off x="1715844" y="1290190"/>
            <a:ext cx="1940406" cy="13788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86523" y="1140122"/>
            <a:ext cx="2002325" cy="183785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380879" y="2286995"/>
                <a:ext cx="4572000" cy="1631216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r>
                  <a:rPr lang="en-US" sz="2000" dirty="0">
                    <a:latin typeface="Cambria" panose="02040503050406030204" pitchFamily="18" charset="0"/>
                  </a:rPr>
                  <a:t>choose: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</a:rPr>
                  <a:t>where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</a:rPr>
                  <a:t> are random primes such that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= |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=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000" baseline="300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 marL="342900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–</a:t>
                </a:r>
                <a:r>
                  <a:rPr lang="en-US" sz="20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000" dirty="0">
                    <a:solidFill>
                      <a:prstClr val="black"/>
                    </a:solidFill>
                    <a:latin typeface="Cambria" panose="02040503050406030204" pitchFamily="18" charset="0"/>
                  </a:rPr>
                  <a:t>a random element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prstClr val="black"/>
                    </a:solidFill>
                    <a:latin typeface="Cambria" panose="02040503050406030204" pitchFamily="18" charset="0"/>
                  </a:rPr>
                  <a:t>,</a:t>
                </a:r>
                <a:endParaRPr lang="it-IT" sz="2000" dirty="0">
                  <a:solidFill>
                    <a:srgbClr val="C00000"/>
                  </a:solidFill>
                  <a:latin typeface="Cambria" panose="02040503050406030204" pitchFamily="18" charset="0"/>
                  <a:cs typeface="Arial"/>
                </a:endParaRPr>
              </a:p>
              <a:p>
                <a:pPr marL="342900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𝒆</m:t>
                    </m:r>
                  </m:oMath>
                </a14:m>
                <a:r>
                  <a:rPr lang="it-IT" sz="2000" b="1" dirty="0">
                    <a:solidFill>
                      <a:srgbClr val="C00000"/>
                    </a:solidFill>
                    <a:latin typeface="Cambria" panose="02040503050406030204" pitchFamily="18" charset="0"/>
                    <a:cs typeface="Arial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–</a:t>
                </a:r>
                <a:r>
                  <a:rPr lang="en-US" sz="2000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it-IT" sz="2000" dirty="0">
                    <a:latin typeface="Cambria" panose="02040503050406030204" pitchFamily="18" charset="0"/>
                    <a:cs typeface="Arial"/>
                  </a:rPr>
                  <a:t>a random element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0879" y="2286995"/>
                <a:ext cx="4572000" cy="1631216"/>
              </a:xfrm>
              <a:prstGeom prst="rect">
                <a:avLst/>
              </a:prstGeom>
              <a:blipFill rotWithShape="0">
                <a:blip r:embed="rId6"/>
                <a:stretch>
                  <a:fillRect l="-922" t="-361" b="-216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Left Arrow 19"/>
              <p:cNvSpPr/>
              <p:nvPr/>
            </p:nvSpPr>
            <p:spPr>
              <a:xfrm>
                <a:off x="2829696" y="2632327"/>
                <a:ext cx="1434057" cy="1285884"/>
              </a:xfrm>
              <a:prstGeom prst="lef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Left Arrow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696" y="2632327"/>
                <a:ext cx="1434057" cy="1285884"/>
              </a:xfrm>
              <a:prstGeom prst="leftArrow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13" idx="3"/>
          </p:cNvCxnSpPr>
          <p:nvPr/>
        </p:nvCxnSpPr>
        <p:spPr>
          <a:xfrm>
            <a:off x="6002149" y="1290190"/>
            <a:ext cx="769789" cy="1356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3" descr="C:\Users\Stefan\Pictures\Microsoft Clip Organizer\j0423848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201157" y="2848222"/>
            <a:ext cx="1096781" cy="1204914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Down Arrow 14"/>
              <p:cNvSpPr/>
              <p:nvPr/>
            </p:nvSpPr>
            <p:spPr>
              <a:xfrm>
                <a:off x="686556" y="3974184"/>
                <a:ext cx="2143140" cy="928694"/>
              </a:xfrm>
              <a:prstGeom prst="downArrow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Cambria" panose="02040503050406030204" pitchFamily="18" charset="0"/>
                  </a:rPr>
                  <a:t>outputs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Down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556" y="3974184"/>
                <a:ext cx="2143140" cy="928694"/>
              </a:xfrm>
              <a:prstGeom prst="downArrow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ular Callout 2"/>
              <p:cNvSpPr/>
              <p:nvPr/>
            </p:nvSpPr>
            <p:spPr>
              <a:xfrm>
                <a:off x="6386523" y="4779336"/>
                <a:ext cx="1920700" cy="803462"/>
              </a:xfrm>
              <a:prstGeom prst="wedgeRoundRectCallou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l-PL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pl-PL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p>
                      <m:r>
                        <a:rPr lang="pl-PL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pl-PL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ounded Rectangular Callou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523" y="4779336"/>
                <a:ext cx="1920700" cy="803462"/>
              </a:xfrm>
              <a:prstGeom prst="wedgeRoundRectCallou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26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12111"/>
            <a:ext cx="7886700" cy="1325563"/>
          </a:xfrm>
        </p:spPr>
        <p:txBody>
          <a:bodyPr/>
          <a:lstStyle/>
          <a:p>
            <a:r>
              <a:rPr lang="en-US" dirty="0"/>
              <a:t>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429264"/>
            <a:ext cx="8229600" cy="71438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2400" b="1" u="sng" dirty="0"/>
              <a:t>In other words:</a:t>
            </a:r>
          </a:p>
          <a:p>
            <a:pPr>
              <a:buNone/>
            </a:pPr>
            <a:r>
              <a:rPr lang="en-US" sz="2400" dirty="0"/>
              <a:t>The least significant bit is a </a:t>
            </a:r>
            <a:r>
              <a:rPr lang="en-US" sz="2400" b="1" dirty="0">
                <a:solidFill>
                  <a:srgbClr val="FF0000"/>
                </a:solidFill>
              </a:rPr>
              <a:t>hard-core bit for RSA</a:t>
            </a:r>
            <a:r>
              <a:rPr lang="en-US" sz="2400" b="1" dirty="0">
                <a:solidFill>
                  <a:srgbClr val="C00000"/>
                </a:solidFill>
              </a:rPr>
              <a:t>.</a:t>
            </a:r>
          </a:p>
          <a:p>
            <a:pPr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>
              <a:buNone/>
            </a:pP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2844" y="4071942"/>
            <a:ext cx="8643998" cy="10156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</a:rPr>
              <a:t>W. Alexi, B. </a:t>
            </a:r>
            <a:r>
              <a:rPr lang="en-US" sz="2000" dirty="0" err="1">
                <a:latin typeface="Cambria" panose="02040503050406030204" pitchFamily="18" charset="0"/>
              </a:rPr>
              <a:t>Chor</a:t>
            </a:r>
            <a:r>
              <a:rPr lang="en-US" sz="2000" dirty="0">
                <a:latin typeface="Cambria" panose="02040503050406030204" pitchFamily="18" charset="0"/>
              </a:rPr>
              <a:t>, O. </a:t>
            </a:r>
            <a:r>
              <a:rPr lang="en-US" sz="2000" dirty="0" err="1">
                <a:latin typeface="Cambria" panose="02040503050406030204" pitchFamily="18" charset="0"/>
              </a:rPr>
              <a:t>Goldreich</a:t>
            </a:r>
            <a:r>
              <a:rPr lang="en-US" sz="2000" dirty="0">
                <a:latin typeface="Cambria" panose="02040503050406030204" pitchFamily="18" charset="0"/>
              </a:rPr>
              <a:t>, and C.P. </a:t>
            </a:r>
            <a:r>
              <a:rPr lang="en-US" sz="2000" dirty="0" err="1">
                <a:latin typeface="Cambria" panose="02040503050406030204" pitchFamily="18" charset="0"/>
              </a:rPr>
              <a:t>Schnorr</a:t>
            </a:r>
            <a:br>
              <a:rPr lang="en-US" sz="2000" dirty="0">
                <a:latin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hlinkClick r:id="rId3"/>
              </a:rPr>
              <a:t>On the hardness of the least-</a:t>
            </a:r>
            <a:r>
              <a:rPr lang="en-US" sz="2000" dirty="0" err="1">
                <a:latin typeface="Cambria" panose="02040503050406030204" pitchFamily="18" charset="0"/>
                <a:hlinkClick r:id="rId3"/>
              </a:rPr>
              <a:t>signficant</a:t>
            </a:r>
            <a:r>
              <a:rPr lang="en-US" sz="2000" dirty="0">
                <a:latin typeface="Cambria" panose="02040503050406030204" pitchFamily="18" charset="0"/>
                <a:hlinkClick r:id="rId3"/>
              </a:rPr>
              <a:t> bits of the RSA and Rabin functions</a:t>
            </a:r>
            <a:r>
              <a:rPr lang="en-US" sz="2000" dirty="0">
                <a:latin typeface="Cambria" panose="02040503050406030204" pitchFamily="18" charset="0"/>
              </a:rPr>
              <a:t>,  1984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85720" y="1500174"/>
                <a:ext cx="8501122" cy="2246769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dirty="0">
                    <a:latin typeface="Cambria" panose="02040503050406030204" pitchFamily="18" charset="0"/>
                  </a:rPr>
                  <a:t>Suppose the </a:t>
                </a:r>
                <a:r>
                  <a:rPr lang="en-US" sz="2800" b="1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RSA assumption</a:t>
                </a:r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800" dirty="0">
                    <a:latin typeface="Cambria" panose="02040503050406030204" pitchFamily="18" charset="0"/>
                  </a:rPr>
                  <a:t>holds.</a:t>
                </a:r>
              </a:p>
              <a:p>
                <a:pPr>
                  <a:buNone/>
                </a:pPr>
                <a:r>
                  <a:rPr lang="en-US" sz="2800" dirty="0">
                    <a:latin typeface="Cambria" panose="02040503050406030204" pitchFamily="18" charset="0"/>
                  </a:rPr>
                  <a:t>Then every poly-time adversary wins the </a:t>
                </a:r>
                <a:r>
                  <a:rPr lang="en-US" sz="2800" b="1" dirty="0">
                    <a:latin typeface="Cambria" panose="02040503050406030204" pitchFamily="18" charset="0"/>
                  </a:rPr>
                  <a:t>LSB game</a:t>
                </a:r>
                <a:r>
                  <a:rPr lang="en-US" sz="2800" dirty="0">
                    <a:latin typeface="Cambria" panose="02040503050406030204" pitchFamily="18" charset="0"/>
                  </a:rPr>
                  <a:t> with a probability at most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𝜺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800" b="1" dirty="0">
                  <a:solidFill>
                    <a:srgbClr val="FF0000"/>
                  </a:solidFill>
                  <a:latin typeface="Cambria" panose="02040503050406030204" pitchFamily="18" charset="0"/>
                  <a:cs typeface="Arial"/>
                </a:endParaRPr>
              </a:p>
              <a:p>
                <a:pPr>
                  <a:buNone/>
                </a:pPr>
                <a:r>
                  <a:rPr lang="en-US" sz="2800" dirty="0">
                    <a:latin typeface="Cambria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l-GR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𝜺</m:t>
                    </m:r>
                    <m:r>
                      <a:rPr lang="el-GR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is negligible.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20" y="1500174"/>
                <a:ext cx="8501122" cy="22467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06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4498" y="1571612"/>
            <a:ext cx="8229600" cy="511494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/>
              <a:t>Suppose we are given a poly-time adversary</a:t>
            </a:r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dirty="0"/>
              <a:t>that wins the </a:t>
            </a:r>
            <a:r>
              <a:rPr lang="en-US" b="1" dirty="0"/>
              <a:t>LSB game</a:t>
            </a:r>
            <a:r>
              <a:rPr lang="en-US" dirty="0"/>
              <a:t>.</a:t>
            </a:r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dirty="0"/>
              <a:t>We construct a poly-time adversary </a:t>
            </a:r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dirty="0"/>
              <a:t>that breaks the </a:t>
            </a:r>
            <a:r>
              <a:rPr lang="en-US" b="1" dirty="0"/>
              <a:t>RSA assumption</a:t>
            </a:r>
            <a:r>
              <a:rPr lang="en-US" dirty="0"/>
              <a:t>.</a:t>
            </a:r>
          </a:p>
        </p:txBody>
      </p:sp>
      <p:pic>
        <p:nvPicPr>
          <p:cNvPr id="4" name="Picture 3" descr="C:\Users\Stefan\Pictures\Microsoft Clip Organizer\j0423848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3504" y="2071678"/>
            <a:ext cx="1000132" cy="1098737"/>
          </a:xfrm>
          <a:prstGeom prst="rect">
            <a:avLst/>
          </a:prstGeom>
          <a:noFill/>
        </p:spPr>
      </p:pic>
      <p:pic>
        <p:nvPicPr>
          <p:cNvPr id="5" name="Picture 5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3504" y="5000636"/>
            <a:ext cx="1571636" cy="1086453"/>
          </a:xfrm>
          <a:prstGeom prst="rect">
            <a:avLst/>
          </a:prstGeom>
          <a:noFill/>
        </p:spPr>
      </p:pic>
      <p:sp>
        <p:nvSpPr>
          <p:cNvPr id="6" name="Down Arrow 5"/>
          <p:cNvSpPr/>
          <p:nvPr/>
        </p:nvSpPr>
        <p:spPr>
          <a:xfrm>
            <a:off x="4071934" y="3643314"/>
            <a:ext cx="3286148" cy="928694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ular Callout 6"/>
              <p:cNvSpPr/>
              <p:nvPr/>
            </p:nvSpPr>
            <p:spPr>
              <a:xfrm>
                <a:off x="214282" y="2285992"/>
                <a:ext cx="3429024" cy="2143140"/>
              </a:xfrm>
              <a:prstGeom prst="wedgeRectCallout">
                <a:avLst>
                  <a:gd name="adj1" fmla="val 65870"/>
                  <a:gd name="adj2" fmla="val 3511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Cambria" panose="02040503050406030204" pitchFamily="18" charset="0"/>
                  </a:rPr>
                  <a:t>For simplicity suppose that this happens with probability </a:t>
                </a:r>
                <a:r>
                  <a:rPr lang="en-US" sz="2400" b="1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1</a:t>
                </a:r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</a:p>
              <a:p>
                <a:pPr algn="ctr"/>
                <a:endParaRPr lang="en-US" sz="2400" b="1" dirty="0">
                  <a:solidFill>
                    <a:srgbClr val="C00000"/>
                  </a:solidFill>
                  <a:latin typeface="Cambria" panose="02040503050406030204" pitchFamily="18" charset="0"/>
                </a:endParaRPr>
              </a:p>
              <a:p>
                <a:pPr algn="ctr"/>
                <a:r>
                  <a:rPr lang="en-US" sz="2400" dirty="0">
                    <a:latin typeface="Cambria" panose="02040503050406030204" pitchFamily="18" charset="0"/>
                  </a:rPr>
                  <a:t>(not: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𝜺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Rectangular Callou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82" y="2285992"/>
                <a:ext cx="3429024" cy="2143140"/>
              </a:xfrm>
              <a:prstGeom prst="wedgeRectCallout">
                <a:avLst>
                  <a:gd name="adj1" fmla="val 65870"/>
                  <a:gd name="adj2" fmla="val 3511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96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the 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428860" y="2357430"/>
            <a:ext cx="6286544" cy="3571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pic>
        <p:nvPicPr>
          <p:cNvPr id="4" name="Picture 3" descr="C:\Users\Stefan\Pictures\Microsoft Clip Organizer\j0423848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00892" y="3143248"/>
            <a:ext cx="1357322" cy="1491143"/>
          </a:xfrm>
          <a:prstGeom prst="rect">
            <a:avLst/>
          </a:prstGeom>
          <a:noFill/>
        </p:spPr>
      </p:pic>
      <p:pic>
        <p:nvPicPr>
          <p:cNvPr id="5" name="Picture 5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28794" y="2000240"/>
            <a:ext cx="2071702" cy="143214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Left Arrow 5"/>
              <p:cNvSpPr/>
              <p:nvPr/>
            </p:nvSpPr>
            <p:spPr>
              <a:xfrm flipH="1">
                <a:off x="285720" y="1928802"/>
                <a:ext cx="1643074" cy="1285884"/>
              </a:xfrm>
              <a:prstGeom prst="lef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Left Arrow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5720" y="1928802"/>
                <a:ext cx="1643074" cy="1285884"/>
              </a:xfrm>
              <a:prstGeom prst="leftArrow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ight Arrow 7"/>
              <p:cNvSpPr/>
              <p:nvPr/>
            </p:nvSpPr>
            <p:spPr>
              <a:xfrm>
                <a:off x="4286248" y="2506359"/>
                <a:ext cx="2214578" cy="750346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ight Arrow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8" y="2506359"/>
                <a:ext cx="2214578" cy="750346"/>
              </a:xfrm>
              <a:prstGeom prst="rightArrow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Left Arrow 8"/>
              <p:cNvSpPr/>
              <p:nvPr/>
            </p:nvSpPr>
            <p:spPr>
              <a:xfrm>
                <a:off x="4072050" y="3181993"/>
                <a:ext cx="2642974" cy="750346"/>
              </a:xfrm>
              <a:prstGeom prst="lef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l-PL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𝐋𝐒𝐁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bSup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pl-PL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Left Arrow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050" y="3181993"/>
                <a:ext cx="2642974" cy="750346"/>
              </a:xfrm>
              <a:prstGeom prst="leftArrow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ight Arrow 9"/>
              <p:cNvSpPr/>
              <p:nvPr/>
            </p:nvSpPr>
            <p:spPr>
              <a:xfrm>
                <a:off x="4357686" y="4357694"/>
                <a:ext cx="2214578" cy="750346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igh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686" y="4357694"/>
                <a:ext cx="2214578" cy="750346"/>
              </a:xfrm>
              <a:prstGeom prst="rightArrow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Left Arrow 10"/>
              <p:cNvSpPr/>
              <p:nvPr/>
            </p:nvSpPr>
            <p:spPr>
              <a:xfrm>
                <a:off x="4052375" y="5071828"/>
                <a:ext cx="2643206" cy="750346"/>
              </a:xfrm>
              <a:prstGeom prst="lef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l-PL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𝐋𝐒𝐁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bSup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Left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375" y="5071828"/>
                <a:ext cx="2643206" cy="750346"/>
              </a:xfrm>
              <a:prstGeom prst="leftArrow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 rot="5400000" flipH="1">
            <a:off x="4955357" y="3953207"/>
            <a:ext cx="714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mbria" panose="02040503050406030204" pitchFamily="18" charset="0"/>
              </a:rPr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Left Arrow 12"/>
              <p:cNvSpPr/>
              <p:nvPr/>
            </p:nvSpPr>
            <p:spPr>
              <a:xfrm>
                <a:off x="214282" y="4786322"/>
                <a:ext cx="2000264" cy="1143008"/>
              </a:xfrm>
              <a:prstGeom prst="lef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p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pl-PL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Left Arrow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82" y="4786322"/>
                <a:ext cx="2000264" cy="1143008"/>
              </a:xfrm>
              <a:prstGeom prst="leftArrow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38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dirty="0"/>
              <a:t>Observation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3328998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None/>
                </a:pPr>
                <a:r>
                  <a:rPr lang="en-US" dirty="0"/>
                  <a:t>Adversary               </a:t>
                </a:r>
                <a:r>
                  <a:rPr lang="pl-PL" dirty="0"/>
                  <a:t>that </a:t>
                </a:r>
                <a:r>
                  <a:rPr lang="en-US" dirty="0"/>
                  <a:t>can</a:t>
                </a:r>
                <a:r>
                  <a:rPr lang="pl-PL" dirty="0"/>
                  <a:t> compute</a:t>
                </a:r>
                <a:br>
                  <a:rPr lang="en-US" dirty="0"/>
                </a:br>
                <a:endParaRPr lang="en-US" dirty="0"/>
              </a:p>
              <a:p>
                <a:pPr algn="ctr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LSB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pl-PL" dirty="0"/>
                  <a:t>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can also be used to compute (for any </a:t>
                </a:r>
                <a14:m>
                  <m:oMath xmlns:m="http://schemas.openxmlformats.org/officeDocument/2006/math"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)</a:t>
                </a:r>
              </a:p>
              <a:p>
                <a:pPr algn="ctr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LSB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pl-PL" dirty="0"/>
                  <a:t>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l-PL" dirty="0"/>
                  <a:t>.</a:t>
                </a: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How?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3328998"/>
              </a:xfrm>
              <a:blipFill>
                <a:blip r:embed="rId3"/>
                <a:stretch>
                  <a:fillRect l="-1333" t="-531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:\Users\Stefan\Pictures\Microsoft Clip Organizer\j0423848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71670" y="1214422"/>
            <a:ext cx="928694" cy="1020256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Left Arrow 5"/>
              <p:cNvSpPr/>
              <p:nvPr/>
            </p:nvSpPr>
            <p:spPr>
              <a:xfrm flipH="1">
                <a:off x="785786" y="4786346"/>
                <a:ext cx="2643206" cy="1285884"/>
              </a:xfrm>
              <a:prstGeom prst="lef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p>
                      </m:sSup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Left Arrow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5786" y="4786346"/>
                <a:ext cx="2643206" cy="1285884"/>
              </a:xfrm>
              <a:prstGeom prst="leftArrow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ight Arrow 7"/>
              <p:cNvSpPr/>
              <p:nvPr/>
            </p:nvSpPr>
            <p:spPr>
              <a:xfrm>
                <a:off x="4286248" y="4000528"/>
                <a:ext cx="4286280" cy="2714620"/>
              </a:xfrm>
              <a:prstGeom prst="rightArrow">
                <a:avLst>
                  <a:gd name="adj1" fmla="val 66725"/>
                  <a:gd name="adj2" fmla="val 1818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br>
                  <a:rPr lang="en-US" sz="2400" dirty="0">
                    <a:latin typeface="Cambria" panose="02040503050406030204" pitchFamily="18" charset="0"/>
                  </a:rPr>
                </a:br>
                <a:r>
                  <a:rPr lang="en-US" sz="2400" dirty="0">
                    <a:latin typeface="Cambria" panose="02040503050406030204" pitchFamily="18" charset="0"/>
                  </a:rPr>
                  <a:t>outputs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’=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𝐋𝐒𝐁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·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 algn="ctr"/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𝐋𝐒𝐁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𝒆𝒅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· 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 algn="ctr"/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𝐋𝐒𝐁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 algn="ctr"/>
                <a:endParaRPr lang="en-US" sz="2400" b="1" dirty="0">
                  <a:solidFill>
                    <a:srgbClr val="C0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ight Arrow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8" y="4000528"/>
                <a:ext cx="4286280" cy="2714620"/>
              </a:xfrm>
              <a:prstGeom prst="rightArrow">
                <a:avLst>
                  <a:gd name="adj1" fmla="val 66725"/>
                  <a:gd name="adj2" fmla="val 18187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" descr="C:\Users\Stefan\Pictures\Microsoft Clip Organizer\j0423848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868" y="4786346"/>
            <a:ext cx="1096781" cy="1204914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71260621-53E1-45E6-8836-24B608213A7D}"/>
                  </a:ext>
                </a:extLst>
              </p14:cNvPr>
              <p14:cNvContentPartPr/>
              <p14:nvPr/>
            </p14:nvContentPartPr>
            <p14:xfrm>
              <a:off x="4683600" y="956880"/>
              <a:ext cx="2767320" cy="2716560"/>
            </p14:xfrm>
          </p:contentPart>
        </mc:Choice>
        <mc:Fallback xmlns=""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71260621-53E1-45E6-8836-24B608213A7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74240" y="947520"/>
                <a:ext cx="2786040" cy="273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050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uiExpand="1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167" y="0"/>
            <a:ext cx="3842261" cy="1325563"/>
          </a:xfrm>
        </p:spPr>
        <p:txBody>
          <a:bodyPr/>
          <a:lstStyle/>
          <a:p>
            <a:r>
              <a:rPr lang="en-US" dirty="0"/>
              <a:t>The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dirty="0"/>
                  <a:t>The adversary                     will use               to 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compute:</a:t>
                </a:r>
              </a:p>
              <a:p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𝐋𝐒𝐁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𝐋𝐒𝐁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𝐋𝐒𝐁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algn="r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Why is it useful?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2381" r="-1623" b="-294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5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5107" y="1389685"/>
            <a:ext cx="1451659" cy="1003514"/>
          </a:xfrm>
          <a:prstGeom prst="rect">
            <a:avLst/>
          </a:prstGeom>
          <a:noFill/>
        </p:spPr>
      </p:pic>
      <p:pic>
        <p:nvPicPr>
          <p:cNvPr id="5" name="Picture 4" descr="C:\Users\Stefan\Pictures\Microsoft Clip Organizer\j0423848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7041" y="1454117"/>
            <a:ext cx="928694" cy="1020256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 rot="5400000">
            <a:off x="1268824" y="4734833"/>
            <a:ext cx="535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13970" y="424991"/>
                <a:ext cx="2647841" cy="47557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pl-PL" sz="2400" dirty="0"/>
                  <a:t>Let </a:t>
                </a:r>
                <a14:m>
                  <m:oMath xmlns:m="http://schemas.openxmlformats.org/officeDocument/2006/math">
                    <m:r>
                      <a:rPr lang="pl-P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pl-P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p>
                      <m:sSupPr>
                        <m:ctrlP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pl-PL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pl-PL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970" y="424991"/>
                <a:ext cx="2647841" cy="4755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89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dirty="0"/>
              <a:t>Observation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28991" y="2071678"/>
          <a:ext cx="2357454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. . 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i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N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-1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5984" y="3000372"/>
          <a:ext cx="471490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.</a:t>
                      </a:r>
                      <a:r>
                        <a:rPr lang="en-US" b="1" baseline="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. 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2</a:t>
                      </a:r>
                      <a:r>
                        <a:rPr lang="en-US" b="1" i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N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-2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rapezoid 9"/>
          <p:cNvSpPr/>
          <p:nvPr/>
        </p:nvSpPr>
        <p:spPr>
          <a:xfrm>
            <a:off x="2285983" y="2571744"/>
            <a:ext cx="4643471" cy="357190"/>
          </a:xfrm>
          <a:prstGeom prst="trapezoid">
            <a:avLst>
              <a:gd name="adj" fmla="val 31918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285984" y="3929066"/>
          <a:ext cx="2357454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. . 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i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N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-1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643438" y="3929066"/>
          <a:ext cx="2357454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. . 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i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N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-1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85786" y="2143116"/>
                <a:ext cx="284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86" y="2143116"/>
                <a:ext cx="284052" cy="369332"/>
              </a:xfrm>
              <a:prstGeom prst="rect">
                <a:avLst/>
              </a:prstGeom>
              <a:blipFill>
                <a:blip r:embed="rId3"/>
                <a:stretch>
                  <a:fillRect r="-13043"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41904" y="3000372"/>
                <a:ext cx="5116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04" y="3000372"/>
                <a:ext cx="511679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14348" y="4000504"/>
                <a:ext cx="12731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48" y="4000504"/>
                <a:ext cx="1273104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Left Brace 27"/>
          <p:cNvSpPr/>
          <p:nvPr/>
        </p:nvSpPr>
        <p:spPr>
          <a:xfrm rot="16200000">
            <a:off x="3214678" y="3500438"/>
            <a:ext cx="500066" cy="2357454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29" name="Left Brace 28"/>
          <p:cNvSpPr/>
          <p:nvPr/>
        </p:nvSpPr>
        <p:spPr>
          <a:xfrm rot="16200000">
            <a:off x="5572132" y="3500438"/>
            <a:ext cx="500066" cy="2357454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236182" y="4851689"/>
                <a:ext cx="800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182" y="4851689"/>
                <a:ext cx="800219" cy="369332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682040" y="4856318"/>
                <a:ext cx="13532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040" y="4856318"/>
                <a:ext cx="1353256" cy="369332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/>
          <p:cNvSpPr/>
          <p:nvPr/>
        </p:nvSpPr>
        <p:spPr>
          <a:xfrm>
            <a:off x="2285984" y="3429000"/>
            <a:ext cx="4714908" cy="42862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2894001" y="3321843"/>
            <a:ext cx="3499668" cy="79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Left Brace 35"/>
          <p:cNvSpPr/>
          <p:nvPr/>
        </p:nvSpPr>
        <p:spPr>
          <a:xfrm rot="5400000">
            <a:off x="3786182" y="1214422"/>
            <a:ext cx="500066" cy="1214446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37" name="Left Brace 36"/>
          <p:cNvSpPr/>
          <p:nvPr/>
        </p:nvSpPr>
        <p:spPr>
          <a:xfrm rot="5400000">
            <a:off x="4964909" y="1250141"/>
            <a:ext cx="500066" cy="1143008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969301" y="1208755"/>
                <a:ext cx="17075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≤(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𝑵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)/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301" y="1208755"/>
                <a:ext cx="1707519" cy="369332"/>
              </a:xfrm>
              <a:prstGeom prst="rect">
                <a:avLst/>
              </a:prstGeom>
              <a:blipFill>
                <a:blip r:embed="rId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672011" y="1208755"/>
                <a:ext cx="17075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&gt;(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𝑵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)/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011" y="1208755"/>
                <a:ext cx="1707519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491714" y="3862004"/>
                <a:ext cx="15872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</a:rPr>
                  <a:t>Remember:</a:t>
                </a:r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</a:rPr>
                  <a:t> is odd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1714" y="3862004"/>
                <a:ext cx="1587294" cy="646331"/>
              </a:xfrm>
              <a:prstGeom prst="rect">
                <a:avLst/>
              </a:prstGeom>
              <a:blipFill rotWithShape="0">
                <a:blip r:embed="rId10"/>
                <a:stretch>
                  <a:fillRect l="-3462" t="-6604" r="-2308" b="-1320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Arrow 41"/>
          <p:cNvSpPr/>
          <p:nvPr/>
        </p:nvSpPr>
        <p:spPr>
          <a:xfrm rot="16200000" flipH="1">
            <a:off x="3000364" y="5286388"/>
            <a:ext cx="928694" cy="642942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even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57158" y="6143644"/>
                <a:ext cx="60224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u="sng" dirty="0">
                    <a:latin typeface="Cambria" panose="02040503050406030204" pitchFamily="18" charset="0"/>
                  </a:rPr>
                  <a:t>Moral</a:t>
                </a:r>
                <a:r>
                  <a:rPr lang="en-US" sz="2000" dirty="0">
                    <a:latin typeface="Cambria" panose="02040503050406030204" pitchFamily="18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,…,(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𝑵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)/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] 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  <a:sym typeface="Symbol"/>
                  </a:rPr>
                  <a:t>iff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𝟐</m:t>
                    </m:r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𝒚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𝐦𝐨𝐝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𝑵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  <a:sym typeface="Symbol"/>
                  </a:rPr>
                  <a:t>is even</a:t>
                </a:r>
                <a:r>
                  <a:rPr lang="en-US" sz="2000" dirty="0">
                    <a:latin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6143644"/>
                <a:ext cx="6022418" cy="400110"/>
              </a:xfrm>
              <a:prstGeom prst="rect">
                <a:avLst/>
              </a:prstGeom>
              <a:blipFill>
                <a:blip r:embed="rId11"/>
                <a:stretch>
                  <a:fillRect l="-1113" t="-9231" b="-2769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Left Arrow 43"/>
          <p:cNvSpPr/>
          <p:nvPr/>
        </p:nvSpPr>
        <p:spPr>
          <a:xfrm rot="16200000" flipH="1">
            <a:off x="5380490" y="5301785"/>
            <a:ext cx="928694" cy="642942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odd</a:t>
            </a:r>
          </a:p>
        </p:txBody>
      </p:sp>
    </p:spTree>
    <p:extLst>
      <p:ext uri="{BB962C8B-B14F-4D97-AF65-F5344CB8AC3E}">
        <p14:creationId xmlns:p14="http://schemas.microsoft.com/office/powerpoint/2010/main" val="220131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6" grpId="0"/>
      <p:bldP spid="27" grpId="0"/>
      <p:bldP spid="28" grpId="0" animBg="1"/>
      <p:bldP spid="29" grpId="0" animBg="1"/>
      <p:bldP spid="30" grpId="0"/>
      <p:bldP spid="31" grpId="0"/>
      <p:bldP spid="32" grpId="0" animBg="1"/>
      <p:bldP spid="36" grpId="0" animBg="1"/>
      <p:bldP spid="37" grpId="0" animBg="1"/>
      <p:bldP spid="38" grpId="0"/>
      <p:bldP spid="39" grpId="0"/>
      <p:bldP spid="41" grpId="0"/>
      <p:bldP spid="42" grpId="0" animBg="1"/>
      <p:bldP spid="43" grpId="0"/>
      <p:bldP spid="4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43302" y="1544553"/>
          <a:ext cx="2286019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. . 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i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N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-1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28660" y="2473247"/>
          <a:ext cx="80724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4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.</a:t>
                      </a:r>
                      <a:r>
                        <a:rPr lang="en-US" b="1" baseline="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. 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4</a:t>
                      </a:r>
                      <a:r>
                        <a:rPr lang="en-US" b="1" i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N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-4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rapezoid 9"/>
          <p:cNvSpPr/>
          <p:nvPr/>
        </p:nvSpPr>
        <p:spPr>
          <a:xfrm>
            <a:off x="928661" y="2044619"/>
            <a:ext cx="8072494" cy="357190"/>
          </a:xfrm>
          <a:prstGeom prst="trapezoid">
            <a:avLst>
              <a:gd name="adj" fmla="val 79629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28595" y="1615991"/>
                <a:ext cx="284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5" y="1615991"/>
                <a:ext cx="284052" cy="369332"/>
              </a:xfrm>
              <a:prstGeom prst="rect">
                <a:avLst/>
              </a:prstGeom>
              <a:blipFill>
                <a:blip r:embed="rId3"/>
                <a:stretch>
                  <a:fillRect r="-10638" b="-819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84713" y="2473247"/>
                <a:ext cx="5116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13" y="2473247"/>
                <a:ext cx="511679" cy="369332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0" y="3330503"/>
                <a:ext cx="8258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30503"/>
                <a:ext cx="825845" cy="646331"/>
              </a:xfrm>
              <a:prstGeom prst="rect">
                <a:avLst/>
              </a:prstGeom>
              <a:blipFill>
                <a:blip r:embed="rId5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Left Brace 27"/>
          <p:cNvSpPr/>
          <p:nvPr/>
        </p:nvSpPr>
        <p:spPr>
          <a:xfrm rot="16200000">
            <a:off x="1643042" y="3116189"/>
            <a:ext cx="500066" cy="1928826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29" name="Left Brace 28"/>
          <p:cNvSpPr/>
          <p:nvPr/>
        </p:nvSpPr>
        <p:spPr>
          <a:xfrm rot="16200000">
            <a:off x="3571868" y="3116189"/>
            <a:ext cx="500066" cy="1928826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491827" y="4327098"/>
                <a:ext cx="800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827" y="4327098"/>
                <a:ext cx="800219" cy="369332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107616" y="4345304"/>
                <a:ext cx="14911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616" y="4345304"/>
                <a:ext cx="1491114" cy="369332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/>
          <p:cNvSpPr/>
          <p:nvPr/>
        </p:nvSpPr>
        <p:spPr>
          <a:xfrm>
            <a:off x="928661" y="2901875"/>
            <a:ext cx="8072494" cy="42862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36" name="Left Brace 35"/>
          <p:cNvSpPr/>
          <p:nvPr/>
        </p:nvSpPr>
        <p:spPr>
          <a:xfrm rot="5400000">
            <a:off x="3679024" y="1008768"/>
            <a:ext cx="500066" cy="571504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643302" y="596001"/>
                <a:ext cx="114787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𝑵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−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)/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𝟒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302" y="596001"/>
                <a:ext cx="1147878" cy="338554"/>
              </a:xfrm>
              <a:prstGeom prst="rect">
                <a:avLst/>
              </a:prstGeom>
              <a:blipFill rotWithShape="0">
                <a:blip r:embed="rId8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Arrow 41"/>
          <p:cNvSpPr/>
          <p:nvPr/>
        </p:nvSpPr>
        <p:spPr>
          <a:xfrm rot="16200000" flipH="1">
            <a:off x="1448346" y="4739644"/>
            <a:ext cx="889457" cy="642942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even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5927" y="5813340"/>
                <a:ext cx="7538154" cy="5575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u="sng" dirty="0">
                    <a:latin typeface="Cambria" panose="02040503050406030204" pitchFamily="18" charset="0"/>
                  </a:rPr>
                  <a:t>Moral</a:t>
                </a:r>
                <a:r>
                  <a:rPr lang="en-US" sz="2000" dirty="0">
                    <a:latin typeface="Cambria" panose="02040503050406030204" pitchFamily="18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𝟏</m:t>
                        </m:r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,…,</m:t>
                        </m:r>
                        <m:f>
                          <m:fPr>
                            <m:ctrlP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fPr>
                          <m:num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𝑵</m:t>
                            </m:r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−</m:t>
                            </m:r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𝟒</m:t>
                            </m:r>
                          </m:den>
                        </m:f>
                      </m:e>
                    </m:d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∪ 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fPr>
                          <m:num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𝑵</m:t>
                            </m:r>
                          </m:num>
                          <m:den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𝟐</m:t>
                            </m:r>
                          </m:den>
                        </m:f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+</m:t>
                        </m:r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𝟏</m:t>
                        </m:r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,…,</m:t>
                        </m:r>
                        <m:f>
                          <m:fPr>
                            <m:ctrlP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fPr>
                          <m:num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𝟑</m:t>
                            </m:r>
                            <m:d>
                              <m:dPr>
                                <m:ctrlP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𝑵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−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𝟏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𝟒</m:t>
                            </m:r>
                          </m:den>
                        </m:f>
                      </m:e>
                    </m:d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  <a:sym typeface="Symbol"/>
                  </a:rPr>
                  <a:t>iff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𝟒</m:t>
                    </m:r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𝒚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𝐦𝐨𝐝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𝑵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sz="2000" dirty="0">
                    <a:latin typeface="Cambria" panose="02040503050406030204" pitchFamily="18" charset="0"/>
                    <a:sym typeface="Symbol"/>
                  </a:rPr>
                  <a:t>is even</a:t>
                </a:r>
                <a:r>
                  <a:rPr lang="en-US" sz="2000" dirty="0">
                    <a:latin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27" y="5813340"/>
                <a:ext cx="7538154" cy="557525"/>
              </a:xfrm>
              <a:prstGeom prst="rect">
                <a:avLst/>
              </a:prstGeom>
              <a:blipFill>
                <a:blip r:embed="rId9"/>
                <a:stretch>
                  <a:fillRect l="-890" b="-439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Left Brace 32"/>
          <p:cNvSpPr/>
          <p:nvPr/>
        </p:nvSpPr>
        <p:spPr>
          <a:xfrm rot="5400000">
            <a:off x="4250528" y="1008768"/>
            <a:ext cx="500066" cy="571504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35" name="Left Brace 34"/>
          <p:cNvSpPr/>
          <p:nvPr/>
        </p:nvSpPr>
        <p:spPr>
          <a:xfrm rot="5400000">
            <a:off x="4822032" y="1008768"/>
            <a:ext cx="500066" cy="571504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44" name="Left Brace 43"/>
          <p:cNvSpPr/>
          <p:nvPr/>
        </p:nvSpPr>
        <p:spPr>
          <a:xfrm rot="5400000">
            <a:off x="5393536" y="1008768"/>
            <a:ext cx="500066" cy="571504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332500" y="232268"/>
                <a:ext cx="114787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𝑵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−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)/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𝟐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500" y="232268"/>
                <a:ext cx="1147878" cy="338554"/>
              </a:xfrm>
              <a:prstGeom prst="rect">
                <a:avLst/>
              </a:prstGeom>
              <a:blipFill rotWithShape="0">
                <a:blip r:embed="rId10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844723" y="596001"/>
                <a:ext cx="127131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𝟑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𝑵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−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)/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𝟒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723" y="596001"/>
                <a:ext cx="1271310" cy="338554"/>
              </a:xfrm>
              <a:prstGeom prst="rect">
                <a:avLst/>
              </a:prstGeom>
              <a:blipFill rotWithShape="0">
                <a:blip r:embed="rId11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 rot="5400000">
            <a:off x="3714743" y="1544553"/>
            <a:ext cx="1000132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>
            <a:off x="4894264" y="1508834"/>
            <a:ext cx="927900" cy="79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928664" y="3401941"/>
          <a:ext cx="1928824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. . 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i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N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-1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2857488" y="3401941"/>
          <a:ext cx="1928825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. . 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i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N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-1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4786313" y="3401941"/>
          <a:ext cx="2143140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. . 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i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N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-1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6929453" y="3401941"/>
          <a:ext cx="2071701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. . 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i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N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</a:rPr>
                        <a:t>-1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0" name="Straight Connector 59"/>
          <p:cNvCxnSpPr/>
          <p:nvPr/>
        </p:nvCxnSpPr>
        <p:spPr>
          <a:xfrm rot="10800000" flipV="1">
            <a:off x="2857489" y="2044619"/>
            <a:ext cx="1357321" cy="35719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5400000">
            <a:off x="2606660" y="2651842"/>
            <a:ext cx="500860" cy="79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5400000">
            <a:off x="2179621" y="3508304"/>
            <a:ext cx="1357322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357817" y="1973181"/>
            <a:ext cx="1571637" cy="42862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5400000">
            <a:off x="6679420" y="2651842"/>
            <a:ext cx="500066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rot="5400000">
            <a:off x="6287306" y="3544023"/>
            <a:ext cx="1285884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5400000">
            <a:off x="3072596" y="2473248"/>
            <a:ext cx="3428230" cy="793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Left Brace 73"/>
          <p:cNvSpPr/>
          <p:nvPr/>
        </p:nvSpPr>
        <p:spPr>
          <a:xfrm rot="16200000">
            <a:off x="5607851" y="3009032"/>
            <a:ext cx="500066" cy="2143140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75" name="Left Brace 74"/>
          <p:cNvSpPr/>
          <p:nvPr/>
        </p:nvSpPr>
        <p:spPr>
          <a:xfrm rot="16200000">
            <a:off x="7715272" y="3044751"/>
            <a:ext cx="500066" cy="2071702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3083449" y="4316985"/>
                <a:ext cx="13532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449" y="4316985"/>
                <a:ext cx="1353256" cy="369332"/>
              </a:xfrm>
              <a:prstGeom prst="rect">
                <a:avLst/>
              </a:prstGeom>
              <a:blipFill>
                <a:blip r:embed="rId1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5128970" y="4327098"/>
                <a:ext cx="1369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970" y="4327098"/>
                <a:ext cx="1369286" cy="369332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Left Arrow 79"/>
          <p:cNvSpPr/>
          <p:nvPr/>
        </p:nvSpPr>
        <p:spPr>
          <a:xfrm rot="16200000" flipH="1">
            <a:off x="7615522" y="4757851"/>
            <a:ext cx="889457" cy="642942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odd</a:t>
            </a:r>
          </a:p>
        </p:txBody>
      </p:sp>
      <p:sp>
        <p:nvSpPr>
          <p:cNvPr id="83" name="Left Arrow 82"/>
          <p:cNvSpPr/>
          <p:nvPr/>
        </p:nvSpPr>
        <p:spPr>
          <a:xfrm rot="16200000" flipH="1">
            <a:off x="5448874" y="4739644"/>
            <a:ext cx="889457" cy="642942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even</a:t>
            </a:r>
          </a:p>
        </p:txBody>
      </p:sp>
      <p:sp>
        <p:nvSpPr>
          <p:cNvPr id="84" name="Left Arrow 83"/>
          <p:cNvSpPr/>
          <p:nvPr/>
        </p:nvSpPr>
        <p:spPr>
          <a:xfrm rot="16200000" flipH="1">
            <a:off x="3448610" y="4811082"/>
            <a:ext cx="889457" cy="642942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odd</a:t>
            </a:r>
          </a:p>
        </p:txBody>
      </p:sp>
    </p:spTree>
    <p:extLst>
      <p:ext uri="{BB962C8B-B14F-4D97-AF65-F5344CB8AC3E}">
        <p14:creationId xmlns:p14="http://schemas.microsoft.com/office/powerpoint/2010/main" val="356137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6" grpId="0"/>
      <p:bldP spid="27" grpId="0"/>
      <p:bldP spid="28" grpId="0" animBg="1"/>
      <p:bldP spid="29" grpId="0" animBg="1"/>
      <p:bldP spid="30" grpId="0"/>
      <p:bldP spid="31" grpId="0"/>
      <p:bldP spid="32" grpId="0" animBg="1"/>
      <p:bldP spid="36" grpId="0" animBg="1"/>
      <p:bldP spid="38" grpId="0"/>
      <p:bldP spid="42" grpId="0" animBg="1"/>
      <p:bldP spid="43" grpId="0"/>
      <p:bldP spid="33" grpId="0" animBg="1"/>
      <p:bldP spid="35" grpId="0" animBg="1"/>
      <p:bldP spid="44" grpId="0" animBg="1"/>
      <p:bldP spid="45" grpId="0"/>
      <p:bldP spid="46" grpId="0"/>
      <p:bldP spid="74" grpId="0" animBg="1"/>
      <p:bldP spid="75" grpId="0" animBg="1"/>
      <p:bldP spid="76" grpId="0"/>
      <p:bldP spid="77" grpId="0"/>
      <p:bldP spid="80" grpId="0" animBg="1"/>
      <p:bldP spid="83" grpId="0" animBg="1"/>
      <p:bldP spid="8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43302" y="1226809"/>
          <a:ext cx="2286019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. . 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28660" y="2155503"/>
          <a:ext cx="80724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.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. 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rapezoid 9"/>
          <p:cNvSpPr/>
          <p:nvPr/>
        </p:nvSpPr>
        <p:spPr>
          <a:xfrm>
            <a:off x="928661" y="1726875"/>
            <a:ext cx="8072494" cy="357190"/>
          </a:xfrm>
          <a:prstGeom prst="trapezoid">
            <a:avLst>
              <a:gd name="adj" fmla="val 80217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28595" y="1298247"/>
                <a:ext cx="284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5" y="1298247"/>
                <a:ext cx="284052" cy="369332"/>
              </a:xfrm>
              <a:prstGeom prst="rect">
                <a:avLst/>
              </a:prstGeom>
              <a:blipFill>
                <a:blip r:embed="rId3"/>
                <a:stretch>
                  <a:fillRect r="-10638" b="-655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84713" y="2155503"/>
                <a:ext cx="5116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13" y="2155503"/>
                <a:ext cx="511679" cy="369332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-90935" y="2975344"/>
                <a:ext cx="946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0935" y="2975344"/>
                <a:ext cx="94609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Left Brace 27"/>
          <p:cNvSpPr/>
          <p:nvPr/>
        </p:nvSpPr>
        <p:spPr>
          <a:xfrm rot="16200000">
            <a:off x="1142976" y="3298510"/>
            <a:ext cx="500066" cy="928694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29" name="Left Brace 28"/>
          <p:cNvSpPr/>
          <p:nvPr/>
        </p:nvSpPr>
        <p:spPr>
          <a:xfrm rot="16200000">
            <a:off x="3071802" y="3298510"/>
            <a:ext cx="500066" cy="928694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038974" y="3972087"/>
                <a:ext cx="6921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74" y="3972087"/>
                <a:ext cx="692148" cy="646331"/>
              </a:xfrm>
              <a:prstGeom prst="rect">
                <a:avLst/>
              </a:prstGeom>
              <a:blipFill>
                <a:blip r:embed="rId6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/>
          <p:cNvSpPr/>
          <p:nvPr/>
        </p:nvSpPr>
        <p:spPr>
          <a:xfrm>
            <a:off x="928662" y="2584131"/>
            <a:ext cx="8072494" cy="42862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36" name="Left Brace 35"/>
          <p:cNvSpPr/>
          <p:nvPr/>
        </p:nvSpPr>
        <p:spPr>
          <a:xfrm rot="5400000">
            <a:off x="3536149" y="833899"/>
            <a:ext cx="500066" cy="285753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532708" y="103713"/>
                <a:ext cx="753540" cy="555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𝑵</m:t>
                          </m:r>
                          <m: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−</m:t>
                          </m:r>
                          <m: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708" y="103713"/>
                <a:ext cx="753540" cy="55502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65477" y="5714876"/>
                <a:ext cx="6302963" cy="990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000" b="1" u="sng" dirty="0">
                    <a:latin typeface="Cambria" panose="02040503050406030204" pitchFamily="18" charset="0"/>
                  </a:rPr>
                  <a:t>Moral</a:t>
                </a:r>
                <a:r>
                  <a:rPr lang="en-US" sz="2000" dirty="0">
                    <a:latin typeface="Cambria" panose="02040503050406030204" pitchFamily="18" charset="0"/>
                  </a:rPr>
                  <a:t>:   </a:t>
                </a:r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𝟏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,…,</m:t>
                        </m:r>
                        <m:f>
                          <m:f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fPr>
                          <m:num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𝑵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−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𝟖</m:t>
                            </m:r>
                          </m:den>
                        </m:f>
                      </m:e>
                    </m:d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∪ </m:t>
                    </m:r>
                    <m:d>
                      <m:dPr>
                        <m:begChr m:val="["/>
                        <m:endChr m:val="]"/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fPr>
                          <m:num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𝟐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𝑵</m:t>
                            </m:r>
                          </m:num>
                          <m:den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𝟖</m:t>
                            </m:r>
                          </m:den>
                        </m:f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+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𝟏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,…,</m:t>
                        </m:r>
                        <m:f>
                          <m:f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fPr>
                          <m:num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𝟑</m:t>
                            </m:r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𝑵</m:t>
                                </m:r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−</m:t>
                                </m:r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𝟏</m:t>
                                </m:r>
                              </m:e>
                            </m:d>
                          </m:num>
                          <m:den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𝟖</m:t>
                            </m:r>
                          </m:den>
                        </m:f>
                      </m:e>
                    </m:d>
                  </m:oMath>
                </a14:m>
                <a:br>
                  <a:rPr lang="en-US" b="1" i="1" dirty="0">
                    <a:solidFill>
                      <a:srgbClr val="FF0000"/>
                    </a:solidFill>
                    <a:latin typeface="Cambria Math" panose="02040503050406030204" pitchFamily="18" charset="0"/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∪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𝟒</m:t>
                              </m:r>
                              <m: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𝟖</m:t>
                              </m:r>
                            </m:den>
                          </m:f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+</m:t>
                          </m:r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𝟏</m:t>
                          </m:r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,…,</m:t>
                          </m:r>
                          <m:f>
                            <m:fPr>
                              <m:ctrlP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𝟓</m:t>
                              </m:r>
                              <m:d>
                                <m:dPr>
                                  <m:ctrlPr>
                                    <a:rPr lang="en-US" sz="1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𝑵</m:t>
                                  </m:r>
                                  <m:r>
                                    <a:rPr lang="en-US" sz="1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−</m:t>
                                  </m:r>
                                  <m:r>
                                    <a:rPr lang="en-US" sz="1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𝟏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𝟖</m:t>
                              </m:r>
                            </m:den>
                          </m:f>
                        </m:e>
                      </m:d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∪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𝟔</m:t>
                              </m:r>
                              <m: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𝟖</m:t>
                              </m:r>
                            </m:den>
                          </m:f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+</m:t>
                          </m:r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𝟏</m:t>
                          </m:r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,…,</m:t>
                          </m:r>
                          <m:f>
                            <m:fPr>
                              <m:ctrlP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𝟕</m:t>
                              </m:r>
                              <m:d>
                                <m:dPr>
                                  <m:ctrlPr>
                                    <a:rPr lang="en-US" sz="1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𝑵</m:t>
                                  </m:r>
                                  <m:r>
                                    <a:rPr lang="en-US" sz="1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−</m:t>
                                  </m:r>
                                  <m:r>
                                    <a:rPr lang="en-US" sz="1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𝟏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𝟖</m:t>
                              </m:r>
                            </m:den>
                          </m:f>
                        </m:e>
                      </m:d>
                      <m:r>
                        <a:rPr lang="en-US" sz="1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  <m:r>
                        <a:rPr lang="en-US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Cambria" panose="02040503050406030204" pitchFamily="18" charset="0"/>
                  <a:sym typeface="Symbol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77" y="5714876"/>
                <a:ext cx="6302963" cy="990207"/>
              </a:xfrm>
              <a:prstGeom prst="rect">
                <a:avLst/>
              </a:prstGeom>
              <a:blipFill>
                <a:blip r:embed="rId8"/>
                <a:stretch>
                  <a:fillRect l="-106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Left Brace 32"/>
          <p:cNvSpPr/>
          <p:nvPr/>
        </p:nvSpPr>
        <p:spPr>
          <a:xfrm rot="5400000">
            <a:off x="3821901" y="833900"/>
            <a:ext cx="500066" cy="285752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35" name="Left Brace 34"/>
          <p:cNvSpPr/>
          <p:nvPr/>
        </p:nvSpPr>
        <p:spPr>
          <a:xfrm rot="5400000">
            <a:off x="4679157" y="833899"/>
            <a:ext cx="500066" cy="285753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44" name="Left Brace 43"/>
          <p:cNvSpPr/>
          <p:nvPr/>
        </p:nvSpPr>
        <p:spPr>
          <a:xfrm rot="5400000">
            <a:off x="5250661" y="833899"/>
            <a:ext cx="500066" cy="285753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293363" y="108873"/>
                <a:ext cx="1047274" cy="5702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𝟕</m:t>
                          </m:r>
                          <m:d>
                            <m:dPr>
                              <m:ctrlPr>
                                <a:rPr lang="en-US" sz="1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US" sz="1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𝑵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−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363" y="108873"/>
                <a:ext cx="1047274" cy="57028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 rot="5400000">
            <a:off x="3714743" y="1226809"/>
            <a:ext cx="1000132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>
            <a:off x="4894264" y="1191090"/>
            <a:ext cx="927900" cy="79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928664" y="3084196"/>
          <a:ext cx="1928824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2857488" y="3084196"/>
          <a:ext cx="1928825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4786313" y="3084196"/>
          <a:ext cx="2143140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6929453" y="3084196"/>
          <a:ext cx="2071701" cy="42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0" name="Straight Connector 59"/>
          <p:cNvCxnSpPr/>
          <p:nvPr/>
        </p:nvCxnSpPr>
        <p:spPr>
          <a:xfrm rot="10800000" flipV="1">
            <a:off x="2857489" y="1726875"/>
            <a:ext cx="1357321" cy="35719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5400000">
            <a:off x="2606660" y="2334098"/>
            <a:ext cx="500860" cy="79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5400000">
            <a:off x="2393935" y="3047684"/>
            <a:ext cx="928694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357817" y="1655437"/>
            <a:ext cx="1571637" cy="42862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5400000">
            <a:off x="6680215" y="2404742"/>
            <a:ext cx="500066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endCxn id="104" idx="2"/>
          </p:cNvCxnSpPr>
          <p:nvPr/>
        </p:nvCxnSpPr>
        <p:spPr>
          <a:xfrm rot="5400000">
            <a:off x="6465902" y="3047683"/>
            <a:ext cx="928693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endCxn id="103" idx="2"/>
          </p:cNvCxnSpPr>
          <p:nvPr/>
        </p:nvCxnSpPr>
        <p:spPr>
          <a:xfrm rot="5400000">
            <a:off x="3393275" y="2119784"/>
            <a:ext cx="2786080" cy="1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Left Brace 73"/>
          <p:cNvSpPr/>
          <p:nvPr/>
        </p:nvSpPr>
        <p:spPr>
          <a:xfrm rot="16200000">
            <a:off x="5072066" y="3227072"/>
            <a:ext cx="500066" cy="1071570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75" name="Left Brace 74"/>
          <p:cNvSpPr/>
          <p:nvPr/>
        </p:nvSpPr>
        <p:spPr>
          <a:xfrm rot="16200000">
            <a:off x="7179487" y="3262791"/>
            <a:ext cx="500066" cy="1000132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rot="5400000">
            <a:off x="3429786" y="1226015"/>
            <a:ext cx="1000132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rot="5400000">
            <a:off x="4001290" y="1226015"/>
            <a:ext cx="1000132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Left Brace 51"/>
          <p:cNvSpPr/>
          <p:nvPr/>
        </p:nvSpPr>
        <p:spPr>
          <a:xfrm rot="5400000">
            <a:off x="4107653" y="833900"/>
            <a:ext cx="500066" cy="285752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53" name="Left Brace 52"/>
          <p:cNvSpPr/>
          <p:nvPr/>
        </p:nvSpPr>
        <p:spPr>
          <a:xfrm rot="5400000">
            <a:off x="4393405" y="833900"/>
            <a:ext cx="500066" cy="285752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54" name="Left Brace 53"/>
          <p:cNvSpPr/>
          <p:nvPr/>
        </p:nvSpPr>
        <p:spPr>
          <a:xfrm rot="5400000">
            <a:off x="4964909" y="833900"/>
            <a:ext cx="500066" cy="285753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59" name="Left Brace 58"/>
          <p:cNvSpPr/>
          <p:nvPr/>
        </p:nvSpPr>
        <p:spPr>
          <a:xfrm rot="5400000">
            <a:off x="5536413" y="833900"/>
            <a:ext cx="500066" cy="285753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 rot="5400000">
            <a:off x="4572397" y="1226412"/>
            <a:ext cx="1000132" cy="794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rot="5400000">
            <a:off x="5180017" y="1190296"/>
            <a:ext cx="928694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rot="10800000" flipV="1">
            <a:off x="1857356" y="1726875"/>
            <a:ext cx="2071702" cy="35719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rot="10800000" flipV="1">
            <a:off x="3786182" y="1726875"/>
            <a:ext cx="714380" cy="35719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5072066" y="1726875"/>
            <a:ext cx="785818" cy="35719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5643570" y="1655437"/>
            <a:ext cx="2286016" cy="42862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rot="5400000">
            <a:off x="1179489" y="2833370"/>
            <a:ext cx="1357322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endCxn id="103" idx="0"/>
          </p:cNvCxnSpPr>
          <p:nvPr/>
        </p:nvCxnSpPr>
        <p:spPr>
          <a:xfrm rot="5400000">
            <a:off x="3072597" y="2797650"/>
            <a:ext cx="1428759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rot="5400000">
            <a:off x="5144298" y="2797651"/>
            <a:ext cx="1428760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rot="5400000">
            <a:off x="7216000" y="2797651"/>
            <a:ext cx="1428760" cy="1588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Left Brace 101"/>
          <p:cNvSpPr/>
          <p:nvPr/>
        </p:nvSpPr>
        <p:spPr>
          <a:xfrm rot="16200000">
            <a:off x="2107389" y="3262791"/>
            <a:ext cx="500066" cy="1000132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103" name="Left Brace 102"/>
          <p:cNvSpPr/>
          <p:nvPr/>
        </p:nvSpPr>
        <p:spPr>
          <a:xfrm rot="16200000">
            <a:off x="4036215" y="3262791"/>
            <a:ext cx="500066" cy="1000132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104" name="Left Brace 103"/>
          <p:cNvSpPr/>
          <p:nvPr/>
        </p:nvSpPr>
        <p:spPr>
          <a:xfrm rot="16200000">
            <a:off x="6143636" y="3227072"/>
            <a:ext cx="500066" cy="1071570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105" name="Left Brace 104"/>
          <p:cNvSpPr/>
          <p:nvPr/>
        </p:nvSpPr>
        <p:spPr>
          <a:xfrm rot="16200000">
            <a:off x="8215338" y="3227072"/>
            <a:ext cx="500066" cy="1071570"/>
          </a:xfrm>
          <a:prstGeom prst="leftBrace">
            <a:avLst>
              <a:gd name="adj1" fmla="val 3227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5554652" y="4188277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" panose="02040503050406030204" pitchFamily="18" charset="0"/>
                <a:sym typeface="Symbol"/>
              </a:rPr>
              <a:t>. . . </a:t>
            </a:r>
            <a:endParaRPr lang="en-US" sz="20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1888636" y="3962951"/>
                <a:ext cx="9621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636" y="3962951"/>
                <a:ext cx="962123" cy="646331"/>
              </a:xfrm>
              <a:prstGeom prst="rect">
                <a:avLst/>
              </a:prstGeom>
              <a:blipFill>
                <a:blip r:embed="rId10"/>
                <a:stretch>
                  <a:fillRect b="-471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2773216" y="3972087"/>
                <a:ext cx="10999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216" y="3972087"/>
                <a:ext cx="1099980" cy="646331"/>
              </a:xfrm>
              <a:prstGeom prst="rect">
                <a:avLst/>
              </a:prstGeom>
              <a:blipFill>
                <a:blip r:embed="rId11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Left Arrow 133"/>
          <p:cNvSpPr/>
          <p:nvPr/>
        </p:nvSpPr>
        <p:spPr>
          <a:xfrm rot="16200000" flipH="1">
            <a:off x="1043595" y="4809373"/>
            <a:ext cx="913139" cy="642942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even</a:t>
            </a:r>
          </a:p>
        </p:txBody>
      </p:sp>
      <p:sp>
        <p:nvSpPr>
          <p:cNvPr id="135" name="Left Arrow 134"/>
          <p:cNvSpPr/>
          <p:nvPr/>
        </p:nvSpPr>
        <p:spPr>
          <a:xfrm rot="16200000" flipH="1">
            <a:off x="3901115" y="4809373"/>
            <a:ext cx="913139" cy="642942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odd</a:t>
            </a:r>
          </a:p>
        </p:txBody>
      </p:sp>
      <p:sp>
        <p:nvSpPr>
          <p:cNvPr id="136" name="Left Arrow 135"/>
          <p:cNvSpPr/>
          <p:nvPr/>
        </p:nvSpPr>
        <p:spPr>
          <a:xfrm rot="16200000" flipH="1">
            <a:off x="2900983" y="4809373"/>
            <a:ext cx="913139" cy="642942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even</a:t>
            </a:r>
          </a:p>
        </p:txBody>
      </p:sp>
      <p:sp>
        <p:nvSpPr>
          <p:cNvPr id="137" name="Left Arrow 136"/>
          <p:cNvSpPr/>
          <p:nvPr/>
        </p:nvSpPr>
        <p:spPr>
          <a:xfrm rot="16200000" flipH="1">
            <a:off x="1972289" y="4809373"/>
            <a:ext cx="913139" cy="642942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odd</a:t>
            </a:r>
          </a:p>
        </p:txBody>
      </p:sp>
      <p:sp>
        <p:nvSpPr>
          <p:cNvPr id="138" name="Left Arrow 137"/>
          <p:cNvSpPr/>
          <p:nvPr/>
        </p:nvSpPr>
        <p:spPr>
          <a:xfrm rot="16200000" flipH="1">
            <a:off x="4972685" y="4809374"/>
            <a:ext cx="913139" cy="642942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even</a:t>
            </a:r>
          </a:p>
        </p:txBody>
      </p:sp>
      <p:sp>
        <p:nvSpPr>
          <p:cNvPr id="139" name="Left Arrow 138"/>
          <p:cNvSpPr/>
          <p:nvPr/>
        </p:nvSpPr>
        <p:spPr>
          <a:xfrm rot="16200000" flipH="1">
            <a:off x="8044519" y="4809374"/>
            <a:ext cx="913139" cy="642942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odd</a:t>
            </a:r>
          </a:p>
        </p:txBody>
      </p:sp>
      <p:sp>
        <p:nvSpPr>
          <p:cNvPr id="140" name="Left Arrow 139"/>
          <p:cNvSpPr/>
          <p:nvPr/>
        </p:nvSpPr>
        <p:spPr>
          <a:xfrm rot="16200000" flipH="1">
            <a:off x="7044387" y="4809374"/>
            <a:ext cx="913139" cy="642942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even</a:t>
            </a:r>
          </a:p>
        </p:txBody>
      </p:sp>
      <p:sp>
        <p:nvSpPr>
          <p:cNvPr id="141" name="Left Arrow 140"/>
          <p:cNvSpPr/>
          <p:nvPr/>
        </p:nvSpPr>
        <p:spPr>
          <a:xfrm rot="16200000" flipH="1">
            <a:off x="6044255" y="4809374"/>
            <a:ext cx="913139" cy="642942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" panose="02040503050406030204" pitchFamily="18" charset="0"/>
              </a:rPr>
              <a:t>odd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7919388" y="3973422"/>
                <a:ext cx="10999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388" y="3973422"/>
                <a:ext cx="1099980" cy="646331"/>
              </a:xfrm>
              <a:prstGeom prst="rect">
                <a:avLst/>
              </a:prstGeom>
              <a:blipFill>
                <a:blip r:embed="rId12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/>
          <p:cNvSpPr txBox="1"/>
          <p:nvPr/>
        </p:nvSpPr>
        <p:spPr>
          <a:xfrm>
            <a:off x="4583280" y="149168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ambria" panose="02040503050406030204" pitchFamily="18" charset="0"/>
                <a:sym typeface="Symbol"/>
              </a:rPr>
              <a:t>. . . </a:t>
            </a:r>
            <a:endParaRPr lang="en-US" sz="16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613246" y="6016626"/>
                <a:ext cx="23612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sym typeface="Symbol"/>
                  </a:rPr>
                  <a:t> iff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𝟖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𝐦𝐨𝐝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𝑵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sym typeface="Symbol"/>
                  </a:rPr>
                  <a:t>is even</a:t>
                </a:r>
                <a:r>
                  <a:rPr lang="en-US" dirty="0">
                    <a:latin typeface="Cambria" panose="02040503050406030204" pitchFamily="18" charset="0"/>
                  </a:rPr>
                  <a:t> </a:t>
                </a:r>
                <a:endParaRPr lang="pl-PL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246" y="6016626"/>
                <a:ext cx="2361224" cy="369332"/>
              </a:xfrm>
              <a:prstGeom prst="rect">
                <a:avLst/>
              </a:prstGeom>
              <a:blipFill>
                <a:blip r:embed="rId13"/>
                <a:stretch>
                  <a:fillRect l="-258" t="-11475" b="-2295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23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5" grpId="0"/>
      <p:bldP spid="26" grpId="0"/>
      <p:bldP spid="27" grpId="0"/>
      <p:bldP spid="28" grpId="0" animBg="1"/>
      <p:bldP spid="29" grpId="0" animBg="1"/>
      <p:bldP spid="30" grpId="0"/>
      <p:bldP spid="32" grpId="0" animBg="1"/>
      <p:bldP spid="36" grpId="0" animBg="1"/>
      <p:bldP spid="38" grpId="0"/>
      <p:bldP spid="43" grpId="0"/>
      <p:bldP spid="33" grpId="0" animBg="1"/>
      <p:bldP spid="35" grpId="0" animBg="1"/>
      <p:bldP spid="44" grpId="0" animBg="1"/>
      <p:bldP spid="46" grpId="0"/>
      <p:bldP spid="74" grpId="0" animBg="1"/>
      <p:bldP spid="75" grpId="0" animBg="1"/>
      <p:bldP spid="52" grpId="0" animBg="1"/>
      <p:bldP spid="53" grpId="0" animBg="1"/>
      <p:bldP spid="54" grpId="0" animBg="1"/>
      <p:bldP spid="59" grpId="0" animBg="1"/>
      <p:bldP spid="102" grpId="0" animBg="1"/>
      <p:bldP spid="103" grpId="0" animBg="1"/>
      <p:bldP spid="104" grpId="0" animBg="1"/>
      <p:bldP spid="105" grpId="0" animBg="1"/>
      <p:bldP spid="106" grpId="0"/>
      <p:bldP spid="107" grpId="0"/>
      <p:bldP spid="108" grpId="0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73" grpId="0"/>
      <p:bldP spid="78" grpId="0"/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en-US" dirty="0"/>
              <a:t>So we can use bisection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2643174" y="1369440"/>
          <a:ext cx="4786352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2172"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2643174" y="2298134"/>
          <a:ext cx="4786352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2172"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2643174" y="3369704"/>
          <a:ext cx="4786352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2172"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833573"/>
              </p:ext>
            </p:extLst>
          </p:nvPr>
        </p:nvGraphicFramePr>
        <p:xfrm>
          <a:off x="2643168" y="4441274"/>
          <a:ext cx="4786352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3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6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70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2172"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415108"/>
              </p:ext>
            </p:extLst>
          </p:nvPr>
        </p:nvGraphicFramePr>
        <p:xfrm>
          <a:off x="2643174" y="5441406"/>
          <a:ext cx="4786352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6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6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2172"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" panose="020405030504060302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Connector 40"/>
          <p:cNvCxnSpPr/>
          <p:nvPr/>
        </p:nvCxnSpPr>
        <p:spPr>
          <a:xfrm rot="5400000">
            <a:off x="2678893" y="3548299"/>
            <a:ext cx="4786346" cy="1588"/>
          </a:xfrm>
          <a:prstGeom prst="line">
            <a:avLst/>
          </a:prstGeom>
          <a:ln w="571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>
            <a:off x="1964513" y="4048365"/>
            <a:ext cx="3786215" cy="1588"/>
          </a:xfrm>
          <a:prstGeom prst="line">
            <a:avLst/>
          </a:prstGeom>
          <a:ln w="571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3092264" y="4584150"/>
            <a:ext cx="2714644" cy="1588"/>
          </a:xfrm>
          <a:prstGeom prst="line">
            <a:avLst/>
          </a:prstGeom>
          <a:ln w="571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5400000">
            <a:off x="3321835" y="5119935"/>
            <a:ext cx="1643074" cy="1588"/>
          </a:xfrm>
          <a:prstGeom prst="line">
            <a:avLst/>
          </a:prstGeom>
          <a:ln w="571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643174" y="928670"/>
                <a:ext cx="373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74" y="928670"/>
                <a:ext cx="37382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905017" y="940812"/>
                <a:ext cx="8242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017" y="940812"/>
                <a:ext cx="824265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 rot="5400000">
            <a:off x="4890878" y="6195581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</a:rPr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14282" y="1643050"/>
                <a:ext cx="122501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</a:rPr>
                  <a:t>calculate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𝐋𝐒𝐁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82" y="1643050"/>
                <a:ext cx="1225015" cy="646331"/>
              </a:xfrm>
              <a:prstGeom prst="rect">
                <a:avLst/>
              </a:prstGeom>
              <a:blipFill>
                <a:blip r:embed="rId5"/>
                <a:stretch>
                  <a:fillRect l="-3980" t="-6604" b="-75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41279" y="3643314"/>
                <a:ext cx="14261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</a:rPr>
                  <a:t>calculate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𝐋𝐒𝐁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79" y="3643314"/>
                <a:ext cx="1426160" cy="646331"/>
              </a:xfrm>
              <a:prstGeom prst="rect">
                <a:avLst/>
              </a:prstGeom>
              <a:blipFill>
                <a:blip r:embed="rId6"/>
                <a:stretch>
                  <a:fillRect l="-3846" t="-6604" b="-75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214282" y="4714884"/>
                <a:ext cx="15816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</a:rPr>
                  <a:t>calculate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𝐋𝐒𝐁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82" y="4714884"/>
                <a:ext cx="1581651" cy="646331"/>
              </a:xfrm>
              <a:prstGeom prst="rect">
                <a:avLst/>
              </a:prstGeom>
              <a:blipFill>
                <a:blip r:embed="rId7"/>
                <a:stretch>
                  <a:fillRect l="-3077" t="-5660" b="-84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214282" y="2571744"/>
                <a:ext cx="144302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</a:rPr>
                  <a:t>calculate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𝐋𝐒𝐁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82" y="2571744"/>
                <a:ext cx="1443024" cy="646331"/>
              </a:xfrm>
              <a:prstGeom prst="rect">
                <a:avLst/>
              </a:prstGeom>
              <a:blipFill>
                <a:blip r:embed="rId8"/>
                <a:stretch>
                  <a:fillRect l="-3376" t="-6604" b="-75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Left Arrow 59"/>
          <p:cNvSpPr/>
          <p:nvPr/>
        </p:nvSpPr>
        <p:spPr>
          <a:xfrm rot="19272140">
            <a:off x="3395121" y="1705748"/>
            <a:ext cx="432013" cy="500066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mbria" panose="02040503050406030204" pitchFamily="18" charset="0"/>
              </a:rPr>
              <a:t>0</a:t>
            </a:r>
          </a:p>
        </p:txBody>
      </p:sp>
      <p:sp>
        <p:nvSpPr>
          <p:cNvPr id="61" name="Left Arrow 60"/>
          <p:cNvSpPr/>
          <p:nvPr/>
        </p:nvSpPr>
        <p:spPr>
          <a:xfrm rot="2981570" flipH="1">
            <a:off x="5965487" y="1694815"/>
            <a:ext cx="470505" cy="500066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62" name="Left Arrow 61"/>
          <p:cNvSpPr/>
          <p:nvPr/>
        </p:nvSpPr>
        <p:spPr>
          <a:xfrm rot="19272140">
            <a:off x="3109369" y="2651921"/>
            <a:ext cx="432013" cy="500066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mbria" panose="02040503050406030204" pitchFamily="18" charset="0"/>
              </a:rPr>
              <a:t>0</a:t>
            </a:r>
          </a:p>
        </p:txBody>
      </p:sp>
      <p:sp>
        <p:nvSpPr>
          <p:cNvPr id="63" name="Left Arrow 62"/>
          <p:cNvSpPr/>
          <p:nvPr/>
        </p:nvSpPr>
        <p:spPr>
          <a:xfrm rot="2981570" flipH="1">
            <a:off x="4250973" y="2662854"/>
            <a:ext cx="470505" cy="500066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64" name="Left Arrow 63"/>
          <p:cNvSpPr/>
          <p:nvPr/>
        </p:nvSpPr>
        <p:spPr>
          <a:xfrm rot="19272140">
            <a:off x="3895187" y="3723492"/>
            <a:ext cx="432013" cy="500066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mbria" panose="02040503050406030204" pitchFamily="18" charset="0"/>
              </a:rPr>
              <a:t>0</a:t>
            </a:r>
          </a:p>
        </p:txBody>
      </p:sp>
      <p:sp>
        <p:nvSpPr>
          <p:cNvPr id="65" name="Left Arrow 64"/>
          <p:cNvSpPr/>
          <p:nvPr/>
        </p:nvSpPr>
        <p:spPr>
          <a:xfrm rot="2981570" flipH="1">
            <a:off x="4557186" y="3734424"/>
            <a:ext cx="470505" cy="500066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63399" y="6019295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QED</a:t>
            </a:r>
            <a:endParaRPr lang="pl-PL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68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/>
      <p:bldP spid="57" grpId="0"/>
      <p:bldP spid="58" grpId="0"/>
      <p:bldP spid="59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336" y="365127"/>
            <a:ext cx="8042014" cy="888140"/>
          </a:xfrm>
        </p:spPr>
        <p:txBody>
          <a:bodyPr>
            <a:normAutofit/>
          </a:bodyPr>
          <a:lstStyle/>
          <a:p>
            <a:r>
              <a:rPr lang="en-US" dirty="0"/>
              <a:t>Why is it interesting?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4254" y="1731981"/>
                <a:ext cx="8300197" cy="484094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None/>
                </a:pPr>
                <a:r>
                  <a:rPr lang="en-US" dirty="0"/>
                  <a:t>We can encrypt </a:t>
                </a:r>
                <a:r>
                  <a:rPr lang="en-US" b="1" dirty="0"/>
                  <a:t>one bit messages </a:t>
                </a:r>
                <a:r>
                  <a:rPr lang="en-US" dirty="0"/>
                  <a:t>as follows:</a:t>
                </a:r>
              </a:p>
              <a:p>
                <a:pPr>
                  <a:buNone/>
                </a:pPr>
                <a:endParaRPr lang="en-US" b="1" dirty="0">
                  <a:solidFill>
                    <a:srgbClr val="C00000"/>
                  </a:solidFill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– </a:t>
                </a:r>
                <a:r>
                  <a:rPr lang="en-US" b="1" dirty="0">
                    <a:solidFill>
                      <a:srgbClr val="7030A0"/>
                    </a:solidFill>
                  </a:rPr>
                  <a:t>public key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– </a:t>
                </a:r>
                <a:r>
                  <a:rPr lang="en-US" b="1" dirty="0">
                    <a:solidFill>
                      <a:srgbClr val="7030A0"/>
                    </a:solidFill>
                  </a:rPr>
                  <a:t>private key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𝐋𝐒𝐁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r">
                  <a:buNone/>
                </a:pPr>
                <a:r>
                  <a:rPr lang="en-US" dirty="0"/>
                  <a:t>(where </a:t>
                </a:r>
                <a14:m>
                  <m:oMath xmlns:m="http://schemas.openxmlformats.org/officeDocument/2006/math"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)</a:t>
                </a:r>
              </a:p>
              <a:p>
                <a:pPr>
                  <a:buNone/>
                </a:pPr>
                <a:endParaRPr lang="en-US" b="1" dirty="0">
                  <a:sym typeface="Symbol"/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𝐋𝐒𝐁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l-PL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sup>
                        </m:sSup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>
                  <a:buNone/>
                </a:pPr>
                <a:endParaRPr lang="en-US" b="1" dirty="0">
                  <a:solidFill>
                    <a:srgbClr val="C00000"/>
                  </a:solidFill>
                </a:endParaRPr>
              </a:p>
              <a:p>
                <a:pPr>
                  <a:buNone/>
                </a:pPr>
                <a:r>
                  <a:rPr lang="en-US" dirty="0"/>
                  <a:t>This is secure </a:t>
                </a:r>
                <a:r>
                  <a:rPr lang="en-US" b="1" dirty="0">
                    <a:solidFill>
                      <a:srgbClr val="7030A0"/>
                    </a:solidFill>
                  </a:rPr>
                  <a:t>under the RSA assumption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254" y="1731981"/>
                <a:ext cx="8300197" cy="4840940"/>
              </a:xfrm>
              <a:blipFill>
                <a:blip r:embed="rId3"/>
                <a:stretch>
                  <a:fillRect l="-1323" t="-2771" r="-1396" b="-277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167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Lemma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Assume that the </a:t>
            </a:r>
            <a:r>
              <a:rPr lang="en-US" b="1" dirty="0">
                <a:solidFill>
                  <a:srgbClr val="FF0000"/>
                </a:solidFill>
              </a:rPr>
              <a:t>RSA </a:t>
            </a:r>
            <a:r>
              <a:rPr lang="en-US" b="1" dirty="0"/>
              <a:t>assumption holds</a:t>
            </a:r>
            <a:r>
              <a:rPr lang="en-US" dirty="0"/>
              <a:t>. Then the encryption scheme from the previous slide is </a:t>
            </a:r>
            <a:r>
              <a:rPr lang="en-US" b="1" dirty="0">
                <a:solidFill>
                  <a:srgbClr val="0070C0"/>
                </a:solidFill>
              </a:rPr>
              <a:t>IND-CPA-secure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Proof</a:t>
            </a:r>
            <a:r>
              <a:rPr lang="en-US" dirty="0"/>
              <a:t>: exercise 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738562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7"/>
            <a:ext cx="8296567" cy="869034"/>
          </a:xfrm>
        </p:spPr>
        <p:txBody>
          <a:bodyPr>
            <a:normAutofit/>
          </a:bodyPr>
          <a:lstStyle/>
          <a:p>
            <a:r>
              <a:rPr lang="en-US" sz="4000" dirty="0"/>
              <a:t>How to extend it to longer messages?</a:t>
            </a:r>
            <a:endParaRPr lang="pl-P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129372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Encrypt </a:t>
                </a:r>
                <a:r>
                  <a:rPr lang="en-US" b="1" dirty="0">
                    <a:solidFill>
                      <a:srgbClr val="0070C0"/>
                    </a:solidFill>
                  </a:rPr>
                  <a:t>bit-by-bit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𝐋𝐒𝐁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𝐋𝐒𝐁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),(</m:t>
                          </m:r>
                          <m:sSubSup>
                            <m:sSub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l-PL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p>
                          </m:sSub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l-PL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p>
                          </m:sSub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 algn="r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 algn="r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𝐋𝐒𝐁</m:t>
                              </m:r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l-PL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sup>
                          </m:sSub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)⊕</m:t>
                          </m:r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…,</m:t>
                          </m:r>
                          <m:sSubSup>
                            <m:sSubSup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𝐋𝐒𝐁</m:t>
                              </m:r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l-PL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sup>
                          </m:sSub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)⊕</m:t>
                          </m:r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129372" cy="4351338"/>
              </a:xfrm>
              <a:blipFill>
                <a:blip r:embed="rId2"/>
                <a:stretch>
                  <a:fillRect l="-1499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337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u="sng" dirty="0"/>
              <a:t>Advantage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Security of this scheme is implied by the RSA assumption.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u="sng" dirty="0"/>
              <a:t>Disadvantage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The ciphertext is much longer than the plaintext.</a:t>
            </a:r>
          </a:p>
          <a:p>
            <a:pPr algn="r">
              <a:buNone/>
            </a:pPr>
            <a:r>
              <a:rPr lang="en-US" dirty="0"/>
              <a:t>It is a rather theoretical construction!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2134" y="3195908"/>
            <a:ext cx="3214710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the public-key encryption scheme that we just constructed is CPA- secure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48" y="3571876"/>
            <a:ext cx="285752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RSA </a:t>
            </a:r>
            <a:r>
              <a:rPr lang="en-US" sz="2000" b="1" dirty="0"/>
              <a:t>assumption</a:t>
            </a:r>
            <a:r>
              <a:rPr lang="en-US" b="1" dirty="0"/>
              <a:t> </a:t>
            </a:r>
            <a:r>
              <a:rPr lang="en-US" sz="2000" b="1" dirty="0"/>
              <a:t>holds</a:t>
            </a:r>
            <a:endParaRPr lang="en-US" b="1" dirty="0"/>
          </a:p>
        </p:txBody>
      </p:sp>
      <p:sp>
        <p:nvSpPr>
          <p:cNvPr id="6" name="Left Arrow 5"/>
          <p:cNvSpPr/>
          <p:nvPr/>
        </p:nvSpPr>
        <p:spPr>
          <a:xfrm>
            <a:off x="3929058" y="3857628"/>
            <a:ext cx="1428760" cy="571504"/>
          </a:xfrm>
          <a:prstGeom prst="lef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3929058" y="3214686"/>
            <a:ext cx="1500198" cy="57150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7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theoretical construction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practical construction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CCA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853015" y="2464843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685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0" y="3000372"/>
            <a:ext cx="9144000" cy="278608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457200" anchor="ctr"/>
          <a:lstStyle/>
          <a:p>
            <a:pPr>
              <a:buFontTx/>
              <a:buNone/>
            </a:pPr>
            <a:r>
              <a:rPr lang="en-US" sz="3200" dirty="0"/>
              <a:t>This has the following advantages: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it makes the encryption </a:t>
            </a:r>
            <a:r>
              <a:rPr lang="en-US" sz="3200" b="1" dirty="0">
                <a:solidFill>
                  <a:srgbClr val="FF0000"/>
                </a:solidFill>
              </a:rPr>
              <a:t>non-deterministic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it </a:t>
            </a:r>
            <a:r>
              <a:rPr lang="en-US" sz="3200" b="1" dirty="0">
                <a:solidFill>
                  <a:srgbClr val="0070C0"/>
                </a:solidFill>
              </a:rPr>
              <a:t>breaks</a:t>
            </a:r>
            <a:r>
              <a:rPr lang="pl-PL" sz="3200" b="1" dirty="0">
                <a:solidFill>
                  <a:srgbClr val="0070C0"/>
                </a:solidFill>
              </a:rPr>
              <a:t> the </a:t>
            </a:r>
            <a:r>
              <a:rPr lang="en-US" sz="3200" b="1" dirty="0">
                <a:solidFill>
                  <a:srgbClr val="0070C0"/>
                </a:solidFill>
              </a:rPr>
              <a:t>“algebraic properties” </a:t>
            </a:r>
            <a:r>
              <a:rPr lang="en-US" sz="3200" dirty="0"/>
              <a:t>of encryption.</a:t>
            </a:r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74650" y="365126"/>
            <a:ext cx="8466420" cy="1325563"/>
          </a:xfrm>
        </p:spPr>
        <p:txBody>
          <a:bodyPr/>
          <a:lstStyle/>
          <a:p>
            <a:r>
              <a:rPr lang="en-US" dirty="0"/>
              <a:t>Encoding (also called: “padding”)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4650" y="1825625"/>
            <a:ext cx="8140700" cy="816598"/>
          </a:xfrm>
        </p:spPr>
        <p:txBody>
          <a:bodyPr>
            <a:noAutofit/>
          </a:bodyPr>
          <a:lstStyle/>
          <a:p>
            <a:pPr marL="0" indent="0">
              <a:buFontTx/>
              <a:buNone/>
            </a:pPr>
            <a:r>
              <a:rPr lang="en-US" sz="3200" dirty="0"/>
              <a:t>Before</a:t>
            </a:r>
            <a:r>
              <a:rPr lang="pl-PL" sz="3200" dirty="0"/>
              <a:t> encrypting a message we usually </a:t>
            </a:r>
            <a:r>
              <a:rPr lang="pl-PL" sz="3200" b="1" dirty="0">
                <a:solidFill>
                  <a:srgbClr val="7030A0"/>
                </a:solidFill>
              </a:rPr>
              <a:t>encode </a:t>
            </a:r>
            <a:r>
              <a:rPr lang="pl-PL" sz="3200" b="1" dirty="0" err="1">
                <a:solidFill>
                  <a:srgbClr val="7030A0"/>
                </a:solidFill>
              </a:rPr>
              <a:t>it</a:t>
            </a:r>
            <a:r>
              <a:rPr lang="pl-PL" sz="3200" b="1" dirty="0">
                <a:solidFill>
                  <a:srgbClr val="7030A0"/>
                </a:solidFill>
              </a:rPr>
              <a:t> </a:t>
            </a:r>
            <a:r>
              <a:rPr lang="pl-PL" sz="3200" dirty="0"/>
              <a:t>(</a:t>
            </a:r>
            <a:r>
              <a:rPr lang="en-US" sz="3200" dirty="0"/>
              <a:t>adding</a:t>
            </a:r>
            <a:r>
              <a:rPr lang="pl-PL" sz="3200" dirty="0"/>
              <a:t> </a:t>
            </a:r>
            <a:r>
              <a:rPr lang="en-US" sz="3200" dirty="0"/>
              <a:t>some</a:t>
            </a:r>
            <a:r>
              <a:rPr lang="pl-PL" sz="3200" dirty="0"/>
              <a:t> </a:t>
            </a:r>
            <a:r>
              <a:rPr lang="en-US" sz="3200" dirty="0"/>
              <a:t>randomness</a:t>
            </a:r>
            <a:r>
              <a:rPr lang="pl-PL" sz="32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0247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 uiExpand="1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How is it done in real-life?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2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28596" y="1214422"/>
                <a:ext cx="8305800" cy="2847980"/>
              </a:xfrm>
            </p:spPr>
            <p:txBody>
              <a:bodyPr>
                <a:normAutofit fontScale="92500" lnSpcReduction="20000"/>
              </a:bodyPr>
              <a:lstStyle/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US" sz="2600" b="1" dirty="0">
                    <a:solidFill>
                      <a:srgbClr val="0070C0"/>
                    </a:solidFill>
                  </a:rPr>
                  <a:t>PKCS #1: RSA Encryption Standard Version 1.5</a:t>
                </a:r>
                <a:r>
                  <a:rPr lang="en-US" sz="2600" dirty="0"/>
                  <a:t>: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800" u="sng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public-key: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dirty="0"/>
                  <a:t> := length 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400" dirty="0"/>
                  <a:t> in bytes.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sz="2400" dirty="0"/>
                  <a:t> := length of the plaintext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requirement: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≤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𝒌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𝟏𝟏</m:t>
                    </m:r>
                  </m:oMath>
                </a14:m>
                <a:r>
                  <a:rPr lang="en-US" sz="2400" dirty="0"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>
                  <a:cs typeface="Arial" pitchFamily="34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𝐄𝐧𝐜</m:t>
                    </m:r>
                    <m:d>
                      <m:d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US" sz="2400" b="1" i="1" dirty="0" err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𝑵</m:t>
                            </m:r>
                            <m:r>
                              <a:rPr lang="en-US" sz="2400" b="1" i="1" dirty="0" err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,</m:t>
                            </m:r>
                            <m:r>
                              <a:rPr lang="en-US" sz="2400" b="1" i="1" dirty="0" err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𝒆</m:t>
                            </m:r>
                          </m:e>
                        </m:d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, 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𝒎</m:t>
                        </m:r>
                      </m:e>
                    </m:d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:= 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𝒙</m:t>
                    </m:r>
                    <m:r>
                      <a:rPr lang="en-US" sz="2400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𝒆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US" sz="24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𝐦𝐨𝐝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𝑵</m:t>
                    </m:r>
                  </m:oMath>
                </a14:m>
                <a:r>
                  <a:rPr lang="en-US" sz="2400" dirty="0">
                    <a:cs typeface="Arial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𝒙</m:t>
                    </m:r>
                  </m:oMath>
                </a14:m>
                <a:r>
                  <a:rPr lang="en-US" sz="2400" dirty="0">
                    <a:cs typeface="Arial" pitchFamily="34" charset="0"/>
                  </a:rPr>
                  <a:t> is equal to:</a:t>
                </a:r>
              </a:p>
            </p:txBody>
          </p:sp>
        </mc:Choice>
        <mc:Fallback xmlns="">
          <p:sp>
            <p:nvSpPr>
              <p:cNvPr id="7782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8596" y="1214422"/>
                <a:ext cx="8305800" cy="2847980"/>
              </a:xfrm>
              <a:blipFill rotWithShape="0">
                <a:blip r:embed="rId3"/>
                <a:stretch>
                  <a:fillRect l="-954" t="-642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871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623518"/>
              </p:ext>
            </p:extLst>
          </p:nvPr>
        </p:nvGraphicFramePr>
        <p:xfrm>
          <a:off x="428596" y="4914880"/>
          <a:ext cx="8001000" cy="45721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0x00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0x02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0x00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864" name="AutoShape 40"/>
          <p:cNvSpPr>
            <a:spLocks/>
          </p:cNvSpPr>
          <p:nvPr/>
        </p:nvSpPr>
        <p:spPr bwMode="auto">
          <a:xfrm rot="5400000">
            <a:off x="3895696" y="5029190"/>
            <a:ext cx="381000" cy="1219200"/>
          </a:xfrm>
          <a:prstGeom prst="rightBrace">
            <a:avLst>
              <a:gd name="adj1" fmla="val 2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65" name="AutoShape 41"/>
          <p:cNvSpPr>
            <a:spLocks/>
          </p:cNvSpPr>
          <p:nvPr/>
        </p:nvSpPr>
        <p:spPr bwMode="auto">
          <a:xfrm rot="5400000">
            <a:off x="7096096" y="4571990"/>
            <a:ext cx="381000" cy="2286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66" name="Text Box 42"/>
              <p:cNvSpPr txBox="1">
                <a:spLocks noChangeArrowheads="1"/>
              </p:cNvSpPr>
              <p:nvPr/>
            </p:nvSpPr>
            <p:spPr bwMode="auto">
              <a:xfrm>
                <a:off x="2799963" y="5804682"/>
                <a:ext cx="2572466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random non-zero bytes</a:t>
                </a:r>
              </a:p>
            </p:txBody>
          </p:sp>
        </mc:Choice>
        <mc:Fallback xmlns="">
          <p:sp>
            <p:nvSpPr>
              <p:cNvPr id="77866" name="Text 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9963" y="5804682"/>
                <a:ext cx="2572466" cy="646331"/>
              </a:xfrm>
              <a:prstGeom prst="rect">
                <a:avLst/>
              </a:prstGeom>
              <a:blipFill rotWithShape="0">
                <a:blip r:embed="rId4"/>
                <a:stretch>
                  <a:fillRect t="-5660" b="-1320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67" name="Text Box 43"/>
              <p:cNvSpPr txBox="1">
                <a:spLocks noChangeArrowheads="1"/>
              </p:cNvSpPr>
              <p:nvPr/>
            </p:nvSpPr>
            <p:spPr bwMode="auto">
              <a:xfrm>
                <a:off x="6524596" y="5905490"/>
                <a:ext cx="1524000" cy="3667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dirty="0"/>
                  <a:t> bytes</a:t>
                </a:r>
              </a:p>
            </p:txBody>
          </p:sp>
        </mc:Choice>
        <mc:Fallback xmlns="">
          <p:sp>
            <p:nvSpPr>
              <p:cNvPr id="77867" name="Text 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4596" y="5905490"/>
                <a:ext cx="1524000" cy="366712"/>
              </a:xfrm>
              <a:prstGeom prst="rect">
                <a:avLst/>
              </a:prstGeom>
              <a:blipFill rotWithShape="0">
                <a:blip r:embed="rId5"/>
                <a:stretch>
                  <a:fillRect t="-11667" b="-250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68" name="AutoShape 44"/>
          <p:cNvSpPr>
            <a:spLocks/>
          </p:cNvSpPr>
          <p:nvPr/>
        </p:nvSpPr>
        <p:spPr bwMode="auto">
          <a:xfrm rot="5400000">
            <a:off x="4276696" y="595302"/>
            <a:ext cx="304800" cy="8001000"/>
          </a:xfrm>
          <a:prstGeom prst="leftBrace">
            <a:avLst>
              <a:gd name="adj1" fmla="val 2187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69" name="Text Box 45"/>
              <p:cNvSpPr txBox="1">
                <a:spLocks noChangeArrowheads="1"/>
              </p:cNvSpPr>
              <p:nvPr/>
            </p:nvSpPr>
            <p:spPr bwMode="auto">
              <a:xfrm>
                <a:off x="4009996" y="4062402"/>
                <a:ext cx="9207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dirty="0"/>
                  <a:t> bytes</a:t>
                </a:r>
              </a:p>
            </p:txBody>
          </p:sp>
        </mc:Choice>
        <mc:Fallback xmlns="">
          <p:sp>
            <p:nvSpPr>
              <p:cNvPr id="77869" name="Text 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9996" y="4062402"/>
                <a:ext cx="920750" cy="366713"/>
              </a:xfrm>
              <a:prstGeom prst="rect">
                <a:avLst/>
              </a:prstGeom>
              <a:blipFill rotWithShape="0">
                <a:blip r:embed="rId6"/>
                <a:stretch>
                  <a:fillRect t="-9836" r="-3311" b="-2295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14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64" grpId="0" animBg="1"/>
      <p:bldP spid="77865" grpId="0" animBg="1"/>
      <p:bldP spid="77866" grpId="0"/>
      <p:bldP spid="77867" grpId="0"/>
      <p:bldP spid="77868" grpId="0" animBg="1"/>
      <p:bldP spid="7786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encrypt?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Arrow 4"/>
              <p:cNvSpPr/>
              <p:nvPr/>
            </p:nvSpPr>
            <p:spPr>
              <a:xfrm>
                <a:off x="6357950" y="1714488"/>
                <a:ext cx="2571768" cy="1285884"/>
              </a:xfrm>
              <a:prstGeom prst="down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Down Arrow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950" y="1714488"/>
                <a:ext cx="2571768" cy="1285884"/>
              </a:xfrm>
              <a:prstGeom prst="downArrow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14348" y="4143380"/>
                <a:ext cx="8001056" cy="135732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solidFill>
                      <a:schemeClr val="bg1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3200" b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sz="32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32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sz="32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US" sz="3200" b="1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48" y="4143380"/>
                <a:ext cx="8001056" cy="135732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/>
          <p:cNvSpPr/>
          <p:nvPr/>
        </p:nvSpPr>
        <p:spPr>
          <a:xfrm rot="16200000">
            <a:off x="4464843" y="-821561"/>
            <a:ext cx="500066" cy="8001056"/>
          </a:xfrm>
          <a:prstGeom prst="rightBrace">
            <a:avLst>
              <a:gd name="adj1" fmla="val 50353"/>
              <a:gd name="adj2" fmla="val 18289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1472" y="2357430"/>
                <a:ext cx="26185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𝐄𝐧𝐜𝐨𝐝𝐢𝐧𝐠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72" y="2357430"/>
                <a:ext cx="261853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233" b="-21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14348" y="5643578"/>
                <a:ext cx="7929618" cy="64294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𝐄𝐧𝐜𝐨𝐝𝐢𝐧𝐠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48" y="5643578"/>
                <a:ext cx="7929618" cy="64294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/>
          <p:cNvSpPr/>
          <p:nvPr/>
        </p:nvSpPr>
        <p:spPr>
          <a:xfrm>
            <a:off x="3714744" y="4429132"/>
            <a:ext cx="642942" cy="92869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207328"/>
              </p:ext>
            </p:extLst>
          </p:nvPr>
        </p:nvGraphicFramePr>
        <p:xfrm>
          <a:off x="714349" y="3533474"/>
          <a:ext cx="8001056" cy="457210"/>
        </p:xfrm>
        <a:graphic>
          <a:graphicData uri="http://schemas.openxmlformats.org/drawingml/2006/table">
            <a:tbl>
              <a:tblPr/>
              <a:tblGrid>
                <a:gridCol w="144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0x00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0x02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0x00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8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294" y="365126"/>
            <a:ext cx="8001056" cy="1325563"/>
          </a:xfrm>
        </p:spPr>
        <p:txBody>
          <a:bodyPr/>
          <a:lstStyle/>
          <a:p>
            <a:r>
              <a:rPr lang="en-US" dirty="0"/>
              <a:t>How to decrypt?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14294" y="2597374"/>
                <a:ext cx="8001056" cy="135732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solidFill>
                      <a:schemeClr val="bg1"/>
                    </a:solidFill>
                  </a:rPr>
                  <a:t>De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32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32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US" sz="3200" b="1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94" y="2597374"/>
                <a:ext cx="8001056" cy="135732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14294" y="1785926"/>
                <a:ext cx="7929618" cy="64294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ciphertext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94" y="1785926"/>
                <a:ext cx="7929618" cy="64294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/>
          <p:cNvSpPr/>
          <p:nvPr/>
        </p:nvSpPr>
        <p:spPr>
          <a:xfrm>
            <a:off x="2943186" y="2857496"/>
            <a:ext cx="642942" cy="92869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14294" y="4110343"/>
            <a:ext cx="3739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check if the format agrees....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Down Arrow 11"/>
              <p:cNvSpPr/>
              <p:nvPr/>
            </p:nvSpPr>
            <p:spPr>
              <a:xfrm>
                <a:off x="5862414" y="5274612"/>
                <a:ext cx="3000396" cy="1285884"/>
              </a:xfrm>
              <a:prstGeom prst="downArrow">
                <a:avLst>
                  <a:gd name="adj1" fmla="val 75848"/>
                  <a:gd name="adj2" fmla="val 50000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tx1"/>
                          </a:solidFill>
                        </a:rPr>
                        <m:t>output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Down Arrow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414" y="5274612"/>
                <a:ext cx="3000396" cy="1285884"/>
              </a:xfrm>
              <a:prstGeom prst="downArrow">
                <a:avLst>
                  <a:gd name="adj1" fmla="val 75848"/>
                  <a:gd name="adj2" fmla="val 50000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541935"/>
              </p:ext>
            </p:extLst>
          </p:nvPr>
        </p:nvGraphicFramePr>
        <p:xfrm>
          <a:off x="514294" y="4694705"/>
          <a:ext cx="8001056" cy="457210"/>
        </p:xfrm>
        <a:graphic>
          <a:graphicData uri="http://schemas.openxmlformats.org/drawingml/2006/table">
            <a:tbl>
              <a:tblPr/>
              <a:tblGrid>
                <a:gridCol w="144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0x00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0x02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0x00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4294" y="5337647"/>
                <a:ext cx="28360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if not then output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⊥</m:t>
                    </m:r>
                  </m:oMath>
                </a14:m>
                <a:endParaRPr lang="pl-PL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94" y="5337647"/>
                <a:ext cx="2836033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3219" t="-10667" b="-30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077367" y="5337647"/>
            <a:ext cx="1636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, otherwise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412364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/>
      <p:bldP spid="12" grpId="0" animBg="1"/>
      <p:bldP spid="3" grpId="0"/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707" y="168782"/>
            <a:ext cx="7886700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048985"/>
                <a:ext cx="8401080" cy="311468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/>
                  <a:t>If the adversary can calculate the Jacobi symbol of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most probably it doesn’t help him in learning any information about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/>
                  <a:t>...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048985"/>
                <a:ext cx="8401080" cy="3114683"/>
              </a:xfrm>
              <a:blipFill rotWithShape="0">
                <a:blip r:embed="rId3"/>
                <a:stretch>
                  <a:fillRect l="-1451" t="-332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361997"/>
              </p:ext>
            </p:extLst>
          </p:nvPr>
        </p:nvGraphicFramePr>
        <p:xfrm>
          <a:off x="502957" y="2853838"/>
          <a:ext cx="8001056" cy="457210"/>
        </p:xfrm>
        <a:graphic>
          <a:graphicData uri="http://schemas.openxmlformats.org/drawingml/2006/table">
            <a:tbl>
              <a:tblPr/>
              <a:tblGrid>
                <a:gridCol w="144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0x00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0x02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0x00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968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02" y="365126"/>
            <a:ext cx="7970848" cy="1325563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Security of the </a:t>
            </a:r>
            <a:r>
              <a:rPr lang="en-US" sz="3200" b="1" dirty="0">
                <a:solidFill>
                  <a:srgbClr val="0070C0"/>
                </a:solidFill>
              </a:rPr>
              <a:t>PKCS #1: RSA Encryption Standard Version 1.5</a:t>
            </a:r>
            <a:r>
              <a:rPr lang="en-US" sz="3200" dirty="0"/>
              <a:t> – security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02" y="3023691"/>
            <a:ext cx="8038516" cy="809466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>
              <a:buFontTx/>
              <a:buNone/>
            </a:pPr>
            <a:r>
              <a:rPr lang="en-US" dirty="0"/>
              <a:t>It is </a:t>
            </a:r>
            <a:r>
              <a:rPr lang="en-US" b="1" dirty="0"/>
              <a:t>believed </a:t>
            </a:r>
            <a:r>
              <a:rPr lang="en-US" dirty="0"/>
              <a:t>to be </a:t>
            </a:r>
            <a:r>
              <a:rPr lang="en-US" b="1" dirty="0">
                <a:solidFill>
                  <a:srgbClr val="FF0000"/>
                </a:solidFill>
              </a:rPr>
              <a:t>IND-CPA-secure</a:t>
            </a:r>
            <a:r>
              <a:rPr lang="en-US" dirty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2508" y="5357375"/>
            <a:ext cx="6074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(as we will later learn: it’s not “</a:t>
            </a:r>
            <a:r>
              <a:rPr lang="en-US" sz="2400" b="1" dirty="0">
                <a:solidFill>
                  <a:srgbClr val="FF0000"/>
                </a:solidFill>
              </a:rPr>
              <a:t>CCA-secure</a:t>
            </a:r>
            <a:r>
              <a:rPr lang="en-US" sz="2400" dirty="0"/>
              <a:t>”)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109337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CCA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34218" y="2484895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5764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72254" cy="1143000"/>
          </a:xfrm>
        </p:spPr>
        <p:txBody>
          <a:bodyPr/>
          <a:lstStyle/>
          <a:p>
            <a:r>
              <a:rPr lang="en-US" dirty="0"/>
              <a:t>The 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9190" y="5221444"/>
            <a:ext cx="2928958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public-key encryption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910" y="5292882"/>
            <a:ext cx="2214578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RSA </a:t>
            </a:r>
            <a:r>
              <a:rPr lang="en-US" sz="2000" b="1" dirty="0"/>
              <a:t>assumption</a:t>
            </a:r>
            <a:br>
              <a:rPr lang="en-US" sz="2000" b="1" dirty="0"/>
            </a:br>
            <a:r>
              <a:rPr lang="en-US" b="1" dirty="0"/>
              <a:t> </a:t>
            </a:r>
            <a:r>
              <a:rPr lang="en-US" sz="2000" b="1" dirty="0"/>
              <a:t>holds</a:t>
            </a:r>
            <a:endParaRPr lang="en-US" b="1" dirty="0"/>
          </a:p>
        </p:txBody>
      </p:sp>
      <p:sp>
        <p:nvSpPr>
          <p:cNvPr id="6" name="Right Arrow 5"/>
          <p:cNvSpPr/>
          <p:nvPr/>
        </p:nvSpPr>
        <p:spPr>
          <a:xfrm>
            <a:off x="3143240" y="5292882"/>
            <a:ext cx="1500198" cy="57150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857488" y="2792552"/>
            <a:ext cx="2714644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factoring RSA </a:t>
            </a:r>
            <a:r>
              <a:rPr lang="en-US" sz="2000" b="1" dirty="0" err="1"/>
              <a:t>moduli</a:t>
            </a:r>
            <a:r>
              <a:rPr lang="en-US" sz="2000" b="1" dirty="0"/>
              <a:t> </a:t>
            </a:r>
            <a:br>
              <a:rPr lang="en-US" sz="2000" b="1" dirty="0"/>
            </a:br>
            <a:r>
              <a:rPr lang="en-US" sz="2000" b="1" dirty="0"/>
              <a:t>is hard</a:t>
            </a:r>
          </a:p>
        </p:txBody>
      </p:sp>
      <p:sp>
        <p:nvSpPr>
          <p:cNvPr id="9" name="Right Arrow 8"/>
          <p:cNvSpPr/>
          <p:nvPr/>
        </p:nvSpPr>
        <p:spPr>
          <a:xfrm rot="18347010">
            <a:off x="1383513" y="3686001"/>
            <a:ext cx="1438517" cy="57150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7547010" flipV="1">
            <a:off x="1888989" y="4084152"/>
            <a:ext cx="1447676" cy="64294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???</a:t>
            </a:r>
          </a:p>
        </p:txBody>
      </p:sp>
      <p:sp>
        <p:nvSpPr>
          <p:cNvPr id="11" name="Down Arrow 10"/>
          <p:cNvSpPr/>
          <p:nvPr/>
        </p:nvSpPr>
        <p:spPr>
          <a:xfrm rot="18754086">
            <a:off x="5074845" y="3675229"/>
            <a:ext cx="660003" cy="1402117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5786446" y="357166"/>
            <a:ext cx="2857520" cy="3571900"/>
          </a:xfrm>
          <a:prstGeom prst="wedgeRoundRectCallout">
            <a:avLst>
              <a:gd name="adj1" fmla="val -58463"/>
              <a:gd name="adj2" fmla="val 6359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b="1" u="sng" dirty="0"/>
              <a:t>question</a:t>
            </a:r>
            <a:r>
              <a:rPr lang="en-US" sz="2200" dirty="0"/>
              <a:t>:</a:t>
            </a:r>
            <a:br>
              <a:rPr lang="en-US" sz="2200" dirty="0"/>
            </a:br>
            <a:endParaRPr lang="en-US" sz="2200" dirty="0"/>
          </a:p>
          <a:p>
            <a:pPr algn="ctr"/>
            <a:r>
              <a:rPr lang="en-US" sz="2200" dirty="0"/>
              <a:t>can we construct PKE based on the “factoring assumption”</a:t>
            </a:r>
          </a:p>
          <a:p>
            <a:pPr algn="ctr"/>
            <a:endParaRPr lang="en-US" sz="2200" dirty="0"/>
          </a:p>
          <a:p>
            <a:pPr algn="ctr"/>
            <a:r>
              <a:rPr lang="en-US" sz="2200" b="1" u="sng" dirty="0">
                <a:solidFill>
                  <a:srgbClr val="FF0000"/>
                </a:solidFill>
              </a:rPr>
              <a:t>Yes:</a:t>
            </a:r>
          </a:p>
          <a:p>
            <a:pPr algn="ctr"/>
            <a:r>
              <a:rPr lang="en-US" sz="2200" b="1" u="sng" dirty="0">
                <a:solidFill>
                  <a:srgbClr val="FF0000"/>
                </a:solidFill>
              </a:rPr>
              <a:t>Rabin encryption</a:t>
            </a:r>
          </a:p>
        </p:txBody>
      </p:sp>
    </p:spTree>
    <p:extLst>
      <p:ext uri="{BB962C8B-B14F-4D97-AF65-F5344CB8AC3E}">
        <p14:creationId xmlns:p14="http://schemas.microsoft.com/office/powerpoint/2010/main" val="420686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build="allAtOnce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US" dirty="0"/>
              <a:t>Rabin encryption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4282" y="4714884"/>
                <a:ext cx="6858048" cy="185738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introduced by </a:t>
                </a:r>
                <a:br>
                  <a:rPr lang="en-US" dirty="0"/>
                </a:br>
                <a:r>
                  <a:rPr lang="en-US" b="1" dirty="0"/>
                  <a:t>Michael O. Rabin</a:t>
                </a:r>
                <a:r>
                  <a:rPr lang="en-US" dirty="0"/>
                  <a:t> in 1979</a:t>
                </a:r>
              </a:p>
              <a:p>
                <a:r>
                  <a:rPr lang="en-US" dirty="0"/>
                  <a:t>based on squaring in</a:t>
                </a:r>
                <a:r>
                  <a:rPr lang="pl-PL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security </a:t>
                </a:r>
                <a:r>
                  <a:rPr lang="en-US" b="1" dirty="0"/>
                  <a:t>equivalent</a:t>
                </a:r>
                <a:r>
                  <a:rPr lang="en-US" dirty="0"/>
                  <a:t> to factoring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4282" y="4714884"/>
                <a:ext cx="6858048" cy="1857388"/>
              </a:xfrm>
              <a:blipFill rotWithShape="0">
                <a:blip r:embed="rId3"/>
                <a:stretch>
                  <a:fillRect l="-1600" t="-7869" b="-98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034" y="1785926"/>
            <a:ext cx="2214573" cy="2214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ular Callout 4"/>
          <p:cNvSpPr/>
          <p:nvPr/>
        </p:nvSpPr>
        <p:spPr>
          <a:xfrm>
            <a:off x="4572000" y="445477"/>
            <a:ext cx="4286280" cy="5162843"/>
          </a:xfrm>
          <a:prstGeom prst="wedgeRectCallout">
            <a:avLst>
              <a:gd name="adj1" fmla="val -91178"/>
              <a:gd name="adj2" fmla="val -721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100" b="1" dirty="0">
                <a:solidFill>
                  <a:srgbClr val="FF0000"/>
                </a:solidFill>
              </a:rPr>
              <a:t>Michael O. Rabin </a:t>
            </a:r>
            <a:br>
              <a:rPr lang="en-US" sz="2100" b="1" dirty="0">
                <a:solidFill>
                  <a:srgbClr val="FF0000"/>
                </a:solidFill>
              </a:rPr>
            </a:br>
            <a:r>
              <a:rPr lang="en-US" sz="2100" b="1" dirty="0">
                <a:solidFill>
                  <a:srgbClr val="FF0000"/>
                </a:solidFill>
              </a:rPr>
              <a:t>born </a:t>
            </a:r>
            <a:r>
              <a:rPr lang="en-US" sz="2100" b="1" dirty="0" err="1">
                <a:solidFill>
                  <a:srgbClr val="FF0000"/>
                </a:solidFill>
              </a:rPr>
              <a:t>Wrocław</a:t>
            </a:r>
            <a:r>
              <a:rPr lang="en-US" sz="2100" b="1" dirty="0">
                <a:solidFill>
                  <a:srgbClr val="FF0000"/>
                </a:solidFill>
              </a:rPr>
              <a:t> 1931</a:t>
            </a:r>
          </a:p>
          <a:p>
            <a:r>
              <a:rPr lang="en-US" sz="2100" dirty="0">
                <a:solidFill>
                  <a:schemeClr val="tx1"/>
                </a:solidFill>
              </a:rPr>
              <a:t>(in 1935 emigrated to Palestine)</a:t>
            </a:r>
          </a:p>
          <a:p>
            <a:endParaRPr lang="en-US" sz="2100" dirty="0"/>
          </a:p>
          <a:p>
            <a:r>
              <a:rPr lang="en-US" sz="2100" dirty="0"/>
              <a:t>One of the founding fathers of computer science.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100" dirty="0"/>
              <a:t>introduced </a:t>
            </a:r>
            <a:r>
              <a:rPr lang="en-US" sz="2100" b="1" dirty="0"/>
              <a:t>non-determinism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100" dirty="0"/>
              <a:t>decidability of the </a:t>
            </a:r>
            <a:r>
              <a:rPr lang="en-US" sz="2100" b="1" dirty="0"/>
              <a:t>monadic second order logic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100" dirty="0"/>
              <a:t>efficient </a:t>
            </a:r>
            <a:r>
              <a:rPr lang="en-US" sz="2100" b="1" dirty="0" err="1"/>
              <a:t>primality</a:t>
            </a:r>
            <a:r>
              <a:rPr lang="en-US" sz="2100" b="1" dirty="0"/>
              <a:t> testing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100" b="1" dirty="0"/>
              <a:t>oblivious transfer</a:t>
            </a:r>
            <a:r>
              <a:rPr lang="en-US" sz="2100" dirty="0"/>
              <a:t>,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100" b="1" dirty="0"/>
              <a:t>....</a:t>
            </a:r>
          </a:p>
          <a:p>
            <a:pPr marL="342900" indent="-342900"/>
            <a:endParaRPr lang="en-US" sz="2100" dirty="0"/>
          </a:p>
          <a:p>
            <a:pPr marL="342900" indent="-342900"/>
            <a:r>
              <a:rPr lang="en-US" sz="2100" dirty="0"/>
              <a:t>received </a:t>
            </a:r>
            <a:r>
              <a:rPr lang="en-US" sz="2100" b="1" dirty="0"/>
              <a:t>Turing Award </a:t>
            </a:r>
            <a:r>
              <a:rPr lang="en-US" sz="2100" dirty="0"/>
              <a:t>in </a:t>
            </a:r>
            <a:r>
              <a:rPr lang="en-US" sz="2100" b="1" dirty="0"/>
              <a:t>1976</a:t>
            </a:r>
          </a:p>
        </p:txBody>
      </p:sp>
    </p:spTree>
    <p:extLst>
      <p:ext uri="{BB962C8B-B14F-4D97-AF65-F5344CB8AC3E}">
        <p14:creationId xmlns:p14="http://schemas.microsoft.com/office/powerpoint/2010/main" val="228844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" y="0"/>
            <a:ext cx="86741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On </a:t>
            </a:r>
            <a:r>
              <a:rPr lang="pl-PL" sz="3600" dirty="0" err="1"/>
              <a:t>previous</a:t>
            </a:r>
            <a:r>
              <a:rPr lang="pl-PL" sz="3600" dirty="0"/>
              <a:t> </a:t>
            </a:r>
            <a:r>
              <a:rPr lang="pl-PL" sz="3600" dirty="0" err="1"/>
              <a:t>lectures</a:t>
            </a:r>
            <a:r>
              <a:rPr lang="pl-PL" sz="3600" dirty="0"/>
              <a:t> </a:t>
            </a:r>
            <a:r>
              <a:rPr lang="en-US" sz="3600" dirty="0"/>
              <a:t>we proven the following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2844" y="1571613"/>
                <a:ext cx="8572560" cy="292895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Fact</a:t>
                </a:r>
              </a:p>
              <a:p>
                <a:pPr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be a random </a:t>
                </a:r>
                <a:r>
                  <a:rPr lang="en-US" b="1" dirty="0">
                    <a:solidFill>
                      <a:srgbClr val="0070C0"/>
                    </a:solidFill>
                  </a:rPr>
                  <a:t>RSA</a:t>
                </a:r>
                <a:r>
                  <a:rPr lang="en-US" b="1" dirty="0"/>
                  <a:t> </a:t>
                </a:r>
                <a:r>
                  <a:rPr lang="en-US" dirty="0"/>
                  <a:t>modulus.</a:t>
                </a:r>
              </a:p>
              <a:p>
                <a:pPr marL="0" indent="0">
                  <a:buNone/>
                </a:pPr>
                <a:r>
                  <a:rPr lang="en-US" dirty="0"/>
                  <a:t>The problem of computing square roots (modulo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) of random elements in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 is poly-time equivalent to</a:t>
                </a:r>
                <a:r>
                  <a:rPr lang="en-US" b="1" dirty="0"/>
                  <a:t> </a:t>
                </a:r>
                <a:r>
                  <a:rPr lang="en-US" dirty="0"/>
                  <a:t>the problem of factoring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844" y="1571613"/>
                <a:ext cx="8572560" cy="2928958"/>
              </a:xfrm>
              <a:blipFill rotWithShape="0">
                <a:blip r:embed="rId3"/>
                <a:stretch>
                  <a:fillRect l="-1421" t="-3750" r="-92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00100" y="4857760"/>
                <a:ext cx="1928826" cy="120032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ambria" panose="02040503050406030204" pitchFamily="18" charset="0"/>
                  </a:rPr>
                  <a:t>one can factor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 in poly-time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00" y="4857760"/>
                <a:ext cx="1928826" cy="120032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643570" y="4786322"/>
                <a:ext cx="1928826" cy="156966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ambria" panose="02040503050406030204" pitchFamily="18" charset="0"/>
                  </a:rPr>
                  <a:t>one can compute square roots modulo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570" y="4786322"/>
                <a:ext cx="1928826" cy="156966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3214678" y="4643446"/>
            <a:ext cx="2286016" cy="78581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mbria" panose="02040503050406030204" pitchFamily="18" charset="0"/>
              </a:rPr>
              <a:t>      </a:t>
            </a:r>
            <a:r>
              <a:rPr lang="en-US" sz="2400" b="1" dirty="0">
                <a:solidFill>
                  <a:srgbClr val="0070C0"/>
                </a:solidFill>
                <a:latin typeface="Cambria" panose="02040503050406030204" pitchFamily="18" charset="0"/>
              </a:rPr>
              <a:t>(1)</a:t>
            </a:r>
          </a:p>
        </p:txBody>
      </p:sp>
      <p:sp>
        <p:nvSpPr>
          <p:cNvPr id="7" name="Left Arrow 6"/>
          <p:cNvSpPr/>
          <p:nvPr/>
        </p:nvSpPr>
        <p:spPr>
          <a:xfrm>
            <a:off x="3214678" y="5500702"/>
            <a:ext cx="2286016" cy="785818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Cambria" panose="02040503050406030204" pitchFamily="18" charset="0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92097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other words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“squaring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” is a one-way function (assuming the </a:t>
                </a:r>
                <a:r>
                  <a:rPr lang="en-US" b="1" dirty="0"/>
                  <a:t>factoring</a:t>
                </a:r>
                <a:r>
                  <a:rPr lang="en-US" dirty="0"/>
                  <a:t> </a:t>
                </a:r>
                <a:r>
                  <a:rPr lang="en-US" b="1" dirty="0"/>
                  <a:t>RSA moduli </a:t>
                </a:r>
                <a:r>
                  <a:rPr lang="en-US" dirty="0"/>
                  <a:t>is hard).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Define: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𝐑𝐚𝐛𝐢𝐧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𝐑𝐚𝐛𝐢𝐧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pl-PL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52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26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543956" cy="1143000"/>
              </a:xfrm>
            </p:spPr>
            <p:txBody>
              <a:bodyPr>
                <a:normAutofit/>
              </a:bodyPr>
              <a:lstStyle/>
              <a:p>
                <a:r>
                  <a:rPr lang="en-US" sz="3600" dirty="0"/>
                  <a:t>A fact about squaring modulo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3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US" sz="3600" dirty="0"/>
                  <a:t>?</a:t>
                </a:r>
                <a:endParaRPr lang="en-US" sz="3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543956" cy="1143000"/>
              </a:xfrm>
              <a:blipFill rotWithShape="0">
                <a:blip r:embed="rId3"/>
                <a:stretch>
                  <a:fillRect l="-214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500166" y="2214554"/>
            <a:ext cx="1071570" cy="31035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929322" y="2143116"/>
            <a:ext cx="1071570" cy="32871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01158" y="1412217"/>
                <a:ext cx="6286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158" y="1412217"/>
                <a:ext cx="628634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143636" y="1428736"/>
                <a:ext cx="6286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636" y="1428736"/>
                <a:ext cx="628634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2000232" y="2571744"/>
            <a:ext cx="4286280" cy="14287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000232" y="2714620"/>
            <a:ext cx="4286280" cy="212104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000232" y="2714620"/>
            <a:ext cx="4286280" cy="3571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2000232" y="2714620"/>
            <a:ext cx="4286280" cy="142876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2071670" y="3786166"/>
            <a:ext cx="4286280" cy="14287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071670" y="3429000"/>
            <a:ext cx="4286280" cy="50004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2071670" y="3929042"/>
            <a:ext cx="4286280" cy="3571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2071670" y="3929042"/>
            <a:ext cx="4286280" cy="121447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571736" y="1659568"/>
                <a:ext cx="36145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𝐑𝐚𝐛𝐢𝐧</m:t>
                      </m:r>
                      <m:r>
                        <a:rPr lang="en-US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36" y="1659568"/>
                <a:ext cx="3614516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00185" y="5847820"/>
                <a:ext cx="66265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This function “glues”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elements together. </a:t>
                </a: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85" y="5847820"/>
                <a:ext cx="6626558" cy="523220"/>
              </a:xfrm>
              <a:prstGeom prst="rect">
                <a:avLst/>
              </a:prstGeom>
              <a:blipFill rotWithShape="0">
                <a:blip r:embed="rId7"/>
                <a:stretch>
                  <a:fillRect l="-1840" t="-11628" r="-920" b="-3139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14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1682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207645" y="131132"/>
                <a:ext cx="8119110" cy="990600"/>
              </a:xfrm>
            </p:spPr>
            <p:txBody>
              <a:bodyPr/>
              <a:lstStyle/>
              <a:p>
                <a:r>
                  <a:rPr lang="en-US" dirty="0"/>
                  <a:t>Example for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68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07645" y="131132"/>
                <a:ext cx="8119110" cy="990600"/>
              </a:xfrm>
              <a:blipFill rotWithShape="0">
                <a:blip r:embed="rId3"/>
                <a:stretch>
                  <a:fillRect l="-3003" t="-4938" b="-1481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683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563787" y="2677599"/>
          <a:ext cx="8305800" cy="457200"/>
        </p:xfrm>
        <a:graphic>
          <a:graphicData uri="http://schemas.openxmlformats.org/drawingml/2006/table">
            <a:tbl>
              <a:tblPr/>
              <a:tblGrid>
                <a:gridCol w="484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8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717" name="Rectangle 37"/>
          <p:cNvSpPr>
            <a:spLocks noChangeArrowheads="1"/>
          </p:cNvSpPr>
          <p:nvPr/>
        </p:nvSpPr>
        <p:spPr bwMode="auto">
          <a:xfrm>
            <a:off x="2316387" y="2753799"/>
            <a:ext cx="381000" cy="30480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71718" name="Rectangle 38"/>
          <p:cNvSpPr>
            <a:spLocks noChangeArrowheads="1"/>
          </p:cNvSpPr>
          <p:nvPr/>
        </p:nvSpPr>
        <p:spPr bwMode="auto">
          <a:xfrm>
            <a:off x="3383187" y="2753799"/>
            <a:ext cx="381000" cy="30480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71719" name="Rectangle 39"/>
          <p:cNvSpPr>
            <a:spLocks noChangeArrowheads="1"/>
          </p:cNvSpPr>
          <p:nvPr/>
        </p:nvSpPr>
        <p:spPr bwMode="auto">
          <a:xfrm>
            <a:off x="3992787" y="2753799"/>
            <a:ext cx="381000" cy="30480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71720" name="Rectangle 40"/>
          <p:cNvSpPr>
            <a:spLocks noChangeArrowheads="1"/>
          </p:cNvSpPr>
          <p:nvPr/>
        </p:nvSpPr>
        <p:spPr bwMode="auto">
          <a:xfrm>
            <a:off x="5592987" y="2753799"/>
            <a:ext cx="381000" cy="30480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71721" name="Rectangle 41"/>
          <p:cNvSpPr>
            <a:spLocks noChangeArrowheads="1"/>
          </p:cNvSpPr>
          <p:nvPr/>
        </p:nvSpPr>
        <p:spPr bwMode="auto">
          <a:xfrm>
            <a:off x="6202587" y="2753799"/>
            <a:ext cx="381000" cy="30480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71722" name="Rectangle 42"/>
          <p:cNvSpPr>
            <a:spLocks noChangeArrowheads="1"/>
          </p:cNvSpPr>
          <p:nvPr/>
        </p:nvSpPr>
        <p:spPr bwMode="auto">
          <a:xfrm>
            <a:off x="7345587" y="2753799"/>
            <a:ext cx="381000" cy="30480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71723" name="Rectangle 43"/>
          <p:cNvSpPr>
            <a:spLocks noChangeArrowheads="1"/>
          </p:cNvSpPr>
          <p:nvPr/>
        </p:nvSpPr>
        <p:spPr bwMode="auto">
          <a:xfrm>
            <a:off x="639987" y="2753799"/>
            <a:ext cx="381000" cy="30480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graphicFrame>
        <p:nvGraphicFramePr>
          <p:cNvPr id="71724" name="Group 44"/>
          <p:cNvGraphicFramePr>
            <a:graphicFrameLocks noGrp="1"/>
          </p:cNvGraphicFramePr>
          <p:nvPr/>
        </p:nvGraphicFramePr>
        <p:xfrm>
          <a:off x="563787" y="3668199"/>
          <a:ext cx="8305800" cy="457200"/>
        </p:xfrm>
        <a:graphic>
          <a:graphicData uri="http://schemas.openxmlformats.org/drawingml/2006/table">
            <a:tbl>
              <a:tblPr/>
              <a:tblGrid>
                <a:gridCol w="484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758" name="Rectangle 78"/>
          <p:cNvSpPr>
            <a:spLocks noChangeArrowheads="1"/>
          </p:cNvSpPr>
          <p:nvPr/>
        </p:nvSpPr>
        <p:spPr bwMode="auto">
          <a:xfrm>
            <a:off x="2316387" y="3744399"/>
            <a:ext cx="3810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71759" name="Rectangle 79"/>
          <p:cNvSpPr>
            <a:spLocks noChangeArrowheads="1"/>
          </p:cNvSpPr>
          <p:nvPr/>
        </p:nvSpPr>
        <p:spPr bwMode="auto">
          <a:xfrm>
            <a:off x="3383187" y="3744399"/>
            <a:ext cx="3810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71760" name="Rectangle 80"/>
          <p:cNvSpPr>
            <a:spLocks noChangeArrowheads="1"/>
          </p:cNvSpPr>
          <p:nvPr/>
        </p:nvSpPr>
        <p:spPr bwMode="auto">
          <a:xfrm>
            <a:off x="3992787" y="3744399"/>
            <a:ext cx="3810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71761" name="Rectangle 81"/>
          <p:cNvSpPr>
            <a:spLocks noChangeArrowheads="1"/>
          </p:cNvSpPr>
          <p:nvPr/>
        </p:nvSpPr>
        <p:spPr bwMode="auto">
          <a:xfrm>
            <a:off x="5592987" y="3744399"/>
            <a:ext cx="3810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71762" name="Rectangle 82"/>
          <p:cNvSpPr>
            <a:spLocks noChangeArrowheads="1"/>
          </p:cNvSpPr>
          <p:nvPr/>
        </p:nvSpPr>
        <p:spPr bwMode="auto">
          <a:xfrm>
            <a:off x="6202587" y="3744399"/>
            <a:ext cx="3810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71763" name="Rectangle 83"/>
          <p:cNvSpPr>
            <a:spLocks noChangeArrowheads="1"/>
          </p:cNvSpPr>
          <p:nvPr/>
        </p:nvSpPr>
        <p:spPr bwMode="auto">
          <a:xfrm>
            <a:off x="7345587" y="3744399"/>
            <a:ext cx="3810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71764" name="Rectangle 84"/>
          <p:cNvSpPr>
            <a:spLocks noChangeArrowheads="1"/>
          </p:cNvSpPr>
          <p:nvPr/>
        </p:nvSpPr>
        <p:spPr bwMode="auto">
          <a:xfrm>
            <a:off x="639987" y="3744399"/>
            <a:ext cx="3810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66" name="Text Box 86"/>
              <p:cNvSpPr txBox="1">
                <a:spLocks noChangeArrowheads="1"/>
              </p:cNvSpPr>
              <p:nvPr/>
            </p:nvSpPr>
            <p:spPr bwMode="auto">
              <a:xfrm>
                <a:off x="168469" y="1963219"/>
                <a:ext cx="747256" cy="4626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1766" name="Text 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469" y="1963219"/>
                <a:ext cx="747256" cy="462691"/>
              </a:xfrm>
              <a:prstGeom prst="rect">
                <a:avLst/>
              </a:prstGeom>
              <a:blipFill rotWithShape="0">
                <a:blip r:embed="rId4"/>
                <a:stretch>
                  <a:fillRect b="-789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767" name="Text Box 87"/>
              <p:cNvSpPr txBox="1">
                <a:spLocks noChangeArrowheads="1"/>
              </p:cNvSpPr>
              <p:nvPr/>
            </p:nvSpPr>
            <p:spPr bwMode="auto">
              <a:xfrm>
                <a:off x="2573783" y="5156064"/>
                <a:ext cx="1022203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sub>
                    </m:sSub>
                  </m:oMath>
                </a14:m>
                <a:r>
                  <a:rPr lang="en-GB" sz="3200" b="1" dirty="0">
                    <a:latin typeface="Cambria" panose="02040503050406030204" pitchFamily="18" charset="0"/>
                  </a:rPr>
                  <a:t>:</a:t>
                </a:r>
                <a:endParaRPr lang="en-US" sz="3200" b="1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1767" name="Text 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3783" y="5156064"/>
                <a:ext cx="1022203" cy="584775"/>
              </a:xfrm>
              <a:prstGeom prst="rect">
                <a:avLst/>
              </a:prstGeom>
              <a:blipFill rotWithShape="0">
                <a:blip r:embed="rId5"/>
                <a:stretch>
                  <a:fillRect t="-13542" r="-14286" b="-33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768" name="Group 88"/>
          <p:cNvGraphicFramePr>
            <a:graphicFrameLocks noGrp="1"/>
          </p:cNvGraphicFramePr>
          <p:nvPr/>
        </p:nvGraphicFramePr>
        <p:xfrm>
          <a:off x="3992787" y="5344599"/>
          <a:ext cx="914400" cy="3962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1776" name="AutoShape 96"/>
          <p:cNvCxnSpPr>
            <a:cxnSpLocks noChangeShapeType="1"/>
          </p:cNvCxnSpPr>
          <p:nvPr/>
        </p:nvCxnSpPr>
        <p:spPr bwMode="auto">
          <a:xfrm>
            <a:off x="1327375" y="4125399"/>
            <a:ext cx="2894012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71777" name="AutoShape 97"/>
          <p:cNvCxnSpPr>
            <a:cxnSpLocks noChangeShapeType="1"/>
          </p:cNvCxnSpPr>
          <p:nvPr/>
        </p:nvCxnSpPr>
        <p:spPr bwMode="auto">
          <a:xfrm>
            <a:off x="1884587" y="4125399"/>
            <a:ext cx="27940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71778" name="AutoShape 98"/>
          <p:cNvCxnSpPr>
            <a:cxnSpLocks noChangeShapeType="1"/>
          </p:cNvCxnSpPr>
          <p:nvPr/>
        </p:nvCxnSpPr>
        <p:spPr bwMode="auto">
          <a:xfrm>
            <a:off x="3002187" y="4125399"/>
            <a:ext cx="12192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71779" name="AutoShape 99"/>
          <p:cNvCxnSpPr>
            <a:cxnSpLocks noChangeShapeType="1"/>
          </p:cNvCxnSpPr>
          <p:nvPr/>
        </p:nvCxnSpPr>
        <p:spPr bwMode="auto">
          <a:xfrm flipH="1">
            <a:off x="4221387" y="4125399"/>
            <a:ext cx="26924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71780" name="AutoShape 100"/>
          <p:cNvCxnSpPr>
            <a:cxnSpLocks noChangeShapeType="1"/>
          </p:cNvCxnSpPr>
          <p:nvPr/>
        </p:nvCxnSpPr>
        <p:spPr bwMode="auto">
          <a:xfrm flipH="1">
            <a:off x="4221387" y="4125399"/>
            <a:ext cx="43688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71781" name="AutoShape 101"/>
          <p:cNvCxnSpPr>
            <a:cxnSpLocks noChangeShapeType="1"/>
          </p:cNvCxnSpPr>
          <p:nvPr/>
        </p:nvCxnSpPr>
        <p:spPr bwMode="auto">
          <a:xfrm>
            <a:off x="4678587" y="4125399"/>
            <a:ext cx="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71782" name="AutoShape 102"/>
          <p:cNvCxnSpPr>
            <a:cxnSpLocks noChangeShapeType="1"/>
          </p:cNvCxnSpPr>
          <p:nvPr/>
        </p:nvCxnSpPr>
        <p:spPr bwMode="auto">
          <a:xfrm flipH="1">
            <a:off x="4678587" y="4125399"/>
            <a:ext cx="557213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71783" name="AutoShape 103"/>
          <p:cNvCxnSpPr>
            <a:cxnSpLocks noChangeShapeType="1"/>
          </p:cNvCxnSpPr>
          <p:nvPr/>
        </p:nvCxnSpPr>
        <p:spPr bwMode="auto">
          <a:xfrm flipH="1">
            <a:off x="4678587" y="4125399"/>
            <a:ext cx="33528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784" name="Text Box 104"/>
              <p:cNvSpPr txBox="1">
                <a:spLocks noChangeArrowheads="1"/>
              </p:cNvSpPr>
              <p:nvPr/>
            </p:nvSpPr>
            <p:spPr bwMode="auto">
              <a:xfrm>
                <a:off x="106587" y="2677599"/>
                <a:ext cx="36901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1784" name="Text 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587" y="2677599"/>
                <a:ext cx="369012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785" name="Text Box 105"/>
              <p:cNvSpPr txBox="1">
                <a:spLocks noChangeArrowheads="1"/>
              </p:cNvSpPr>
              <p:nvPr/>
            </p:nvSpPr>
            <p:spPr bwMode="auto">
              <a:xfrm>
                <a:off x="106587" y="3668199"/>
                <a:ext cx="461921" cy="375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1785" name="Text 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587" y="3668199"/>
                <a:ext cx="461921" cy="37555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57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7" grpId="0" animBg="1"/>
      <p:bldP spid="71718" grpId="0" animBg="1"/>
      <p:bldP spid="71719" grpId="0" animBg="1"/>
      <p:bldP spid="71720" grpId="0" animBg="1"/>
      <p:bldP spid="71721" grpId="0" animBg="1"/>
      <p:bldP spid="71722" grpId="0" animBg="1"/>
      <p:bldP spid="71723" grpId="0" animBg="1"/>
      <p:bldP spid="71758" grpId="0" animBg="1"/>
      <p:bldP spid="71759" grpId="0" animBg="1"/>
      <p:bldP spid="71760" grpId="0" animBg="1"/>
      <p:bldP spid="71761" grpId="0" animBg="1"/>
      <p:bldP spid="71762" grpId="0" animBg="1"/>
      <p:bldP spid="71763" grpId="0" animBg="1"/>
      <p:bldP spid="71764" grpId="0" animBg="1"/>
      <p:bldP spid="71766" grpId="0"/>
      <p:bldP spid="71767" grpId="0"/>
      <p:bldP spid="71784" grpId="0"/>
      <p:bldP spid="7178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079" y="365126"/>
            <a:ext cx="8013271" cy="1325563"/>
          </a:xfrm>
        </p:spPr>
        <p:txBody>
          <a:bodyPr/>
          <a:lstStyle/>
          <a:p>
            <a:r>
              <a:rPr lang="en-US" dirty="0"/>
              <a:t>How to base encryption on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2079" y="1993355"/>
                <a:ext cx="8229600" cy="4413055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Idea</a:t>
                </a:r>
                <a:r>
                  <a:rPr lang="en-US" dirty="0"/>
                  <a:t>:</a:t>
                </a:r>
              </a:p>
              <a:p>
                <a:pPr lvl="1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public key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endParaRPr lang="en-US" b="1" u="sng" dirty="0">
                  <a:solidFill>
                    <a:srgbClr val="FF0000"/>
                  </a:solidFill>
                </a:endParaRPr>
              </a:p>
              <a:p>
                <a:pPr lvl="1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private key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lvl="1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encryption</a:t>
                </a:r>
                <a:r>
                  <a:rPr lang="en-US" dirty="0"/>
                  <a:t>: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d>
                      <m:d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b="1" u="sng" dirty="0">
                  <a:solidFill>
                    <a:srgbClr val="FF0000"/>
                  </a:solidFill>
                </a:endParaRPr>
              </a:p>
              <a:p>
                <a:pPr lvl="1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decryption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d>
                          <m:d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ra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b="1" u="sng" dirty="0">
                  <a:solidFill>
                    <a:srgbClr val="FF0000"/>
                  </a:solidFill>
                </a:endParaRPr>
              </a:p>
              <a:p>
                <a:pPr lvl="1">
                  <a:buNone/>
                </a:pPr>
                <a:endParaRPr lang="en-US" b="1" u="sng" dirty="0"/>
              </a:p>
              <a:p>
                <a:pPr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Problem</a:t>
                </a:r>
                <a:r>
                  <a:rPr lang="en-US" dirty="0"/>
                  <a:t>: there are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square roots.</a:t>
                </a:r>
                <a:endParaRPr lang="en-US" b="1" u="sng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endParaRPr lang="en-US" b="1" u="sng" dirty="0"/>
              </a:p>
              <a:p>
                <a:pPr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Solution</a:t>
                </a:r>
                <a:r>
                  <a:rPr lang="en-US" dirty="0"/>
                  <a:t>: “make the inversion unique”.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079" y="1993355"/>
                <a:ext cx="8229600" cy="4413055"/>
              </a:xfrm>
              <a:blipFill rotWithShape="0">
                <a:blip r:embed="rId3"/>
                <a:stretch>
                  <a:fillRect l="-1481" t="-24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ular Callout 7"/>
              <p:cNvSpPr/>
              <p:nvPr/>
            </p:nvSpPr>
            <p:spPr>
              <a:xfrm>
                <a:off x="5649084" y="1993355"/>
                <a:ext cx="3163936" cy="1358753"/>
              </a:xfrm>
              <a:prstGeom prst="wedgeRoundRectCallout">
                <a:avLst>
                  <a:gd name="adj1" fmla="val -36259"/>
                  <a:gd name="adj2" fmla="val 72409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can be computed efficiently if one knows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000" dirty="0"/>
                  <a:t> (see </a:t>
                </a:r>
                <a:r>
                  <a:rPr lang="en-US" sz="2000" b="1" dirty="0"/>
                  <a:t>Chapter 6</a:t>
                </a:r>
                <a:r>
                  <a:rPr lang="en-US" sz="2000" dirty="0"/>
                  <a:t>) </a:t>
                </a:r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ounded 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084" y="1993355"/>
                <a:ext cx="3163936" cy="1358753"/>
              </a:xfrm>
              <a:prstGeom prst="wedgeRoundRectCallout">
                <a:avLst>
                  <a:gd name="adj1" fmla="val -36259"/>
                  <a:gd name="adj2" fmla="val 72409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89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401080" cy="654032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do it?</a:t>
            </a:r>
            <a:r>
              <a:rPr lang="pl-PL" dirty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5720" y="928670"/>
                <a:ext cx="8229600" cy="15001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An ad-hoc method: add an encoding (like in the “real </a:t>
                </a:r>
                <a:r>
                  <a:rPr lang="en-US" b="1" dirty="0">
                    <a:solidFill>
                      <a:srgbClr val="0070C0"/>
                    </a:solidFill>
                  </a:rPr>
                  <a:t>RSA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encryption”).</a:t>
                </a:r>
              </a:p>
              <a:p>
                <a:pPr marL="0" indent="0">
                  <a:buNone/>
                </a:pPr>
                <a:r>
                  <a:rPr lang="en-US" dirty="0"/>
                  <a:t>In such a way that only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 out of 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dirty="0"/>
                  <a:t> square roots “make sense”.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720" y="928670"/>
                <a:ext cx="8229600" cy="1500198"/>
              </a:xfrm>
              <a:blipFill rotWithShape="0">
                <a:blip r:embed="rId3"/>
                <a:stretch>
                  <a:fillRect l="-1333" t="-8943" r="-1259" b="-97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143240" y="3143224"/>
            <a:ext cx="1071570" cy="2786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572396" y="3071786"/>
            <a:ext cx="1071570" cy="28575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28992" y="2428844"/>
                <a:ext cx="6286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92" y="2428844"/>
                <a:ext cx="628634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793864" y="2395807"/>
                <a:ext cx="6286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864" y="2395807"/>
                <a:ext cx="628634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3714744" y="3643290"/>
            <a:ext cx="4214842" cy="18574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3643306" y="3643290"/>
            <a:ext cx="4286280" cy="3571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3643306" y="3643290"/>
            <a:ext cx="4286280" cy="142876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714744" y="4714836"/>
            <a:ext cx="4286280" cy="14287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714744" y="4857712"/>
            <a:ext cx="4286280" cy="3571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643306" y="4857712"/>
            <a:ext cx="4357718" cy="85730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562519" y="2807905"/>
                <a:ext cx="27264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519" y="2807905"/>
                <a:ext cx="2726452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 18"/>
          <p:cNvSpPr/>
          <p:nvPr/>
        </p:nvSpPr>
        <p:spPr>
          <a:xfrm>
            <a:off x="3428992" y="3357562"/>
            <a:ext cx="604026" cy="500066"/>
          </a:xfrm>
          <a:custGeom>
            <a:avLst/>
            <a:gdLst>
              <a:gd name="connsiteX0" fmla="*/ 60016 w 604026"/>
              <a:gd name="connsiteY0" fmla="*/ 3522 h 917922"/>
              <a:gd name="connsiteX1" fmla="*/ 48441 w 604026"/>
              <a:gd name="connsiteY1" fmla="*/ 96119 h 917922"/>
              <a:gd name="connsiteX2" fmla="*/ 25292 w 604026"/>
              <a:gd name="connsiteY2" fmla="*/ 119269 h 917922"/>
              <a:gd name="connsiteX3" fmla="*/ 2142 w 604026"/>
              <a:gd name="connsiteY3" fmla="*/ 281314 h 917922"/>
              <a:gd name="connsiteX4" fmla="*/ 13717 w 604026"/>
              <a:gd name="connsiteY4" fmla="*/ 582256 h 917922"/>
              <a:gd name="connsiteX5" fmla="*/ 48441 w 604026"/>
              <a:gd name="connsiteY5" fmla="*/ 616980 h 917922"/>
              <a:gd name="connsiteX6" fmla="*/ 83165 w 604026"/>
              <a:gd name="connsiteY6" fmla="*/ 628555 h 917922"/>
              <a:gd name="connsiteX7" fmla="*/ 129464 w 604026"/>
              <a:gd name="connsiteY7" fmla="*/ 651704 h 917922"/>
              <a:gd name="connsiteX8" fmla="*/ 187337 w 604026"/>
              <a:gd name="connsiteY8" fmla="*/ 709578 h 917922"/>
              <a:gd name="connsiteX9" fmla="*/ 210487 w 604026"/>
              <a:gd name="connsiteY9" fmla="*/ 732727 h 917922"/>
              <a:gd name="connsiteX10" fmla="*/ 245211 w 604026"/>
              <a:gd name="connsiteY10" fmla="*/ 744302 h 917922"/>
              <a:gd name="connsiteX11" fmla="*/ 303084 w 604026"/>
              <a:gd name="connsiteY11" fmla="*/ 732727 h 917922"/>
              <a:gd name="connsiteX12" fmla="*/ 337808 w 604026"/>
              <a:gd name="connsiteY12" fmla="*/ 721152 h 917922"/>
              <a:gd name="connsiteX13" fmla="*/ 418831 w 604026"/>
              <a:gd name="connsiteY13" fmla="*/ 732727 h 917922"/>
              <a:gd name="connsiteX14" fmla="*/ 441980 w 604026"/>
              <a:gd name="connsiteY14" fmla="*/ 767451 h 917922"/>
              <a:gd name="connsiteX15" fmla="*/ 465130 w 604026"/>
              <a:gd name="connsiteY15" fmla="*/ 790601 h 917922"/>
              <a:gd name="connsiteX16" fmla="*/ 488279 w 604026"/>
              <a:gd name="connsiteY16" fmla="*/ 917922 h 917922"/>
              <a:gd name="connsiteX17" fmla="*/ 534578 w 604026"/>
              <a:gd name="connsiteY17" fmla="*/ 790601 h 917922"/>
              <a:gd name="connsiteX18" fmla="*/ 569302 w 604026"/>
              <a:gd name="connsiteY18" fmla="*/ 709578 h 917922"/>
              <a:gd name="connsiteX19" fmla="*/ 604026 w 604026"/>
              <a:gd name="connsiteY19" fmla="*/ 651704 h 917922"/>
              <a:gd name="connsiteX20" fmla="*/ 592451 w 604026"/>
              <a:gd name="connsiteY20" fmla="*/ 582256 h 917922"/>
              <a:gd name="connsiteX21" fmla="*/ 523003 w 604026"/>
              <a:gd name="connsiteY21" fmla="*/ 524383 h 917922"/>
              <a:gd name="connsiteX22" fmla="*/ 511428 w 604026"/>
              <a:gd name="connsiteY22" fmla="*/ 489659 h 917922"/>
              <a:gd name="connsiteX23" fmla="*/ 476704 w 604026"/>
              <a:gd name="connsiteY23" fmla="*/ 431785 h 917922"/>
              <a:gd name="connsiteX24" fmla="*/ 453555 w 604026"/>
              <a:gd name="connsiteY24" fmla="*/ 339188 h 917922"/>
              <a:gd name="connsiteX25" fmla="*/ 441980 w 604026"/>
              <a:gd name="connsiteY25" fmla="*/ 211866 h 917922"/>
              <a:gd name="connsiteX26" fmla="*/ 418831 w 604026"/>
              <a:gd name="connsiteY26" fmla="*/ 165568 h 917922"/>
              <a:gd name="connsiteX27" fmla="*/ 360958 w 604026"/>
              <a:gd name="connsiteY27" fmla="*/ 84545 h 917922"/>
              <a:gd name="connsiteX28" fmla="*/ 303084 w 604026"/>
              <a:gd name="connsiteY28" fmla="*/ 3522 h 917922"/>
              <a:gd name="connsiteX29" fmla="*/ 222061 w 604026"/>
              <a:gd name="connsiteY29" fmla="*/ 15097 h 917922"/>
              <a:gd name="connsiteX30" fmla="*/ 187337 w 604026"/>
              <a:gd name="connsiteY30" fmla="*/ 26671 h 917922"/>
              <a:gd name="connsiteX31" fmla="*/ 83165 w 604026"/>
              <a:gd name="connsiteY31" fmla="*/ 49821 h 917922"/>
              <a:gd name="connsiteX32" fmla="*/ 60016 w 604026"/>
              <a:gd name="connsiteY32" fmla="*/ 72970 h 917922"/>
              <a:gd name="connsiteX33" fmla="*/ 106314 w 604026"/>
              <a:gd name="connsiteY33" fmla="*/ 49821 h 91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04026" h="917922">
                <a:moveTo>
                  <a:pt x="60016" y="3522"/>
                </a:moveTo>
                <a:cubicBezTo>
                  <a:pt x="56158" y="34388"/>
                  <a:pt x="57379" y="66325"/>
                  <a:pt x="48441" y="96119"/>
                </a:cubicBezTo>
                <a:cubicBezTo>
                  <a:pt x="45305" y="106572"/>
                  <a:pt x="27939" y="108682"/>
                  <a:pt x="25292" y="119269"/>
                </a:cubicBezTo>
                <a:cubicBezTo>
                  <a:pt x="12058" y="172203"/>
                  <a:pt x="2142" y="281314"/>
                  <a:pt x="2142" y="281314"/>
                </a:cubicBezTo>
                <a:cubicBezTo>
                  <a:pt x="6000" y="381628"/>
                  <a:pt x="0" y="482809"/>
                  <a:pt x="13717" y="582256"/>
                </a:cubicBezTo>
                <a:cubicBezTo>
                  <a:pt x="15954" y="598472"/>
                  <a:pt x="34821" y="607900"/>
                  <a:pt x="48441" y="616980"/>
                </a:cubicBezTo>
                <a:cubicBezTo>
                  <a:pt x="58593" y="623748"/>
                  <a:pt x="71951" y="623749"/>
                  <a:pt x="83165" y="628555"/>
                </a:cubicBezTo>
                <a:cubicBezTo>
                  <a:pt x="99024" y="635352"/>
                  <a:pt x="114031" y="643988"/>
                  <a:pt x="129464" y="651704"/>
                </a:cubicBezTo>
                <a:lnTo>
                  <a:pt x="187337" y="709578"/>
                </a:lnTo>
                <a:cubicBezTo>
                  <a:pt x="195054" y="717295"/>
                  <a:pt x="200134" y="729276"/>
                  <a:pt x="210487" y="732727"/>
                </a:cubicBezTo>
                <a:lnTo>
                  <a:pt x="245211" y="744302"/>
                </a:lnTo>
                <a:cubicBezTo>
                  <a:pt x="264502" y="740444"/>
                  <a:pt x="283998" y="737499"/>
                  <a:pt x="303084" y="732727"/>
                </a:cubicBezTo>
                <a:cubicBezTo>
                  <a:pt x="314920" y="729768"/>
                  <a:pt x="325607" y="721152"/>
                  <a:pt x="337808" y="721152"/>
                </a:cubicBezTo>
                <a:cubicBezTo>
                  <a:pt x="365090" y="721152"/>
                  <a:pt x="391823" y="728869"/>
                  <a:pt x="418831" y="732727"/>
                </a:cubicBezTo>
                <a:cubicBezTo>
                  <a:pt x="426547" y="744302"/>
                  <a:pt x="433290" y="756588"/>
                  <a:pt x="441980" y="767451"/>
                </a:cubicBezTo>
                <a:cubicBezTo>
                  <a:pt x="448797" y="775973"/>
                  <a:pt x="460831" y="780570"/>
                  <a:pt x="465130" y="790601"/>
                </a:cubicBezTo>
                <a:cubicBezTo>
                  <a:pt x="469540" y="800891"/>
                  <a:pt x="487506" y="913285"/>
                  <a:pt x="488279" y="917922"/>
                </a:cubicBezTo>
                <a:cubicBezTo>
                  <a:pt x="514802" y="811829"/>
                  <a:pt x="493780" y="851797"/>
                  <a:pt x="534578" y="790601"/>
                </a:cubicBezTo>
                <a:cubicBezTo>
                  <a:pt x="561717" y="709177"/>
                  <a:pt x="526399" y="809680"/>
                  <a:pt x="569302" y="709578"/>
                </a:cubicBezTo>
                <a:cubicBezTo>
                  <a:pt x="591842" y="656987"/>
                  <a:pt x="565529" y="690202"/>
                  <a:pt x="604026" y="651704"/>
                </a:cubicBezTo>
                <a:cubicBezTo>
                  <a:pt x="600168" y="628555"/>
                  <a:pt x="601983" y="603702"/>
                  <a:pt x="592451" y="582256"/>
                </a:cubicBezTo>
                <a:cubicBezTo>
                  <a:pt x="583070" y="561148"/>
                  <a:pt x="541451" y="536681"/>
                  <a:pt x="523003" y="524383"/>
                </a:cubicBezTo>
                <a:cubicBezTo>
                  <a:pt x="519145" y="512808"/>
                  <a:pt x="517705" y="500121"/>
                  <a:pt x="511428" y="489659"/>
                </a:cubicBezTo>
                <a:cubicBezTo>
                  <a:pt x="473541" y="426513"/>
                  <a:pt x="498563" y="511933"/>
                  <a:pt x="476704" y="431785"/>
                </a:cubicBezTo>
                <a:cubicBezTo>
                  <a:pt x="468333" y="401090"/>
                  <a:pt x="453555" y="339188"/>
                  <a:pt x="453555" y="339188"/>
                </a:cubicBezTo>
                <a:cubicBezTo>
                  <a:pt x="449697" y="296747"/>
                  <a:pt x="450338" y="253654"/>
                  <a:pt x="441980" y="211866"/>
                </a:cubicBezTo>
                <a:cubicBezTo>
                  <a:pt x="438596" y="194947"/>
                  <a:pt x="427976" y="180200"/>
                  <a:pt x="418831" y="165568"/>
                </a:cubicBezTo>
                <a:cubicBezTo>
                  <a:pt x="412253" y="155043"/>
                  <a:pt x="368493" y="101499"/>
                  <a:pt x="360958" y="84545"/>
                </a:cubicBezTo>
                <a:cubicBezTo>
                  <a:pt x="323382" y="0"/>
                  <a:pt x="366241" y="24575"/>
                  <a:pt x="303084" y="3522"/>
                </a:cubicBezTo>
                <a:cubicBezTo>
                  <a:pt x="276076" y="7380"/>
                  <a:pt x="248813" y="9747"/>
                  <a:pt x="222061" y="15097"/>
                </a:cubicBezTo>
                <a:cubicBezTo>
                  <a:pt x="210097" y="17490"/>
                  <a:pt x="199247" y="24024"/>
                  <a:pt x="187337" y="26671"/>
                </a:cubicBezTo>
                <a:cubicBezTo>
                  <a:pt x="171248" y="30246"/>
                  <a:pt x="106156" y="36026"/>
                  <a:pt x="83165" y="49821"/>
                </a:cubicBezTo>
                <a:cubicBezTo>
                  <a:pt x="73808" y="55435"/>
                  <a:pt x="67732" y="65254"/>
                  <a:pt x="60016" y="72970"/>
                </a:cubicBezTo>
                <a:lnTo>
                  <a:pt x="106314" y="49821"/>
                </a:lnTo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 flipH="1">
            <a:off x="428595" y="2857496"/>
            <a:ext cx="1857388" cy="2486918"/>
          </a:xfrm>
          <a:prstGeom prst="wedgeRoundRectCallout">
            <a:avLst>
              <a:gd name="adj1" fmla="val -113824"/>
              <a:gd name="adj2" fmla="val -2278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 other words:</a:t>
            </a:r>
          </a:p>
          <a:p>
            <a:pPr algn="ctr"/>
            <a:r>
              <a:rPr lang="en-US" sz="2400" dirty="0"/>
              <a:t>make the set of </a:t>
            </a:r>
            <a:r>
              <a:rPr lang="en-US" sz="2400" b="1" dirty="0">
                <a:solidFill>
                  <a:srgbClr val="00B050"/>
                </a:solidFill>
              </a:rPr>
              <a:t>legal</a:t>
            </a:r>
            <a:r>
              <a:rPr lang="en-US" sz="2400" b="1" dirty="0"/>
              <a:t> </a:t>
            </a:r>
            <a:r>
              <a:rPr lang="en-US" sz="2400" dirty="0"/>
              <a:t>messages</a:t>
            </a:r>
            <a:r>
              <a:rPr lang="pl-PL" sz="2400" dirty="0"/>
              <a:t> </a:t>
            </a:r>
            <a:r>
              <a:rPr lang="en-US" sz="2400" dirty="0"/>
              <a:t>is</a:t>
            </a:r>
            <a:r>
              <a:rPr lang="pl-PL" sz="2400" dirty="0"/>
              <a:t> </a:t>
            </a:r>
            <a:r>
              <a:rPr lang="en-US" sz="2400" dirty="0"/>
              <a:t>“sparse” 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643306" y="3500414"/>
            <a:ext cx="4286280" cy="14287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714744" y="3643314"/>
            <a:ext cx="4286280" cy="121439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0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16" grpId="0"/>
      <p:bldP spid="19" grpId="0" animBg="1"/>
      <p:bldP spid="2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12935"/>
          </a:xfrm>
        </p:spPr>
        <p:txBody>
          <a:bodyPr/>
          <a:lstStyle/>
          <a:p>
            <a:r>
              <a:rPr lang="en-US" dirty="0"/>
              <a:t>Another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Fact</a:t>
                </a:r>
              </a:p>
              <a:p>
                <a:pPr>
                  <a:buNone/>
                </a:pPr>
                <a:r>
                  <a:rPr lang="en-US" dirty="0"/>
                  <a:t>Suppose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US" dirty="0"/>
                  <a:t> where 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dirty="0"/>
                  <a:t>Then the function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𝐑𝐚𝐛𝐢𝐧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dirty="0"/>
                  <a:t>is a permutation when restricted to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𝐑𝐚𝐛𝐢𝐧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𝐐𝐑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 </m:t>
                      </m:r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𝐐𝐑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𝑵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  <a:p>
                <a:pPr algn="ctr"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ular Callout 3"/>
              <p:cNvSpPr/>
              <p:nvPr/>
            </p:nvSpPr>
            <p:spPr>
              <a:xfrm>
                <a:off x="3929058" y="1285860"/>
                <a:ext cx="4286280" cy="1000132"/>
              </a:xfrm>
              <a:prstGeom prst="wedgeRoundRectCallout">
                <a:avLst>
                  <a:gd name="adj1" fmla="val -76380"/>
                  <a:gd name="adj2" fmla="val 57655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Such an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called a</a:t>
                </a:r>
                <a:br>
                  <a:rPr lang="en-US" sz="2400" dirty="0"/>
                </a:br>
                <a:r>
                  <a:rPr lang="en-US" sz="2400" dirty="0"/>
                  <a:t> “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Blum integer</a:t>
                </a:r>
                <a:r>
                  <a:rPr lang="en-US" sz="2400" dirty="0"/>
                  <a:t>”</a:t>
                </a:r>
              </a:p>
            </p:txBody>
          </p:sp>
        </mc:Choice>
        <mc:Fallback xmlns="">
          <p:sp>
            <p:nvSpPr>
              <p:cNvPr id="4" name="Rounded 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058" y="1285860"/>
                <a:ext cx="4286280" cy="1000132"/>
              </a:xfrm>
              <a:prstGeom prst="wedgeRoundRectCallout">
                <a:avLst>
                  <a:gd name="adj1" fmla="val -76380"/>
                  <a:gd name="adj2" fmla="val 57655"/>
                  <a:gd name="adj3" fmla="val 16667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23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500826" y="2857496"/>
            <a:ext cx="1071570" cy="28575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00826" y="2857520"/>
            <a:ext cx="1071570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24575" y="2928934"/>
            <a:ext cx="1071570" cy="27861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424575" y="2783103"/>
            <a:ext cx="1071570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look?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17481" y="2157716"/>
                <a:ext cx="6286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481" y="2157716"/>
                <a:ext cx="628634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722294" y="2157717"/>
                <a:ext cx="6286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294" y="2157717"/>
                <a:ext cx="628634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818251" y="2522201"/>
                <a:ext cx="35503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𝐑𝐚𝐛𝐢𝐧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251" y="2522201"/>
                <a:ext cx="3550396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172" b="-21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51864" y="2923937"/>
                <a:ext cx="825867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𝐐𝐑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64" y="2923937"/>
                <a:ext cx="825867" cy="453137"/>
              </a:xfrm>
              <a:prstGeom prst="rect">
                <a:avLst/>
              </a:prstGeom>
              <a:blipFill rotWithShape="0">
                <a:blip r:embed="rId6"/>
                <a:stretch>
                  <a:fillRect l="-1471" b="-1621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Left Brace 28"/>
          <p:cNvSpPr/>
          <p:nvPr/>
        </p:nvSpPr>
        <p:spPr>
          <a:xfrm>
            <a:off x="995947" y="2783079"/>
            <a:ext cx="428628" cy="785818"/>
          </a:xfrm>
          <a:prstGeom prst="leftBrace">
            <a:avLst>
              <a:gd name="adj1" fmla="val 29074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001024" y="3000372"/>
                <a:ext cx="825867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𝐐𝐑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24" y="3000372"/>
                <a:ext cx="825867" cy="453137"/>
              </a:xfrm>
              <a:prstGeom prst="rect">
                <a:avLst/>
              </a:prstGeom>
              <a:blipFill rotWithShape="0">
                <a:blip r:embed="rId7"/>
                <a:stretch>
                  <a:fillRect l="-1481" b="-16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Left Brace 32"/>
          <p:cNvSpPr/>
          <p:nvPr/>
        </p:nvSpPr>
        <p:spPr>
          <a:xfrm rot="10800000">
            <a:off x="7572396" y="2857496"/>
            <a:ext cx="428628" cy="785818"/>
          </a:xfrm>
          <a:prstGeom prst="leftBrace">
            <a:avLst>
              <a:gd name="adj1" fmla="val 29074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501238" y="2857495"/>
            <a:ext cx="1071570" cy="7858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424987" y="2783078"/>
            <a:ext cx="1071570" cy="7858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031798" y="3450894"/>
            <a:ext cx="4826218" cy="18824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031798" y="3429000"/>
            <a:ext cx="4826218" cy="7843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031798" y="3429000"/>
            <a:ext cx="4826218" cy="15597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031798" y="3357586"/>
            <a:ext cx="5040532" cy="12382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2067517" y="3286148"/>
            <a:ext cx="5004813" cy="18566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1960360" y="3286148"/>
            <a:ext cx="5111970" cy="11059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960360" y="3167063"/>
            <a:ext cx="4897656" cy="2619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1960360" y="3357586"/>
            <a:ext cx="5111970" cy="714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23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500826" y="2857496"/>
            <a:ext cx="1071570" cy="28575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500826" y="2857520"/>
            <a:ext cx="1071570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24575" y="2928934"/>
            <a:ext cx="1071570" cy="27861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424575" y="2783103"/>
            <a:ext cx="1071570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Rabin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restricted to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en-US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b="1" baseline="-25000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is a permutation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 l="-3091" t="-13364" b="-2119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17481" y="2157716"/>
                <a:ext cx="6286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481" y="2157716"/>
                <a:ext cx="628634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722294" y="2157717"/>
                <a:ext cx="6286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294" y="2157717"/>
                <a:ext cx="628634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818251" y="2522201"/>
                <a:ext cx="35503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𝐑𝐚𝐛𝐢𝐧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251" y="2522201"/>
                <a:ext cx="3550396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72" b="-21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51864" y="2923937"/>
                <a:ext cx="825867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𝐐𝐑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64" y="2923937"/>
                <a:ext cx="825867" cy="453137"/>
              </a:xfrm>
              <a:prstGeom prst="rect">
                <a:avLst/>
              </a:prstGeom>
              <a:blipFill rotWithShape="0">
                <a:blip r:embed="rId7"/>
                <a:stretch>
                  <a:fillRect l="-1471" b="-1621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Left Brace 28"/>
          <p:cNvSpPr/>
          <p:nvPr/>
        </p:nvSpPr>
        <p:spPr>
          <a:xfrm>
            <a:off x="995947" y="2783079"/>
            <a:ext cx="428628" cy="785818"/>
          </a:xfrm>
          <a:prstGeom prst="leftBrace">
            <a:avLst>
              <a:gd name="adj1" fmla="val 29074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001024" y="3000372"/>
                <a:ext cx="825867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𝐐𝐑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24" y="3000372"/>
                <a:ext cx="825867" cy="453137"/>
              </a:xfrm>
              <a:prstGeom prst="rect">
                <a:avLst/>
              </a:prstGeom>
              <a:blipFill rotWithShape="0">
                <a:blip r:embed="rId8"/>
                <a:stretch>
                  <a:fillRect l="-1481" b="-16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Left Brace 32"/>
          <p:cNvSpPr/>
          <p:nvPr/>
        </p:nvSpPr>
        <p:spPr>
          <a:xfrm rot="10800000">
            <a:off x="7572396" y="2857496"/>
            <a:ext cx="428628" cy="785818"/>
          </a:xfrm>
          <a:prstGeom prst="leftBrace">
            <a:avLst>
              <a:gd name="adj1" fmla="val 29074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501238" y="2857495"/>
            <a:ext cx="1071570" cy="7858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424987" y="2783078"/>
            <a:ext cx="1071570" cy="7858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031798" y="3000372"/>
            <a:ext cx="4826218" cy="4286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2184198" y="3141497"/>
            <a:ext cx="4861731" cy="11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1771419" y="3270524"/>
            <a:ext cx="5414755" cy="995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703640" y="3175987"/>
            <a:ext cx="5342289" cy="3793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62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42548" y="337077"/>
                <a:ext cx="8369495" cy="1325563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Proof that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𝐑𝐚𝐛𝐢𝐧</m:t>
                    </m:r>
                    <m:r>
                      <a:rPr lang="en-US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 restricted to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en-US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b="1" baseline="-25000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is a permutation</a:t>
                </a:r>
                <a:endParaRPr lang="pl-PL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42548" y="337077"/>
                <a:ext cx="8369495" cy="1325563"/>
              </a:xfrm>
              <a:blipFill rotWithShape="0">
                <a:blip r:embed="rId2"/>
                <a:stretch>
                  <a:fillRect l="-2549" t="-7339" b="-1467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2547" y="1797576"/>
                <a:ext cx="8535563" cy="4351338"/>
              </a:xfrm>
            </p:spPr>
            <p:txBody>
              <a:bodyPr>
                <a:normAutofit/>
              </a:bodyPr>
              <a:lstStyle/>
              <a:p>
                <a:pPr marL="0" indent="0" algn="r">
                  <a:buNone/>
                </a:pPr>
                <a:r>
                  <a:rPr lang="en-US" sz="2700" dirty="0"/>
                  <a:t>(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US" sz="2700" dirty="0"/>
                  <a:t>, where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sz="2700" dirty="0"/>
                  <a:t>)</a:t>
                </a:r>
              </a:p>
              <a:p>
                <a:pPr marL="0" indent="0">
                  <a:buNone/>
                </a:pPr>
                <a:r>
                  <a:rPr lang="en-US" sz="2700" dirty="0"/>
                  <a:t>We prove that </a:t>
                </a:r>
                <a:r>
                  <a:rPr lang="en-US" sz="2700" b="1" dirty="0">
                    <a:solidFill>
                      <a:srgbClr val="FF0000"/>
                    </a:solidFill>
                  </a:rPr>
                  <a:t>Rabin </a:t>
                </a:r>
                <a:r>
                  <a:rPr lang="en-US" sz="2700" dirty="0"/>
                  <a:t>is injective, i.e. for every </a:t>
                </a:r>
                <a14:m>
                  <m:oMath xmlns:m="http://schemas.openxmlformats.org/officeDocument/2006/math"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7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700" b="1" dirty="0">
                    <a:solidFill>
                      <a:srgbClr val="FF0000"/>
                    </a:solidFill>
                    <a:sym typeface="Symbol"/>
                  </a:rPr>
                  <a:t> </a:t>
                </a:r>
                <a:r>
                  <a:rPr lang="en-US" sz="2700" b="1" dirty="0">
                    <a:solidFill>
                      <a:srgbClr val="FF0000"/>
                    </a:solidFill>
                  </a:rPr>
                  <a:t>QR</a:t>
                </a:r>
                <a:r>
                  <a:rPr lang="en-US" sz="2700" b="1" baseline="-25000" dirty="0">
                    <a:solidFill>
                      <a:srgbClr val="FF0000"/>
                    </a:solidFill>
                  </a:rPr>
                  <a:t>N</a:t>
                </a:r>
                <a:r>
                  <a:rPr lang="en-US" sz="27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700" dirty="0"/>
                  <a:t> we have that </a:t>
                </a:r>
              </a:p>
              <a:p>
                <a:pPr marL="0" indent="0" algn="ctr">
                  <a:buNone/>
                </a:pPr>
                <a:r>
                  <a:rPr lang="en-US" sz="27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700" b="1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⟹  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700" b="1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 algn="ctr">
                  <a:buNone/>
                </a:pPr>
                <a:endParaRPr lang="en-US" sz="27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700" b="1" dirty="0">
                    <a:solidFill>
                      <a:srgbClr val="0070C0"/>
                    </a:solidFill>
                  </a:rPr>
                  <a:t>Observation</a:t>
                </a:r>
                <a:r>
                  <a:rPr lang="en-US" sz="2700" dirty="0"/>
                  <a:t>: by </a:t>
                </a:r>
                <a:r>
                  <a:rPr lang="en-US" sz="2700" b="1" dirty="0">
                    <a:solidFill>
                      <a:srgbClr val="7030A0"/>
                    </a:solidFill>
                  </a:rPr>
                  <a:t>CRT</a:t>
                </a:r>
                <a:r>
                  <a:rPr lang="en-US" sz="2700" dirty="0">
                    <a:solidFill>
                      <a:srgbClr val="7030A0"/>
                    </a:solidFill>
                  </a:rPr>
                  <a:t> </a:t>
                </a:r>
                <a:r>
                  <a:rPr lang="en-US" sz="2700" dirty="0"/>
                  <a:t>it is enough to show that </a:t>
                </a:r>
              </a:p>
              <a:p>
                <a:r>
                  <a:rPr lang="en-US" sz="2700" dirty="0"/>
                  <a:t> 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7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700" b="1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⟹  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7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700" dirty="0"/>
                  <a:t>and</a:t>
                </a:r>
              </a:p>
              <a:p>
                <a:r>
                  <a:rPr lang="en-US" sz="2700" dirty="0"/>
                  <a:t> </a:t>
                </a:r>
                <a:r>
                  <a:rPr lang="en-US" sz="27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7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700" b="1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⟹  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7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700" dirty="0"/>
                  <a:t>.</a:t>
                </a:r>
              </a:p>
              <a:p>
                <a:pPr marL="0" indent="0">
                  <a:buNone/>
                </a:pPr>
                <a:r>
                  <a:rPr lang="en-US" sz="2700" dirty="0"/>
                  <a:t>By symmetry it’s also enough to show it just for 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700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27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547" y="1797576"/>
                <a:ext cx="8535563" cy="4351338"/>
              </a:xfrm>
              <a:blipFill rotWithShape="0">
                <a:blip r:embed="rId3"/>
                <a:stretch>
                  <a:fillRect l="-1357" t="-2241" r="-1357" b="-33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76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25" y="409521"/>
            <a:ext cx="3107488" cy="465127"/>
          </a:xfrm>
        </p:spPr>
        <p:txBody>
          <a:bodyPr>
            <a:normAutofit fontScale="90000"/>
          </a:bodyPr>
          <a:lstStyle/>
          <a:p>
            <a:r>
              <a:rPr lang="en-US" dirty="0"/>
              <a:t>Proof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own Arrow 3"/>
              <p:cNvSpPr/>
              <p:nvPr/>
            </p:nvSpPr>
            <p:spPr>
              <a:xfrm>
                <a:off x="3893212" y="171096"/>
                <a:ext cx="4987127" cy="959278"/>
              </a:xfrm>
              <a:prstGeom prst="downArrow">
                <a:avLst>
                  <a:gd name="adj1" fmla="val 100000"/>
                  <a:gd name="adj2" fmla="val 27554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buNone/>
                </a:pPr>
                <a:r>
                  <a:rPr lang="en-US" sz="2200" dirty="0"/>
                  <a:t>Suppose we have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b="1" dirty="0">
                    <a:solidFill>
                      <a:srgbClr val="FF0000"/>
                    </a:solidFill>
                    <a:sym typeface="Symbol"/>
                  </a:rPr>
                  <a:t>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QR</a:t>
                </a:r>
                <a:r>
                  <a:rPr lang="en-US" sz="2200" b="1" baseline="-25000" dirty="0">
                    <a:solidFill>
                      <a:srgbClr val="FF0000"/>
                    </a:solidFill>
                  </a:rPr>
                  <a:t>N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such that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2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pl-PL" sz="22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200" b="1" dirty="0">
                    <a:solidFill>
                      <a:srgbClr val="FF0000"/>
                    </a:solidFill>
                  </a:rPr>
                  <a:t>mod </a:t>
                </a:r>
                <a:r>
                  <a:rPr lang="pl-PL" sz="2200" b="1" i="1" dirty="0">
                    <a:solidFill>
                      <a:srgbClr val="FF0000"/>
                    </a:solidFill>
                  </a:rPr>
                  <a:t>N</a:t>
                </a:r>
              </a:p>
            </p:txBody>
          </p:sp>
        </mc:Choice>
        <mc:Fallback xmlns="">
          <p:sp>
            <p:nvSpPr>
              <p:cNvPr id="4" name="Down Arrow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212" y="171096"/>
                <a:ext cx="4987127" cy="959278"/>
              </a:xfrm>
              <a:prstGeom prst="downArrow">
                <a:avLst>
                  <a:gd name="adj1" fmla="val 100000"/>
                  <a:gd name="adj2" fmla="val 27554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Arrow 4"/>
              <p:cNvSpPr/>
              <p:nvPr/>
            </p:nvSpPr>
            <p:spPr>
              <a:xfrm>
                <a:off x="4835661" y="1183673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Down Arrow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661" y="1183673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Down Arrow 5"/>
              <p:cNvSpPr/>
              <p:nvPr/>
            </p:nvSpPr>
            <p:spPr>
              <a:xfrm>
                <a:off x="4835661" y="1808002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Down Arrow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661" y="1808002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Down Arrow 6"/>
              <p:cNvSpPr/>
              <p:nvPr/>
            </p:nvSpPr>
            <p:spPr>
              <a:xfrm>
                <a:off x="4835661" y="2432331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Down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661" y="2432331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Down Arrow 7"/>
              <p:cNvSpPr/>
              <p:nvPr/>
            </p:nvSpPr>
            <p:spPr>
              <a:xfrm>
                <a:off x="4835661" y="3056660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Down Arrow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661" y="3056660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Down Arrow 8"/>
              <p:cNvSpPr/>
              <p:nvPr/>
            </p:nvSpPr>
            <p:spPr>
              <a:xfrm>
                <a:off x="4835661" y="3680989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Down Arrow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661" y="3680989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Down Arrow 9"/>
              <p:cNvSpPr/>
              <p:nvPr/>
            </p:nvSpPr>
            <p:spPr>
              <a:xfrm>
                <a:off x="4835661" y="4305318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Down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661" y="4305318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Down Arrow 10"/>
              <p:cNvSpPr/>
              <p:nvPr/>
            </p:nvSpPr>
            <p:spPr>
              <a:xfrm>
                <a:off x="4835661" y="4929647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Down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661" y="4929647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Down Arrow 11"/>
              <p:cNvSpPr/>
              <p:nvPr/>
            </p:nvSpPr>
            <p:spPr>
              <a:xfrm>
                <a:off x="4835661" y="5553976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Down Arrow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661" y="5553976"/>
                <a:ext cx="3102228" cy="544150"/>
              </a:xfrm>
              <a:prstGeom prst="downArrow">
                <a:avLst>
                  <a:gd name="adj1" fmla="val 100000"/>
                  <a:gd name="adj2" fmla="val 27554"/>
                </a:avLst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Down Arrow 12"/>
              <p:cNvSpPr/>
              <p:nvPr/>
            </p:nvSpPr>
            <p:spPr>
              <a:xfrm>
                <a:off x="4835661" y="6178308"/>
                <a:ext cx="3102228" cy="544150"/>
              </a:xfrm>
              <a:prstGeom prst="downArrow">
                <a:avLst>
                  <a:gd name="adj1" fmla="val 100000"/>
                  <a:gd name="adj2" fmla="val 0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Down Arrow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661" y="6178308"/>
                <a:ext cx="3102228" cy="544150"/>
              </a:xfrm>
              <a:prstGeom prst="downArrow">
                <a:avLst>
                  <a:gd name="adj1" fmla="val 100000"/>
                  <a:gd name="adj2" fmla="val 0"/>
                </a:avLst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88092" y="2294619"/>
                <a:ext cx="3664612" cy="3126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Let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𝐍</m:t>
                    </m:r>
                  </m:oMath>
                </a14:m>
                <a:r>
                  <a:rPr lang="en-US" sz="2200" dirty="0"/>
                  <a:t> be such that </a:t>
                </a:r>
              </a:p>
              <a:p>
                <a:endParaRPr lang="en-US" sz="2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2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2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2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and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2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2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endParaRPr lang="en-US" sz="2200" b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endParaRPr lang="en-US" sz="2200" dirty="0"/>
              </a:p>
              <a:p>
                <a:pPr>
                  <a:buNone/>
                </a:pPr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is a generator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200" dirty="0"/>
                  <a:t> and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92" y="2294619"/>
                <a:ext cx="3664612" cy="3126305"/>
              </a:xfrm>
              <a:prstGeom prst="rect">
                <a:avLst/>
              </a:prstGeom>
              <a:blipFill rotWithShape="0">
                <a:blip r:embed="rId12"/>
                <a:stretch>
                  <a:fillRect l="-2163" t="-117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20398" y="5462152"/>
                <a:ext cx="1275606" cy="6749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398" y="5462152"/>
                <a:ext cx="1275606" cy="674928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220398" y="6178308"/>
                <a:ext cx="12756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398" y="6178308"/>
                <a:ext cx="1275606" cy="40011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8228197" y="6219550"/>
            <a:ext cx="793807" cy="461665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QED</a:t>
            </a:r>
            <a:endParaRPr lang="pl-PL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88092" y="1350465"/>
                <a:ext cx="359803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Let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3</a:t>
                </a:r>
                <a:r>
                  <a:rPr lang="en-US" sz="2200" dirty="0"/>
                  <a:t>, where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𝐍</m:t>
                    </m:r>
                  </m:oMath>
                </a14:m>
                <a:endParaRPr lang="pl-PL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92" y="1350465"/>
                <a:ext cx="3598036" cy="430887"/>
              </a:xfrm>
              <a:prstGeom prst="rect">
                <a:avLst/>
              </a:prstGeom>
              <a:blipFill rotWithShape="0">
                <a:blip r:embed="rId15"/>
                <a:stretch>
                  <a:fillRect l="-2203" t="-10000" b="-2857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621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7" grpId="0"/>
      <p:bldP spid="3" grpId="0"/>
      <p:bldP spid="18" grpId="0"/>
      <p:bldP spid="1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72547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How to encrypt a one-bit message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725470"/>
              </a:xfrm>
              <a:blipFill rotWithShape="0">
                <a:blip r:embed="rId3"/>
                <a:stretch>
                  <a:fillRect l="-2593" t="-17647" r="-1704" b="-3025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643182"/>
                <a:ext cx="8229600" cy="392909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– public key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– private key</a:t>
                </a:r>
              </a:p>
              <a:p>
                <a:pPr algn="ctr">
                  <a:buNone/>
                </a:pPr>
                <a:endParaRPr lang="en-US" sz="1200" b="1" dirty="0">
                  <a:solidFill>
                    <a:srgbClr val="C00000"/>
                  </a:solidFill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𝐋𝐒𝐁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𝐑𝐚𝐛𝐢𝐧</m:t>
                    </m:r>
                    <m:r>
                      <a:rPr lang="en-US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,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pPr algn="r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𝐐𝐑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𝑵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dirty="0">
                    <a:sym typeface="Symbol"/>
                  </a:rPr>
                  <a:t>is random.</a:t>
                </a:r>
              </a:p>
              <a:p>
                <a:pPr>
                  <a:buNone/>
                </a:pPr>
                <a:endParaRPr lang="en-US" b="1" dirty="0">
                  <a:sym typeface="Symbol"/>
                </a:endParaRPr>
              </a:p>
              <a:p>
                <a:pPr>
                  <a:buNone/>
                </a:pPr>
                <a:endParaRPr lang="en-US" b="1" dirty="0">
                  <a:sym typeface="Symbol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𝐃𝐞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𝐜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𝒑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𝒒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𝒚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𝐋𝐒𝐁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𝐑𝐚𝐛𝐢</m:t>
                          </m:r>
                          <m:sSubSup>
                            <m:sSub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SupPr>
                            <m:e>
                              <m:r>
                                <a:rPr lang="en-US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𝐧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𝑵</m:t>
                              </m:r>
                            </m:sub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𝟏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𝒚</m:t>
                              </m:r>
                            </m:e>
                          </m:d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⊕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sym typeface="Symbol"/>
                </a:endParaRPr>
              </a:p>
              <a:p>
                <a:pPr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643182"/>
                <a:ext cx="8229600" cy="3929090"/>
              </a:xfrm>
              <a:blipFill rotWithShape="0">
                <a:blip r:embed="rId4"/>
                <a:stretch>
                  <a:fillRect l="-593" r="-111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ular Callout 3"/>
          <p:cNvSpPr/>
          <p:nvPr/>
        </p:nvSpPr>
        <p:spPr>
          <a:xfrm>
            <a:off x="785786" y="2714620"/>
            <a:ext cx="2428892" cy="500066"/>
          </a:xfrm>
          <a:prstGeom prst="wedgeRectCallout">
            <a:avLst>
              <a:gd name="adj1" fmla="val -51683"/>
              <a:gd name="adj2" fmla="val 70401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 a Blum integer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57158" y="1071546"/>
            <a:ext cx="8429684" cy="128588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2800" b="1" u="sng" dirty="0">
                <a:solidFill>
                  <a:srgbClr val="0070C0"/>
                </a:solidFill>
              </a:rPr>
              <a:t>Fact</a:t>
            </a:r>
            <a:r>
              <a:rPr lang="en-US" sz="2800" dirty="0">
                <a:solidFill>
                  <a:schemeClr val="tx1"/>
                </a:solidFill>
              </a:rPr>
              <a:t>:</a:t>
            </a:r>
            <a:r>
              <a:rPr lang="en-US" sz="2800" b="1" dirty="0"/>
              <a:t> </a:t>
            </a:r>
            <a:r>
              <a:rPr lang="en-US" sz="2800" dirty="0"/>
              <a:t>the least significant bit is a </a:t>
            </a:r>
            <a:r>
              <a:rPr lang="en-US" sz="2800" b="1" dirty="0">
                <a:solidFill>
                  <a:srgbClr val="FF0000"/>
                </a:solidFill>
              </a:rPr>
              <a:t>hard-core bit for the Rabin permutation</a:t>
            </a:r>
            <a:r>
              <a:rPr lang="en-US" sz="2800" dirty="0"/>
              <a:t>.</a:t>
            </a:r>
            <a:endParaRPr lang="en-US" sz="28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ular Callout 5"/>
              <p:cNvSpPr/>
              <p:nvPr/>
            </p:nvSpPr>
            <p:spPr>
              <a:xfrm>
                <a:off x="1682200" y="5205154"/>
                <a:ext cx="6286544" cy="428628"/>
              </a:xfrm>
              <a:prstGeom prst="wedgeRectCallout">
                <a:avLst>
                  <a:gd name="adj1" fmla="val 11510"/>
                  <a:gd name="adj2" fmla="val 99832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this can be computed if one knows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ular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200" y="5205154"/>
                <a:ext cx="6286544" cy="428628"/>
              </a:xfrm>
              <a:prstGeom prst="wedgeRectCallout">
                <a:avLst>
                  <a:gd name="adj1" fmla="val 11510"/>
                  <a:gd name="adj2" fmla="val 99832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869320" y="2776104"/>
                <a:ext cx="3988101" cy="877163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𝐑𝐚𝐛𝐢𝐧</m:t>
                      </m:r>
                      <m:r>
                        <a:rPr lang="en-US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endParaRPr lang="en-US" sz="300" b="1" i="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𝐑𝐚𝐛𝐢𝐧</m:t>
                      </m:r>
                      <m:r>
                        <a:rPr lang="en-US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𝐐𝐑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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𝐐𝐑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𝑵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320" y="2776104"/>
                <a:ext cx="3988101" cy="877163"/>
              </a:xfrm>
              <a:prstGeom prst="rect">
                <a:avLst/>
              </a:prstGeom>
              <a:blipFill rotWithShape="0">
                <a:blip r:embed="rId6"/>
                <a:stretch>
                  <a:fillRect b="-457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71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818" y="157563"/>
            <a:ext cx="7886700" cy="1325563"/>
          </a:xfrm>
        </p:spPr>
        <p:txBody>
          <a:bodyPr/>
          <a:lstStyle/>
          <a:p>
            <a:r>
              <a:rPr lang="en-US" dirty="0"/>
              <a:t>Moral</a:t>
            </a:r>
            <a:endParaRPr lang="pl-PL" dirty="0"/>
          </a:p>
        </p:txBody>
      </p:sp>
      <p:sp>
        <p:nvSpPr>
          <p:cNvPr id="4" name="TextBox 3"/>
          <p:cNvSpPr txBox="1"/>
          <p:nvPr/>
        </p:nvSpPr>
        <p:spPr>
          <a:xfrm>
            <a:off x="5731394" y="3117921"/>
            <a:ext cx="2928958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public-key encryption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048" y="3123443"/>
            <a:ext cx="2714644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factoring RSA </a:t>
            </a:r>
            <a:r>
              <a:rPr lang="en-US" sz="2000" b="1" dirty="0" err="1"/>
              <a:t>moduli</a:t>
            </a:r>
            <a:r>
              <a:rPr lang="en-US" sz="2000" b="1" dirty="0"/>
              <a:t> </a:t>
            </a:r>
            <a:br>
              <a:rPr lang="en-US" sz="2000" b="1" dirty="0"/>
            </a:br>
            <a:r>
              <a:rPr lang="en-US" sz="2000" b="1" dirty="0"/>
              <a:t>is hard</a:t>
            </a:r>
          </a:p>
        </p:txBody>
      </p:sp>
      <p:sp>
        <p:nvSpPr>
          <p:cNvPr id="6" name="Down Arrow 5"/>
          <p:cNvSpPr/>
          <p:nvPr/>
        </p:nvSpPr>
        <p:spPr>
          <a:xfrm rot="16200000">
            <a:off x="4110041" y="2746864"/>
            <a:ext cx="660003" cy="1402117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947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CCA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698124" y="2928934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2954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-286577" y="186533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9" name="Straight Arrow Connector 8"/>
          <p:cNvCxnSpPr/>
          <p:nvPr/>
        </p:nvCxnSpPr>
        <p:spPr>
          <a:xfrm>
            <a:off x="3094779" y="2285992"/>
            <a:ext cx="357190" cy="14287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10800000">
            <a:off x="1523143" y="4429132"/>
            <a:ext cx="2428892" cy="158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16200000" flipV="1">
            <a:off x="1701738" y="3036091"/>
            <a:ext cx="2143140" cy="164307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881" y="226209"/>
            <a:ext cx="8262908" cy="1325563"/>
          </a:xfrm>
        </p:spPr>
        <p:txBody>
          <a:bodyPr>
            <a:normAutofit/>
          </a:bodyPr>
          <a:lstStyle/>
          <a:p>
            <a:r>
              <a:rPr lang="en-US" dirty="0"/>
              <a:t>Remember the exponentiation modulo a prime?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rot="16200000" flipH="1">
            <a:off x="3344812" y="3321843"/>
            <a:ext cx="1214446" cy="42862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5400000">
            <a:off x="1273110" y="2821777"/>
            <a:ext cx="285752" cy="21431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6200000" flipH="1">
            <a:off x="939754" y="3988619"/>
            <a:ext cx="1428760" cy="30952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523143" y="4572008"/>
            <a:ext cx="1857388" cy="57150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2023209" y="3500438"/>
            <a:ext cx="2000264" cy="150019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>
            <a:off x="2630432" y="3821909"/>
            <a:ext cx="1571636" cy="121444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5400000" flipH="1" flipV="1">
            <a:off x="1487424" y="3821909"/>
            <a:ext cx="2571768" cy="7143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/>
            </p:nvGraphicFramePr>
            <p:xfrm>
              <a:off x="5857884" y="1571612"/>
              <a:ext cx="2786082" cy="4358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30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930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 baseline="300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 baseline="300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0" baseline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𝐦𝐨𝐝</m:t>
                                </m:r>
                                <m:r>
                                  <a:rPr lang="en-US" sz="2000" b="1" i="1" baseline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1" baseline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oMath>
                            </m:oMathPara>
                          </a14:m>
                          <a:endParaRPr lang="en-US" sz="2000" b="1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17122"/>
                  </p:ext>
                </p:extLst>
              </p:nvPr>
            </p:nvGraphicFramePr>
            <p:xfrm>
              <a:off x="5857884" y="1571612"/>
              <a:ext cx="2786082" cy="4358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3041"/>
                    <a:gridCol w="1393041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437" t="-1538" r="-102183" b="-10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0437" t="-1538" r="-2183" b="-1029231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0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1</a:t>
                          </a:r>
                          <a:endParaRPr lang="en-US" sz="2000" b="1" dirty="0"/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1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2</a:t>
                          </a:r>
                          <a:endParaRPr lang="en-US" sz="2000" b="1" dirty="0"/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2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4</a:t>
                          </a:r>
                          <a:endParaRPr lang="en-US" sz="2000" b="1" dirty="0"/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3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8</a:t>
                          </a:r>
                          <a:endParaRPr lang="en-US" sz="2000" b="1" dirty="0"/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4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5</a:t>
                          </a:r>
                          <a:endParaRPr lang="en-US" sz="2000" b="1" dirty="0"/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5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10</a:t>
                          </a:r>
                          <a:endParaRPr lang="en-US" sz="2000" b="1" dirty="0"/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6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9</a:t>
                          </a:r>
                          <a:endParaRPr lang="en-US" sz="2000" b="1" dirty="0"/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7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7</a:t>
                          </a:r>
                          <a:endParaRPr lang="en-US" sz="2000" b="1" dirty="0"/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8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3</a:t>
                          </a:r>
                          <a:endParaRPr lang="en-US" sz="2000" b="1" dirty="0"/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9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/>
                            <a:t>6</a:t>
                          </a:r>
                          <a:endParaRPr lang="en-US" sz="2000" b="1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26075" y="6183962"/>
                <a:ext cx="35805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800" dirty="0"/>
                  <a:t> is a generator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sub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75" y="6183962"/>
                <a:ext cx="3580596" cy="523220"/>
              </a:xfrm>
              <a:prstGeom prst="rect">
                <a:avLst/>
              </a:prstGeom>
              <a:blipFill rotWithShape="0">
                <a:blip r:embed="rId9"/>
                <a:stretch>
                  <a:fillRect t="-12791" b="-302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35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/>
              <a:t>Discrete log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43240" y="1000108"/>
                <a:ext cx="5157766" cy="1685924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/>
                  <a:t>Function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>
                  <a:buNone/>
                </a:pP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3240" y="1000108"/>
                <a:ext cx="5157766" cy="1685924"/>
              </a:xfrm>
              <a:blipFill rotWithShape="0">
                <a:blip r:embed="rId3"/>
                <a:stretch>
                  <a:fillRect l="-2482" t="-61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8596" y="1285860"/>
          <a:ext cx="2190744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76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g</a:t>
                      </a:r>
                      <a:r>
                        <a:rPr lang="en-US" sz="2000" b="1" baseline="30000" dirty="0" err="1"/>
                        <a:t>x</a:t>
                      </a:r>
                      <a:endParaRPr lang="en-US" sz="2000" b="1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76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6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76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76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76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76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76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76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76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76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4000496" y="2357430"/>
            <a:ext cx="4214842" cy="1285884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easy to compute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Left Arrow 6"/>
              <p:cNvSpPr/>
              <p:nvPr/>
            </p:nvSpPr>
            <p:spPr>
              <a:xfrm>
                <a:off x="3500430" y="3429000"/>
                <a:ext cx="4714908" cy="1643074"/>
              </a:xfrm>
              <a:prstGeom prst="lef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believed to be </a:t>
                </a:r>
                <a:r>
                  <a:rPr lang="en-US" sz="2400" b="1" dirty="0"/>
                  <a:t>hard to compute </a:t>
                </a:r>
                <a:r>
                  <a:rPr lang="en-US" sz="2400" dirty="0"/>
                  <a:t>for large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Left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3429000"/>
                <a:ext cx="4714908" cy="1643074"/>
              </a:xfrm>
              <a:prstGeom prst="leftArrow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ular Callout 7"/>
              <p:cNvSpPr/>
              <p:nvPr/>
            </p:nvSpPr>
            <p:spPr>
              <a:xfrm>
                <a:off x="4214810" y="5143488"/>
                <a:ext cx="4643470" cy="1414387"/>
              </a:xfrm>
              <a:prstGeom prst="wedgeRectCallout">
                <a:avLst>
                  <a:gd name="adj1" fmla="val -12240"/>
                  <a:gd name="adj2" fmla="val -93944"/>
                </a:avLst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4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is also denoted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and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called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discrete logarithm</a:t>
                </a:r>
              </a:p>
              <a:p>
                <a:pPr algn="ctr"/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810" y="5143488"/>
                <a:ext cx="4643470" cy="1414387"/>
              </a:xfrm>
              <a:prstGeom prst="wedgeRectCallout">
                <a:avLst>
                  <a:gd name="adj1" fmla="val -12240"/>
                  <a:gd name="adj2" fmla="val -93944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57158" y="5786454"/>
            <a:ext cx="3286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Discrete log is hard in many other groups!</a:t>
            </a:r>
          </a:p>
        </p:txBody>
      </p:sp>
    </p:spTree>
    <p:extLst>
      <p:ext uri="{BB962C8B-B14F-4D97-AF65-F5344CB8AC3E}">
        <p14:creationId xmlns:p14="http://schemas.microsoft.com/office/powerpoint/2010/main" val="349341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393"/>
            <a:ext cx="7886700" cy="1325563"/>
          </a:xfrm>
        </p:spPr>
        <p:txBody>
          <a:bodyPr>
            <a:noAutofit/>
          </a:bodyPr>
          <a:lstStyle/>
          <a:p>
            <a:r>
              <a:rPr lang="en-US" sz="3600" dirty="0"/>
              <a:t>How to construct PKE based on the </a:t>
            </a:r>
            <a:r>
              <a:rPr lang="en-US" sz="3600" b="1" dirty="0">
                <a:solidFill>
                  <a:srgbClr val="0070C0"/>
                </a:solidFill>
              </a:rPr>
              <a:t>hardness of discrete log</a:t>
            </a:r>
            <a:r>
              <a:rPr lang="en-US" sz="36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3050"/>
            <a:ext cx="8229600" cy="4483113"/>
          </a:xfrm>
          <a:solidFill>
            <a:schemeClr val="bg1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RSA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was a trapdoor permutation, so the construction was quite easy...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case of the </a:t>
            </a:r>
            <a:r>
              <a:rPr lang="en-US" b="1" dirty="0">
                <a:solidFill>
                  <a:srgbClr val="0070C0"/>
                </a:solidFill>
              </a:rPr>
              <a:t>discrete log, </a:t>
            </a:r>
            <a:r>
              <a:rPr lang="en-US" dirty="0"/>
              <a:t>we just have a one-way function.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Diffie</a:t>
            </a:r>
            <a:r>
              <a:rPr lang="en-US" b="1" dirty="0"/>
              <a:t> and Hellman </a:t>
            </a:r>
            <a:r>
              <a:rPr lang="en-US" dirty="0"/>
              <a:t>constructed something weaker than PKE: a </a:t>
            </a:r>
            <a:r>
              <a:rPr lang="en-US" b="1" dirty="0">
                <a:solidFill>
                  <a:srgbClr val="0070C0"/>
                </a:solidFill>
              </a:rPr>
              <a:t>key exchange protocol</a:t>
            </a:r>
            <a:r>
              <a:rPr lang="en-US" dirty="0"/>
              <a:t> (also called key </a:t>
            </a:r>
            <a:r>
              <a:rPr lang="en-US" b="1" dirty="0"/>
              <a:t>agreement </a:t>
            </a:r>
            <a:r>
              <a:rPr lang="en-US" dirty="0"/>
              <a:t>protocol).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</a:t>
            </a:r>
            <a:r>
              <a:rPr lang="pl-PL" dirty="0"/>
              <a:t> will now</a:t>
            </a:r>
            <a:r>
              <a:rPr lang="en-US" dirty="0"/>
              <a:t> describe it.  Then, we</a:t>
            </a:r>
            <a:r>
              <a:rPr lang="pl-PL" dirty="0"/>
              <a:t> </a:t>
            </a:r>
            <a:r>
              <a:rPr lang="pl-PL" dirty="0" err="1"/>
              <a:t>wi</a:t>
            </a:r>
            <a:r>
              <a:rPr lang="en-US" dirty="0" err="1"/>
              <a:t>ll</a:t>
            </a:r>
            <a:r>
              <a:rPr lang="en-US" dirty="0"/>
              <a:t> show how to “convert it” into a </a:t>
            </a:r>
            <a:r>
              <a:rPr lang="en-US" b="1" dirty="0"/>
              <a:t>PKE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50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 tool: Diffie-Hellman key exchange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ElGamal</a:t>
            </a:r>
            <a:r>
              <a:rPr lang="en-US" dirty="0"/>
              <a:t>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CCA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84836" y="2928934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7641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0" name="AutoShape 18"/>
          <p:cNvSpPr>
            <a:spLocks noChangeArrowheads="1"/>
          </p:cNvSpPr>
          <p:nvPr/>
        </p:nvSpPr>
        <p:spPr bwMode="auto">
          <a:xfrm>
            <a:off x="3505200" y="1981200"/>
            <a:ext cx="2514600" cy="2209800"/>
          </a:xfrm>
          <a:prstGeom prst="cloudCallout">
            <a:avLst>
              <a:gd name="adj1" fmla="val -42296"/>
              <a:gd name="adj2" fmla="val 49782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 b="1"/>
              <a:t>listens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/>
              <a:t>Key exchange</a:t>
            </a:r>
          </a:p>
        </p:txBody>
      </p:sp>
      <p:pic>
        <p:nvPicPr>
          <p:cNvPr id="18436" name="Picture 4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133600"/>
            <a:ext cx="1401763" cy="1457325"/>
          </a:xfrm>
          <a:prstGeom prst="rect">
            <a:avLst/>
          </a:prstGeom>
          <a:noFill/>
        </p:spPr>
      </p:pic>
      <p:pic>
        <p:nvPicPr>
          <p:cNvPr id="18437" name="Picture 5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0" y="4038600"/>
            <a:ext cx="1841500" cy="1273175"/>
          </a:xfrm>
          <a:prstGeom prst="rect">
            <a:avLst/>
          </a:prstGeom>
          <a:noFill/>
        </p:spPr>
      </p:pic>
      <p:pic>
        <p:nvPicPr>
          <p:cNvPr id="18438" name="Picture 6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43000" y="2133600"/>
            <a:ext cx="1368425" cy="1438275"/>
          </a:xfrm>
          <a:prstGeom prst="rect">
            <a:avLst/>
          </a:prstGeom>
          <a:noFill/>
        </p:spPr>
      </p:pic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2895600" y="23622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1371600" y="3124200"/>
            <a:ext cx="733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6858000" y="3124200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 flipH="1">
            <a:off x="2895600" y="2514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2895600" y="26670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 flipH="1">
            <a:off x="2895600" y="2819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2895600" y="29718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 flipH="1">
            <a:off x="2895600" y="31242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 flipH="1">
            <a:off x="1981200" y="1524000"/>
            <a:ext cx="1676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52" name="Line 20"/>
          <p:cNvSpPr>
            <a:spLocks noChangeShapeType="1"/>
          </p:cNvSpPr>
          <p:nvPr/>
        </p:nvSpPr>
        <p:spPr bwMode="auto">
          <a:xfrm>
            <a:off x="5334000" y="1524000"/>
            <a:ext cx="1676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53" name="Text Box 21"/>
          <p:cNvSpPr txBox="1">
            <a:spLocks noChangeArrowheads="1"/>
          </p:cNvSpPr>
          <p:nvPr/>
        </p:nvSpPr>
        <p:spPr bwMode="auto">
          <a:xfrm>
            <a:off x="2971800" y="1066800"/>
            <a:ext cx="3384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initially they share no secret</a:t>
            </a:r>
          </a:p>
        </p:txBody>
      </p:sp>
      <p:sp>
        <p:nvSpPr>
          <p:cNvPr id="18454" name="Line 22"/>
          <p:cNvSpPr>
            <a:spLocks noChangeShapeType="1"/>
          </p:cNvSpPr>
          <p:nvPr/>
        </p:nvSpPr>
        <p:spPr bwMode="auto">
          <a:xfrm>
            <a:off x="1828800" y="37338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55" name="Line 23"/>
          <p:cNvSpPr>
            <a:spLocks noChangeShapeType="1"/>
          </p:cNvSpPr>
          <p:nvPr/>
        </p:nvSpPr>
        <p:spPr bwMode="auto">
          <a:xfrm>
            <a:off x="7239000" y="37338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56" name="Text Box 24"/>
              <p:cNvSpPr txBox="1">
                <a:spLocks noChangeArrowheads="1"/>
              </p:cNvSpPr>
              <p:nvPr/>
            </p:nvSpPr>
            <p:spPr bwMode="auto">
              <a:xfrm>
                <a:off x="1413111" y="4724400"/>
                <a:ext cx="744178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US" b="1" dirty="0"/>
                  <a:t>key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56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3111" y="4724400"/>
                <a:ext cx="744178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57" name="Text Box 25"/>
              <p:cNvSpPr txBox="1">
                <a:spLocks noChangeArrowheads="1"/>
              </p:cNvSpPr>
              <p:nvPr/>
            </p:nvSpPr>
            <p:spPr bwMode="auto">
              <a:xfrm>
                <a:off x="6823311" y="4724400"/>
                <a:ext cx="744178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US" b="1" dirty="0"/>
                  <a:t>key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57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23311" y="4724400"/>
                <a:ext cx="744178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58" name="Rectangle 26"/>
              <p:cNvSpPr>
                <a:spLocks noChangeArrowheads="1"/>
              </p:cNvSpPr>
              <p:nvPr/>
            </p:nvSpPr>
            <p:spPr bwMode="auto">
              <a:xfrm>
                <a:off x="3657600" y="5181600"/>
                <a:ext cx="46482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dirty="0"/>
                  <a:t>Eve should have no information about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58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5181600"/>
                <a:ext cx="4648200" cy="5334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59" name="AutoShape 27"/>
          <p:cNvSpPr>
            <a:spLocks noChangeArrowheads="1"/>
          </p:cNvSpPr>
          <p:nvPr/>
        </p:nvSpPr>
        <p:spPr bwMode="auto">
          <a:xfrm>
            <a:off x="3429000" y="5943600"/>
            <a:ext cx="4114800" cy="762000"/>
          </a:xfrm>
          <a:prstGeom prst="wedgeRoundRectCallout">
            <a:avLst>
              <a:gd name="adj1" fmla="val 11306"/>
              <a:gd name="adj2" fmla="val -99792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 anchorCtr="1"/>
          <a:lstStyle/>
          <a:p>
            <a:pPr algn="ctr"/>
            <a:r>
              <a:rPr lang="en-US"/>
              <a:t>We will formalize it later.</a:t>
            </a:r>
            <a:br>
              <a:rPr lang="en-US"/>
            </a:br>
            <a:r>
              <a:rPr lang="en-US"/>
              <a:t>Let’s first show the protocol.</a:t>
            </a:r>
          </a:p>
        </p:txBody>
      </p:sp>
    </p:spTree>
    <p:extLst>
      <p:ext uri="{BB962C8B-B14F-4D97-AF65-F5344CB8AC3E}">
        <p14:creationId xmlns:p14="http://schemas.microsoft.com/office/powerpoint/2010/main" val="55227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0" grpId="0" animBg="1"/>
      <p:bldP spid="18439" grpId="0" animBg="1"/>
      <p:bldP spid="18445" grpId="0" animBg="1"/>
      <p:bldP spid="18446" grpId="0" animBg="1"/>
      <p:bldP spid="18447" grpId="0" animBg="1"/>
      <p:bldP spid="18448" grpId="0" animBg="1"/>
      <p:bldP spid="18449" grpId="0" animBg="1"/>
      <p:bldP spid="18454" grpId="0" animBg="1"/>
      <p:bldP spid="18455" grpId="0" animBg="1"/>
      <p:bldP spid="18456" grpId="0" animBg="1"/>
      <p:bldP spid="18457" grpId="0" animBg="1"/>
      <p:bldP spid="18458" grpId="0" animBg="1"/>
      <p:bldP spid="1845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sz="4000"/>
              <a:t>The Diffie-Hellman Key exchange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09550" y="919164"/>
                <a:ext cx="8229600" cy="1371600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800" dirty="0"/>
                  <a:t> – a group, where </a:t>
                </a:r>
                <a:r>
                  <a:rPr lang="en-US" sz="2800" b="1" dirty="0"/>
                  <a:t>discrete log is believed to be hard</a:t>
                </a: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:= |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800" dirty="0"/>
                  <a:t> – a generator of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9550" y="919164"/>
                <a:ext cx="8229600" cy="1371600"/>
              </a:xfrm>
              <a:blipFill rotWithShape="0">
                <a:blip r:embed="rId3"/>
                <a:stretch>
                  <a:fillRect t="-9778" r="-444" b="-5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499" name="Picture 19" descr="MCj0411466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13962" y="2814861"/>
            <a:ext cx="1401763" cy="1457325"/>
          </a:xfrm>
          <a:prstGeom prst="rect">
            <a:avLst/>
          </a:prstGeom>
          <a:noFill/>
        </p:spPr>
      </p:pic>
      <p:pic>
        <p:nvPicPr>
          <p:cNvPr id="20500" name="Picture 20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67300" y="2814861"/>
            <a:ext cx="1368425" cy="1438275"/>
          </a:xfrm>
          <a:prstGeom prst="rect">
            <a:avLst/>
          </a:prstGeom>
          <a:noFill/>
        </p:spPr>
      </p:pic>
      <p:sp>
        <p:nvSpPr>
          <p:cNvPr id="20501" name="Text Box 21"/>
          <p:cNvSpPr txBox="1">
            <a:spLocks noChangeArrowheads="1"/>
          </p:cNvSpPr>
          <p:nvPr/>
        </p:nvSpPr>
        <p:spPr bwMode="auto">
          <a:xfrm>
            <a:off x="1527662" y="3822924"/>
            <a:ext cx="733425" cy="3698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20502" name="Text Box 22"/>
          <p:cNvSpPr txBox="1">
            <a:spLocks noChangeArrowheads="1"/>
          </p:cNvSpPr>
          <p:nvPr/>
        </p:nvSpPr>
        <p:spPr bwMode="auto">
          <a:xfrm>
            <a:off x="6594962" y="3805461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06" name="Text Box 26"/>
              <p:cNvSpPr txBox="1">
                <a:spLocks noChangeArrowheads="1"/>
              </p:cNvSpPr>
              <p:nvPr/>
            </p:nvSpPr>
            <p:spPr bwMode="auto">
              <a:xfrm>
                <a:off x="664062" y="2648174"/>
                <a:ext cx="1288558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𝒁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𝒒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0506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062" y="2648174"/>
                <a:ext cx="1288558" cy="45313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2535725" y="2940277"/>
            <a:ext cx="3673475" cy="452438"/>
            <a:chOff x="1827" y="1785"/>
            <a:chExt cx="2314" cy="285"/>
          </a:xfrm>
        </p:grpSpPr>
        <p:sp>
          <p:nvSpPr>
            <p:cNvPr id="20505" name="Line 25"/>
            <p:cNvSpPr>
              <a:spLocks noChangeShapeType="1"/>
            </p:cNvSpPr>
            <p:nvPr/>
          </p:nvSpPr>
          <p:spPr bwMode="auto">
            <a:xfrm>
              <a:off x="1827" y="1933"/>
              <a:ext cx="23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07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547" y="1785"/>
                  <a:ext cx="887" cy="28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eaLnBrk="0"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𝒉</m:t>
                        </m:r>
                        <m:r>
                          <a:rPr lang="en-GB" sz="2400" b="1" i="1" baseline="-25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𝟏</m:t>
                        </m:r>
                        <m:r>
                          <a:rPr lang="en-GB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 = </m:t>
                        </m:r>
                        <m:r>
                          <a:rPr lang="en-GB" sz="2400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𝒈</m:t>
                        </m:r>
                        <m:r>
                          <a:rPr lang="en-GB" sz="2400" b="1" i="1" baseline="30000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𝒙</m:t>
                        </m:r>
                      </m:oMath>
                    </m:oMathPara>
                  </a14:m>
                  <a:endParaRPr lang="en-GB" sz="2400" b="1" baseline="30000" dirty="0">
                    <a:solidFill>
                      <a:srgbClr val="FF0000"/>
                    </a:solidFill>
                    <a:ea typeface="ＭＳ Ｐゴシック" pitchFamily="34" charset="-128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20507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47" y="1785"/>
                  <a:ext cx="887" cy="28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508" name="Text Box 28"/>
              <p:cNvSpPr txBox="1">
                <a:spLocks noChangeArrowheads="1"/>
              </p:cNvSpPr>
              <p:nvPr/>
            </p:nvSpPr>
            <p:spPr bwMode="auto">
              <a:xfrm>
                <a:off x="7504600" y="3224436"/>
                <a:ext cx="1294970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𝒁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𝒒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0508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04600" y="3224436"/>
                <a:ext cx="1294970" cy="45313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2540487" y="3567363"/>
            <a:ext cx="3673475" cy="452438"/>
            <a:chOff x="1827" y="2177"/>
            <a:chExt cx="2314" cy="285"/>
          </a:xfrm>
        </p:grpSpPr>
        <p:sp>
          <p:nvSpPr>
            <p:cNvPr id="20498" name="Line 18"/>
            <p:cNvSpPr>
              <a:spLocks noChangeShapeType="1"/>
            </p:cNvSpPr>
            <p:nvPr/>
          </p:nvSpPr>
          <p:spPr bwMode="auto">
            <a:xfrm flipH="1">
              <a:off x="1827" y="2327"/>
              <a:ext cx="2314" cy="0"/>
            </a:xfrm>
            <a:prstGeom prst="line">
              <a:avLst/>
            </a:prstGeom>
            <a:ln>
              <a:solidFill>
                <a:schemeClr val="tx1"/>
              </a:solidFill>
              <a:headEnd/>
              <a:tailEnd type="triangl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09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544" y="2177"/>
                  <a:ext cx="890" cy="28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eaLnBrk="0"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𝒉</m:t>
                        </m:r>
                        <m:r>
                          <a:rPr lang="en-GB" sz="2400" b="1" i="1" baseline="-25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𝟐</m:t>
                        </m:r>
                        <m:r>
                          <a:rPr lang="en-GB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 = </m:t>
                        </m:r>
                        <m:r>
                          <a:rPr lang="en-GB" sz="2400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𝒈</m:t>
                        </m:r>
                        <m:r>
                          <a:rPr lang="en-GB" sz="2400" b="1" i="1" baseline="30000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𝒚</m:t>
                        </m:r>
                      </m:oMath>
                    </m:oMathPara>
                  </a14:m>
                  <a:endParaRPr lang="en-GB" sz="2400" b="1" baseline="30000" dirty="0">
                    <a:solidFill>
                      <a:srgbClr val="FF0000"/>
                    </a:solidFill>
                    <a:ea typeface="ＭＳ Ｐゴシック" pitchFamily="34" charset="-128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20509" name="Text 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44" y="2177"/>
                  <a:ext cx="890" cy="28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510" name="Text Box 30"/>
              <p:cNvSpPr txBox="1">
                <a:spLocks noChangeArrowheads="1"/>
              </p:cNvSpPr>
              <p:nvPr/>
            </p:nvSpPr>
            <p:spPr bwMode="auto">
              <a:xfrm>
                <a:off x="1031674" y="4602386"/>
                <a:ext cx="1646028" cy="8224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GB" sz="2400" dirty="0">
                    <a:ea typeface="ＭＳ Ｐゴシック" pitchFamily="34" charset="-128"/>
                  </a:rPr>
                  <a:t>output</a:t>
                </a:r>
                <a:r>
                  <a:rPr lang="en-GB" sz="2400" i="1" dirty="0">
                    <a:ea typeface="ＭＳ Ｐゴシック" pitchFamily="34" charset="-128"/>
                  </a:rPr>
                  <a:t>:</a:t>
                </a:r>
                <a:br>
                  <a:rPr lang="en-GB" sz="2400" i="1" dirty="0">
                    <a:ea typeface="ＭＳ Ｐゴシック" pitchFamily="34" charset="-1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𝒌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𝑨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=(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𝟐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  <m:r>
                        <a:rPr lang="en-GB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0510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1674" y="4602386"/>
                <a:ext cx="1646028" cy="822469"/>
              </a:xfrm>
              <a:prstGeom prst="rect">
                <a:avLst/>
              </a:prstGeom>
              <a:blipFill rotWithShape="0">
                <a:blip r:embed="rId10"/>
                <a:stretch>
                  <a:fillRect l="-741" t="-5926" b="-1111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1" name="Text Box 31"/>
              <p:cNvSpPr txBox="1">
                <a:spLocks noChangeArrowheads="1"/>
              </p:cNvSpPr>
              <p:nvPr/>
            </p:nvSpPr>
            <p:spPr bwMode="auto">
              <a:xfrm>
                <a:off x="6097869" y="4637006"/>
                <a:ext cx="1643676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eaLnBrk="0" hangingPunct="0"/>
                <a:r>
                  <a:rPr lang="en-GB" sz="2400" dirty="0">
                    <a:ea typeface="ＭＳ Ｐゴシック" pitchFamily="34" charset="-128"/>
                  </a:rPr>
                  <a:t>output</a:t>
                </a:r>
                <a:r>
                  <a:rPr lang="en-GB" sz="2400" i="1" dirty="0">
                    <a:ea typeface="ＭＳ Ｐゴシック" pitchFamily="34" charset="-128"/>
                  </a:rPr>
                  <a:t>:</a:t>
                </a:r>
                <a:br>
                  <a:rPr lang="en-GB" sz="2400" i="1" dirty="0">
                    <a:ea typeface="ＭＳ Ｐゴシック" pitchFamily="34" charset="-1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𝒌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𝑩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=(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  <m:r>
                        <a:rPr lang="en-GB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0511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7869" y="4637006"/>
                <a:ext cx="1643676" cy="830997"/>
              </a:xfrm>
              <a:prstGeom prst="rect">
                <a:avLst/>
              </a:prstGeom>
              <a:blipFill rotWithShape="0">
                <a:blip r:embed="rId11"/>
                <a:stretch>
                  <a:fillRect l="-1481" t="-5882" b="-1029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2" name="AutoShape 32"/>
              <p:cNvSpPr>
                <a:spLocks noChangeArrowheads="1"/>
              </p:cNvSpPr>
              <p:nvPr/>
            </p:nvSpPr>
            <p:spPr bwMode="auto">
              <a:xfrm>
                <a:off x="535475" y="5767611"/>
                <a:ext cx="2305050" cy="863600"/>
              </a:xfrm>
              <a:prstGeom prst="wedgeRectCallout">
                <a:avLst>
                  <a:gd name="adj1" fmla="val -4546"/>
                  <a:gd name="adj2" fmla="val -90810"/>
                </a:avLst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 eaLnBrk="0" hangingPunct="0"/>
                <a:r>
                  <a:rPr lang="en-GB" sz="2400" dirty="0">
                    <a:ea typeface="ＭＳ Ｐゴシック" pitchFamily="34" charset="-128"/>
                  </a:rPr>
                  <a:t>equal to:</a:t>
                </a:r>
                <a:br>
                  <a:rPr lang="en-GB" sz="2400" dirty="0">
                    <a:ea typeface="ＭＳ Ｐゴシック" pitchFamily="34" charset="-1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𝒚𝒙</m:t>
                      </m:r>
                      <m:r>
                        <a:rPr lang="en-GB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0512" name="AutoShap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5475" y="5767611"/>
                <a:ext cx="2305050" cy="863600"/>
              </a:xfrm>
              <a:prstGeom prst="wedgeRectCallout">
                <a:avLst>
                  <a:gd name="adj1" fmla="val -4546"/>
                  <a:gd name="adj2" fmla="val -90810"/>
                </a:avLst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3" name="AutoShape 33"/>
              <p:cNvSpPr>
                <a:spLocks noChangeArrowheads="1"/>
              </p:cNvSpPr>
              <p:nvPr/>
            </p:nvSpPr>
            <p:spPr bwMode="auto">
              <a:xfrm>
                <a:off x="5143987" y="5767611"/>
                <a:ext cx="2305050" cy="863600"/>
              </a:xfrm>
              <a:prstGeom prst="wedgeRectCallout">
                <a:avLst>
                  <a:gd name="adj1" fmla="val 19352"/>
                  <a:gd name="adj2" fmla="val -84926"/>
                </a:avLst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 eaLnBrk="0" hangingPunct="0"/>
                <a:r>
                  <a:rPr lang="en-GB" sz="2400" dirty="0">
                    <a:ea typeface="ＭＳ Ｐゴシック" pitchFamily="34" charset="-128"/>
                  </a:rPr>
                  <a:t>equal to:</a:t>
                </a:r>
                <a:br>
                  <a:rPr lang="en-GB" sz="2400" dirty="0">
                    <a:ea typeface="ＭＳ Ｐゴシック" pitchFamily="34" charset="-128"/>
                  </a:rPr>
                </a:b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400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𝒙𝒚</m:t>
                    </m:r>
                  </m:oMath>
                </a14:m>
                <a:r>
                  <a:rPr lang="en-GB" sz="2400" b="1" baseline="30000" dirty="0">
                    <a:ea typeface="ＭＳ Ｐゴシック" pitchFamily="34" charset="-128"/>
                  </a:rPr>
                  <a:t> </a:t>
                </a:r>
                <a:endParaRPr lang="en-US" sz="2400" b="1" baseline="30000" dirty="0"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0513" name="AutoShap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3987" y="5767611"/>
                <a:ext cx="2305050" cy="863600"/>
              </a:xfrm>
              <a:prstGeom prst="wedgeRectCallout">
                <a:avLst>
                  <a:gd name="adj1" fmla="val 19352"/>
                  <a:gd name="adj2" fmla="val -84926"/>
                </a:avLst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14" name="Line 34"/>
          <p:cNvSpPr>
            <a:spLocks noChangeShapeType="1"/>
          </p:cNvSpPr>
          <p:nvPr/>
        </p:nvSpPr>
        <p:spPr bwMode="auto">
          <a:xfrm>
            <a:off x="2911962" y="6127974"/>
            <a:ext cx="20875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515" name="Text Box 35"/>
          <p:cNvSpPr txBox="1">
            <a:spLocks noChangeArrowheads="1"/>
          </p:cNvSpPr>
          <p:nvPr/>
        </p:nvSpPr>
        <p:spPr bwMode="auto">
          <a:xfrm>
            <a:off x="3481875" y="5912074"/>
            <a:ext cx="1025525" cy="466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eaLnBrk="0" hangingPunct="0"/>
            <a:r>
              <a:rPr lang="en-GB" sz="2400" dirty="0">
                <a:ea typeface="ＭＳ Ｐゴシック" pitchFamily="34" charset="-128"/>
              </a:rPr>
              <a:t>equal!</a:t>
            </a:r>
            <a:endParaRPr lang="en-US" sz="2400" dirty="0">
              <a:ea typeface="ＭＳ Ｐゴシック" pitchFamily="34" charset="-128"/>
            </a:endParaRPr>
          </a:p>
        </p:txBody>
      </p:sp>
      <p:cxnSp>
        <p:nvCxnSpPr>
          <p:cNvPr id="20516" name="AutoShape 36"/>
          <p:cNvCxnSpPr>
            <a:cxnSpLocks noChangeShapeType="1"/>
            <a:endCxn id="20510" idx="0"/>
          </p:cNvCxnSpPr>
          <p:nvPr/>
        </p:nvCxnSpPr>
        <p:spPr bwMode="auto">
          <a:xfrm>
            <a:off x="1851512" y="4253136"/>
            <a:ext cx="3176" cy="349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517" name="AutoShape 37"/>
          <p:cNvCxnSpPr>
            <a:cxnSpLocks noChangeShapeType="1"/>
            <a:stCxn id="20499" idx="2"/>
            <a:endCxn id="20511" idx="0"/>
          </p:cNvCxnSpPr>
          <p:nvPr/>
        </p:nvCxnSpPr>
        <p:spPr bwMode="auto">
          <a:xfrm>
            <a:off x="6914844" y="4272186"/>
            <a:ext cx="4863" cy="3648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58882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1" grpId="0" animBg="1"/>
      <p:bldP spid="20502" grpId="0" animBg="1"/>
      <p:bldP spid="20506" grpId="0" animBg="1"/>
      <p:bldP spid="20508" grpId="0" animBg="1"/>
      <p:bldP spid="20510" grpId="0"/>
      <p:bldP spid="20511" grpId="0"/>
      <p:bldP spid="20512" grpId="0" animBg="1"/>
      <p:bldP spid="20513" grpId="0" animBg="1"/>
      <p:bldP spid="20514" grpId="0" animBg="1"/>
      <p:bldP spid="2051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0" name="Line 12"/>
          <p:cNvSpPr>
            <a:spLocks noChangeShapeType="1"/>
          </p:cNvSpPr>
          <p:nvPr/>
        </p:nvSpPr>
        <p:spPr bwMode="auto">
          <a:xfrm flipV="1">
            <a:off x="5116619" y="2612305"/>
            <a:ext cx="12954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48157" y="289929"/>
            <a:ext cx="8649988" cy="1235942"/>
          </a:xfrm>
        </p:spPr>
        <p:txBody>
          <a:bodyPr>
            <a:normAutofit/>
          </a:bodyPr>
          <a:lstStyle/>
          <a:p>
            <a:r>
              <a:rPr lang="en-GB" sz="3600" dirty="0"/>
              <a:t>Security of the </a:t>
            </a:r>
            <a:r>
              <a:rPr lang="en-GB" sz="3600" dirty="0" err="1"/>
              <a:t>Diffie</a:t>
            </a:r>
            <a:r>
              <a:rPr lang="en-GB" sz="3600" dirty="0"/>
              <a:t>-Hellman key exchange</a:t>
            </a:r>
            <a:endParaRPr lang="en-US" sz="3600" dirty="0"/>
          </a:p>
        </p:txBody>
      </p:sp>
      <p:pic>
        <p:nvPicPr>
          <p:cNvPr id="27652" name="Picture 4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73619" y="3907705"/>
            <a:ext cx="1841500" cy="1273175"/>
          </a:xfrm>
          <a:prstGeom prst="rect">
            <a:avLst/>
          </a:prstGeom>
          <a:noFill/>
        </p:spPr>
      </p:pic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4049819" y="4822105"/>
            <a:ext cx="5937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Eve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4" name="Text Box 6"/>
              <p:cNvSpPr txBox="1">
                <a:spLocks noChangeArrowheads="1"/>
              </p:cNvSpPr>
              <p:nvPr/>
            </p:nvSpPr>
            <p:spPr bwMode="auto">
              <a:xfrm>
                <a:off x="3955027" y="2002705"/>
                <a:ext cx="1408784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=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</m:oMath>
                  </m:oMathPara>
                </a14:m>
                <a:endParaRPr lang="en-GB" sz="2400" b="1" baseline="30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765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027" y="2002705"/>
                <a:ext cx="1408784" cy="45313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55" name="Text Box 7"/>
              <p:cNvSpPr txBox="1">
                <a:spLocks noChangeArrowheads="1"/>
              </p:cNvSpPr>
              <p:nvPr/>
            </p:nvSpPr>
            <p:spPr bwMode="auto">
              <a:xfrm>
                <a:off x="5954819" y="2002705"/>
                <a:ext cx="1413592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𝟐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=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</m:oMath>
                  </m:oMathPara>
                </a14:m>
                <a:endParaRPr lang="en-GB" sz="2400" b="1" baseline="30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765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4819" y="2002705"/>
                <a:ext cx="1413592" cy="45313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56" name="Text Box 8"/>
              <p:cNvSpPr txBox="1">
                <a:spLocks noChangeArrowheads="1"/>
              </p:cNvSpPr>
              <p:nvPr/>
            </p:nvSpPr>
            <p:spPr bwMode="auto">
              <a:xfrm>
                <a:off x="2371081" y="2002705"/>
                <a:ext cx="780983" cy="46166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65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1081" y="2002705"/>
                <a:ext cx="78098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8" name="Line 10"/>
          <p:cNvSpPr>
            <a:spLocks noChangeShapeType="1"/>
          </p:cNvSpPr>
          <p:nvPr/>
        </p:nvSpPr>
        <p:spPr bwMode="auto">
          <a:xfrm flipH="1" flipV="1">
            <a:off x="2830619" y="2612305"/>
            <a:ext cx="1447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 flipV="1">
            <a:off x="4659419" y="2688505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2906819" y="2993305"/>
            <a:ext cx="3581400" cy="466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GB" sz="2400"/>
              <a:t>knows</a:t>
            </a:r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61" name="Text Box 13"/>
              <p:cNvSpPr txBox="1">
                <a:spLocks noChangeArrowheads="1"/>
              </p:cNvSpPr>
              <p:nvPr/>
            </p:nvSpPr>
            <p:spPr bwMode="auto">
              <a:xfrm>
                <a:off x="348157" y="5988946"/>
                <a:ext cx="5800725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sz="2400" dirty="0"/>
                  <a:t>Eve should have no information about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400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𝒚𝒙</m:t>
                    </m:r>
                  </m:oMath>
                </a14:m>
                <a:r>
                  <a:rPr lang="en-US" dirty="0"/>
                  <a:t>.</a:t>
                </a:r>
                <a:endParaRPr lang="en-US" sz="2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7661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157" y="5988946"/>
                <a:ext cx="5800725" cy="457200"/>
              </a:xfrm>
              <a:prstGeom prst="rect">
                <a:avLst/>
              </a:prstGeom>
              <a:blipFill rotWithShape="0">
                <a:blip r:embed="rId7"/>
                <a:stretch>
                  <a:fillRect l="-525" t="-10667" b="-30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62" name="Text Box 14"/>
              <p:cNvSpPr txBox="1">
                <a:spLocks noChangeArrowheads="1"/>
              </p:cNvSpPr>
              <p:nvPr/>
            </p:nvSpPr>
            <p:spPr bwMode="auto">
              <a:xfrm>
                <a:off x="6167544" y="4110905"/>
                <a:ext cx="1444626" cy="1015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3600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𝒚𝒙</m:t>
                    </m:r>
                  </m:oMath>
                </a14:m>
                <a:r>
                  <a:rPr lang="en-GB" sz="3600" b="1" baseline="30000" dirty="0">
                    <a:ea typeface="ＭＳ Ｐゴシック" pitchFamily="34" charset="-128"/>
                  </a:rPr>
                  <a:t> </a:t>
                </a:r>
                <a:r>
                  <a:rPr lang="en-GB" sz="6000" b="1" dirty="0">
                    <a:ea typeface="ＭＳ Ｐゴシック" pitchFamily="34" charset="-128"/>
                  </a:rPr>
                  <a:t> </a:t>
                </a:r>
                <a:r>
                  <a:rPr lang="en-GB" sz="6000" b="1" dirty="0">
                    <a:solidFill>
                      <a:srgbClr val="0070C0"/>
                    </a:solidFill>
                    <a:ea typeface="ＭＳ Ｐゴシック" pitchFamily="34" charset="-128"/>
                  </a:rPr>
                  <a:t>?</a:t>
                </a:r>
                <a:endParaRPr lang="en-US" sz="6000" b="1" dirty="0">
                  <a:solidFill>
                    <a:srgbClr val="0070C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766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7544" y="4110905"/>
                <a:ext cx="1444626" cy="1015663"/>
              </a:xfrm>
              <a:prstGeom prst="rect">
                <a:avLst/>
              </a:prstGeom>
              <a:blipFill rotWithShape="0">
                <a:blip r:embed="rId8"/>
                <a:stretch>
                  <a:fillRect t="-17365" r="-24473" b="-4012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82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1" grpId="0"/>
      <p:bldP spid="2766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508" name="Rectangle 4"/>
              <p:cNvSpPr>
                <a:spLocks noChangeArrowheads="1"/>
              </p:cNvSpPr>
              <p:nvPr/>
            </p:nvSpPr>
            <p:spPr bwMode="auto">
              <a:xfrm>
                <a:off x="0" y="4419600"/>
                <a:ext cx="9144000" cy="1828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marL="174625">
                  <a:buFontTx/>
                  <a:buNone/>
                </a:pPr>
                <a:r>
                  <a:rPr lang="en-GB" sz="2800" dirty="0"/>
                  <a:t>If the discrete log in </a:t>
                </a:r>
                <a14:m>
                  <m:oMath xmlns:m="http://schemas.openxmlformats.org/officeDocument/2006/math"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GB" sz="2800" dirty="0"/>
                  <a:t> is hard, then...</a:t>
                </a:r>
              </a:p>
              <a:p>
                <a:pPr>
                  <a:buFontTx/>
                  <a:buNone/>
                </a:pPr>
                <a:endParaRPr lang="en-GB" sz="2800" dirty="0"/>
              </a:p>
              <a:p>
                <a:pPr lvl="1" algn="r">
                  <a:buFontTx/>
                  <a:buNone/>
                </a:pPr>
                <a:r>
                  <a:rPr lang="en-GB" sz="2400" dirty="0"/>
                  <a:t>it may also not be secure</a:t>
                </a:r>
                <a:endParaRPr lang="en-US" sz="2400" dirty="0"/>
              </a:p>
            </p:txBody>
          </p:sp>
        </mc:Choice>
        <mc:Fallback xmlns="">
          <p:sp>
            <p:nvSpPr>
              <p:cNvPr id="21508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419600"/>
                <a:ext cx="9144000" cy="18288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9621" y="340649"/>
            <a:ext cx="7886700" cy="1325563"/>
          </a:xfrm>
        </p:spPr>
        <p:txBody>
          <a:bodyPr/>
          <a:lstStyle/>
          <a:p>
            <a:r>
              <a:rPr lang="en-US" dirty="0"/>
              <a:t>Is it secure?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30002" y="1780746"/>
                <a:ext cx="8560579" cy="2409786"/>
              </a:xfrm>
            </p:spPr>
            <p:txBody>
              <a:bodyPr/>
              <a:lstStyle/>
              <a:p>
                <a:pPr marL="0" indent="0">
                  <a:buFontTx/>
                  <a:buNone/>
                </a:pPr>
                <a:r>
                  <a:rPr lang="en-GB" sz="2800" dirty="0"/>
                  <a:t>If the </a:t>
                </a:r>
                <a:r>
                  <a:rPr lang="en-GB" sz="2800" b="1" dirty="0"/>
                  <a:t>discrete log in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GB" sz="2800" dirty="0"/>
                  <a:t> is easy then the </a:t>
                </a:r>
                <a:r>
                  <a:rPr lang="en-GB" sz="2800" b="1" dirty="0">
                    <a:solidFill>
                      <a:srgbClr val="0070C0"/>
                    </a:solidFill>
                  </a:rPr>
                  <a:t>DH key exchange</a:t>
                </a:r>
                <a:r>
                  <a:rPr lang="en-GB" sz="2800" dirty="0"/>
                  <a:t> is </a:t>
                </a:r>
                <a:r>
                  <a:rPr lang="en-GB" sz="2800" b="1" u="sng" dirty="0">
                    <a:solidFill>
                      <a:srgbClr val="FF0000"/>
                    </a:solidFill>
                  </a:rPr>
                  <a:t>not</a:t>
                </a:r>
                <a:r>
                  <a:rPr lang="en-GB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GB" sz="2800" b="1" dirty="0"/>
                  <a:t>secure</a:t>
                </a:r>
                <a:r>
                  <a:rPr lang="en-GB" sz="2800" dirty="0"/>
                  <a:t>.</a:t>
                </a:r>
              </a:p>
              <a:p>
                <a:pPr>
                  <a:buFontTx/>
                  <a:buNone/>
                </a:pPr>
                <a:endParaRPr lang="en-GB" sz="2800" dirty="0"/>
              </a:p>
              <a:p>
                <a:pPr marL="0" indent="0">
                  <a:buFontTx/>
                  <a:buNone/>
                </a:pPr>
                <a:r>
                  <a:rPr lang="en-GB" sz="2800" dirty="0"/>
                  <a:t>(because the adversary can compute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800" dirty="0"/>
                  <a:t> and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2800" dirty="0"/>
                  <a:t> from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8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and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800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</m:oMath>
                </a14:m>
                <a:r>
                  <a:rPr lang="en-GB" sz="2800" dirty="0">
                    <a:ea typeface="ＭＳ Ｐゴシック" pitchFamily="34" charset="-128"/>
                  </a:rPr>
                  <a:t>)</a:t>
                </a:r>
                <a:endParaRPr lang="en-GB" sz="2800" dirty="0"/>
              </a:p>
              <a:p>
                <a:pPr>
                  <a:buFontTx/>
                  <a:buNone/>
                </a:pPr>
                <a:endParaRPr lang="en-GB" sz="2800" dirty="0"/>
              </a:p>
            </p:txBody>
          </p:sp>
        </mc:Choice>
        <mc:Fallback xmlns="">
          <p:sp>
            <p:nvSpPr>
              <p:cNvPr id="21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0002" y="1780746"/>
                <a:ext cx="8560579" cy="2409786"/>
              </a:xfrm>
              <a:blipFill rotWithShape="0">
                <a:blip r:embed="rId4"/>
                <a:stretch>
                  <a:fillRect l="-1496" t="-4304" b="-101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43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Example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use the facts that: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b="1" dirty="0">
                    <a:solidFill>
                      <a:srgbClr val="0070C0"/>
                    </a:solidFill>
                  </a:rPr>
                  <a:t>quadratic residues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</a:t>
                </a:r>
                <a:r>
                  <a:rPr lang="en-US" b="1" dirty="0">
                    <a:solidFill>
                      <a:srgbClr val="0070C0"/>
                    </a:solidFill>
                  </a:rPr>
                  <a:t>even powers of the generator</a:t>
                </a:r>
                <a:r>
                  <a:rPr lang="en-US" dirty="0"/>
                  <a:t>, and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testing </a:t>
                </a:r>
                <a:r>
                  <a:rPr lang="en-US" b="1" dirty="0">
                    <a:solidFill>
                      <a:srgbClr val="7030A0"/>
                    </a:solidFill>
                  </a:rPr>
                  <a:t>membership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b="1" dirty="0">
                    <a:solidFill>
                      <a:srgbClr val="7030A0"/>
                    </a:solidFill>
                  </a:rPr>
                  <a:t>in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computationally </a:t>
                </a:r>
                <a:r>
                  <a:rPr lang="en-US" b="1" dirty="0">
                    <a:solidFill>
                      <a:srgbClr val="7030A0"/>
                    </a:solidFill>
                  </a:rPr>
                  <a:t>easy</a:t>
                </a:r>
                <a:r>
                  <a:rPr lang="en-US" dirty="0"/>
                  <a:t> (even for large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).</a:t>
                </a:r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858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4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203453" y="119913"/>
                <a:ext cx="8197344" cy="832234"/>
              </a:xfrm>
            </p:spPr>
            <p:txBody>
              <a:bodyPr/>
              <a:lstStyle/>
              <a:p>
                <a:r>
                  <a:rPr lang="en-GB" sz="4000" dirty="0"/>
                  <a:t>Suppose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sz="4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4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en-US" sz="4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4000" b="1" baseline="30000" dirty="0">
                  <a:solidFill>
                    <a:srgbClr val="990000"/>
                  </a:solidFill>
                </a:endParaRPr>
              </a:p>
            </p:txBody>
          </p:sp>
        </mc:Choice>
        <mc:Fallback xmlns="">
          <p:sp>
            <p:nvSpPr>
              <p:cNvPr id="2867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03453" y="119913"/>
                <a:ext cx="8197344" cy="832234"/>
              </a:xfrm>
              <a:blipFill rotWithShape="0">
                <a:blip r:embed="rId3"/>
                <a:stretch>
                  <a:fillRect l="-2602" t="-11765" b="-176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76" name="Line 4"/>
          <p:cNvSpPr>
            <a:spLocks noChangeShapeType="1"/>
          </p:cNvSpPr>
          <p:nvPr/>
        </p:nvSpPr>
        <p:spPr bwMode="auto">
          <a:xfrm flipH="1">
            <a:off x="2326256" y="3315603"/>
            <a:ext cx="3673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28677" name="Picture 5" descr="MCj0411466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04493" y="2329766"/>
            <a:ext cx="1401763" cy="1457325"/>
          </a:xfrm>
          <a:prstGeom prst="rect">
            <a:avLst/>
          </a:prstGeom>
          <a:noFill/>
        </p:spPr>
      </p:pic>
      <p:pic>
        <p:nvPicPr>
          <p:cNvPr id="28678" name="Picture 6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57831" y="2329766"/>
            <a:ext cx="1368425" cy="1438275"/>
          </a:xfrm>
          <a:prstGeom prst="rect">
            <a:avLst/>
          </a:prstGeom>
          <a:noFill/>
        </p:spPr>
      </p:pic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1318193" y="3337828"/>
            <a:ext cx="733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6385493" y="3320366"/>
            <a:ext cx="631825" cy="3698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pic>
        <p:nvPicPr>
          <p:cNvPr id="28681" name="Picture 9" descr="MCj0435941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8600" y="3934729"/>
            <a:ext cx="1841500" cy="1273175"/>
          </a:xfrm>
          <a:prstGeom prst="rect">
            <a:avLst/>
          </a:prstGeom>
          <a:noFill/>
        </p:spPr>
      </p:pic>
      <p:sp>
        <p:nvSpPr>
          <p:cNvPr id="28683" name="Line 11"/>
          <p:cNvSpPr>
            <a:spLocks noChangeShapeType="1"/>
          </p:cNvSpPr>
          <p:nvPr/>
        </p:nvSpPr>
        <p:spPr bwMode="auto">
          <a:xfrm>
            <a:off x="2326256" y="2690128"/>
            <a:ext cx="3673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84" name="Text Box 12"/>
              <p:cNvSpPr txBox="1">
                <a:spLocks noChangeArrowheads="1"/>
              </p:cNvSpPr>
              <p:nvPr/>
            </p:nvSpPr>
            <p:spPr bwMode="auto">
              <a:xfrm>
                <a:off x="454593" y="2163078"/>
                <a:ext cx="1615507" cy="49475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 </m:t>
                      </m:r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GB" sz="24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  <m:t>𝒑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  <m:t>−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8684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593" y="2163078"/>
                <a:ext cx="1615507" cy="49475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85" name="Text Box 13"/>
              <p:cNvSpPr txBox="1">
                <a:spLocks noChangeArrowheads="1"/>
              </p:cNvSpPr>
              <p:nvPr/>
            </p:nvSpPr>
            <p:spPr bwMode="auto">
              <a:xfrm>
                <a:off x="3394643" y="2447334"/>
                <a:ext cx="1408784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=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</m:oMath>
                  </m:oMathPara>
                </a14:m>
                <a:endParaRPr lang="en-GB" sz="2400" b="1" baseline="30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868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4643" y="2447334"/>
                <a:ext cx="1408784" cy="45313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86" name="Text Box 14"/>
              <p:cNvSpPr txBox="1">
                <a:spLocks noChangeArrowheads="1"/>
              </p:cNvSpPr>
              <p:nvPr/>
            </p:nvSpPr>
            <p:spPr bwMode="auto">
              <a:xfrm>
                <a:off x="7295131" y="2739341"/>
                <a:ext cx="1621919" cy="49475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 </m:t>
                      </m:r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GB" sz="24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  <m:t>𝒑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  <m:t>−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8686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5131" y="2739341"/>
                <a:ext cx="1621919" cy="49475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87" name="Text Box 15"/>
              <p:cNvSpPr txBox="1">
                <a:spLocks noChangeArrowheads="1"/>
              </p:cNvSpPr>
              <p:nvPr/>
            </p:nvSpPr>
            <p:spPr bwMode="auto">
              <a:xfrm>
                <a:off x="3394643" y="3111259"/>
                <a:ext cx="1413592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𝟐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=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</m:oMath>
                  </m:oMathPara>
                </a14:m>
                <a:endParaRPr lang="en-GB" sz="2400" b="1" baseline="30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8687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4643" y="3111259"/>
                <a:ext cx="1413592" cy="45313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90" name="AutoShape 18"/>
          <p:cNvSpPr>
            <a:spLocks noChangeArrowheads="1"/>
          </p:cNvSpPr>
          <p:nvPr/>
        </p:nvSpPr>
        <p:spPr bwMode="auto">
          <a:xfrm rot="7581060">
            <a:off x="1489643" y="1651903"/>
            <a:ext cx="990600" cy="457200"/>
          </a:xfrm>
          <a:prstGeom prst="rightArrow">
            <a:avLst>
              <a:gd name="adj1" fmla="val 50000"/>
              <a:gd name="adj2" fmla="val 54167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92" name="AutoShape 20"/>
          <p:cNvSpPr>
            <a:spLocks noChangeArrowheads="1"/>
          </p:cNvSpPr>
          <p:nvPr/>
        </p:nvSpPr>
        <p:spPr bwMode="auto">
          <a:xfrm rot="3073712">
            <a:off x="2899343" y="1690003"/>
            <a:ext cx="990600" cy="457200"/>
          </a:xfrm>
          <a:prstGeom prst="rightArrow">
            <a:avLst>
              <a:gd name="adj1" fmla="val 50000"/>
              <a:gd name="adj2" fmla="val 54167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93" name="Text Box 21"/>
              <p:cNvSpPr txBox="1">
                <a:spLocks noChangeArrowheads="1"/>
              </p:cNvSpPr>
              <p:nvPr/>
            </p:nvSpPr>
            <p:spPr bwMode="auto">
              <a:xfrm>
                <a:off x="1432472" y="985135"/>
                <a:ext cx="3035511" cy="4947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400" b="1" dirty="0">
                    <a:solidFill>
                      <a:srgbClr val="990000"/>
                    </a:solidFill>
                  </a:rPr>
                  <a:t> </a:t>
                </a:r>
                <a:r>
                  <a:rPr lang="en-GB" sz="2400" dirty="0"/>
                  <a:t>is even iff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693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2472" y="985135"/>
                <a:ext cx="3035511" cy="494751"/>
              </a:xfrm>
              <a:prstGeom prst="rect">
                <a:avLst/>
              </a:prstGeom>
              <a:blipFill rotWithShape="0">
                <a:blip r:embed="rId11"/>
                <a:stretch>
                  <a:fillRect t="-11111" b="-1975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94" name="AutoShape 22"/>
          <p:cNvSpPr>
            <a:spLocks noChangeArrowheads="1"/>
          </p:cNvSpPr>
          <p:nvPr/>
        </p:nvSpPr>
        <p:spPr bwMode="auto">
          <a:xfrm rot="-3116641">
            <a:off x="6671243" y="3633103"/>
            <a:ext cx="1524000" cy="457200"/>
          </a:xfrm>
          <a:prstGeom prst="rightArrow">
            <a:avLst>
              <a:gd name="adj1" fmla="val 50000"/>
              <a:gd name="adj2" fmla="val 83333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8695" name="AutoShape 23"/>
          <p:cNvSpPr>
            <a:spLocks noChangeArrowheads="1"/>
          </p:cNvSpPr>
          <p:nvPr/>
        </p:nvSpPr>
        <p:spPr bwMode="auto">
          <a:xfrm rot="13730555">
            <a:off x="4651943" y="3747403"/>
            <a:ext cx="990600" cy="457200"/>
          </a:xfrm>
          <a:prstGeom prst="rightArrow">
            <a:avLst>
              <a:gd name="adj1" fmla="val 50000"/>
              <a:gd name="adj2" fmla="val 54167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96" name="Text Box 24"/>
              <p:cNvSpPr txBox="1">
                <a:spLocks noChangeArrowheads="1"/>
              </p:cNvSpPr>
              <p:nvPr/>
            </p:nvSpPr>
            <p:spPr bwMode="auto">
              <a:xfrm>
                <a:off x="5062565" y="4492285"/>
                <a:ext cx="3043525" cy="4947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2400" dirty="0"/>
                  <a:t> is even iff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696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2565" y="4492285"/>
                <a:ext cx="3043525" cy="494751"/>
              </a:xfrm>
              <a:prstGeom prst="rect">
                <a:avLst/>
              </a:prstGeom>
              <a:blipFill rotWithShape="0">
                <a:blip r:embed="rId12"/>
                <a:stretch>
                  <a:fillRect l="-600" t="-11111" b="-1975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97" name="Text Box 25"/>
              <p:cNvSpPr txBox="1">
                <a:spLocks noChangeArrowheads="1"/>
              </p:cNvSpPr>
              <p:nvPr/>
            </p:nvSpPr>
            <p:spPr bwMode="auto">
              <a:xfrm>
                <a:off x="2913183" y="4963772"/>
                <a:ext cx="5837812" cy="20490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GB" sz="2400" dirty="0"/>
                  <a:t>Therefore: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𝒙𝒚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GB" sz="2400" dirty="0"/>
                  <a:t> iff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GB" sz="2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GB" sz="2400" dirty="0"/>
                  <a:t>)</a:t>
                </a:r>
                <a:r>
                  <a:rPr lang="en-GB" sz="2400" dirty="0">
                    <a:ea typeface="ＭＳ Ｐゴシック" pitchFamily="34" charset="-128"/>
                  </a:rPr>
                  <a:t>  </a:t>
                </a:r>
              </a:p>
              <a:p>
                <a:endParaRPr lang="en-GB" sz="500" dirty="0"/>
              </a:p>
              <a:p>
                <a:r>
                  <a:rPr lang="en-GB" sz="2400" dirty="0"/>
                  <a:t>So, Eve can compute some information about</a:t>
                </a:r>
                <a:r>
                  <a:rPr lang="en-GB" sz="2400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400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US" sz="24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</m:oMath>
                </a14:m>
                <a:r>
                  <a:rPr lang="en-GB" sz="2400" b="1" dirty="0">
                    <a:solidFill>
                      <a:srgbClr val="990000"/>
                    </a:solidFill>
                    <a:ea typeface="ＭＳ Ｐゴシック" pitchFamily="34" charset="-128"/>
                  </a:rPr>
                  <a:t> </a:t>
                </a:r>
                <a:r>
                  <a:rPr lang="en-GB" sz="2400" dirty="0">
                    <a:ea typeface="ＭＳ Ｐゴシック" pitchFamily="34" charset="-128"/>
                  </a:rPr>
                  <a:t>(namely: if it is a </a:t>
                </a:r>
                <a:r>
                  <a:rPr lang="en-GB" sz="2400" b="1" dirty="0">
                    <a:solidFill>
                      <a:srgbClr val="FF0000"/>
                    </a:solidFill>
                    <a:ea typeface="ＭＳ Ｐゴシック" pitchFamily="34" charset="-128"/>
                  </a:rPr>
                  <a:t>QR</a:t>
                </a:r>
                <a:r>
                  <a:rPr lang="en-GB" sz="2400" dirty="0">
                    <a:ea typeface="ＭＳ Ｐゴシック" pitchFamily="34" charset="-128"/>
                  </a:rPr>
                  <a:t>, or not).</a:t>
                </a:r>
                <a:endParaRPr lang="en-US" sz="2400" dirty="0">
                  <a:ea typeface="ＭＳ Ｐゴシック" pitchFamily="34" charset="-128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8697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3183" y="4963772"/>
                <a:ext cx="5837812" cy="2049022"/>
              </a:xfrm>
              <a:prstGeom prst="rect">
                <a:avLst/>
              </a:prstGeom>
              <a:blipFill rotWithShape="0">
                <a:blip r:embed="rId13"/>
                <a:stretch>
                  <a:fillRect l="-1670" t="-238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98" name="Text Box 26"/>
              <p:cNvSpPr txBox="1">
                <a:spLocks noChangeArrowheads="1"/>
              </p:cNvSpPr>
              <p:nvPr/>
            </p:nvSpPr>
            <p:spPr bwMode="auto">
              <a:xfrm>
                <a:off x="368894" y="4889854"/>
                <a:ext cx="949299" cy="52322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800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US" sz="28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</m:oMath>
                </a14:m>
                <a:r>
                  <a:rPr lang="en-GB" sz="2800" b="1" dirty="0">
                    <a:solidFill>
                      <a:srgbClr val="990000"/>
                    </a:solidFill>
                    <a:ea typeface="ＭＳ Ｐゴシック" pitchFamily="34" charset="-128"/>
                  </a:rPr>
                  <a:t> </a:t>
                </a:r>
                <a:r>
                  <a:rPr lang="en-GB" sz="2800" b="1" dirty="0">
                    <a:solidFill>
                      <a:srgbClr val="0070C0"/>
                    </a:solidFill>
                    <a:ea typeface="ＭＳ Ｐゴシック" pitchFamily="34" charset="-128"/>
                  </a:rPr>
                  <a:t>?</a:t>
                </a:r>
                <a:endParaRPr lang="en-US" sz="2800" b="1" dirty="0">
                  <a:solidFill>
                    <a:srgbClr val="0070C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8698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8894" y="4889854"/>
                <a:ext cx="949299" cy="523220"/>
              </a:xfrm>
              <a:prstGeom prst="rect">
                <a:avLst/>
              </a:prstGeom>
              <a:blipFill rotWithShape="0">
                <a:blip r:embed="rId14"/>
                <a:stretch>
                  <a:fillRect t="-11494" r="-12179" b="-2988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ular Callout 1"/>
              <p:cNvSpPr/>
              <p:nvPr/>
            </p:nvSpPr>
            <p:spPr>
              <a:xfrm>
                <a:off x="284213" y="5751379"/>
                <a:ext cx="2178424" cy="616820"/>
              </a:xfrm>
              <a:prstGeom prst="wedgeRectCallout">
                <a:avLst>
                  <a:gd name="adj1" fmla="val -26489"/>
                  <a:gd name="adj2" fmla="val -120440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Rectangular Callou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3" y="5751379"/>
                <a:ext cx="2178424" cy="616820"/>
              </a:xfrm>
              <a:prstGeom prst="wedgeRectCallout">
                <a:avLst>
                  <a:gd name="adj1" fmla="val -26489"/>
                  <a:gd name="adj2" fmla="val -120440"/>
                </a:avLst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208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90" grpId="0" animBg="1"/>
      <p:bldP spid="28692" grpId="0" animBg="1"/>
      <p:bldP spid="28693" grpId="0"/>
      <p:bldP spid="28694" grpId="0" animBg="1"/>
      <p:bldP spid="28695" grpId="0" animBg="1"/>
      <p:bldP spid="28696" grpId="0"/>
      <p:bldP spid="28698" grpId="0" animBg="1"/>
      <p:bldP spid="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65F83-750D-4A83-ACAE-6E2E14F2BDA2}" type="slidenum">
              <a:rPr lang="it-IT"/>
              <a:pPr/>
              <a:t>78</a:t>
            </a:fld>
            <a:endParaRPr lang="it-IT" dirty="0"/>
          </a:p>
        </p:txBody>
      </p:sp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7988300" cy="1143000"/>
          </a:xfrm>
        </p:spPr>
        <p:txBody>
          <a:bodyPr>
            <a:normAutofit/>
          </a:bodyPr>
          <a:lstStyle/>
          <a:p>
            <a:r>
              <a:rPr lang="en-GB" dirty="0"/>
              <a:t>Solution (see</a:t>
            </a:r>
            <a:r>
              <a:rPr lang="pl-PL"/>
              <a:t> Chapter 6</a:t>
            </a:r>
            <a:r>
              <a:rPr lang="en-GB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95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8313" y="1412875"/>
                <a:ext cx="8547940" cy="5256213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800" dirty="0"/>
                  <a:t>Instead of working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sz="2800" b="1" dirty="0"/>
                  <a:t> </a:t>
                </a:r>
                <a:r>
                  <a:rPr lang="en-GB" sz="2800" dirty="0"/>
                  <a:t>work in its </a:t>
                </a:r>
                <a:r>
                  <a:rPr lang="en-GB" sz="2800" b="1" dirty="0">
                    <a:solidFill>
                      <a:srgbClr val="7030A0"/>
                    </a:solidFill>
                  </a:rPr>
                  <a:t>subgroup</a:t>
                </a:r>
                <a:r>
                  <a:rPr lang="en-GB" sz="2800" dirty="0"/>
                  <a:t>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endParaRPr lang="en-GB" sz="2800" b="1" baseline="-25000" dirty="0">
                  <a:solidFill>
                    <a:srgbClr val="9933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sz="2800" b="1" baseline="-25000" dirty="0">
                  <a:solidFill>
                    <a:srgbClr val="9933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800" dirty="0"/>
                  <a:t>How to find a generator of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GB" sz="2800" dirty="0"/>
                  <a:t>?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sz="2800" dirty="0"/>
              </a:p>
              <a:p>
                <a:pPr marL="0" indent="0">
                  <a:lnSpc>
                    <a:spcPct val="80000"/>
                  </a:lnSpc>
                  <a:buFontTx/>
                  <a:buNone/>
                </a:pPr>
                <a:r>
                  <a:rPr lang="en-GB" sz="2800" b="1" dirty="0">
                    <a:solidFill>
                      <a:srgbClr val="0070C0"/>
                    </a:solidFill>
                  </a:rPr>
                  <a:t>A practica</a:t>
                </a:r>
                <a:r>
                  <a:rPr lang="en-GB" b="1" dirty="0">
                    <a:solidFill>
                      <a:srgbClr val="0070C0"/>
                    </a:solidFill>
                  </a:rPr>
                  <a:t>l method</a:t>
                </a:r>
                <a:r>
                  <a:rPr lang="en-GB" dirty="0"/>
                  <a:t>: </a:t>
                </a:r>
                <a:r>
                  <a:rPr lang="en-GB" sz="2800" dirty="0"/>
                  <a:t>Choose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sz="2800" dirty="0"/>
                  <a:t> that is a </a:t>
                </a:r>
                <a:r>
                  <a:rPr lang="en-GB" sz="2800" b="1" dirty="0">
                    <a:solidFill>
                      <a:srgbClr val="0070C0"/>
                    </a:solidFill>
                  </a:rPr>
                  <a:t>strong prime</a:t>
                </a:r>
                <a:r>
                  <a:rPr lang="en-GB" sz="2800" dirty="0"/>
                  <a:t>, which means that:</a:t>
                </a:r>
              </a:p>
              <a:p>
                <a:pPr marL="0" indent="0" algn="ctr"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2800" dirty="0"/>
                  <a:t>, with</a:t>
                </a:r>
                <a:r>
                  <a:rPr lang="en-GB" sz="28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prime.</a:t>
                </a:r>
              </a:p>
              <a:p>
                <a:pPr marL="0" indent="0" algn="ctr">
                  <a:lnSpc>
                    <a:spcPct val="80000"/>
                  </a:lnSpc>
                  <a:buFontTx/>
                  <a:buNone/>
                </a:pPr>
                <a:endParaRPr lang="en-GB" sz="2800" dirty="0"/>
              </a:p>
              <a:p>
                <a:pPr marL="0" indent="0">
                  <a:lnSpc>
                    <a:spcPct val="80000"/>
                  </a:lnSpc>
                  <a:buFontTx/>
                  <a:buNone/>
                </a:pPr>
                <a:r>
                  <a:rPr lang="en-GB" sz="2800" b="1" dirty="0">
                    <a:solidFill>
                      <a:srgbClr val="0070C0"/>
                    </a:solidFill>
                  </a:rPr>
                  <a:t>Hence:</a:t>
                </a:r>
                <a:r>
                  <a:rPr lang="en-GB" sz="2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GB" sz="2800" dirty="0"/>
                  <a:t> has a </a:t>
                </a:r>
                <a:r>
                  <a:rPr lang="en-GB" sz="2800" b="1" dirty="0">
                    <a:solidFill>
                      <a:srgbClr val="00B050"/>
                    </a:solidFill>
                  </a:rPr>
                  <a:t>prime order </a:t>
                </a:r>
                <a:r>
                  <a:rPr lang="en-GB" sz="2800" dirty="0"/>
                  <a:t>(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GB" sz="2800" dirty="0"/>
                  <a:t>).</a:t>
                </a:r>
              </a:p>
              <a:p>
                <a:pPr marL="0" indent="0">
                  <a:lnSpc>
                    <a:spcPct val="80000"/>
                  </a:lnSpc>
                  <a:buFontTx/>
                  <a:buNone/>
                </a:pPr>
                <a:endParaRPr lang="en-GB" sz="2800" dirty="0"/>
              </a:p>
              <a:p>
                <a:pPr marL="0" indent="0">
                  <a:lnSpc>
                    <a:spcPct val="80000"/>
                  </a:lnSpc>
                  <a:buFontTx/>
                  <a:buNone/>
                </a:pPr>
                <a:r>
                  <a:rPr lang="en-GB" sz="2800" b="1" dirty="0">
                    <a:solidFill>
                      <a:srgbClr val="7030A0"/>
                    </a:solidFill>
                  </a:rPr>
                  <a:t>Every element </a:t>
                </a:r>
                <a:r>
                  <a:rPr lang="en-GB" sz="2800" dirty="0"/>
                  <a:t>(except of</a:t>
                </a:r>
                <a:r>
                  <a:rPr lang="en-GB" sz="28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2800" dirty="0"/>
                  <a:t>) of a group of a prime order is its </a:t>
                </a:r>
                <a:r>
                  <a:rPr lang="en-GB" sz="2800" b="1" dirty="0">
                    <a:solidFill>
                      <a:srgbClr val="7030A0"/>
                    </a:solidFill>
                  </a:rPr>
                  <a:t>generator</a:t>
                </a:r>
                <a:r>
                  <a:rPr lang="en-GB" sz="2800" dirty="0"/>
                  <a:t>!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pl-PL" sz="2800" b="1" u="sng" dirty="0">
                    <a:solidFill>
                      <a:srgbClr val="0070C0"/>
                    </a:solidFill>
                  </a:rPr>
                  <a:t>Therefore</a:t>
                </a:r>
                <a:r>
                  <a:rPr lang="en-GB" sz="2800" dirty="0"/>
                  <a:t>: every</a:t>
                </a:r>
                <a:r>
                  <a:rPr lang="pl-PL" sz="2800" dirty="0"/>
                  <a:t> element of</a:t>
                </a:r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GB" sz="2800" dirty="0"/>
                  <a:t> is a generator.</a:t>
                </a:r>
                <a:r>
                  <a:rPr lang="pl-PL" sz="2800" dirty="0"/>
                  <a:t>  </a:t>
                </a:r>
                <a:endParaRPr lang="en-GB" sz="28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sz="28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sz="28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2539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8313" y="1412875"/>
                <a:ext cx="8547940" cy="5256213"/>
              </a:xfrm>
              <a:blipFill rotWithShape="0">
                <a:blip r:embed="rId3"/>
                <a:stretch>
                  <a:fillRect l="-1284" t="-301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850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580" y="183099"/>
            <a:ext cx="8229600" cy="886315"/>
          </a:xfrm>
        </p:spPr>
        <p:txBody>
          <a:bodyPr>
            <a:normAutofit/>
          </a:bodyPr>
          <a:lstStyle/>
          <a:p>
            <a:r>
              <a:rPr lang="en-US" sz="4000" dirty="0"/>
              <a:t>The DH Key exchange over QR group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43737" y="1100881"/>
                <a:ext cx="8898663" cy="13716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dirty="0"/>
                  <a:t>Take a prime </a:t>
                </a: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dirty="0"/>
                  <a:t>, with</a:t>
                </a:r>
                <a:r>
                  <a:rPr lang="en-GB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prime.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dirty="0"/>
                  <a:t>Take any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≠±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 and let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</a:t>
                </a:r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43737" y="1100881"/>
                <a:ext cx="8898663" cy="1371600"/>
              </a:xfrm>
              <a:blipFill>
                <a:blip r:embed="rId3"/>
                <a:stretch>
                  <a:fillRect l="-1439" t="-11111" r="-82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499" name="Picture 19" descr="MCj0411466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35424" y="2837301"/>
            <a:ext cx="1401763" cy="1457325"/>
          </a:xfrm>
          <a:prstGeom prst="rect">
            <a:avLst/>
          </a:prstGeom>
          <a:noFill/>
        </p:spPr>
      </p:pic>
      <p:pic>
        <p:nvPicPr>
          <p:cNvPr id="20500" name="Picture 20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88762" y="2837301"/>
            <a:ext cx="1368425" cy="1438275"/>
          </a:xfrm>
          <a:prstGeom prst="rect">
            <a:avLst/>
          </a:prstGeom>
          <a:noFill/>
        </p:spPr>
      </p:pic>
      <p:sp>
        <p:nvSpPr>
          <p:cNvPr id="20501" name="Text Box 21"/>
          <p:cNvSpPr txBox="1">
            <a:spLocks noChangeArrowheads="1"/>
          </p:cNvSpPr>
          <p:nvPr/>
        </p:nvSpPr>
        <p:spPr bwMode="auto">
          <a:xfrm>
            <a:off x="1449124" y="3845364"/>
            <a:ext cx="733425" cy="3698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20502" name="Text Box 22"/>
          <p:cNvSpPr txBox="1">
            <a:spLocks noChangeArrowheads="1"/>
          </p:cNvSpPr>
          <p:nvPr/>
        </p:nvSpPr>
        <p:spPr bwMode="auto">
          <a:xfrm>
            <a:off x="6516424" y="3827901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06" name="Text Box 26"/>
              <p:cNvSpPr txBox="1">
                <a:spLocks noChangeArrowheads="1"/>
              </p:cNvSpPr>
              <p:nvPr/>
            </p:nvSpPr>
            <p:spPr bwMode="auto">
              <a:xfrm>
                <a:off x="585524" y="2670614"/>
                <a:ext cx="1288558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𝒁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𝒒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0506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524" y="2670614"/>
                <a:ext cx="1288558" cy="45313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2457187" y="2962717"/>
            <a:ext cx="3673475" cy="452438"/>
            <a:chOff x="1827" y="1785"/>
            <a:chExt cx="2314" cy="285"/>
          </a:xfrm>
        </p:grpSpPr>
        <p:sp>
          <p:nvSpPr>
            <p:cNvPr id="20505" name="Line 25"/>
            <p:cNvSpPr>
              <a:spLocks noChangeShapeType="1"/>
            </p:cNvSpPr>
            <p:nvPr/>
          </p:nvSpPr>
          <p:spPr bwMode="auto">
            <a:xfrm>
              <a:off x="1827" y="1933"/>
              <a:ext cx="23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07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547" y="1785"/>
                  <a:ext cx="887" cy="28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eaLnBrk="0"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𝒉</m:t>
                        </m:r>
                        <m:r>
                          <a:rPr lang="en-GB" sz="2400" b="1" i="1" baseline="-25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𝟏</m:t>
                        </m:r>
                        <m:r>
                          <a:rPr lang="en-GB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 = </m:t>
                        </m:r>
                        <m:r>
                          <a:rPr lang="en-GB" sz="2400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𝒈</m:t>
                        </m:r>
                        <m:r>
                          <a:rPr lang="en-GB" sz="2400" b="1" i="1" baseline="30000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𝒙</m:t>
                        </m:r>
                      </m:oMath>
                    </m:oMathPara>
                  </a14:m>
                  <a:endParaRPr lang="en-GB" sz="2400" b="1" baseline="30000" dirty="0">
                    <a:solidFill>
                      <a:srgbClr val="FF0000"/>
                    </a:solidFill>
                    <a:ea typeface="ＭＳ Ｐゴシック" pitchFamily="34" charset="-128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20507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47" y="1785"/>
                  <a:ext cx="887" cy="28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508" name="Text Box 28"/>
              <p:cNvSpPr txBox="1">
                <a:spLocks noChangeArrowheads="1"/>
              </p:cNvSpPr>
              <p:nvPr/>
            </p:nvSpPr>
            <p:spPr bwMode="auto">
              <a:xfrm>
                <a:off x="7426062" y="3246876"/>
                <a:ext cx="1294970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𝒁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𝒒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0508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26062" y="3246876"/>
                <a:ext cx="1294970" cy="45313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2461949" y="3589803"/>
            <a:ext cx="3673475" cy="452438"/>
            <a:chOff x="1827" y="2177"/>
            <a:chExt cx="2314" cy="285"/>
          </a:xfrm>
        </p:grpSpPr>
        <p:sp>
          <p:nvSpPr>
            <p:cNvPr id="20498" name="Line 18"/>
            <p:cNvSpPr>
              <a:spLocks noChangeShapeType="1"/>
            </p:cNvSpPr>
            <p:nvPr/>
          </p:nvSpPr>
          <p:spPr bwMode="auto">
            <a:xfrm flipH="1">
              <a:off x="1827" y="2327"/>
              <a:ext cx="2314" cy="0"/>
            </a:xfrm>
            <a:prstGeom prst="line">
              <a:avLst/>
            </a:prstGeom>
            <a:ln>
              <a:solidFill>
                <a:schemeClr val="tx1"/>
              </a:solidFill>
              <a:headEnd/>
              <a:tailEnd type="triangl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09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544" y="2177"/>
                  <a:ext cx="890" cy="28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eaLnBrk="0"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𝒉</m:t>
                        </m:r>
                        <m:r>
                          <a:rPr lang="en-GB" sz="2400" b="1" i="1" baseline="-25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𝟐</m:t>
                        </m:r>
                        <m:r>
                          <a:rPr lang="en-GB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 = </m:t>
                        </m:r>
                        <m:r>
                          <a:rPr lang="en-GB" sz="2400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𝒈</m:t>
                        </m:r>
                        <m:r>
                          <a:rPr lang="en-GB" sz="2400" b="1" i="1" baseline="30000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𝒚</m:t>
                        </m:r>
                      </m:oMath>
                    </m:oMathPara>
                  </a14:m>
                  <a:endParaRPr lang="en-GB" sz="2400" b="1" baseline="30000" dirty="0">
                    <a:solidFill>
                      <a:srgbClr val="FF0000"/>
                    </a:solidFill>
                    <a:ea typeface="ＭＳ Ｐゴシック" pitchFamily="34" charset="-128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20509" name="Text 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44" y="2177"/>
                  <a:ext cx="890" cy="28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510" name="Text Box 30"/>
              <p:cNvSpPr txBox="1">
                <a:spLocks noChangeArrowheads="1"/>
              </p:cNvSpPr>
              <p:nvPr/>
            </p:nvSpPr>
            <p:spPr bwMode="auto">
              <a:xfrm>
                <a:off x="953136" y="4624826"/>
                <a:ext cx="1646028" cy="8224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GB" sz="2400" dirty="0">
                    <a:ea typeface="ＭＳ Ｐゴシック" pitchFamily="34" charset="-128"/>
                  </a:rPr>
                  <a:t>output</a:t>
                </a:r>
                <a:r>
                  <a:rPr lang="en-GB" sz="2400" i="1" dirty="0">
                    <a:ea typeface="ＭＳ Ｐゴシック" pitchFamily="34" charset="-128"/>
                  </a:rPr>
                  <a:t>:</a:t>
                </a:r>
                <a:br>
                  <a:rPr lang="en-GB" sz="2400" i="1" dirty="0">
                    <a:ea typeface="ＭＳ Ｐゴシック" pitchFamily="34" charset="-1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𝒌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𝑨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=(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𝟐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  <m:r>
                        <a:rPr lang="en-GB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0510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3136" y="4624826"/>
                <a:ext cx="1646028" cy="822469"/>
              </a:xfrm>
              <a:prstGeom prst="rect">
                <a:avLst/>
              </a:prstGeom>
              <a:blipFill rotWithShape="0">
                <a:blip r:embed="rId10"/>
                <a:stretch>
                  <a:fillRect l="-741" t="-5926" b="-1111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1" name="Text Box 31"/>
              <p:cNvSpPr txBox="1">
                <a:spLocks noChangeArrowheads="1"/>
              </p:cNvSpPr>
              <p:nvPr/>
            </p:nvSpPr>
            <p:spPr bwMode="auto">
              <a:xfrm>
                <a:off x="6019331" y="4659446"/>
                <a:ext cx="1643676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eaLnBrk="0" hangingPunct="0"/>
                <a:r>
                  <a:rPr lang="en-GB" sz="2400" dirty="0">
                    <a:ea typeface="ＭＳ Ｐゴシック" pitchFamily="34" charset="-128"/>
                  </a:rPr>
                  <a:t>output</a:t>
                </a:r>
                <a:r>
                  <a:rPr lang="en-GB" sz="2400" i="1" dirty="0">
                    <a:ea typeface="ＭＳ Ｐゴシック" pitchFamily="34" charset="-128"/>
                  </a:rPr>
                  <a:t>:</a:t>
                </a:r>
                <a:br>
                  <a:rPr lang="en-GB" sz="2400" i="1" dirty="0">
                    <a:ea typeface="ＭＳ Ｐゴシック" pitchFamily="34" charset="-1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𝒌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𝑩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=(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  <m:r>
                        <a:rPr lang="en-GB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0511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9331" y="4659446"/>
                <a:ext cx="1643676" cy="830997"/>
              </a:xfrm>
              <a:prstGeom prst="rect">
                <a:avLst/>
              </a:prstGeom>
              <a:blipFill rotWithShape="0">
                <a:blip r:embed="rId11"/>
                <a:stretch>
                  <a:fillRect l="-1481" t="-5839" b="-948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16" name="AutoShape 36"/>
          <p:cNvCxnSpPr>
            <a:cxnSpLocks noChangeShapeType="1"/>
            <a:endCxn id="20510" idx="0"/>
          </p:cNvCxnSpPr>
          <p:nvPr/>
        </p:nvCxnSpPr>
        <p:spPr bwMode="auto">
          <a:xfrm>
            <a:off x="1772974" y="4275576"/>
            <a:ext cx="3176" cy="349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517" name="AutoShape 37"/>
          <p:cNvCxnSpPr>
            <a:cxnSpLocks noChangeShapeType="1"/>
            <a:stCxn id="20499" idx="2"/>
            <a:endCxn id="20511" idx="0"/>
          </p:cNvCxnSpPr>
          <p:nvPr/>
        </p:nvCxnSpPr>
        <p:spPr bwMode="auto">
          <a:xfrm>
            <a:off x="6836306" y="4294626"/>
            <a:ext cx="4863" cy="3648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1584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1" grpId="0" animBg="1"/>
      <p:bldP spid="20502" grpId="0" animBg="1"/>
      <p:bldP spid="20506" grpId="0" animBg="1"/>
      <p:bldP spid="20508" grpId="0" animBg="1"/>
      <p:bldP spid="20510" grpId="0"/>
      <p:bldP spid="2051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70248" y="365126"/>
            <a:ext cx="8145102" cy="1325563"/>
          </a:xfrm>
        </p:spPr>
        <p:txBody>
          <a:bodyPr>
            <a:normAutofit/>
          </a:bodyPr>
          <a:lstStyle/>
          <a:p>
            <a:r>
              <a:rPr lang="en-GB" dirty="0"/>
              <a:t>But is the partial information leakage really a problem?</a:t>
            </a:r>
            <a:endParaRPr 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Tx/>
              <a:buNone/>
            </a:pPr>
            <a:r>
              <a:rPr lang="en-GB" dirty="0"/>
              <a:t>We need to</a:t>
            </a:r>
          </a:p>
          <a:p>
            <a:pPr marL="609600" indent="-609600">
              <a:buFontTx/>
              <a:buNone/>
            </a:pPr>
            <a:endParaRPr lang="en-GB" dirty="0"/>
          </a:p>
          <a:p>
            <a:pPr marL="609600" indent="-609600">
              <a:buFontTx/>
              <a:buAutoNum type="arabicPeriod"/>
            </a:pP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formalize </a:t>
            </a:r>
            <a:r>
              <a:rPr lang="en-GB" dirty="0"/>
              <a:t>what we mean by secure key exchange,</a:t>
            </a:r>
          </a:p>
          <a:p>
            <a:pPr marL="609600" indent="-609600">
              <a:buFontTx/>
              <a:buAutoNum type="arabicPeriod"/>
            </a:pPr>
            <a:endParaRPr lang="en-GB" dirty="0"/>
          </a:p>
          <a:p>
            <a:pPr marL="609600" indent="-609600">
              <a:buFontTx/>
              <a:buAutoNum type="arabicPeriod"/>
            </a:pPr>
            <a:r>
              <a:rPr lang="en-GB" dirty="0"/>
              <a:t>identify the </a:t>
            </a:r>
            <a:r>
              <a:rPr lang="en-GB" b="1" dirty="0">
                <a:solidFill>
                  <a:srgbClr val="7030A0"/>
                </a:solidFill>
              </a:rPr>
              <a:t>assumptions needed </a:t>
            </a:r>
            <a:r>
              <a:rPr lang="en-GB" dirty="0"/>
              <a:t>to prove the security.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74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2590800" y="1600200"/>
            <a:ext cx="3886200" cy="1295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30725" name="Picture 5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99238" y="1447800"/>
            <a:ext cx="1401762" cy="1457325"/>
          </a:xfrm>
          <a:prstGeom prst="rect">
            <a:avLst/>
          </a:prstGeom>
          <a:noFill/>
        </p:spPr>
      </p:pic>
      <p:pic>
        <p:nvPicPr>
          <p:cNvPr id="30727" name="Picture 7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1447800"/>
            <a:ext cx="1368425" cy="1438275"/>
          </a:xfrm>
          <a:prstGeom prst="rect">
            <a:avLst/>
          </a:prstGeom>
          <a:noFill/>
        </p:spPr>
      </p:pic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2819400" y="18288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1295400" y="2438400"/>
            <a:ext cx="733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6980238" y="2438400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30731" name="Line 11"/>
          <p:cNvSpPr>
            <a:spLocks noChangeShapeType="1"/>
          </p:cNvSpPr>
          <p:nvPr/>
        </p:nvSpPr>
        <p:spPr bwMode="auto">
          <a:xfrm flipH="1">
            <a:off x="2819400" y="19812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2" name="Line 12"/>
          <p:cNvSpPr>
            <a:spLocks noChangeShapeType="1"/>
          </p:cNvSpPr>
          <p:nvPr/>
        </p:nvSpPr>
        <p:spPr bwMode="auto">
          <a:xfrm>
            <a:off x="2819400" y="2133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3" name="Line 13"/>
          <p:cNvSpPr>
            <a:spLocks noChangeShapeType="1"/>
          </p:cNvSpPr>
          <p:nvPr/>
        </p:nvSpPr>
        <p:spPr bwMode="auto">
          <a:xfrm flipH="1">
            <a:off x="2819400" y="22860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4" name="Line 14"/>
          <p:cNvSpPr>
            <a:spLocks noChangeShapeType="1"/>
          </p:cNvSpPr>
          <p:nvPr/>
        </p:nvSpPr>
        <p:spPr bwMode="auto">
          <a:xfrm>
            <a:off x="2819400" y="2438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5" name="Line 15"/>
          <p:cNvSpPr>
            <a:spLocks noChangeShapeType="1"/>
          </p:cNvSpPr>
          <p:nvPr/>
        </p:nvSpPr>
        <p:spPr bwMode="auto">
          <a:xfrm flipH="1">
            <a:off x="2819400" y="25908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>
            <a:off x="1752600" y="2895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 flipH="1">
            <a:off x="7391400" y="2895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38" name="Text Box 18"/>
              <p:cNvSpPr txBox="1">
                <a:spLocks noChangeArrowheads="1"/>
              </p:cNvSpPr>
              <p:nvPr/>
            </p:nvSpPr>
            <p:spPr bwMode="auto">
              <a:xfrm>
                <a:off x="1237397" y="3133725"/>
                <a:ext cx="1197828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b="1" dirty="0"/>
                  <a:t>key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3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7397" y="3133725"/>
                <a:ext cx="1197828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39" name="Text Box 19"/>
              <p:cNvSpPr txBox="1">
                <a:spLocks noChangeArrowheads="1"/>
              </p:cNvSpPr>
              <p:nvPr/>
            </p:nvSpPr>
            <p:spPr bwMode="auto">
              <a:xfrm>
                <a:off x="7010400" y="3124200"/>
                <a:ext cx="1197828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b="1" dirty="0"/>
                  <a:t>key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39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3124200"/>
                <a:ext cx="1197828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2" name="Text Box 22"/>
              <p:cNvSpPr txBox="1">
                <a:spLocks noChangeArrowheads="1"/>
              </p:cNvSpPr>
              <p:nvPr/>
            </p:nvSpPr>
            <p:spPr bwMode="auto">
              <a:xfrm>
                <a:off x="2743200" y="762000"/>
                <a:ext cx="3295650" cy="641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dirty="0"/>
                  <a:t>“transcript”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GB" dirty="0"/>
                  <a:t>: the sequence of </a:t>
                </a:r>
                <a:br>
                  <a:rPr lang="en-GB" dirty="0"/>
                </a:br>
                <a:r>
                  <a:rPr lang="en-GB" dirty="0"/>
                  <a:t>exchanged messages:</a:t>
                </a:r>
                <a:endParaRPr lang="en-US" dirty="0"/>
              </a:p>
            </p:txBody>
          </p:sp>
        </mc:Choice>
        <mc:Fallback xmlns="">
          <p:sp>
            <p:nvSpPr>
              <p:cNvPr id="30742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3200" y="762000"/>
                <a:ext cx="3295650" cy="641350"/>
              </a:xfrm>
              <a:prstGeom prst="rect">
                <a:avLst/>
              </a:prstGeom>
              <a:blipFill rotWithShape="0">
                <a:blip r:embed="rId7"/>
                <a:stretch>
                  <a:fillRect t="-5714" r="-1294" b="-1428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3" name="Text Box 23"/>
              <p:cNvSpPr txBox="1">
                <a:spLocks noChangeArrowheads="1"/>
              </p:cNvSpPr>
              <p:nvPr/>
            </p:nvSpPr>
            <p:spPr bwMode="auto">
              <a:xfrm>
                <a:off x="685800" y="228600"/>
                <a:ext cx="1990725" cy="91916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:r>
                  <a:rPr lang="en-GB" dirty="0"/>
                  <a:t>interactive</a:t>
                </a:r>
              </a:p>
              <a:p>
                <a:pPr algn="ctr"/>
                <a:r>
                  <a:rPr lang="en-GB" dirty="0"/>
                  <a:t>probabilistic</a:t>
                </a:r>
                <a:br>
                  <a:rPr lang="en-GB" dirty="0"/>
                </a:br>
                <a:r>
                  <a:rPr lang="en-GB" dirty="0"/>
                  <a:t>Turing machine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43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228600"/>
                <a:ext cx="1990725" cy="9191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4" name="Text Box 24"/>
              <p:cNvSpPr txBox="1">
                <a:spLocks noChangeArrowheads="1"/>
              </p:cNvSpPr>
              <p:nvPr/>
            </p:nvSpPr>
            <p:spPr bwMode="auto">
              <a:xfrm>
                <a:off x="6260961" y="228600"/>
                <a:ext cx="1935915" cy="92333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GB" dirty="0"/>
                  <a:t>interactive</a:t>
                </a:r>
                <a:br>
                  <a:rPr lang="en-GB" dirty="0"/>
                </a:br>
                <a:r>
                  <a:rPr lang="en-GB" dirty="0"/>
                  <a:t>probabilistic</a:t>
                </a:r>
              </a:p>
              <a:p>
                <a:pPr algn="ctr"/>
                <a:r>
                  <a:rPr lang="en-GB" dirty="0"/>
                  <a:t>Turing machine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44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0961" y="228600"/>
                <a:ext cx="1935915" cy="92333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46" name="Line 26"/>
          <p:cNvSpPr>
            <a:spLocks noChangeShapeType="1"/>
          </p:cNvSpPr>
          <p:nvPr/>
        </p:nvSpPr>
        <p:spPr bwMode="auto">
          <a:xfrm>
            <a:off x="1752600" y="1143000"/>
            <a:ext cx="0" cy="304800"/>
          </a:xfrm>
          <a:prstGeom prst="line">
            <a:avLst/>
          </a:prstGeom>
          <a:noFill/>
          <a:ln w="57150">
            <a:solidFill>
              <a:srgbClr val="99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47" name="Line 27"/>
          <p:cNvSpPr>
            <a:spLocks noChangeShapeType="1"/>
          </p:cNvSpPr>
          <p:nvPr/>
        </p:nvSpPr>
        <p:spPr bwMode="auto">
          <a:xfrm>
            <a:off x="7315200" y="1143000"/>
            <a:ext cx="0" cy="304800"/>
          </a:xfrm>
          <a:prstGeom prst="line">
            <a:avLst/>
          </a:prstGeom>
          <a:noFill/>
          <a:ln w="57150">
            <a:solidFill>
              <a:srgbClr val="99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49" name="Text Box 29"/>
          <p:cNvSpPr txBox="1">
            <a:spLocks noChangeArrowheads="1"/>
          </p:cNvSpPr>
          <p:nvPr/>
        </p:nvSpPr>
        <p:spPr bwMode="auto">
          <a:xfrm>
            <a:off x="457200" y="4724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0" name="Text Box 30"/>
              <p:cNvSpPr txBox="1">
                <a:spLocks noChangeArrowheads="1"/>
              </p:cNvSpPr>
              <p:nvPr/>
            </p:nvSpPr>
            <p:spPr bwMode="auto">
              <a:xfrm>
                <a:off x="231775" y="3671726"/>
                <a:ext cx="8534400" cy="12003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GB" sz="2400" b="1" dirty="0">
                    <a:solidFill>
                      <a:srgbClr val="0070C0"/>
                    </a:solidFill>
                  </a:rPr>
                  <a:t>Informal definition</a:t>
                </a:r>
                <a:r>
                  <a:rPr lang="en-GB" sz="2400" dirty="0"/>
                  <a:t>:</a:t>
                </a:r>
                <a:br>
                  <a:rPr lang="en-GB" sz="2400" b="1" dirty="0"/>
                </a:b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2400" dirty="0"/>
                  <a:t>is</a:t>
                </a:r>
                <a:r>
                  <a:rPr lang="en-GB" sz="2400" b="1" dirty="0"/>
                  <a:t> </a:t>
                </a:r>
                <a:r>
                  <a:rPr lang="en-GB" sz="2400" b="1" dirty="0">
                    <a:solidFill>
                      <a:srgbClr val="7030A0"/>
                    </a:solidFill>
                  </a:rPr>
                  <a:t>secure </a:t>
                </a:r>
                <a:r>
                  <a:rPr lang="en-GB" sz="2400" dirty="0"/>
                  <a:t>if no “efficient adversary” can distinguish</a:t>
                </a:r>
                <a:r>
                  <a:rPr lang="en-GB" sz="2400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from random, given</a:t>
                </a:r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GB" sz="2400" dirty="0"/>
                  <a:t>, with a “non-negligible advantage”.</a:t>
                </a:r>
              </a:p>
            </p:txBody>
          </p:sp>
        </mc:Choice>
        <mc:Fallback xmlns="">
          <p:sp>
            <p:nvSpPr>
              <p:cNvPr id="30750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775" y="3671726"/>
                <a:ext cx="8534400" cy="1200329"/>
              </a:xfrm>
              <a:prstGeom prst="rect">
                <a:avLst/>
              </a:prstGeom>
              <a:blipFill rotWithShape="0">
                <a:blip r:embed="rId10"/>
                <a:stretch>
                  <a:fillRect l="-1071" t="-4061" b="-1066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51" name="Picture 31" descr="MCj04359410000[1]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285984" y="5214950"/>
            <a:ext cx="1841500" cy="12731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752" name="Text Box 32"/>
              <p:cNvSpPr txBox="1">
                <a:spLocks noChangeArrowheads="1"/>
              </p:cNvSpPr>
              <p:nvPr/>
            </p:nvSpPr>
            <p:spPr bwMode="auto">
              <a:xfrm>
                <a:off x="5181600" y="5029200"/>
                <a:ext cx="3319490" cy="40011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dirty="0"/>
                  <a:t>key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52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5029200"/>
                <a:ext cx="3319490" cy="40011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53" name="Text Box 33"/>
              <p:cNvSpPr txBox="1">
                <a:spLocks noChangeArrowheads="1"/>
              </p:cNvSpPr>
              <p:nvPr/>
            </p:nvSpPr>
            <p:spPr bwMode="auto">
              <a:xfrm>
                <a:off x="838200" y="5562600"/>
                <a:ext cx="38023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53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5562600"/>
                <a:ext cx="380232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54" name="Line 34"/>
          <p:cNvSpPr>
            <a:spLocks noChangeShapeType="1"/>
          </p:cNvSpPr>
          <p:nvPr/>
        </p:nvSpPr>
        <p:spPr bwMode="auto">
          <a:xfrm>
            <a:off x="1219200" y="5791200"/>
            <a:ext cx="1066800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5" name="Text Box 35"/>
              <p:cNvSpPr txBox="1">
                <a:spLocks noChangeArrowheads="1"/>
              </p:cNvSpPr>
              <p:nvPr/>
            </p:nvSpPr>
            <p:spPr bwMode="auto">
              <a:xfrm>
                <a:off x="5181600" y="6019800"/>
                <a:ext cx="3319490" cy="40011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dirty="0"/>
                  <a:t>random element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55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6019800"/>
                <a:ext cx="3319490" cy="40011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56" name="Line 36"/>
          <p:cNvSpPr>
            <a:spLocks noChangeShapeType="1"/>
          </p:cNvSpPr>
          <p:nvPr/>
        </p:nvSpPr>
        <p:spPr bwMode="auto">
          <a:xfrm flipH="1">
            <a:off x="3857620" y="5214950"/>
            <a:ext cx="1071570" cy="342904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57" name="Line 37"/>
          <p:cNvSpPr>
            <a:spLocks noChangeShapeType="1"/>
          </p:cNvSpPr>
          <p:nvPr/>
        </p:nvSpPr>
        <p:spPr bwMode="auto">
          <a:xfrm flipH="1" flipV="1">
            <a:off x="3929058" y="5786454"/>
            <a:ext cx="1109674" cy="45242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58" name="Text Box 38"/>
          <p:cNvSpPr txBox="1">
            <a:spLocks noChangeArrowheads="1"/>
          </p:cNvSpPr>
          <p:nvPr/>
        </p:nvSpPr>
        <p:spPr bwMode="auto">
          <a:xfrm>
            <a:off x="3408682" y="4988639"/>
            <a:ext cx="39305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3600" b="1" dirty="0">
                <a:solidFill>
                  <a:srgbClr val="0070C0"/>
                </a:solidFill>
              </a:rPr>
              <a:t>?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2" name="Rectangular Callout 1"/>
          <p:cNvSpPr/>
          <p:nvPr/>
        </p:nvSpPr>
        <p:spPr>
          <a:xfrm>
            <a:off x="2909625" y="3211513"/>
            <a:ext cx="2271975" cy="314325"/>
          </a:xfrm>
          <a:prstGeom prst="wedgeRectCallout">
            <a:avLst>
              <a:gd name="adj1" fmla="val -76636"/>
              <a:gd name="adj2" fmla="val -1424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finite set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2890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1" grpId="0" animBg="1"/>
      <p:bldP spid="30728" grpId="0" animBg="1"/>
      <p:bldP spid="30731" grpId="0" animBg="1"/>
      <p:bldP spid="30732" grpId="0" animBg="1"/>
      <p:bldP spid="30733" grpId="0" animBg="1"/>
      <p:bldP spid="30734" grpId="0" animBg="1"/>
      <p:bldP spid="30735" grpId="0" animBg="1"/>
      <p:bldP spid="30736" grpId="0" animBg="1"/>
      <p:bldP spid="30737" grpId="0" animBg="1"/>
      <p:bldP spid="30738" grpId="0" animBg="1"/>
      <p:bldP spid="30739" grpId="0" animBg="1"/>
      <p:bldP spid="30742" grpId="0"/>
      <p:bldP spid="30743" grpId="0" animBg="1"/>
      <p:bldP spid="30744" grpId="0" animBg="1"/>
      <p:bldP spid="30746" grpId="0" animBg="1"/>
      <p:bldP spid="30747" grpId="0" animBg="1"/>
      <p:bldP spid="30750" grpId="0"/>
      <p:bldP spid="30752" grpId="0" animBg="1"/>
      <p:bldP spid="30753" grpId="0" animBg="1"/>
      <p:bldP spid="30754" grpId="0" animBg="1"/>
      <p:bldP spid="30755" grpId="0" animBg="1"/>
      <p:bldP spid="30756" grpId="0" animBg="1"/>
      <p:bldP spid="30757" grpId="0" animBg="1"/>
      <p:bldP spid="30758" grpId="0"/>
      <p:bldP spid="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51993" y="40481"/>
            <a:ext cx="7886700" cy="1325563"/>
          </a:xfrm>
        </p:spPr>
        <p:txBody>
          <a:bodyPr/>
          <a:lstStyle/>
          <a:p>
            <a:r>
              <a:rPr lang="en-GB" dirty="0"/>
              <a:t>How to formalize it?</a:t>
            </a:r>
            <a:endParaRPr lang="en-US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2590800" y="2286000"/>
            <a:ext cx="3886200" cy="1143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32773" name="Picture 5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99238" y="2133600"/>
            <a:ext cx="1401762" cy="1457325"/>
          </a:xfrm>
          <a:prstGeom prst="rect">
            <a:avLst/>
          </a:prstGeom>
          <a:noFill/>
        </p:spPr>
      </p:pic>
      <p:pic>
        <p:nvPicPr>
          <p:cNvPr id="32774" name="Picture 6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2133600"/>
            <a:ext cx="1368425" cy="1438275"/>
          </a:xfrm>
          <a:prstGeom prst="rect">
            <a:avLst/>
          </a:prstGeom>
          <a:noFill/>
        </p:spPr>
      </p:pic>
      <p:sp>
        <p:nvSpPr>
          <p:cNvPr id="32775" name="Line 7"/>
          <p:cNvSpPr>
            <a:spLocks noChangeShapeType="1"/>
          </p:cNvSpPr>
          <p:nvPr/>
        </p:nvSpPr>
        <p:spPr bwMode="auto">
          <a:xfrm>
            <a:off x="2819400" y="2514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6" name="Text Box 8"/>
              <p:cNvSpPr txBox="1">
                <a:spLocks noChangeArrowheads="1"/>
              </p:cNvSpPr>
              <p:nvPr/>
            </p:nvSpPr>
            <p:spPr bwMode="auto">
              <a:xfrm>
                <a:off x="1600200" y="2971800"/>
                <a:ext cx="388248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3277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0200" y="2971800"/>
                <a:ext cx="388248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77" name="Text Box 9"/>
              <p:cNvSpPr txBox="1">
                <a:spLocks noChangeArrowheads="1"/>
              </p:cNvSpPr>
              <p:nvPr/>
            </p:nvSpPr>
            <p:spPr bwMode="auto">
              <a:xfrm>
                <a:off x="7162800" y="3048000"/>
                <a:ext cx="411163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𝑩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3277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2800" y="3048000"/>
                <a:ext cx="411163" cy="36988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8" name="Line 10"/>
          <p:cNvSpPr>
            <a:spLocks noChangeShapeType="1"/>
          </p:cNvSpPr>
          <p:nvPr/>
        </p:nvSpPr>
        <p:spPr bwMode="auto">
          <a:xfrm flipH="1">
            <a:off x="2819400" y="26670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779" name="Line 11"/>
          <p:cNvSpPr>
            <a:spLocks noChangeShapeType="1"/>
          </p:cNvSpPr>
          <p:nvPr/>
        </p:nvSpPr>
        <p:spPr bwMode="auto">
          <a:xfrm>
            <a:off x="2819400" y="2819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780" name="Line 12"/>
          <p:cNvSpPr>
            <a:spLocks noChangeShapeType="1"/>
          </p:cNvSpPr>
          <p:nvPr/>
        </p:nvSpPr>
        <p:spPr bwMode="auto">
          <a:xfrm flipH="1">
            <a:off x="2819400" y="29718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>
            <a:off x="2819400" y="31242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 flipH="1">
            <a:off x="2819400" y="3276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>
            <a:off x="1752600" y="3581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 flipH="1">
            <a:off x="7391400" y="3581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85" name="Text Box 17"/>
              <p:cNvSpPr txBox="1">
                <a:spLocks noChangeArrowheads="1"/>
              </p:cNvSpPr>
              <p:nvPr/>
            </p:nvSpPr>
            <p:spPr bwMode="auto">
              <a:xfrm>
                <a:off x="900430" y="3810000"/>
                <a:ext cx="1676400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:r>
                  <a:rPr lang="en-US" b="1" dirty="0"/>
                  <a:t>key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78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430" y="3810000"/>
                <a:ext cx="1676400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87" name="Text Box 19"/>
              <p:cNvSpPr txBox="1">
                <a:spLocks noChangeArrowheads="1"/>
              </p:cNvSpPr>
              <p:nvPr/>
            </p:nvSpPr>
            <p:spPr bwMode="auto">
              <a:xfrm>
                <a:off x="3200400" y="1447800"/>
                <a:ext cx="2516188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b="1" dirty="0"/>
                  <a:t>security parameter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787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1447800"/>
                <a:ext cx="2516188" cy="36988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88" name="AutoShape 20"/>
          <p:cNvCxnSpPr>
            <a:cxnSpLocks noChangeShapeType="1"/>
            <a:stCxn id="32787" idx="1"/>
          </p:cNvCxnSpPr>
          <p:nvPr/>
        </p:nvCxnSpPr>
        <p:spPr bwMode="auto">
          <a:xfrm flipH="1">
            <a:off x="1751013" y="1633538"/>
            <a:ext cx="1449387" cy="5000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2789" name="AutoShape 21"/>
          <p:cNvCxnSpPr>
            <a:cxnSpLocks noChangeShapeType="1"/>
            <a:stCxn id="32787" idx="3"/>
          </p:cNvCxnSpPr>
          <p:nvPr/>
        </p:nvCxnSpPr>
        <p:spPr bwMode="auto">
          <a:xfrm>
            <a:off x="5716588" y="1633538"/>
            <a:ext cx="1584325" cy="5000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790" name="Text Box 22"/>
              <p:cNvSpPr txBox="1">
                <a:spLocks noChangeArrowheads="1"/>
              </p:cNvSpPr>
              <p:nvPr/>
            </p:nvSpPr>
            <p:spPr bwMode="auto">
              <a:xfrm>
                <a:off x="6553200" y="3810000"/>
                <a:ext cx="16764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:r>
                  <a:rPr lang="en-US" b="1" dirty="0"/>
                  <a:t>key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endParaRPr lang="ru-RU" b="1" baseline="30000" dirty="0">
                  <a:solidFill>
                    <a:srgbClr val="99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2790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3200" y="3810000"/>
                <a:ext cx="1676400" cy="36988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92" name="Text Box 24"/>
          <p:cNvSpPr txBox="1">
            <a:spLocks noChangeArrowheads="1"/>
          </p:cNvSpPr>
          <p:nvPr/>
        </p:nvSpPr>
        <p:spPr bwMode="auto">
          <a:xfrm>
            <a:off x="593725" y="45323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93" name="Text Box 25"/>
              <p:cNvSpPr txBox="1">
                <a:spLocks noChangeArrowheads="1"/>
              </p:cNvSpPr>
              <p:nvPr/>
            </p:nvSpPr>
            <p:spPr bwMode="auto">
              <a:xfrm>
                <a:off x="381000" y="4419600"/>
                <a:ext cx="7620000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We say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is secure a secure key-exchange protocol if:</a:t>
                </a:r>
                <a:br>
                  <a:rPr lang="en-GB" sz="2000" dirty="0"/>
                </a:br>
                <a:r>
                  <a:rPr lang="en-GB" sz="2000" dirty="0"/>
                  <a:t>the output of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GB" sz="2000" dirty="0"/>
                  <a:t> is always the same, and</a:t>
                </a:r>
                <a:endParaRPr lang="en-US" sz="2000" dirty="0"/>
              </a:p>
            </p:txBody>
          </p:sp>
        </mc:Choice>
        <mc:Fallback xmlns="">
          <p:sp>
            <p:nvSpPr>
              <p:cNvPr id="32793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4419600"/>
                <a:ext cx="7620000" cy="707886"/>
              </a:xfrm>
              <a:prstGeom prst="rect">
                <a:avLst/>
              </a:prstGeom>
              <a:blipFill rotWithShape="0">
                <a:blip r:embed="rId10"/>
                <a:stretch>
                  <a:fillRect l="-880" t="-4310" b="-1465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94" name="Text Box 26"/>
              <p:cNvSpPr txBox="1">
                <a:spLocks noChangeArrowheads="1"/>
              </p:cNvSpPr>
              <p:nvPr/>
            </p:nvSpPr>
            <p:spPr bwMode="auto">
              <a:xfrm>
                <a:off x="234393" y="4888468"/>
                <a:ext cx="902811" cy="11079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16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7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393" y="4888468"/>
                <a:ext cx="902811" cy="1107996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95" name="Text Box 27"/>
              <p:cNvSpPr txBox="1">
                <a:spLocks noChangeArrowheads="1"/>
              </p:cNvSpPr>
              <p:nvPr/>
            </p:nvSpPr>
            <p:spPr bwMode="auto">
              <a:xfrm>
                <a:off x="86484" y="5819001"/>
                <a:ext cx="1198631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dirty="0"/>
                  <a:t>poly-time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795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484" y="5819001"/>
                <a:ext cx="1198631" cy="646331"/>
              </a:xfrm>
              <a:prstGeom prst="rect">
                <a:avLst/>
              </a:prstGeom>
              <a:blipFill rotWithShape="0">
                <a:blip r:embed="rId12"/>
                <a:stretch>
                  <a:fillRect l="-2030" t="-6604" r="-456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96" name="Text Box 28"/>
          <p:cNvSpPr txBox="1">
            <a:spLocks noChangeArrowheads="1"/>
          </p:cNvSpPr>
          <p:nvPr/>
        </p:nvSpPr>
        <p:spPr bwMode="auto">
          <a:xfrm>
            <a:off x="1676400" y="54102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97" name="Text Box 29"/>
              <p:cNvSpPr txBox="1">
                <a:spLocks noChangeArrowheads="1"/>
              </p:cNvSpPr>
              <p:nvPr/>
            </p:nvSpPr>
            <p:spPr bwMode="auto">
              <a:xfrm>
                <a:off x="987948" y="5196245"/>
                <a:ext cx="8003652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  <m:d>
                                <m:dPr>
                                  <m:ctrlPr>
                                    <a:rPr lang="en-US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sup>
                                      <m:r>
                                        <a:rPr lang="en-US" sz="2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p>
                                  </m:sSup>
                                  <m:r>
                                    <a:rPr lang="en-US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  <m:r>
                                    <a:rPr lang="en-US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  <m:d>
                                <m:dPr>
                                  <m:ctrlPr>
                                    <a:rPr lang="en-US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sup>
                                      <m:r>
                                        <a:rPr lang="en-US" sz="2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p>
                                  </m:sSup>
                                  <m:r>
                                    <a:rPr lang="en-US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  <m:r>
                                    <a:rPr lang="en-US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d>
                      <m:r>
                        <a:rPr lang="en-US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6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𝐧𝐞𝐠𝐥</m:t>
                      </m:r>
                      <m:r>
                        <a:rPr lang="en-US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797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7948" y="5196245"/>
                <a:ext cx="8003652" cy="492443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98" name="AutoShape 30"/>
              <p:cNvSpPr>
                <a:spLocks noChangeArrowheads="1"/>
              </p:cNvSpPr>
              <p:nvPr/>
            </p:nvSpPr>
            <p:spPr bwMode="auto">
              <a:xfrm>
                <a:off x="4952662" y="6081421"/>
                <a:ext cx="1646576" cy="497471"/>
              </a:xfrm>
              <a:prstGeom prst="wedgeRectCallout">
                <a:avLst>
                  <a:gd name="adj1" fmla="val 11917"/>
                  <a:gd name="adj2" fmla="val -126686"/>
                </a:avLst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798" name="AutoShap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2662" y="6081421"/>
                <a:ext cx="1646576" cy="497471"/>
              </a:xfrm>
              <a:prstGeom prst="wedgeRectCallout">
                <a:avLst>
                  <a:gd name="adj1" fmla="val 11917"/>
                  <a:gd name="adj2" fmla="val -126686"/>
                </a:avLst>
              </a:prstGeom>
              <a:blipFill rotWithShape="0">
                <a:blip r:embed="rId1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4250286" y="2428868"/>
                <a:ext cx="70403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GB" sz="4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286" y="2428868"/>
                <a:ext cx="704039" cy="83099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ular Callout 3"/>
              <p:cNvSpPr/>
              <p:nvPr/>
            </p:nvSpPr>
            <p:spPr>
              <a:xfrm>
                <a:off x="2904827" y="3718270"/>
                <a:ext cx="2360580" cy="345033"/>
              </a:xfrm>
              <a:prstGeom prst="wedgeRectCallout">
                <a:avLst>
                  <a:gd name="adj1" fmla="val -72756"/>
                  <a:gd name="adj2" fmla="val 51222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may depend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827" y="3718270"/>
                <a:ext cx="2360580" cy="345033"/>
              </a:xfrm>
              <a:prstGeom prst="wedgeRectCallout">
                <a:avLst>
                  <a:gd name="adj1" fmla="val -72756"/>
                  <a:gd name="adj2" fmla="val 51222"/>
                </a:avLst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86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93" grpId="0"/>
      <p:bldP spid="32794" grpId="0"/>
      <p:bldP spid="32795" grpId="0"/>
      <p:bldP spid="32797" grpId="0"/>
      <p:bldP spid="32798" grpId="0" animBg="1"/>
      <p:bldP spid="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43567" y="387565"/>
                <a:ext cx="8413355" cy="1325563"/>
              </a:xfrm>
            </p:spPr>
            <p:txBody>
              <a:bodyPr/>
              <a:lstStyle/>
              <a:p>
                <a:r>
                  <a:rPr lang="en-US" dirty="0"/>
                  <a:t>How to make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dependent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43567" y="387565"/>
                <a:ext cx="8413355" cy="1325563"/>
              </a:xfrm>
              <a:blipFill rotWithShape="0">
                <a:blip r:embed="rId3"/>
                <a:stretch>
                  <a:fillRect l="-2896" r="-50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6346" y="1861833"/>
                <a:ext cx="7989046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</a:t>
                </a:r>
                <a:r>
                  <a:rPr lang="en-US" b="1" dirty="0">
                    <a:solidFill>
                      <a:srgbClr val="0070C0"/>
                    </a:solidFill>
                  </a:rPr>
                  <a:t>practice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often a fixed group is used.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</a:t>
                </a:r>
                <a:r>
                  <a:rPr lang="en-US" b="1" dirty="0">
                    <a:solidFill>
                      <a:srgbClr val="7030A0"/>
                    </a:solidFill>
                  </a:rPr>
                  <a:t>theory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dirty="0"/>
                  <a:t>we need to have a </a:t>
                </a:r>
                <a:r>
                  <a:rPr lang="en-US" b="1" dirty="0">
                    <a:solidFill>
                      <a:srgbClr val="00B050"/>
                    </a:solidFill>
                  </a:rPr>
                  <a:t>new group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for every value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So, we need to define an algorithm that generates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/>
                  <a:t> and its generator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6346" y="1861833"/>
                <a:ext cx="7989046" cy="4525963"/>
              </a:xfrm>
              <a:blipFill rotWithShape="0">
                <a:blip r:embed="rId4"/>
                <a:stretch>
                  <a:fillRect l="-1603" t="-2288" r="-251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62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55607" y="247989"/>
                <a:ext cx="8401929" cy="1325563"/>
              </a:xfrm>
            </p:spPr>
            <p:txBody>
              <a:bodyPr/>
              <a:lstStyle/>
              <a:p>
                <a:r>
                  <a:rPr lang="en-US" dirty="0"/>
                  <a:t>Group generating algorithm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𝐆𝐞𝐧𝐆</m:t>
                    </m:r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55607" y="247989"/>
                <a:ext cx="8401929" cy="1325563"/>
              </a:xfrm>
              <a:blipFill rotWithShape="0">
                <a:blip r:embed="rId2"/>
                <a:stretch>
                  <a:fillRect l="-290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516002" y="2908688"/>
            <a:ext cx="1262208" cy="123415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FF0000"/>
                </a:solidFill>
              </a:rPr>
              <a:t>GenG</a:t>
            </a:r>
            <a:endParaRPr lang="pl-PL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41471" y="3281741"/>
                <a:ext cx="695617" cy="48805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71" y="3281741"/>
                <a:ext cx="695617" cy="48805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334934" y="2678349"/>
                <a:ext cx="3368079" cy="169261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indent="11271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b="1" dirty="0">
                  <a:solidFill>
                    <a:srgbClr val="FF0000"/>
                  </a:solidFill>
                </a:endParaRPr>
              </a:p>
              <a:p>
                <a:pPr indent="112713"/>
                <a:r>
                  <a:rPr lang="en-US" sz="2200" dirty="0"/>
                  <a:t>description of a group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200" dirty="0"/>
                  <a:t>,</a:t>
                </a:r>
              </a:p>
              <a:p>
                <a:pPr indent="112713"/>
                <a:r>
                  <a:rPr lang="en-US" sz="2200" dirty="0"/>
                  <a:t>order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of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200" dirty="0"/>
                  <a:t>, and</a:t>
                </a:r>
              </a:p>
              <a:p>
                <a:pPr indent="112713"/>
                <a:r>
                  <a:rPr lang="en-US" sz="2200" dirty="0"/>
                  <a:t>a generator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200" dirty="0"/>
                  <a:t> of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200" dirty="0"/>
                  <a:t>.</a:t>
                </a:r>
                <a:endParaRPr 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934" y="2678349"/>
                <a:ext cx="3368079" cy="169261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5" idx="3"/>
            <a:endCxn id="4" idx="1"/>
          </p:cNvCxnSpPr>
          <p:nvPr/>
        </p:nvCxnSpPr>
        <p:spPr>
          <a:xfrm>
            <a:off x="1537088" y="3525768"/>
            <a:ext cx="978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3"/>
            <a:endCxn id="6" idx="1"/>
          </p:cNvCxnSpPr>
          <p:nvPr/>
        </p:nvCxnSpPr>
        <p:spPr>
          <a:xfrm flipV="1">
            <a:off x="3778210" y="3524656"/>
            <a:ext cx="1556724" cy="11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ular Callout 14"/>
          <p:cNvSpPr/>
          <p:nvPr/>
        </p:nvSpPr>
        <p:spPr>
          <a:xfrm>
            <a:off x="1755872" y="4759926"/>
            <a:ext cx="4044676" cy="1009766"/>
          </a:xfrm>
          <a:prstGeom prst="wedgeRectCallout">
            <a:avLst>
              <a:gd name="adj1" fmla="val -12636"/>
              <a:gd name="adj2" fmla="val -14718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poly-time randomized algorithm 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275856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17680" y="510826"/>
                <a:ext cx="8077784" cy="1325563"/>
              </a:xfrm>
            </p:spPr>
            <p:txBody>
              <a:bodyPr/>
              <a:lstStyle/>
              <a:p>
                <a:r>
                  <a:rPr lang="en-US" dirty="0"/>
                  <a:t>Example of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𝐆𝐞𝐧𝐆</m:t>
                    </m:r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17680" y="510826"/>
                <a:ext cx="8077784" cy="1325563"/>
              </a:xfrm>
              <a:blipFill rotWithShape="0">
                <a:blip r:embed="rId2"/>
                <a:stretch>
                  <a:fillRect l="-30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31980" y="2991398"/>
                <a:ext cx="1461356" cy="123415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𝐆𝐞</m:t>
                      </m:r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𝐧𝐆</m:t>
                          </m:r>
                        </m:e>
                        <m:sub>
                          <m:r>
                            <a:rPr lang="en-US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𝐐𝐑</m:t>
                          </m:r>
                        </m:sub>
                      </m:sSub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80" y="2991398"/>
                <a:ext cx="1461356" cy="1234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56597" y="3364451"/>
                <a:ext cx="695617" cy="48805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97" y="3364451"/>
                <a:ext cx="695617" cy="488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354443" y="2210183"/>
                <a:ext cx="4241021" cy="283050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indent="11271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pl-PL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  <m:sup>
                          <m:r>
                            <a:rPr lang="pl-PL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sz="2200" dirty="0"/>
                  <a:t>where: </a:t>
                </a:r>
                <a:br>
                  <a:rPr lang="en-US" sz="2200" dirty="0"/>
                </a:br>
                <a:endParaRPr lang="en-US" sz="1050" dirty="0">
                  <a:solidFill>
                    <a:srgbClr val="FF0000"/>
                  </a:solidFill>
                </a:endParaRPr>
              </a:p>
              <a:p>
                <a:pPr marL="342900" indent="-3429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– random prime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endParaRPr lang="pl-PL" sz="2200" dirty="0">
                  <a:solidFill>
                    <a:schemeClr val="tx1"/>
                  </a:solidFill>
                </a:endParaRPr>
              </a:p>
              <a:p>
                <a:pPr marL="342900" indent="-3429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pl-PL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pl-PL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pl-PL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pl-PL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l-PL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)/</m:t>
                    </m:r>
                    <m:r>
                      <a:rPr lang="pl-PL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pl-PL" sz="2200" dirty="0"/>
                  <a:t> – a prime</a:t>
                </a:r>
                <a:br>
                  <a:rPr lang="en-US" sz="2200" dirty="0"/>
                </a:br>
                <a:endParaRPr lang="en-US" sz="1050" dirty="0"/>
              </a:p>
              <a:p>
                <a:pPr marL="342900" indent="-3429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200" dirty="0"/>
                  <a:t>, where</a:t>
                </a:r>
                <a:br>
                  <a:rPr lang="en-US" sz="2200" dirty="0"/>
                </a:b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pl-PL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pl-PL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443" y="2210183"/>
                <a:ext cx="4241021" cy="2830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5" idx="3"/>
            <a:endCxn id="4" idx="1"/>
          </p:cNvCxnSpPr>
          <p:nvPr/>
        </p:nvCxnSpPr>
        <p:spPr>
          <a:xfrm>
            <a:off x="1252214" y="3608478"/>
            <a:ext cx="7797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3"/>
            <a:endCxn id="6" idx="1"/>
          </p:cNvCxnSpPr>
          <p:nvPr/>
        </p:nvCxnSpPr>
        <p:spPr>
          <a:xfrm>
            <a:off x="3493336" y="3608478"/>
            <a:ext cx="861107" cy="169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73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uiExpand="1" build="p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GB" sz="4000"/>
              <a:t>How does the protocol look now?</a:t>
            </a:r>
            <a:endParaRPr lang="en-US" sz="4000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H="1" flipV="1">
            <a:off x="2743200" y="3200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31751" name="Picture 7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42063" y="2209800"/>
            <a:ext cx="1401762" cy="1457325"/>
          </a:xfrm>
          <a:prstGeom prst="rect">
            <a:avLst/>
          </a:prstGeom>
          <a:noFill/>
        </p:spPr>
      </p:pic>
      <p:pic>
        <p:nvPicPr>
          <p:cNvPr id="31752" name="Picture 8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95400" y="2209800"/>
            <a:ext cx="1368425" cy="1438275"/>
          </a:xfrm>
          <a:prstGeom prst="rect">
            <a:avLst/>
          </a:prstGeom>
          <a:noFill/>
        </p:spPr>
      </p:pic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1655763" y="3217863"/>
            <a:ext cx="733425" cy="3698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31754" name="Text Box 10"/>
          <p:cNvSpPr txBox="1">
            <a:spLocks noChangeArrowheads="1"/>
          </p:cNvSpPr>
          <p:nvPr/>
        </p:nvSpPr>
        <p:spPr bwMode="auto">
          <a:xfrm>
            <a:off x="6723063" y="3200400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56" name="Text Box 12"/>
              <p:cNvSpPr txBox="1">
                <a:spLocks noChangeArrowheads="1"/>
              </p:cNvSpPr>
              <p:nvPr/>
            </p:nvSpPr>
            <p:spPr bwMode="auto">
              <a:xfrm>
                <a:off x="792163" y="2043113"/>
                <a:ext cx="1221232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𝒁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𝒒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175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2163" y="2043113"/>
                <a:ext cx="1221232" cy="45313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58" name="Text Box 14"/>
              <p:cNvSpPr txBox="1">
                <a:spLocks noChangeArrowheads="1"/>
              </p:cNvSpPr>
              <p:nvPr/>
            </p:nvSpPr>
            <p:spPr bwMode="auto">
              <a:xfrm>
                <a:off x="7632700" y="2619375"/>
                <a:ext cx="1227644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𝒁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𝒒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1758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32700" y="2619375"/>
                <a:ext cx="1227644" cy="45313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59" name="Text Box 15"/>
              <p:cNvSpPr txBox="1">
                <a:spLocks noChangeArrowheads="1"/>
              </p:cNvSpPr>
              <p:nvPr/>
            </p:nvSpPr>
            <p:spPr bwMode="auto">
              <a:xfrm>
                <a:off x="3796148" y="2969096"/>
                <a:ext cx="1413592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𝟐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=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</m:oMath>
                  </m:oMathPara>
                </a14:m>
                <a:endParaRPr lang="en-GB" sz="2400" b="1" baseline="30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1759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6148" y="2969096"/>
                <a:ext cx="1413592" cy="45313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60" name="Line 16"/>
          <p:cNvSpPr>
            <a:spLocks noChangeShapeType="1"/>
          </p:cNvSpPr>
          <p:nvPr/>
        </p:nvSpPr>
        <p:spPr bwMode="auto">
          <a:xfrm>
            <a:off x="2743200" y="25146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61" name="Text Box 17"/>
              <p:cNvSpPr txBox="1">
                <a:spLocks noChangeArrowheads="1"/>
              </p:cNvSpPr>
              <p:nvPr/>
            </p:nvSpPr>
            <p:spPr bwMode="auto">
              <a:xfrm>
                <a:off x="3429000" y="1066800"/>
                <a:ext cx="2516188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b="1" dirty="0"/>
                  <a:t>security parameter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76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9000" y="1066800"/>
                <a:ext cx="2516188" cy="36988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762" name="AutoShape 18"/>
          <p:cNvCxnSpPr>
            <a:cxnSpLocks noChangeShapeType="1"/>
            <a:stCxn id="31761" idx="1"/>
          </p:cNvCxnSpPr>
          <p:nvPr/>
        </p:nvCxnSpPr>
        <p:spPr bwMode="auto">
          <a:xfrm flipH="1">
            <a:off x="2133600" y="1252538"/>
            <a:ext cx="1295400" cy="271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1763" name="AutoShape 19"/>
          <p:cNvCxnSpPr>
            <a:cxnSpLocks noChangeShapeType="1"/>
            <a:stCxn id="31761" idx="3"/>
          </p:cNvCxnSpPr>
          <p:nvPr/>
        </p:nvCxnSpPr>
        <p:spPr bwMode="auto">
          <a:xfrm>
            <a:off x="5945188" y="1252538"/>
            <a:ext cx="1370012" cy="3476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757" name="Text Box 13"/>
              <p:cNvSpPr txBox="1">
                <a:spLocks noChangeArrowheads="1"/>
              </p:cNvSpPr>
              <p:nvPr/>
            </p:nvSpPr>
            <p:spPr bwMode="auto">
              <a:xfrm>
                <a:off x="3042340" y="2327275"/>
                <a:ext cx="2934988" cy="50917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dPr>
                        <m:e>
                          <m:r>
                            <a:rPr lang="en-GB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𝑮</m:t>
                          </m:r>
                          <m:r>
                            <a:rPr lang="en-GB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,</m:t>
                          </m:r>
                          <m:r>
                            <a:rPr lang="en-GB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𝒈</m:t>
                          </m:r>
                          <m:r>
                            <a:rPr lang="en-GB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,</m:t>
                          </m:r>
                          <m:r>
                            <a:rPr lang="en-GB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𝒒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</m:ctrlPr>
                            </m:dPr>
                            <m:e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𝒉</m:t>
                              </m:r>
                              <m:r>
                                <a:rPr lang="en-GB" sz="2400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𝟏</m:t>
                              </m:r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 =</m:t>
                              </m:r>
                              <m:sSup>
                                <m:sSupPr>
                                  <m:ctrlPr>
                                    <a:rPr lang="en-US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ＭＳ Ｐゴシック" pitchFamily="34" charset="-128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ＭＳ Ｐゴシック" pitchFamily="34" charset="-128"/>
                                    </a:rPr>
                                    <m:t>𝒈</m:t>
                                  </m:r>
                                </m:e>
                                <m:sup>
                                  <m:r>
                                    <a:rPr lang="en-US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ＭＳ Ｐゴシック" pitchFamily="34" charset="-128"/>
                                    </a:rPr>
                                    <m:t>𝒙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</m:t>
                      </m:r>
                    </m:oMath>
                  </m:oMathPara>
                </a14:m>
                <a:endParaRPr lang="en-GB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3175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2340" y="2327275"/>
                <a:ext cx="2934988" cy="5091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64" name="Text Box 20"/>
              <p:cNvSpPr txBox="1">
                <a:spLocks noChangeArrowheads="1"/>
              </p:cNvSpPr>
              <p:nvPr/>
            </p:nvSpPr>
            <p:spPr bwMode="auto">
              <a:xfrm>
                <a:off x="448191" y="1549400"/>
                <a:ext cx="3108432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𝑮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𝒒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 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←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𝐆𝐞𝐧𝐆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(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𝟏</m:t>
                      </m:r>
                      <m:r>
                        <a:rPr lang="en-GB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𝒏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1764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191" y="1549400"/>
                <a:ext cx="3108432" cy="45313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71" name="Text Box 27"/>
              <p:cNvSpPr txBox="1">
                <a:spLocks noChangeArrowheads="1"/>
              </p:cNvSpPr>
              <p:nvPr/>
            </p:nvSpPr>
            <p:spPr bwMode="auto">
              <a:xfrm>
                <a:off x="1396312" y="3962400"/>
                <a:ext cx="1646028" cy="8224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GB" sz="2400" dirty="0">
                    <a:ea typeface="ＭＳ Ｐゴシック" pitchFamily="34" charset="-128"/>
                  </a:rPr>
                  <a:t>output:</a:t>
                </a:r>
                <a:br>
                  <a:rPr lang="en-GB" sz="2400" b="1" i="1" dirty="0">
                    <a:solidFill>
                      <a:srgbClr val="990000"/>
                    </a:solidFill>
                    <a:ea typeface="ＭＳ Ｐゴシック" pitchFamily="34" charset="-1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𝒌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𝑨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𝟐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  <m:r>
                        <a:rPr lang="en-GB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31771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6312" y="3962400"/>
                <a:ext cx="1646028" cy="822469"/>
              </a:xfrm>
              <a:prstGeom prst="rect">
                <a:avLst/>
              </a:prstGeom>
              <a:blipFill rotWithShape="0">
                <a:blip r:embed="rId11"/>
                <a:stretch>
                  <a:fillRect l="-741" t="-5926" b="-1111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72" name="Text Box 28"/>
              <p:cNvSpPr txBox="1">
                <a:spLocks noChangeArrowheads="1"/>
              </p:cNvSpPr>
              <p:nvPr/>
            </p:nvSpPr>
            <p:spPr bwMode="auto">
              <a:xfrm>
                <a:off x="6423240" y="4038600"/>
                <a:ext cx="1778312" cy="8224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eaLnBrk="0" hangingPunct="0"/>
                <a:r>
                  <a:rPr lang="en-GB" sz="2400" dirty="0">
                    <a:ea typeface="ＭＳ Ｐゴシック" pitchFamily="34" charset="-128"/>
                  </a:rPr>
                  <a:t>output:</a:t>
                </a:r>
                <a:br>
                  <a:rPr lang="en-GB" sz="2400" b="1" i="1" dirty="0">
                    <a:solidFill>
                      <a:srgbClr val="990000"/>
                    </a:solidFill>
                    <a:ea typeface="ＭＳ Ｐゴシック" pitchFamily="34" charset="-1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𝒌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𝑩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=(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  <m:r>
                        <a:rPr lang="en-GB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31772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3240" y="4038600"/>
                <a:ext cx="1778312" cy="822469"/>
              </a:xfrm>
              <a:prstGeom prst="rect">
                <a:avLst/>
              </a:prstGeom>
              <a:blipFill rotWithShape="0">
                <a:blip r:embed="rId12"/>
                <a:stretch>
                  <a:fillRect t="-5970" b="-1119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773" name="AutoShape 29"/>
          <p:cNvCxnSpPr>
            <a:cxnSpLocks noChangeShapeType="1"/>
          </p:cNvCxnSpPr>
          <p:nvPr/>
        </p:nvCxnSpPr>
        <p:spPr bwMode="auto">
          <a:xfrm>
            <a:off x="2057400" y="3657600"/>
            <a:ext cx="3175" cy="349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1774" name="AutoShape 30"/>
          <p:cNvCxnSpPr>
            <a:cxnSpLocks noChangeShapeType="1"/>
          </p:cNvCxnSpPr>
          <p:nvPr/>
        </p:nvCxnSpPr>
        <p:spPr bwMode="auto">
          <a:xfrm>
            <a:off x="7086600" y="3657600"/>
            <a:ext cx="6350" cy="406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31776" name="Text Box 32"/>
          <p:cNvSpPr txBox="1">
            <a:spLocks noChangeArrowheads="1"/>
          </p:cNvSpPr>
          <p:nvPr/>
        </p:nvSpPr>
        <p:spPr bwMode="auto">
          <a:xfrm>
            <a:off x="239619" y="5232544"/>
            <a:ext cx="8715436" cy="132343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dirty="0"/>
              <a:t>If such a key exchange protocol is secure, we say that: the </a:t>
            </a:r>
            <a:r>
              <a:rPr lang="en-GB" sz="2400" b="1" dirty="0">
                <a:solidFill>
                  <a:srgbClr val="0070C0"/>
                </a:solidFill>
              </a:rPr>
              <a:t>Decisional </a:t>
            </a:r>
            <a:r>
              <a:rPr lang="en-GB" sz="2400" b="1" dirty="0" err="1">
                <a:solidFill>
                  <a:srgbClr val="0070C0"/>
                </a:solidFill>
              </a:rPr>
              <a:t>Diffie</a:t>
            </a:r>
            <a:r>
              <a:rPr lang="en-GB" sz="2400" b="1" dirty="0">
                <a:solidFill>
                  <a:srgbClr val="0070C0"/>
                </a:solidFill>
              </a:rPr>
              <a:t>-Hellman (DDH) problem is hard with respect to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b="1" dirty="0" err="1">
                <a:solidFill>
                  <a:srgbClr val="FF0000"/>
                </a:solidFill>
                <a:ea typeface="ＭＳ Ｐゴシック" pitchFamily="34" charset="-128"/>
              </a:rPr>
              <a:t>GenG</a:t>
            </a:r>
            <a:r>
              <a:rPr lang="en-GB" sz="2400" dirty="0">
                <a:ea typeface="ＭＳ Ｐゴシック" pitchFamily="34" charset="-128"/>
              </a:rPr>
              <a:t>)</a:t>
            </a:r>
            <a:r>
              <a:rPr lang="en-GB" sz="3200" dirty="0">
                <a:ea typeface="ＭＳ Ｐゴシック" pitchFamily="34" charset="-128"/>
              </a:rPr>
              <a:t> </a:t>
            </a:r>
            <a:endParaRPr lang="en-US" sz="320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743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 animBg="1"/>
      <p:bldP spid="31756" grpId="0" animBg="1"/>
      <p:bldP spid="31758" grpId="0" animBg="1"/>
      <p:bldP spid="31759" grpId="0" animBg="1"/>
      <p:bldP spid="31760" grpId="0" animBg="1"/>
      <p:bldP spid="31761" grpId="0" animBg="1"/>
      <p:bldP spid="31757" grpId="0" animBg="1"/>
      <p:bldP spid="31764" grpId="0" animBg="1"/>
      <p:bldP spid="31771" grpId="0"/>
      <p:bldP spid="31772" grpId="0"/>
      <p:bldP spid="3177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41" y="53841"/>
            <a:ext cx="7886700" cy="1325563"/>
          </a:xfrm>
        </p:spPr>
        <p:txBody>
          <a:bodyPr/>
          <a:lstStyle/>
          <a:p>
            <a:r>
              <a:rPr lang="en-US" dirty="0"/>
              <a:t>Formally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0494" y="1379404"/>
                <a:ext cx="8923506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GB" sz="2400" b="1" dirty="0">
                    <a:solidFill>
                      <a:srgbClr val="0070C0"/>
                    </a:solidFill>
                  </a:rPr>
                  <a:t>Decisional </a:t>
                </a:r>
                <a:r>
                  <a:rPr lang="en-GB" sz="2400" b="1" dirty="0" err="1">
                    <a:solidFill>
                      <a:srgbClr val="0070C0"/>
                    </a:solidFill>
                  </a:rPr>
                  <a:t>Diffie</a:t>
                </a:r>
                <a:r>
                  <a:rPr lang="en-GB" sz="2400" b="1" dirty="0">
                    <a:solidFill>
                      <a:srgbClr val="0070C0"/>
                    </a:solidFill>
                  </a:rPr>
                  <a:t>-Hellman (DDH) problem </a:t>
                </a:r>
                <a:r>
                  <a:rPr lang="en-US" sz="2400" dirty="0"/>
                  <a:t>is hard relative to </a:t>
                </a:r>
                <a:r>
                  <a:rPr lang="en-US" sz="2400" b="1" dirty="0" err="1">
                    <a:solidFill>
                      <a:srgbClr val="FF0000"/>
                    </a:solidFill>
                  </a:rPr>
                  <a:t>GenG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if for every poly-time algorithm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we have that</a:t>
                </a:r>
              </a:p>
              <a:p>
                <a:pPr marL="0" indent="0">
                  <a:lnSpc>
                    <a:spcPct val="110000"/>
                  </a:lnSpc>
                  <a:spcAft>
                    <a:spcPts val="1200"/>
                  </a:spcAft>
                  <a:buNone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p>
                                </m:sSup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p>
                            </m:sSup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sup>
                            </m:sSup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𝒙𝒚</m:t>
                                </m:r>
                              </m:sup>
                            </m:sSup>
                          </m:e>
                        </m:d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br>
                  <a:rPr lang="en-US" sz="2400" b="1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𝐧𝐞𝐠𝐥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where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𝐆𝐞𝐧𝐆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0494" y="1379404"/>
                <a:ext cx="8923506" cy="4351338"/>
              </a:xfrm>
              <a:blipFill rotWithShape="0">
                <a:blip r:embed="rId2"/>
                <a:stretch>
                  <a:fillRect l="-1025" t="-19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99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DDH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is believed to be hard relative to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𝐧𝐆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𝐐𝐑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Other examples</a:t>
                </a:r>
                <a:r>
                  <a:rPr lang="en-US" dirty="0"/>
                  <a:t>: elliptic curves</a:t>
                </a:r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900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DDH compare to the discrete log assumption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5480" y="2928934"/>
                <a:ext cx="2646980" cy="83099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DDH</a:t>
                </a:r>
                <a:r>
                  <a:rPr lang="en-US" sz="2400" dirty="0"/>
                  <a:t> is hard </a:t>
                </a:r>
                <a:br>
                  <a:rPr lang="en-US" sz="2400" dirty="0"/>
                </a:br>
                <a:r>
                  <a:rPr lang="en-US" sz="2400" dirty="0"/>
                  <a:t>relative to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𝐆𝐞𝐧𝐆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80" y="2928934"/>
                <a:ext cx="2646980" cy="83099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455722" y="2928934"/>
                <a:ext cx="2854884" cy="830997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b="1" dirty="0"/>
                  <a:t>discrete log</a:t>
                </a:r>
                <a:r>
                  <a:rPr lang="en-US" sz="2400" dirty="0"/>
                  <a:t> is hard </a:t>
                </a:r>
                <a:br>
                  <a:rPr lang="en-US" sz="2400" dirty="0"/>
                </a:br>
                <a:r>
                  <a:rPr lang="en-US" sz="2400" dirty="0"/>
                  <a:t>relative to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722" y="2928934"/>
                <a:ext cx="2854884" cy="83099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3124667" y="2928934"/>
            <a:ext cx="2203612" cy="928694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implies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10" y="4857760"/>
            <a:ext cx="7311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opposite implication is unknown in most of the cases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7353000" y="4225320"/>
              <a:ext cx="6480" cy="43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3280" y="4215600"/>
                <a:ext cx="24120" cy="2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77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4648200"/>
            <a:ext cx="9144000" cy="1524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r">
              <a:lnSpc>
                <a:spcPct val="90000"/>
              </a:lnSpc>
              <a:buFontTx/>
              <a:buNone/>
            </a:pPr>
            <a:r>
              <a:rPr lang="en-GB" sz="2800" dirty="0"/>
              <a:t>She can launch a “</a:t>
            </a:r>
            <a:r>
              <a:rPr lang="en-GB" sz="2800" b="1" dirty="0"/>
              <a:t>man-in-the-middle </a:t>
            </a:r>
            <a:r>
              <a:rPr lang="en-GB" sz="2800" dirty="0"/>
              <a:t>attack”.</a:t>
            </a:r>
            <a:endParaRPr lang="en-US" sz="2800" dirty="0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 problem</a:t>
            </a:r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825625"/>
            <a:ext cx="7886700" cy="248832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GB" dirty="0"/>
              <a:t>The protocols that we discussed are secure only against a </a:t>
            </a:r>
            <a:r>
              <a:rPr lang="en-GB" b="1" dirty="0">
                <a:solidFill>
                  <a:srgbClr val="0070C0"/>
                </a:solidFill>
              </a:rPr>
              <a:t>passive adversary</a:t>
            </a:r>
            <a:r>
              <a:rPr lang="en-GB" dirty="0">
                <a:solidFill>
                  <a:srgbClr val="0070C0"/>
                </a:solidFill>
              </a:rPr>
              <a:t> </a:t>
            </a:r>
            <a:br>
              <a:rPr lang="en-GB" dirty="0"/>
            </a:br>
            <a:r>
              <a:rPr lang="en-GB" dirty="0"/>
              <a:t>(that only eavesdrop).</a:t>
            </a:r>
          </a:p>
          <a:p>
            <a:pPr marL="0" indent="0">
              <a:lnSpc>
                <a:spcPct val="90000"/>
              </a:lnSpc>
              <a:buFontTx/>
              <a:buNone/>
            </a:pPr>
            <a:endParaRPr lang="en-GB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dirty="0"/>
              <a:t>What if the adversary is </a:t>
            </a:r>
            <a:r>
              <a:rPr lang="en-GB" b="1" dirty="0">
                <a:solidFill>
                  <a:srgbClr val="0070C0"/>
                </a:solidFill>
              </a:rPr>
              <a:t>active</a:t>
            </a:r>
            <a:r>
              <a:rPr lang="en-GB" dirty="0"/>
              <a:t>?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9156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Man in the middle attack</a:t>
            </a:r>
            <a:endParaRPr lang="en-US"/>
          </a:p>
        </p:txBody>
      </p:sp>
      <p:pic>
        <p:nvPicPr>
          <p:cNvPr id="40965" name="Picture 5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2800" y="2286000"/>
            <a:ext cx="1401763" cy="1457325"/>
          </a:xfrm>
          <a:prstGeom prst="rect">
            <a:avLst/>
          </a:prstGeom>
          <a:noFill/>
        </p:spPr>
      </p:pic>
      <p:pic>
        <p:nvPicPr>
          <p:cNvPr id="40966" name="Picture 6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2286000"/>
            <a:ext cx="1368425" cy="1438275"/>
          </a:xfrm>
          <a:prstGeom prst="rect">
            <a:avLst/>
          </a:prstGeom>
          <a:noFill/>
        </p:spPr>
      </p:pic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762000" y="3276600"/>
            <a:ext cx="733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7543800" y="3276600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40975" name="Line 15"/>
          <p:cNvSpPr>
            <a:spLocks noChangeShapeType="1"/>
          </p:cNvSpPr>
          <p:nvPr/>
        </p:nvSpPr>
        <p:spPr bwMode="auto">
          <a:xfrm>
            <a:off x="12192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76" name="Line 16"/>
          <p:cNvSpPr>
            <a:spLocks noChangeShapeType="1"/>
          </p:cNvSpPr>
          <p:nvPr/>
        </p:nvSpPr>
        <p:spPr bwMode="auto">
          <a:xfrm flipH="1">
            <a:off x="7954963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77" name="Text Box 17"/>
              <p:cNvSpPr txBox="1">
                <a:spLocks noChangeArrowheads="1"/>
              </p:cNvSpPr>
              <p:nvPr/>
            </p:nvSpPr>
            <p:spPr bwMode="auto">
              <a:xfrm>
                <a:off x="838200" y="3962400"/>
                <a:ext cx="758825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b="1" dirty="0"/>
                  <a:t>key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977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3962400"/>
                <a:ext cx="758825" cy="36988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78" name="Text Box 18"/>
              <p:cNvSpPr txBox="1">
                <a:spLocks noChangeArrowheads="1"/>
              </p:cNvSpPr>
              <p:nvPr/>
            </p:nvSpPr>
            <p:spPr bwMode="auto">
              <a:xfrm>
                <a:off x="7573963" y="3962400"/>
                <a:ext cx="808298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b="1" dirty="0"/>
                  <a:t>key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97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73963" y="3962400"/>
                <a:ext cx="808298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79" name="Picture 19" descr="MCj043594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86200" y="2438400"/>
            <a:ext cx="1841500" cy="1273175"/>
          </a:xfrm>
          <a:prstGeom prst="rect">
            <a:avLst/>
          </a:prstGeom>
          <a:noFill/>
        </p:spPr>
      </p:pic>
      <p:sp>
        <p:nvSpPr>
          <p:cNvPr id="40980" name="Line 20"/>
          <p:cNvSpPr>
            <a:spLocks noChangeShapeType="1"/>
          </p:cNvSpPr>
          <p:nvPr/>
        </p:nvSpPr>
        <p:spPr bwMode="auto">
          <a:xfrm>
            <a:off x="5791200" y="2667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81" name="Line 21"/>
          <p:cNvSpPr>
            <a:spLocks noChangeShapeType="1"/>
          </p:cNvSpPr>
          <p:nvPr/>
        </p:nvSpPr>
        <p:spPr bwMode="auto">
          <a:xfrm flipH="1">
            <a:off x="5791200" y="28194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82" name="Line 22"/>
          <p:cNvSpPr>
            <a:spLocks noChangeShapeType="1"/>
          </p:cNvSpPr>
          <p:nvPr/>
        </p:nvSpPr>
        <p:spPr bwMode="auto">
          <a:xfrm>
            <a:off x="5791200" y="29718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83" name="Line 23"/>
          <p:cNvSpPr>
            <a:spLocks noChangeShapeType="1"/>
          </p:cNvSpPr>
          <p:nvPr/>
        </p:nvSpPr>
        <p:spPr bwMode="auto">
          <a:xfrm flipH="1">
            <a:off x="5791200" y="3124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84" name="Line 24"/>
          <p:cNvSpPr>
            <a:spLocks noChangeShapeType="1"/>
          </p:cNvSpPr>
          <p:nvPr/>
        </p:nvSpPr>
        <p:spPr bwMode="auto">
          <a:xfrm>
            <a:off x="5791200" y="3276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85" name="Line 25"/>
          <p:cNvSpPr>
            <a:spLocks noChangeShapeType="1"/>
          </p:cNvSpPr>
          <p:nvPr/>
        </p:nvSpPr>
        <p:spPr bwMode="auto">
          <a:xfrm flipH="1">
            <a:off x="5791200" y="3429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>
            <a:off x="2362200" y="2667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87" name="Line 27"/>
          <p:cNvSpPr>
            <a:spLocks noChangeShapeType="1"/>
          </p:cNvSpPr>
          <p:nvPr/>
        </p:nvSpPr>
        <p:spPr bwMode="auto">
          <a:xfrm flipH="1">
            <a:off x="2362200" y="28194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>
            <a:off x="2362200" y="29718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89" name="Line 29"/>
          <p:cNvSpPr>
            <a:spLocks noChangeShapeType="1"/>
          </p:cNvSpPr>
          <p:nvPr/>
        </p:nvSpPr>
        <p:spPr bwMode="auto">
          <a:xfrm flipH="1">
            <a:off x="2362200" y="3124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0" name="Line 30"/>
          <p:cNvSpPr>
            <a:spLocks noChangeShapeType="1"/>
          </p:cNvSpPr>
          <p:nvPr/>
        </p:nvSpPr>
        <p:spPr bwMode="auto">
          <a:xfrm>
            <a:off x="2362200" y="3276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1" name="Line 31"/>
          <p:cNvSpPr>
            <a:spLocks noChangeShapeType="1"/>
          </p:cNvSpPr>
          <p:nvPr/>
        </p:nvSpPr>
        <p:spPr bwMode="auto">
          <a:xfrm flipH="1">
            <a:off x="2362200" y="3429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2" name="Line 32"/>
          <p:cNvSpPr>
            <a:spLocks noChangeShapeType="1"/>
          </p:cNvSpPr>
          <p:nvPr/>
        </p:nvSpPr>
        <p:spPr bwMode="auto">
          <a:xfrm>
            <a:off x="41148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93" name="Text Box 33"/>
              <p:cNvSpPr txBox="1">
                <a:spLocks noChangeArrowheads="1"/>
              </p:cNvSpPr>
              <p:nvPr/>
            </p:nvSpPr>
            <p:spPr bwMode="auto">
              <a:xfrm>
                <a:off x="3733800" y="3962400"/>
                <a:ext cx="758825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b="1" dirty="0"/>
                  <a:t>key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993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3800" y="3962400"/>
                <a:ext cx="758825" cy="36988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94" name="Line 34"/>
          <p:cNvSpPr>
            <a:spLocks noChangeShapeType="1"/>
          </p:cNvSpPr>
          <p:nvPr/>
        </p:nvSpPr>
        <p:spPr bwMode="auto">
          <a:xfrm>
            <a:off x="51054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95" name="Text Box 35"/>
              <p:cNvSpPr txBox="1">
                <a:spLocks noChangeArrowheads="1"/>
              </p:cNvSpPr>
              <p:nvPr/>
            </p:nvSpPr>
            <p:spPr bwMode="auto">
              <a:xfrm>
                <a:off x="4724400" y="3962400"/>
                <a:ext cx="808298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b="1" dirty="0"/>
                  <a:t>key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995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3962400"/>
                <a:ext cx="808298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96" name="AutoShape 36"/>
          <p:cNvSpPr>
            <a:spLocks noChangeArrowheads="1"/>
          </p:cNvSpPr>
          <p:nvPr/>
        </p:nvSpPr>
        <p:spPr bwMode="auto">
          <a:xfrm>
            <a:off x="1905000" y="1676400"/>
            <a:ext cx="2057400" cy="381000"/>
          </a:xfrm>
          <a:prstGeom prst="wedgeRoundRectCallout">
            <a:avLst>
              <a:gd name="adj1" fmla="val 54167"/>
              <a:gd name="adj2" fmla="val 232500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GB" dirty="0"/>
              <a:t>I am </a:t>
            </a:r>
            <a:r>
              <a:rPr lang="en-GB" b="1" dirty="0">
                <a:solidFill>
                  <a:srgbClr val="FF0000"/>
                </a:solidFill>
              </a:rPr>
              <a:t>Bob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997" name="AutoShape 37"/>
          <p:cNvSpPr>
            <a:spLocks noChangeArrowheads="1"/>
          </p:cNvSpPr>
          <p:nvPr/>
        </p:nvSpPr>
        <p:spPr bwMode="auto">
          <a:xfrm>
            <a:off x="5334000" y="1752600"/>
            <a:ext cx="2057400" cy="381000"/>
          </a:xfrm>
          <a:prstGeom prst="wedgeRoundRectCallout">
            <a:avLst>
              <a:gd name="adj1" fmla="val -68134"/>
              <a:gd name="adj2" fmla="val 212083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GB" dirty="0"/>
              <a:t>I am </a:t>
            </a:r>
            <a:r>
              <a:rPr lang="en-GB" b="1" dirty="0">
                <a:solidFill>
                  <a:srgbClr val="FF0000"/>
                </a:solidFill>
              </a:rPr>
              <a:t>Alice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998" name="Text Box 38"/>
          <p:cNvSpPr txBox="1">
            <a:spLocks noChangeArrowheads="1"/>
          </p:cNvSpPr>
          <p:nvPr/>
        </p:nvSpPr>
        <p:spPr bwMode="auto">
          <a:xfrm>
            <a:off x="609600" y="4727575"/>
            <a:ext cx="314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400"/>
              <a:t>A very realistic attack!</a:t>
            </a:r>
            <a:endParaRPr lang="en-US" sz="2400"/>
          </a:p>
        </p:txBody>
      </p:sp>
      <p:sp>
        <p:nvSpPr>
          <p:cNvPr id="40999" name="Text Box 39"/>
          <p:cNvSpPr txBox="1">
            <a:spLocks noChangeArrowheads="1"/>
          </p:cNvSpPr>
          <p:nvPr/>
        </p:nvSpPr>
        <p:spPr bwMode="auto">
          <a:xfrm>
            <a:off x="3581400" y="5413375"/>
            <a:ext cx="488467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So</a:t>
            </a:r>
            <a:r>
              <a:rPr lang="pl-PL" sz="2400" dirty="0"/>
              <a:t>, i</a:t>
            </a:r>
            <a:r>
              <a:rPr lang="en-GB" sz="2400" dirty="0"/>
              <a:t>s this thing totally useless?</a:t>
            </a:r>
            <a:br>
              <a:rPr lang="en-GB" sz="2400" dirty="0"/>
            </a:br>
            <a:r>
              <a:rPr lang="en-GB" sz="2400" b="1" dirty="0">
                <a:solidFill>
                  <a:srgbClr val="FF0000"/>
                </a:solidFill>
              </a:rPr>
              <a:t>No!</a:t>
            </a:r>
            <a:r>
              <a:rPr lang="en-GB" sz="2400" dirty="0">
                <a:solidFill>
                  <a:srgbClr val="FF0000"/>
                </a:solidFill>
              </a:rPr>
              <a:t>  </a:t>
            </a:r>
            <a:r>
              <a:rPr lang="en-GB" sz="2400" dirty="0"/>
              <a:t>(it is useful as a building block)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707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5" grpId="0" animBg="1"/>
      <p:bldP spid="40976" grpId="0" animBg="1"/>
      <p:bldP spid="40977" grpId="0" animBg="1"/>
      <p:bldP spid="40978" grpId="0" animBg="1"/>
      <p:bldP spid="40980" grpId="0" animBg="1"/>
      <p:bldP spid="40981" grpId="0" animBg="1"/>
      <p:bldP spid="40982" grpId="0" animBg="1"/>
      <p:bldP spid="40983" grpId="0" animBg="1"/>
      <p:bldP spid="40984" grpId="0" animBg="1"/>
      <p:bldP spid="40985" grpId="0" animBg="1"/>
      <p:bldP spid="40986" grpId="0" animBg="1"/>
      <p:bldP spid="40987" grpId="0" animBg="1"/>
      <p:bldP spid="40988" grpId="0" animBg="1"/>
      <p:bldP spid="40989" grpId="0" animBg="1"/>
      <p:bldP spid="40990" grpId="0" animBg="1"/>
      <p:bldP spid="40991" grpId="0" animBg="1"/>
      <p:bldP spid="40991" grpId="1" animBg="1"/>
      <p:bldP spid="40992" grpId="0" animBg="1"/>
      <p:bldP spid="40993" grpId="0" animBg="1"/>
      <p:bldP spid="40994" grpId="0" animBg="1"/>
      <p:bldP spid="40995" grpId="0" animBg="1"/>
      <p:bldP spid="40996" grpId="0" animBg="1"/>
      <p:bldP spid="40997" grpId="0" animBg="1"/>
      <p:bldP spid="40998" grpId="0"/>
      <p:bldP spid="40999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 tool: Diffie-Hellman key exchange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ElGamal</a:t>
            </a:r>
            <a:r>
              <a:rPr lang="en-US" dirty="0"/>
              <a:t>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CCA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1057551" y="3213681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57447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75731" y="397551"/>
            <a:ext cx="7886700" cy="1325563"/>
          </a:xfrm>
        </p:spPr>
        <p:txBody>
          <a:bodyPr/>
          <a:lstStyle/>
          <a:p>
            <a:r>
              <a:rPr lang="en-US" dirty="0" err="1"/>
              <a:t>ElGamal</a:t>
            </a:r>
            <a:r>
              <a:rPr lang="en-US" dirty="0"/>
              <a:t> encryption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5731" y="1722280"/>
            <a:ext cx="6227570" cy="3880852"/>
          </a:xfrm>
        </p:spPr>
        <p:txBody>
          <a:bodyPr>
            <a:normAutofit lnSpcReduction="10000"/>
          </a:bodyPr>
          <a:lstStyle/>
          <a:p>
            <a:pPr marL="0" indent="0">
              <a:buFontTx/>
              <a:buNone/>
            </a:pPr>
            <a:r>
              <a:rPr lang="en-US" b="1" dirty="0" err="1"/>
              <a:t>ElGamal</a:t>
            </a:r>
            <a:r>
              <a:rPr lang="en-US" dirty="0"/>
              <a:t> is another popular public-key encryption scheme.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Introduced in: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[</a:t>
            </a:r>
            <a:r>
              <a:rPr lang="en-US" b="1" dirty="0" err="1">
                <a:solidFill>
                  <a:srgbClr val="00B050"/>
                </a:solidFill>
              </a:rPr>
              <a:t>Taher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ElGamal</a:t>
            </a:r>
            <a:r>
              <a:rPr lang="en-US" b="1" dirty="0">
                <a:solidFill>
                  <a:srgbClr val="00B050"/>
                </a:solidFill>
              </a:rPr>
              <a:t> "A Public key Cryptosystem and A Signature Scheme based on discrete Logarithms". </a:t>
            </a:r>
            <a:r>
              <a:rPr lang="en-US" b="1" i="1" dirty="0">
                <a:solidFill>
                  <a:srgbClr val="00B050"/>
                </a:solidFill>
              </a:rPr>
              <a:t>IEEE Transactions on Information Theory</a:t>
            </a:r>
            <a:r>
              <a:rPr lang="en-US" b="1" dirty="0">
                <a:solidFill>
                  <a:srgbClr val="00B050"/>
                </a:solidFill>
              </a:rPr>
              <a:t>. 1985]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483" y="1581376"/>
            <a:ext cx="1885703" cy="28288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5838" y="4210347"/>
            <a:ext cx="2074992" cy="76944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sz="2200" b="1" dirty="0" err="1"/>
              <a:t>Taher</a:t>
            </a:r>
            <a:r>
              <a:rPr lang="pl-PL" sz="2200" b="1" dirty="0"/>
              <a:t> </a:t>
            </a:r>
            <a:r>
              <a:rPr lang="pl-PL" sz="2200" b="1" dirty="0" err="1"/>
              <a:t>ElGamal</a:t>
            </a:r>
            <a:endParaRPr lang="en-US" sz="2200" baseline="30000" dirty="0"/>
          </a:p>
          <a:p>
            <a:pPr algn="ctr"/>
            <a:r>
              <a:rPr lang="en-US" sz="2200" dirty="0"/>
              <a:t>(1</a:t>
            </a:r>
            <a:r>
              <a:rPr lang="pl-PL" sz="2200" dirty="0"/>
              <a:t>955</a:t>
            </a:r>
            <a:r>
              <a:rPr lang="en-US" sz="2200" dirty="0"/>
              <a:t>– )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731" y="5526346"/>
            <a:ext cx="78867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It is based on the </a:t>
            </a:r>
            <a:r>
              <a:rPr lang="en-US" sz="2800" b="1" dirty="0" err="1">
                <a:solidFill>
                  <a:srgbClr val="FF0000"/>
                </a:solidFill>
              </a:rPr>
              <a:t>Diffie</a:t>
            </a:r>
            <a:r>
              <a:rPr lang="en-US" sz="2800" b="1" dirty="0">
                <a:solidFill>
                  <a:srgbClr val="FF0000"/>
                </a:solidFill>
              </a:rPr>
              <a:t>-Hellman</a:t>
            </a:r>
            <a:r>
              <a:rPr lang="en-US" sz="2800" dirty="0"/>
              <a:t> key-exchange.</a:t>
            </a:r>
          </a:p>
        </p:txBody>
      </p:sp>
    </p:spTree>
    <p:extLst>
      <p:ext uri="{BB962C8B-B14F-4D97-AF65-F5344CB8AC3E}">
        <p14:creationId xmlns:p14="http://schemas.microsoft.com/office/powerpoint/2010/main" val="142216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492355" y="2109291"/>
                <a:ext cx="6431280" cy="129758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indent="401638">
                  <a:buNone/>
                </a:pPr>
                <a:r>
                  <a:rPr lang="pl-PL" sz="2200" b="1" dirty="0">
                    <a:solidFill>
                      <a:srgbClr val="FF0000"/>
                    </a:solidFill>
                    <a:latin typeface="Lucida Calligraphy"/>
                  </a:rPr>
                  <a:t>K</a:t>
                </a:r>
                <a:r>
                  <a:rPr lang="pl-PL" sz="2200" b="1" i="1" dirty="0">
                    <a:solidFill>
                      <a:srgbClr val="FF0000"/>
                    </a:solidFill>
                  </a:rPr>
                  <a:t> </a:t>
                </a:r>
                <a:r>
                  <a:rPr lang="pl-PL" sz="2200" b="1" dirty="0">
                    <a:solidFill>
                      <a:srgbClr val="FF0000"/>
                    </a:solidFill>
                  </a:rPr>
                  <a:t>=</a:t>
                </a:r>
                <a:r>
                  <a:rPr lang="pl-PL" sz="2200" b="1" i="1" dirty="0">
                    <a:solidFill>
                      <a:srgbClr val="FF0000"/>
                    </a:solidFill>
                  </a:rPr>
                  <a:t> </a:t>
                </a:r>
                <a:r>
                  <a:rPr lang="pl-PL" sz="2200" b="1" dirty="0">
                    <a:solidFill>
                      <a:srgbClr val="FF0000"/>
                    </a:solidFill>
                    <a:latin typeface="Lucida Calligraphy"/>
                  </a:rPr>
                  <a:t>M </a:t>
                </a:r>
                <a:r>
                  <a:rPr lang="pl-PL" sz="2200" b="1" dirty="0">
                    <a:solidFill>
                      <a:srgbClr val="FF0000"/>
                    </a:solidFill>
                  </a:rPr>
                  <a:t>= </a:t>
                </a:r>
                <a:r>
                  <a:rPr lang="it-IT" sz="2200" b="1" dirty="0">
                    <a:solidFill>
                      <a:srgbClr val="FF0000"/>
                    </a:solidFill>
                    <a:latin typeface="Lucida Calligraphy"/>
                  </a:rPr>
                  <a:t>C =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it-IT" sz="2200" b="1" dirty="0">
                    <a:solidFill>
                      <a:srgbClr val="FF0000"/>
                    </a:solidFill>
                    <a:latin typeface="Lucida Calligraphy"/>
                  </a:rPr>
                  <a:t> </a:t>
                </a:r>
                <a:endParaRPr lang="it-IT" sz="2400" dirty="0"/>
              </a:p>
              <a:p>
                <a:pPr indent="401638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indent="401638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355" y="2109291"/>
                <a:ext cx="6431280" cy="129758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231" y="151465"/>
            <a:ext cx="7886700" cy="1080928"/>
          </a:xfrm>
        </p:spPr>
        <p:txBody>
          <a:bodyPr/>
          <a:lstStyle/>
          <a:p>
            <a:r>
              <a:rPr lang="en-US" dirty="0"/>
              <a:t>First observation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2227" y="1232393"/>
                <a:ext cx="8229600" cy="87689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Remember that the one-time pad scheme can be generalized to any group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2227" y="1232393"/>
                <a:ext cx="8229600" cy="876898"/>
              </a:xfrm>
              <a:blipFill rotWithShape="0">
                <a:blip r:embed="rId4"/>
                <a:stretch>
                  <a:fillRect l="-1185" t="-9722" b="-13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82227" y="3503953"/>
                <a:ext cx="8436813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dirty="0"/>
                  <a:t>So, if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dirty="0"/>
                  <a:t> is the key agreed in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DH key exchange</a:t>
                </a:r>
                <a:r>
                  <a:rPr lang="en-US" sz="2400" dirty="0"/>
                  <a:t>, then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Alice </a:t>
                </a:r>
                <a:r>
                  <a:rPr lang="en-US" sz="2400" dirty="0"/>
                  <a:t>can send a message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400" dirty="0"/>
                  <a:t>to </a:t>
                </a:r>
                <a:r>
                  <a:rPr lang="it-IT" sz="2400" b="1" dirty="0">
                    <a:solidFill>
                      <a:srgbClr val="FF0000"/>
                    </a:solidFill>
                  </a:rPr>
                  <a:t>Bob</a:t>
                </a:r>
                <a:r>
                  <a:rPr lang="it-IT" sz="2400" dirty="0"/>
                  <a:t> “encrypting it with </a:t>
                </a:r>
                <a14:m>
                  <m:oMath xmlns:m="http://schemas.openxmlformats.org/officeDocument/2006/math"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it-IT" sz="2400" dirty="0"/>
                  <a:t>”  by setting: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:=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27" y="3503953"/>
                <a:ext cx="8436813" cy="1200329"/>
              </a:xfrm>
              <a:prstGeom prst="rect">
                <a:avLst/>
              </a:prstGeom>
              <a:blipFill rotWithShape="0">
                <a:blip r:embed="rId5"/>
                <a:stretch>
                  <a:fillRect l="-1156" t="-4061" b="-1066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5" descr="MCj0411466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47509" y="4981155"/>
            <a:ext cx="1012824" cy="1052970"/>
          </a:xfrm>
          <a:prstGeom prst="rect">
            <a:avLst/>
          </a:prstGeom>
          <a:noFill/>
        </p:spPr>
      </p:pic>
      <p:pic>
        <p:nvPicPr>
          <p:cNvPr id="8" name="Picture 6" descr="MCj0415808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846908" y="4870157"/>
            <a:ext cx="1107440" cy="1163968"/>
          </a:xfrm>
          <a:prstGeom prst="rect">
            <a:avLst/>
          </a:prstGeom>
          <a:noFill/>
        </p:spPr>
      </p:pic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024708" y="5567400"/>
            <a:ext cx="733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6881188" y="5567400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ight Arrow 10"/>
              <p:cNvSpPr/>
              <p:nvPr/>
            </p:nvSpPr>
            <p:spPr>
              <a:xfrm>
                <a:off x="3329633" y="5100040"/>
                <a:ext cx="2936240" cy="83724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pl-PL" sz="2000" dirty="0"/>
              </a:p>
            </p:txBody>
          </p:sp>
        </mc:Choice>
        <mc:Fallback xmlns="">
          <p:sp>
            <p:nvSpPr>
              <p:cNvPr id="11" name="Right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633" y="5100040"/>
                <a:ext cx="2936240" cy="837248"/>
              </a:xfrm>
              <a:prstGeom prst="rightArrow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7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9" grpId="0" animBg="1"/>
      <p:bldP spid="10" grpId="0" animBg="1"/>
      <p:bldP spid="11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/>
          <a:lstStyle/>
          <a:p>
            <a:r>
              <a:rPr lang="en-US" sz="4000" dirty="0"/>
              <a:t>How does it look now?</a:t>
            </a:r>
          </a:p>
        </p:txBody>
      </p:sp>
      <p:sp>
        <p:nvSpPr>
          <p:cNvPr id="80938" name="Line 42"/>
          <p:cNvSpPr>
            <a:spLocks noChangeShapeType="1"/>
          </p:cNvSpPr>
          <p:nvPr/>
        </p:nvSpPr>
        <p:spPr bwMode="auto">
          <a:xfrm flipH="1" flipV="1">
            <a:off x="2947986" y="3990957"/>
            <a:ext cx="2643206" cy="457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pic>
        <p:nvPicPr>
          <p:cNvPr id="80939" name="Picture 43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75374" y="3000364"/>
            <a:ext cx="1401762" cy="1457325"/>
          </a:xfrm>
          <a:prstGeom prst="rect">
            <a:avLst/>
          </a:prstGeom>
          <a:noFill/>
        </p:spPr>
      </p:pic>
      <p:pic>
        <p:nvPicPr>
          <p:cNvPr id="80940" name="Picture 44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85890" y="3000364"/>
            <a:ext cx="1368425" cy="1438275"/>
          </a:xfrm>
          <a:prstGeom prst="rect">
            <a:avLst/>
          </a:prstGeom>
          <a:noFill/>
        </p:spPr>
      </p:pic>
      <p:sp>
        <p:nvSpPr>
          <p:cNvPr id="80941" name="Text Box 45"/>
          <p:cNvSpPr txBox="1">
            <a:spLocks noChangeArrowheads="1"/>
          </p:cNvSpPr>
          <p:nvPr/>
        </p:nvSpPr>
        <p:spPr bwMode="auto">
          <a:xfrm>
            <a:off x="1746253" y="3929058"/>
            <a:ext cx="707373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80942" name="Text Box 46"/>
          <p:cNvSpPr txBox="1">
            <a:spLocks noChangeArrowheads="1"/>
          </p:cNvSpPr>
          <p:nvPr/>
        </p:nvSpPr>
        <p:spPr bwMode="auto">
          <a:xfrm>
            <a:off x="6256374" y="3990964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943" name="Text Box 47"/>
              <p:cNvSpPr txBox="1">
                <a:spLocks noChangeArrowheads="1"/>
              </p:cNvSpPr>
              <p:nvPr/>
            </p:nvSpPr>
            <p:spPr bwMode="auto">
              <a:xfrm>
                <a:off x="882652" y="2833677"/>
                <a:ext cx="1330324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𝒁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𝒒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0943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2652" y="2833677"/>
                <a:ext cx="1330324" cy="45313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44" name="Text Box 48"/>
              <p:cNvSpPr txBox="1">
                <a:spLocks noChangeArrowheads="1"/>
              </p:cNvSpPr>
              <p:nvPr/>
            </p:nvSpPr>
            <p:spPr bwMode="auto">
              <a:xfrm>
                <a:off x="6858016" y="2928934"/>
                <a:ext cx="1294970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𝒁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𝒒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0944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16" y="2928934"/>
                <a:ext cx="1294970" cy="45313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45" name="Text Box 49"/>
              <p:cNvSpPr txBox="1">
                <a:spLocks noChangeArrowheads="1"/>
              </p:cNvSpPr>
              <p:nvPr/>
            </p:nvSpPr>
            <p:spPr bwMode="auto">
              <a:xfrm>
                <a:off x="3760797" y="3770302"/>
                <a:ext cx="1278940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𝟐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</m:oMath>
                  </m:oMathPara>
                </a14:m>
                <a:endParaRPr lang="en-GB" sz="2400" b="1" baseline="30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0945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0797" y="3770302"/>
                <a:ext cx="1278940" cy="45313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46" name="Line 50"/>
          <p:cNvSpPr>
            <a:spLocks noChangeShapeType="1"/>
          </p:cNvSpPr>
          <p:nvPr/>
        </p:nvSpPr>
        <p:spPr bwMode="auto">
          <a:xfrm>
            <a:off x="2876548" y="3357554"/>
            <a:ext cx="2786082" cy="457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80948" name="AutoShape 52"/>
          <p:cNvCxnSpPr>
            <a:cxnSpLocks noChangeShapeType="1"/>
          </p:cNvCxnSpPr>
          <p:nvPr/>
        </p:nvCxnSpPr>
        <p:spPr bwMode="auto">
          <a:xfrm flipH="1">
            <a:off x="2224090" y="2043102"/>
            <a:ext cx="1295400" cy="271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80949" name="AutoShape 53"/>
          <p:cNvCxnSpPr>
            <a:cxnSpLocks noChangeShapeType="1"/>
          </p:cNvCxnSpPr>
          <p:nvPr/>
        </p:nvCxnSpPr>
        <p:spPr bwMode="auto">
          <a:xfrm>
            <a:off x="5478499" y="2043102"/>
            <a:ext cx="1141412" cy="804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950" name="Text Box 54"/>
              <p:cNvSpPr txBox="1">
                <a:spLocks noChangeArrowheads="1"/>
              </p:cNvSpPr>
              <p:nvPr/>
            </p:nvSpPr>
            <p:spPr bwMode="auto">
              <a:xfrm>
                <a:off x="3500430" y="3117839"/>
                <a:ext cx="1785950" cy="4603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𝑮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𝒒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</m:oMath>
                  </m:oMathPara>
                </a14:m>
                <a:endParaRPr lang="en-GB" sz="2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80950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0430" y="3117839"/>
                <a:ext cx="1785950" cy="4603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51" name="Text Box 55"/>
              <p:cNvSpPr txBox="1">
                <a:spLocks noChangeArrowheads="1"/>
              </p:cNvSpPr>
              <p:nvPr/>
            </p:nvSpPr>
            <p:spPr bwMode="auto">
              <a:xfrm>
                <a:off x="852490" y="2314564"/>
                <a:ext cx="3102430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𝑮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𝒒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 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←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𝐆𝐞𝐧𝐆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(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𝟏</m:t>
                      </m:r>
                      <m:r>
                        <a:rPr lang="en-GB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𝒏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0951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2490" y="2314564"/>
                <a:ext cx="3102430" cy="45313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53" name="Text Box 57"/>
              <p:cNvSpPr txBox="1">
                <a:spLocks noChangeArrowheads="1"/>
              </p:cNvSpPr>
              <p:nvPr/>
            </p:nvSpPr>
            <p:spPr bwMode="auto">
              <a:xfrm>
                <a:off x="434189" y="5196402"/>
                <a:ext cx="2624127" cy="82246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0" hangingPunct="0"/>
                <a:r>
                  <a:rPr lang="en-GB" sz="2400" dirty="0">
                    <a:solidFill>
                      <a:schemeClr val="tx1"/>
                    </a:solidFill>
                    <a:ea typeface="ＭＳ Ｐゴシック" pitchFamily="34" charset="-128"/>
                  </a:rPr>
                  <a:t>output:</a:t>
                </a:r>
                <a:br>
                  <a:rPr lang="en-GB" sz="2400" b="1" i="1" dirty="0">
                    <a:solidFill>
                      <a:schemeClr val="tx1"/>
                    </a:solidFill>
                    <a:ea typeface="ＭＳ Ｐゴシック" pitchFamily="34" charset="-1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’ := 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𝒄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·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</m:ctrlPr>
                            </m:dPr>
                            <m:e>
                              <m:r>
                                <a:rPr lang="en-GB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𝒉</m:t>
                              </m:r>
                              <m:r>
                                <a:rPr lang="en-GB" sz="2400" b="1" i="1" baseline="-250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−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80953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189" y="5196402"/>
                <a:ext cx="2624127" cy="82246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955" name="AutoShape 59"/>
          <p:cNvCxnSpPr>
            <a:cxnSpLocks noChangeShapeType="1"/>
            <a:stCxn id="80940" idx="2"/>
          </p:cNvCxnSpPr>
          <p:nvPr/>
        </p:nvCxnSpPr>
        <p:spPr bwMode="auto">
          <a:xfrm flipH="1">
            <a:off x="2070022" y="4438639"/>
            <a:ext cx="81" cy="705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947" name="Text Box 51"/>
              <p:cNvSpPr txBox="1">
                <a:spLocks noChangeArrowheads="1"/>
              </p:cNvSpPr>
              <p:nvPr/>
            </p:nvSpPr>
            <p:spPr bwMode="auto">
              <a:xfrm>
                <a:off x="3389941" y="1690437"/>
                <a:ext cx="252451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/>
                  <a:t>security parameter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0947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9941" y="1690437"/>
                <a:ext cx="2524512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680551" y="3571876"/>
                <a:ext cx="1348575" cy="830997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plaintext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551" y="3571876"/>
                <a:ext cx="1348575" cy="83099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/>
          <p:nvPr/>
        </p:nvCxnSpPr>
        <p:spPr>
          <a:xfrm rot="10800000">
            <a:off x="2857488" y="4786322"/>
            <a:ext cx="2714644" cy="15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233738" y="4500562"/>
                <a:ext cx="2185344" cy="46166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·(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  <m:r>
                        <a:rPr lang="en-GB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738" y="4500562"/>
                <a:ext cx="2185344" cy="46166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Down Arrow 35"/>
          <p:cNvSpPr/>
          <p:nvPr/>
        </p:nvSpPr>
        <p:spPr>
          <a:xfrm rot="5400000">
            <a:off x="4176286" y="4610536"/>
            <a:ext cx="269168" cy="2335258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/>
          <p:cNvSpPr/>
          <p:nvPr/>
        </p:nvSpPr>
        <p:spPr>
          <a:xfrm rot="10800000">
            <a:off x="8286775" y="4429132"/>
            <a:ext cx="317201" cy="85725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591192" y="5357826"/>
                <a:ext cx="3251036" cy="830997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𝒉</m:t>
                    </m:r>
                    <m:r>
                      <a:rPr lang="en-GB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𝟐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  <m:r>
                      <a:rPr lang="en-GB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GB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 </m:t>
                    </m:r>
                    <m:r>
                      <a:rPr lang="en-GB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  = 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𝒉</m:t>
                    </m:r>
                    <m:r>
                      <a:rPr lang="en-GB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𝟏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  <m:r>
                      <a:rPr lang="en-GB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</m:oMath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  <a:p>
                <a:pPr algn="ctr"/>
                <a:r>
                  <a:rPr lang="en-GB" sz="2400" dirty="0">
                    <a:solidFill>
                      <a:schemeClr val="tx1"/>
                    </a:solidFill>
                    <a:ea typeface="ＭＳ Ｐゴシック" pitchFamily="34" charset="-128"/>
                  </a:rPr>
                  <a:t>we get: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𝒎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 = 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𝒎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’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192" y="5357826"/>
                <a:ext cx="3251036" cy="83099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23" idx="1"/>
          </p:cNvCxnSpPr>
          <p:nvPr/>
        </p:nvCxnSpPr>
        <p:spPr>
          <a:xfrm flipH="1">
            <a:off x="7208489" y="3987375"/>
            <a:ext cx="472062" cy="13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54"/>
              <p:cNvSpPr txBox="1">
                <a:spLocks noChangeArrowheads="1"/>
              </p:cNvSpPr>
              <p:nvPr/>
            </p:nvSpPr>
            <p:spPr bwMode="auto">
              <a:xfrm>
                <a:off x="857224" y="3357562"/>
                <a:ext cx="1355752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</m:oMath>
                  </m:oMathPara>
                </a14:m>
                <a:endParaRPr lang="en-GB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7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7224" y="3357562"/>
                <a:ext cx="1355752" cy="45313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75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53" grpId="0" animBg="1"/>
      <p:bldP spid="23" grpId="0" animBg="1"/>
      <p:bldP spid="29" grpId="0" animBg="1"/>
      <p:bldP spid="36" grpId="0" animBg="1"/>
      <p:bldP spid="37" grpId="0" animBg="1"/>
      <p:bldP spid="3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60836" y="44432"/>
            <a:ext cx="8782722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The last two messages can be sent together</a:t>
            </a:r>
          </a:p>
        </p:txBody>
      </p:sp>
      <p:sp>
        <p:nvSpPr>
          <p:cNvPr id="80938" name="Line 42"/>
          <p:cNvSpPr>
            <a:spLocks noChangeShapeType="1"/>
          </p:cNvSpPr>
          <p:nvPr/>
        </p:nvSpPr>
        <p:spPr bwMode="auto">
          <a:xfrm flipH="1" flipV="1">
            <a:off x="2947986" y="3990957"/>
            <a:ext cx="2790856" cy="95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pic>
        <p:nvPicPr>
          <p:cNvPr id="80939" name="Picture 43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75374" y="3000364"/>
            <a:ext cx="1401762" cy="1457325"/>
          </a:xfrm>
          <a:prstGeom prst="rect">
            <a:avLst/>
          </a:prstGeom>
          <a:noFill/>
        </p:spPr>
      </p:pic>
      <p:pic>
        <p:nvPicPr>
          <p:cNvPr id="80940" name="Picture 44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85890" y="3000364"/>
            <a:ext cx="1368425" cy="1438275"/>
          </a:xfrm>
          <a:prstGeom prst="rect">
            <a:avLst/>
          </a:prstGeom>
          <a:noFill/>
        </p:spPr>
      </p:pic>
      <p:sp>
        <p:nvSpPr>
          <p:cNvPr id="80941" name="Text Box 45"/>
          <p:cNvSpPr txBox="1">
            <a:spLocks noChangeArrowheads="1"/>
          </p:cNvSpPr>
          <p:nvPr/>
        </p:nvSpPr>
        <p:spPr bwMode="auto">
          <a:xfrm>
            <a:off x="1746253" y="3929058"/>
            <a:ext cx="707373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80942" name="Text Box 46"/>
          <p:cNvSpPr txBox="1">
            <a:spLocks noChangeArrowheads="1"/>
          </p:cNvSpPr>
          <p:nvPr/>
        </p:nvSpPr>
        <p:spPr bwMode="auto">
          <a:xfrm>
            <a:off x="6256374" y="3990964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943" name="Text Box 47"/>
              <p:cNvSpPr txBox="1">
                <a:spLocks noChangeArrowheads="1"/>
              </p:cNvSpPr>
              <p:nvPr/>
            </p:nvSpPr>
            <p:spPr bwMode="auto">
              <a:xfrm>
                <a:off x="882652" y="2833677"/>
                <a:ext cx="1330324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𝒁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𝒒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0943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2652" y="2833677"/>
                <a:ext cx="1330324" cy="45313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44" name="Text Box 48"/>
              <p:cNvSpPr txBox="1">
                <a:spLocks noChangeArrowheads="1"/>
              </p:cNvSpPr>
              <p:nvPr/>
            </p:nvSpPr>
            <p:spPr bwMode="auto">
              <a:xfrm>
                <a:off x="6858016" y="2928934"/>
                <a:ext cx="1294970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𝒁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𝒒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0944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16" y="2928934"/>
                <a:ext cx="1294970" cy="45313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45" name="Text Box 49"/>
              <p:cNvSpPr txBox="1">
                <a:spLocks noChangeArrowheads="1"/>
              </p:cNvSpPr>
              <p:nvPr/>
            </p:nvSpPr>
            <p:spPr bwMode="auto">
              <a:xfrm>
                <a:off x="3222615" y="3711992"/>
                <a:ext cx="2295538" cy="83099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(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𝒄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)≔</m:t>
                      </m:r>
                    </m:oMath>
                  </m:oMathPara>
                </a14:m>
                <a:endParaRPr lang="en-US" sz="24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ＭＳ Ｐゴシック" pitchFamily="34" charset="-128"/>
                </a:endParaRPr>
              </a:p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dPr>
                        <m:e>
                          <m:r>
                            <a:rPr lang="en-GB" sz="24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𝒈</m:t>
                          </m:r>
                          <m:r>
                            <a:rPr lang="en-GB" sz="2400" b="1" i="1" baseline="30000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𝒚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·</m:t>
                          </m:r>
                          <m:d>
                            <m:dPr>
                              <m:ctrlPr>
                                <a:rPr lang="en-GB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𝒉</m:t>
                              </m:r>
                              <m:r>
                                <a:rPr lang="en-GB" sz="2400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𝟏</m:t>
                              </m:r>
                            </m:e>
                          </m:d>
                          <m:r>
                            <a:rPr lang="en-GB" sz="2400" b="1" i="1" baseline="30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𝒚</m:t>
                          </m:r>
                          <m: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0945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2615" y="3711992"/>
                <a:ext cx="2295538" cy="83099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46" name="Line 50"/>
          <p:cNvSpPr>
            <a:spLocks noChangeShapeType="1"/>
          </p:cNvSpPr>
          <p:nvPr/>
        </p:nvSpPr>
        <p:spPr bwMode="auto">
          <a:xfrm>
            <a:off x="2876548" y="3357554"/>
            <a:ext cx="2786082" cy="457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80948" name="AutoShape 52"/>
          <p:cNvCxnSpPr>
            <a:cxnSpLocks noChangeShapeType="1"/>
          </p:cNvCxnSpPr>
          <p:nvPr/>
        </p:nvCxnSpPr>
        <p:spPr bwMode="auto">
          <a:xfrm flipH="1">
            <a:off x="2224090" y="2043102"/>
            <a:ext cx="1295400" cy="271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80949" name="AutoShape 53"/>
          <p:cNvCxnSpPr>
            <a:cxnSpLocks noChangeShapeType="1"/>
          </p:cNvCxnSpPr>
          <p:nvPr/>
        </p:nvCxnSpPr>
        <p:spPr bwMode="auto">
          <a:xfrm>
            <a:off x="5478499" y="2043102"/>
            <a:ext cx="1141412" cy="804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950" name="Text Box 54"/>
              <p:cNvSpPr txBox="1">
                <a:spLocks noChangeArrowheads="1"/>
              </p:cNvSpPr>
              <p:nvPr/>
            </p:nvSpPr>
            <p:spPr bwMode="auto">
              <a:xfrm>
                <a:off x="3500430" y="3117839"/>
                <a:ext cx="1785950" cy="4603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𝑮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𝒒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</m:oMath>
                  </m:oMathPara>
                </a14:m>
                <a:endParaRPr lang="en-GB" sz="2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80950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0430" y="3117839"/>
                <a:ext cx="1785950" cy="4603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51" name="Text Box 55"/>
              <p:cNvSpPr txBox="1">
                <a:spLocks noChangeArrowheads="1"/>
              </p:cNvSpPr>
              <p:nvPr/>
            </p:nvSpPr>
            <p:spPr bwMode="auto">
              <a:xfrm>
                <a:off x="852489" y="2314564"/>
                <a:ext cx="3091211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𝑮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𝒒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 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←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𝐆𝐞𝐧𝐆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(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𝟏</m:t>
                      </m:r>
                      <m:r>
                        <a:rPr lang="en-GB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𝒏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0951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2489" y="2314564"/>
                <a:ext cx="3091211" cy="45313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53" name="Text Box 57"/>
              <p:cNvSpPr txBox="1">
                <a:spLocks noChangeArrowheads="1"/>
              </p:cNvSpPr>
              <p:nvPr/>
            </p:nvSpPr>
            <p:spPr bwMode="auto">
              <a:xfrm>
                <a:off x="428596" y="5214950"/>
                <a:ext cx="2624127" cy="82246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0" hangingPunct="0"/>
                <a:r>
                  <a:rPr lang="en-GB" sz="2400" dirty="0">
                    <a:solidFill>
                      <a:schemeClr val="tx1"/>
                    </a:solidFill>
                    <a:ea typeface="ＭＳ Ｐゴシック" pitchFamily="34" charset="-128"/>
                  </a:rPr>
                  <a:t>output:</a:t>
                </a:r>
                <a:br>
                  <a:rPr lang="en-GB" sz="2400" b="1" i="1" dirty="0">
                    <a:solidFill>
                      <a:schemeClr val="tx1"/>
                    </a:solidFill>
                    <a:ea typeface="ＭＳ Ｐゴシック" pitchFamily="34" charset="-1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’ := 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𝒄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·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</m:ctrlPr>
                            </m:dPr>
                            <m:e>
                              <m:r>
                                <a:rPr lang="en-GB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𝒉</m:t>
                              </m:r>
                              <m:r>
                                <a:rPr lang="en-GB" sz="2400" b="1" i="1" baseline="-250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−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80953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596" y="5214950"/>
                <a:ext cx="2624127" cy="82246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955" name="AutoShape 59"/>
          <p:cNvCxnSpPr>
            <a:cxnSpLocks noChangeShapeType="1"/>
            <a:stCxn id="80940" idx="2"/>
          </p:cNvCxnSpPr>
          <p:nvPr/>
        </p:nvCxnSpPr>
        <p:spPr bwMode="auto">
          <a:xfrm flipH="1">
            <a:off x="2070022" y="4438639"/>
            <a:ext cx="81" cy="66629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947" name="Text Box 51"/>
              <p:cNvSpPr txBox="1">
                <a:spLocks noChangeArrowheads="1"/>
              </p:cNvSpPr>
              <p:nvPr/>
            </p:nvSpPr>
            <p:spPr bwMode="auto">
              <a:xfrm>
                <a:off x="3389941" y="1690437"/>
                <a:ext cx="252451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/>
                  <a:t>security parameter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0947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9941" y="1690437"/>
                <a:ext cx="2524512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680551" y="3571876"/>
                <a:ext cx="1348575" cy="830997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plaintext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551" y="3571876"/>
                <a:ext cx="1348575" cy="83099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23" idx="1"/>
          </p:cNvCxnSpPr>
          <p:nvPr/>
        </p:nvCxnSpPr>
        <p:spPr>
          <a:xfrm flipH="1">
            <a:off x="7208489" y="3987375"/>
            <a:ext cx="472062" cy="13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54"/>
              <p:cNvSpPr txBox="1">
                <a:spLocks noChangeArrowheads="1"/>
              </p:cNvSpPr>
              <p:nvPr/>
            </p:nvSpPr>
            <p:spPr bwMode="auto">
              <a:xfrm>
                <a:off x="857224" y="3357562"/>
                <a:ext cx="1355752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</m:oMath>
                  </m:oMathPara>
                </a14:m>
                <a:endParaRPr lang="en-GB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7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7224" y="3357562"/>
                <a:ext cx="1355752" cy="45313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208153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ular Callout 21"/>
          <p:cNvSpPr/>
          <p:nvPr/>
        </p:nvSpPr>
        <p:spPr>
          <a:xfrm>
            <a:off x="3105074" y="3626145"/>
            <a:ext cx="5463619" cy="1116280"/>
          </a:xfrm>
          <a:prstGeom prst="wedgeRectCallout">
            <a:avLst>
              <a:gd name="adj1" fmla="val 47975"/>
              <a:gd name="adj2" fmla="val -229982"/>
            </a:avLst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ular Callout 23"/>
          <p:cNvSpPr/>
          <p:nvPr/>
        </p:nvSpPr>
        <p:spPr>
          <a:xfrm>
            <a:off x="535753" y="4739393"/>
            <a:ext cx="2774038" cy="1143008"/>
          </a:xfrm>
          <a:prstGeom prst="wedgeRectCallout">
            <a:avLst>
              <a:gd name="adj1" fmla="val -20009"/>
              <a:gd name="adj2" fmla="val 73928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ular Callout 24"/>
          <p:cNvSpPr/>
          <p:nvPr/>
        </p:nvSpPr>
        <p:spPr>
          <a:xfrm>
            <a:off x="642910" y="2214554"/>
            <a:ext cx="2428892" cy="1714512"/>
          </a:xfrm>
          <a:prstGeom prst="wedgeRoundRectCallout">
            <a:avLst>
              <a:gd name="adj1" fmla="val 35637"/>
              <a:gd name="adj2" fmla="val -114495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urved Down Arrow 25"/>
          <p:cNvSpPr/>
          <p:nvPr/>
        </p:nvSpPr>
        <p:spPr>
          <a:xfrm rot="12616083">
            <a:off x="3578085" y="5104313"/>
            <a:ext cx="2286016" cy="64294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Curved Up Arrow 26"/>
          <p:cNvSpPr/>
          <p:nvPr/>
        </p:nvSpPr>
        <p:spPr>
          <a:xfrm rot="4859671">
            <a:off x="-62466" y="2253793"/>
            <a:ext cx="1321342" cy="37098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7158" y="1428736"/>
            <a:ext cx="1538960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private key</a:t>
            </a:r>
          </a:p>
        </p:txBody>
      </p:sp>
      <p:sp>
        <p:nvSpPr>
          <p:cNvPr id="29" name="Curved Up Arrow 28"/>
          <p:cNvSpPr/>
          <p:nvPr/>
        </p:nvSpPr>
        <p:spPr>
          <a:xfrm rot="9118355">
            <a:off x="4768998" y="2212359"/>
            <a:ext cx="1876230" cy="49296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15074" y="2071678"/>
            <a:ext cx="1419490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public 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6379" y="5500702"/>
            <a:ext cx="1387765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 err="1"/>
              <a:t>ciphertext</a:t>
            </a:r>
            <a:endParaRPr lang="en-US" sz="20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1785918" y="857232"/>
            <a:ext cx="1961439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key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5785" y="6243600"/>
            <a:ext cx="1620825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decryption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6177" y="1142984"/>
            <a:ext cx="149357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encryption</a:t>
            </a:r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60836" y="44432"/>
            <a:ext cx="8782722" cy="855677"/>
          </a:xfrm>
        </p:spPr>
        <p:txBody>
          <a:bodyPr>
            <a:normAutofit/>
          </a:bodyPr>
          <a:lstStyle/>
          <a:p>
            <a:r>
              <a:rPr lang="en-US" sz="4000" dirty="0" err="1"/>
              <a:t>ElGamal</a:t>
            </a:r>
            <a:r>
              <a:rPr lang="en-US" sz="4000" dirty="0"/>
              <a:t> encryption</a:t>
            </a:r>
          </a:p>
        </p:txBody>
      </p:sp>
      <p:sp>
        <p:nvSpPr>
          <p:cNvPr id="80938" name="Line 42"/>
          <p:cNvSpPr>
            <a:spLocks noChangeShapeType="1"/>
          </p:cNvSpPr>
          <p:nvPr/>
        </p:nvSpPr>
        <p:spPr bwMode="auto">
          <a:xfrm flipH="1" flipV="1">
            <a:off x="2947986" y="3990957"/>
            <a:ext cx="2790856" cy="95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pic>
        <p:nvPicPr>
          <p:cNvPr id="80939" name="Picture 43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75374" y="3000364"/>
            <a:ext cx="1401762" cy="1457325"/>
          </a:xfrm>
          <a:prstGeom prst="rect">
            <a:avLst/>
          </a:prstGeom>
          <a:noFill/>
        </p:spPr>
      </p:pic>
      <p:pic>
        <p:nvPicPr>
          <p:cNvPr id="80940" name="Picture 44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85890" y="3000364"/>
            <a:ext cx="1368425" cy="1438275"/>
          </a:xfrm>
          <a:prstGeom prst="rect">
            <a:avLst/>
          </a:prstGeom>
          <a:noFill/>
        </p:spPr>
      </p:pic>
      <p:sp>
        <p:nvSpPr>
          <p:cNvPr id="80941" name="Text Box 45"/>
          <p:cNvSpPr txBox="1">
            <a:spLocks noChangeArrowheads="1"/>
          </p:cNvSpPr>
          <p:nvPr/>
        </p:nvSpPr>
        <p:spPr bwMode="auto">
          <a:xfrm>
            <a:off x="1746253" y="3929058"/>
            <a:ext cx="707373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80942" name="Text Box 46"/>
          <p:cNvSpPr txBox="1">
            <a:spLocks noChangeArrowheads="1"/>
          </p:cNvSpPr>
          <p:nvPr/>
        </p:nvSpPr>
        <p:spPr bwMode="auto">
          <a:xfrm>
            <a:off x="6256374" y="3990964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943" name="Text Box 47"/>
              <p:cNvSpPr txBox="1">
                <a:spLocks noChangeArrowheads="1"/>
              </p:cNvSpPr>
              <p:nvPr/>
            </p:nvSpPr>
            <p:spPr bwMode="auto">
              <a:xfrm>
                <a:off x="882652" y="2833677"/>
                <a:ext cx="1330324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𝒁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𝒒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0943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2652" y="2833677"/>
                <a:ext cx="1330324" cy="45313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44" name="Text Box 48"/>
              <p:cNvSpPr txBox="1">
                <a:spLocks noChangeArrowheads="1"/>
              </p:cNvSpPr>
              <p:nvPr/>
            </p:nvSpPr>
            <p:spPr bwMode="auto">
              <a:xfrm>
                <a:off x="6858016" y="2928934"/>
                <a:ext cx="1294970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← 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𝒁</m:t>
                      </m:r>
                      <m:r>
                        <a:rPr lang="en-GB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𝒒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0944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16" y="2928934"/>
                <a:ext cx="1294970" cy="45313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45" name="Text Box 49"/>
              <p:cNvSpPr txBox="1">
                <a:spLocks noChangeArrowheads="1"/>
              </p:cNvSpPr>
              <p:nvPr/>
            </p:nvSpPr>
            <p:spPr bwMode="auto">
              <a:xfrm>
                <a:off x="3222615" y="3711992"/>
                <a:ext cx="2295538" cy="83099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(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𝒄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)≔</m:t>
                      </m:r>
                    </m:oMath>
                  </m:oMathPara>
                </a14:m>
                <a:endParaRPr lang="en-US" sz="24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ＭＳ Ｐゴシック" pitchFamily="34" charset="-128"/>
                </a:endParaRPr>
              </a:p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dPr>
                        <m:e>
                          <m:r>
                            <a:rPr lang="en-GB" sz="24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𝒈</m:t>
                          </m:r>
                          <m:r>
                            <a:rPr lang="en-GB" sz="2400" b="1" i="1" baseline="30000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𝒚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·</m:t>
                          </m:r>
                          <m:d>
                            <m:dPr>
                              <m:ctrlPr>
                                <a:rPr lang="en-GB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𝒉</m:t>
                              </m:r>
                              <m:r>
                                <a:rPr lang="en-GB" sz="2400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𝟏</m:t>
                              </m:r>
                            </m:e>
                          </m:d>
                          <m:r>
                            <a:rPr lang="en-GB" sz="2400" b="1" i="1" baseline="30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𝒚</m:t>
                          </m:r>
                          <m: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0945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2615" y="3711992"/>
                <a:ext cx="2295538" cy="83099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46" name="Line 50"/>
          <p:cNvSpPr>
            <a:spLocks noChangeShapeType="1"/>
          </p:cNvSpPr>
          <p:nvPr/>
        </p:nvSpPr>
        <p:spPr bwMode="auto">
          <a:xfrm>
            <a:off x="2876548" y="3357554"/>
            <a:ext cx="2786082" cy="457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80948" name="AutoShape 52"/>
          <p:cNvCxnSpPr>
            <a:cxnSpLocks noChangeShapeType="1"/>
          </p:cNvCxnSpPr>
          <p:nvPr/>
        </p:nvCxnSpPr>
        <p:spPr bwMode="auto">
          <a:xfrm flipH="1">
            <a:off x="2224090" y="2043102"/>
            <a:ext cx="1295400" cy="271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80949" name="AutoShape 53"/>
          <p:cNvCxnSpPr>
            <a:cxnSpLocks noChangeShapeType="1"/>
          </p:cNvCxnSpPr>
          <p:nvPr/>
        </p:nvCxnSpPr>
        <p:spPr bwMode="auto">
          <a:xfrm>
            <a:off x="5478499" y="2043102"/>
            <a:ext cx="1141412" cy="804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950" name="Text Box 54"/>
              <p:cNvSpPr txBox="1">
                <a:spLocks noChangeArrowheads="1"/>
              </p:cNvSpPr>
              <p:nvPr/>
            </p:nvSpPr>
            <p:spPr bwMode="auto">
              <a:xfrm>
                <a:off x="3500430" y="3117839"/>
                <a:ext cx="1785950" cy="4603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𝑮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𝒒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</m:oMath>
                  </m:oMathPara>
                </a14:m>
                <a:endParaRPr lang="en-GB" sz="2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80950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0430" y="3117839"/>
                <a:ext cx="1785950" cy="4603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51" name="Text Box 55"/>
              <p:cNvSpPr txBox="1">
                <a:spLocks noChangeArrowheads="1"/>
              </p:cNvSpPr>
              <p:nvPr/>
            </p:nvSpPr>
            <p:spPr bwMode="auto">
              <a:xfrm>
                <a:off x="852489" y="2314564"/>
                <a:ext cx="3130479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𝑮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𝒒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 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←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𝐆𝐞𝐧𝐆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(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𝟏</m:t>
                      </m:r>
                      <m:r>
                        <a:rPr lang="en-GB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𝒏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n-GB" sz="2400" b="1" baseline="-25000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0951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2489" y="2314564"/>
                <a:ext cx="3130479" cy="45313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53" name="Text Box 57"/>
              <p:cNvSpPr txBox="1">
                <a:spLocks noChangeArrowheads="1"/>
              </p:cNvSpPr>
              <p:nvPr/>
            </p:nvSpPr>
            <p:spPr bwMode="auto">
              <a:xfrm>
                <a:off x="663077" y="4966750"/>
                <a:ext cx="2519390" cy="82246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0" hangingPunct="0"/>
                <a:r>
                  <a:rPr lang="en-GB" sz="2400" dirty="0">
                    <a:solidFill>
                      <a:schemeClr val="tx1"/>
                    </a:solidFill>
                    <a:ea typeface="ＭＳ Ｐゴシック" pitchFamily="34" charset="-128"/>
                  </a:rPr>
                  <a:t>output:</a:t>
                </a:r>
                <a:br>
                  <a:rPr lang="en-GB" sz="2400" b="1" i="1" dirty="0">
                    <a:solidFill>
                      <a:schemeClr val="tx1"/>
                    </a:solidFill>
                    <a:ea typeface="ＭＳ Ｐゴシック" pitchFamily="34" charset="-1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’ := 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𝒄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·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</m:ctrlPr>
                            </m:dPr>
                            <m:e>
                              <m:r>
                                <a:rPr lang="en-GB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𝒉</m:t>
                              </m:r>
                              <m:r>
                                <a:rPr lang="en-GB" sz="2400" b="1" i="1" baseline="-250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−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80953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077" y="4966750"/>
                <a:ext cx="2519390" cy="82246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955" name="AutoShape 59"/>
          <p:cNvCxnSpPr>
            <a:cxnSpLocks noChangeShapeType="1"/>
          </p:cNvCxnSpPr>
          <p:nvPr/>
        </p:nvCxnSpPr>
        <p:spPr bwMode="auto">
          <a:xfrm>
            <a:off x="2070102" y="4332472"/>
            <a:ext cx="0" cy="60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947" name="Text Box 51"/>
              <p:cNvSpPr txBox="1">
                <a:spLocks noChangeArrowheads="1"/>
              </p:cNvSpPr>
              <p:nvPr/>
            </p:nvSpPr>
            <p:spPr bwMode="auto">
              <a:xfrm>
                <a:off x="3389941" y="1690437"/>
                <a:ext cx="252451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/>
                  <a:t>security parameter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0947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9941" y="1690437"/>
                <a:ext cx="2524512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680551" y="3571876"/>
                <a:ext cx="1348575" cy="830997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plaintext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551" y="3571876"/>
                <a:ext cx="1348575" cy="83099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23" idx="1"/>
          </p:cNvCxnSpPr>
          <p:nvPr/>
        </p:nvCxnSpPr>
        <p:spPr>
          <a:xfrm flipH="1">
            <a:off x="7208489" y="3987375"/>
            <a:ext cx="472062" cy="13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54"/>
              <p:cNvSpPr txBox="1">
                <a:spLocks noChangeArrowheads="1"/>
              </p:cNvSpPr>
              <p:nvPr/>
            </p:nvSpPr>
            <p:spPr bwMode="auto">
              <a:xfrm>
                <a:off x="857224" y="3357562"/>
                <a:ext cx="1355752" cy="45313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</m:oMath>
                  </m:oMathPara>
                </a14:m>
                <a:endParaRPr lang="en-GB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7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7224" y="3357562"/>
                <a:ext cx="1355752" cy="45313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102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80938" grpId="0" animBg="1"/>
      <p:bldP spid="80945" grpId="0" animBg="1"/>
      <p:bldP spid="80950" grpId="0" animBg="1"/>
      <p:bldP spid="80953" grpId="0" animBg="1"/>
      <p:bldP spid="2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546" y="269271"/>
            <a:ext cx="7814123" cy="739500"/>
          </a:xfrm>
        </p:spPr>
        <p:txBody>
          <a:bodyPr/>
          <a:lstStyle/>
          <a:p>
            <a:r>
              <a:rPr lang="en-US" dirty="0" err="1"/>
              <a:t>ElGamal</a:t>
            </a:r>
            <a:r>
              <a:rPr lang="en-US" dirty="0"/>
              <a:t> encryption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00546" y="2014364"/>
                <a:ext cx="8358246" cy="8309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first runs </a:t>
                </a:r>
                <a:r>
                  <a:rPr lang="en-US" sz="2400" b="1" dirty="0" err="1">
                    <a:solidFill>
                      <a:srgbClr val="FF0000"/>
                    </a:solidFill>
                  </a:rPr>
                  <a:t>GenG</a:t>
                </a:r>
                <a:r>
                  <a:rPr lang="en-US" sz="2400" dirty="0"/>
                  <a:t> to obtain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dirty="0"/>
                  <a:t>.  Then, it chooses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←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𝒁</m:t>
                    </m:r>
                    <m:r>
                      <a:rPr lang="en-GB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𝒒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:=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    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46" y="2014364"/>
                <a:ext cx="8358246" cy="83099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00546" y="1228545"/>
                <a:ext cx="8358246" cy="461665"/>
              </a:xfrm>
              <a:prstGeom prst="rect">
                <a:avLst/>
              </a:prstGeom>
              <a:solidFill>
                <a:schemeClr val="bg1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pl-PL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𝐆𝐞𝐧𝐆</m:t>
                    </m:r>
                  </m:oMath>
                </a14:m>
                <a:r>
                  <a:rPr lang="en-US" sz="2400" dirty="0"/>
                  <a:t> be such that </a:t>
                </a:r>
                <a:r>
                  <a:rPr lang="en-US" sz="2400" b="1" dirty="0"/>
                  <a:t>DDH</a:t>
                </a:r>
                <a:r>
                  <a:rPr lang="en-US" sz="2400" dirty="0"/>
                  <a:t> is hard with respect to</a:t>
                </a:r>
                <a:r>
                  <a:rPr lang="pl-PL" sz="2400" dirty="0"/>
                  <a:t> </a:t>
                </a:r>
                <a14:m>
                  <m:oMath xmlns:m="http://schemas.openxmlformats.org/officeDocument/2006/math">
                    <m:r>
                      <a:rPr lang="pl-PL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𝐆𝐞𝐧𝐆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46" y="1228545"/>
                <a:ext cx="8358246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00546" y="4353498"/>
                <a:ext cx="8358246" cy="1275414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GB" sz="2400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𝒉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𝟏</m:t>
                        </m:r>
                      </m:sub>
                    </m:sSub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), 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𝒎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 := 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𝒉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𝒚</m:t>
                        </m:r>
                      </m:sup>
                    </m:sSubSup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400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GB" sz="2400" b="1" dirty="0">
                    <a:solidFill>
                      <a:srgbClr val="C00000"/>
                    </a:solidFill>
                    <a:ea typeface="ＭＳ Ｐゴシック" pitchFamily="34" charset="-128"/>
                  </a:rPr>
                  <a:t> </a:t>
                </a:r>
                <a:r>
                  <a:rPr lang="en-GB" sz="2400" dirty="0">
                    <a:ea typeface="ＭＳ Ｐゴシック" pitchFamily="34" charset="-128"/>
                  </a:rPr>
                  <a:t>, </a:t>
                </a:r>
              </a:p>
              <a:p>
                <a:pPr algn="r"/>
                <a:r>
                  <a:rPr lang="en-GB" sz="2400" dirty="0">
                    <a:ea typeface="ＭＳ Ｐゴシック" pitchFamily="34" charset="-128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GB" sz="2400" b="1" dirty="0">
                    <a:solidFill>
                      <a:srgbClr val="C00000"/>
                    </a:solidFill>
                    <a:ea typeface="ＭＳ Ｐゴシック" pitchFamily="34" charset="-128"/>
                  </a:rPr>
                  <a:t> </a:t>
                </a:r>
                <a:r>
                  <a:rPr lang="en-GB" sz="2400" dirty="0">
                    <a:ea typeface="ＭＳ Ｐゴシック" pitchFamily="34" charset="-128"/>
                  </a:rPr>
                  <a:t>and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  <m:r>
                      <a:rPr lang="en-GB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 </m:t>
                    </m:r>
                  </m:oMath>
                </a14:m>
                <a:r>
                  <a:rPr lang="en-GB" sz="2400" dirty="0">
                    <a:ea typeface="ＭＳ Ｐゴシック" pitchFamily="34" charset="-128"/>
                  </a:rPr>
                  <a:t>is a random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𝒒</m:t>
                        </m:r>
                      </m:sub>
                    </m:sSub>
                  </m:oMath>
                </a14:m>
                <a:endParaRPr lang="en-GB" sz="2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  <a:p>
                <a:pPr algn="r"/>
                <a:r>
                  <a:rPr lang="en-US" sz="2400" dirty="0"/>
                  <a:t>(note: it is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randomized by definition</a:t>
                </a:r>
                <a:r>
                  <a:rPr lang="en-US" sz="2400" dirty="0"/>
                  <a:t>)</a:t>
                </a:r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46" y="4353498"/>
                <a:ext cx="8358246" cy="12754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0546" y="6027033"/>
                <a:ext cx="8358246" cy="509178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𝑮</m:t>
                              </m:r>
                              <m:r>
                                <a:rPr lang="en-GB" sz="24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,</m:t>
                              </m:r>
                              <m:r>
                                <a:rPr lang="en-GB" sz="24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𝒈</m:t>
                              </m:r>
                              <m:r>
                                <a:rPr lang="en-GB" sz="24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,</m:t>
                              </m:r>
                              <m:r>
                                <a:rPr lang="en-GB" sz="24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𝒒</m:t>
                              </m:r>
                              <m:r>
                                <a:rPr lang="en-GB" sz="24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,</m:t>
                              </m:r>
                              <m:r>
                                <a:rPr lang="en-GB" sz="24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sz="2400" b="1" i="1" baseline="-250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sz="2400" b="1" i="1" baseline="-250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</m:d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:=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Sup>
                        <m:sSub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bSup>
                    </m:oMath>
                  </m:oMathPara>
                </a14:m>
                <a:endParaRPr lang="en-GB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46" y="6027033"/>
                <a:ext cx="8358246" cy="50917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00546" y="3228809"/>
                <a:ext cx="8358246" cy="830997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public key is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GB" sz="2400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𝒉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𝟏</m:t>
                        </m:r>
                      </m:sub>
                    </m:sSub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GB" sz="2400" dirty="0">
                    <a:ea typeface="ＭＳ Ｐゴシック" pitchFamily="34" charset="-128"/>
                  </a:rPr>
                  <a:t>.</a:t>
                </a:r>
                <a:endParaRPr lang="en-US" sz="2400" dirty="0"/>
              </a:p>
              <a:p>
                <a:r>
                  <a:rPr lang="en-US" sz="2400" dirty="0">
                    <a:ea typeface="ＭＳ Ｐゴシック" pitchFamily="34" charset="-128"/>
                  </a:rPr>
                  <a:t>The private key is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  <a:endParaRPr lang="en-GB" sz="2400" dirty="0"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46" y="3228809"/>
                <a:ext cx="8358246" cy="83099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80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1272589"/>
            <a:ext cx="9144000" cy="78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3415729"/>
            <a:ext cx="9144000" cy="32147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2241493"/>
            <a:ext cx="9144000" cy="8572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955" y="176350"/>
            <a:ext cx="8229600" cy="796908"/>
          </a:xfrm>
        </p:spPr>
        <p:txBody>
          <a:bodyPr>
            <a:normAutofit/>
          </a:bodyPr>
          <a:lstStyle/>
          <a:p>
            <a:r>
              <a:rPr lang="en-US" dirty="0"/>
              <a:t>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79089" y="3473896"/>
                <a:ext cx="6636047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d>
                        <m:dPr>
                          <m:ctrlP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3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1" i="1" dirty="0" err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𝑮</m:t>
                              </m:r>
                              <m:r>
                                <a:rPr lang="en-GB" sz="3200" b="1" i="1" dirty="0" err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,</m:t>
                              </m:r>
                              <m:r>
                                <a:rPr lang="en-GB" sz="3200" b="1" i="1" dirty="0" err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𝒈</m:t>
                              </m:r>
                              <m:r>
                                <a:rPr lang="en-GB" sz="3200" b="1" i="1" dirty="0" err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,</m:t>
                              </m:r>
                              <m:r>
                                <a:rPr lang="en-GB" sz="3200" b="1" i="1" dirty="0" err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𝒒</m:t>
                              </m:r>
                              <m:r>
                                <a:rPr lang="en-GB" sz="3200" b="1" i="1" dirty="0" err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,</m:t>
                              </m:r>
                              <m:r>
                                <a:rPr lang="en-GB" sz="3200" b="1" i="1" dirty="0" err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3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sz="3200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3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sz="3200" b="1" i="1" baseline="-25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</m:d>
                      <m:r>
                        <a:rPr lang="en-US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32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Sup>
                        <m:sSubSupPr>
                          <m:ctrlP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bSup>
                    </m:oMath>
                  </m:oMathPara>
                </a14:m>
                <a:endParaRPr lang="en-GB" sz="32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89" y="3473896"/>
                <a:ext cx="6636047" cy="64819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445500" y="2367371"/>
                <a:ext cx="685860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3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𝑮</m:t>
                      </m:r>
                      <m:r>
                        <a:rPr lang="en-GB" sz="3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3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3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3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𝒒</m:t>
                      </m:r>
                      <m:r>
                        <a:rPr lang="en-GB" sz="3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3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), 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)=(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GB" sz="3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3200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3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3200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 </m:t>
                      </m:r>
                      <m:r>
                        <a:rPr lang="en-GB" sz="3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500" y="2367371"/>
                <a:ext cx="6858609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020437" y="4085610"/>
                <a:ext cx="379264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 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· </m:t>
                      </m:r>
                      <m:r>
                        <a:rPr lang="en-GB" sz="3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𝒉</m:t>
                      </m:r>
                      <m:r>
                        <a:rPr lang="en-GB" sz="3200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  <m:r>
                        <a:rPr lang="en-GB" sz="32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· </m:t>
                      </m:r>
                      <m:sSup>
                        <m:sSup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</m:ctrlPr>
                            </m:dPr>
                            <m:e>
                              <m:r>
                                <a:rPr lang="en-GB" sz="32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𝒈</m:t>
                              </m:r>
                              <m:r>
                                <a:rPr lang="en-GB" sz="3200" b="1" i="1" baseline="30000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−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437" y="4085610"/>
                <a:ext cx="3792640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020437" y="4741823"/>
                <a:ext cx="406675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 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· (</m:t>
                      </m:r>
                      <m:r>
                        <a:rPr lang="en-GB" sz="3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3200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  <m:r>
                        <a:rPr lang="en-GB" sz="32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𝒚</m:t>
                      </m:r>
                      <m:sSup>
                        <m:sSupPr>
                          <m:ctrlP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sSupPr>
                        <m:e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⋅</m:t>
                          </m:r>
                          <m:d>
                            <m:dPr>
                              <m:ctrlPr>
                                <a:rPr lang="en-GB" sz="3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</m:ctrlPr>
                            </m:dPr>
                            <m:e>
                              <m:r>
                                <a:rPr lang="en-GB" sz="3200" b="1" i="1" dirty="0" err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𝒈</m:t>
                              </m:r>
                              <m:r>
                                <a:rPr lang="en-GB" sz="3200" b="1" i="1" baseline="30000" dirty="0" err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−</m:t>
                          </m:r>
                          <m: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437" y="4741823"/>
                <a:ext cx="4066754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20437" y="5384765"/>
                <a:ext cx="35530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 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· </m:t>
                      </m:r>
                      <m:r>
                        <a:rPr lang="en-GB" sz="3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3200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𝒙𝒚</m:t>
                      </m:r>
                      <m:r>
                        <a:rPr lang="en-GB" sz="32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·</m:t>
                      </m:r>
                      <m:sSup>
                        <m:sSup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sSupPr>
                        <m:e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𝒈</m:t>
                          </m:r>
                        </m:e>
                        <m:sup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−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𝒚𝒙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437" y="5384765"/>
                <a:ext cx="3553024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20437" y="6027707"/>
                <a:ext cx="116429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 </m:t>
                      </m:r>
                      <m:r>
                        <a:rPr lang="en-GB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437" y="6027707"/>
                <a:ext cx="1164293" cy="5847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667367" y="1342332"/>
                <a:ext cx="166904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3600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367" y="1342332"/>
                <a:ext cx="1669047" cy="64633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96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4996" name="Rectangle 4"/>
              <p:cNvSpPr>
                <a:spLocks noChangeArrowheads="1"/>
              </p:cNvSpPr>
              <p:nvPr/>
            </p:nvSpPr>
            <p:spPr bwMode="auto">
              <a:xfrm>
                <a:off x="0" y="3962400"/>
                <a:ext cx="9144000" cy="2514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indent="398463">
                  <a:lnSpc>
                    <a:spcPct val="80000"/>
                  </a:lnSpc>
                  <a:buFontTx/>
                  <a:buNone/>
                </a:pPr>
                <a:r>
                  <a:rPr lang="en-US" sz="2800" dirty="0"/>
                  <a:t>How to map an integer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𝟏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,…,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𝒒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}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cs typeface="Arial" pitchFamily="34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2800" dirty="0">
                    <a:cs typeface="Arial" pitchFamily="34" charset="0"/>
                  </a:rPr>
                  <a:t>?</a:t>
                </a:r>
              </a:p>
              <a:p>
                <a:pPr indent="398463">
                  <a:lnSpc>
                    <a:spcPct val="80000"/>
                  </a:lnSpc>
                  <a:buFontTx/>
                  <a:buNone/>
                </a:pPr>
                <a:endParaRPr lang="en-US" sz="2800" dirty="0">
                  <a:cs typeface="Arial" pitchFamily="34" charset="0"/>
                </a:endParaRPr>
              </a:p>
              <a:p>
                <a:pPr indent="398463">
                  <a:lnSpc>
                    <a:spcPct val="80000"/>
                  </a:lnSpc>
                  <a:buFontTx/>
                  <a:buNone/>
                </a:pPr>
                <a:r>
                  <a:rPr lang="en-US" sz="2800" dirty="0">
                    <a:cs typeface="Arial" pitchFamily="34" charset="0"/>
                  </a:rPr>
                  <a:t>Just square: </a:t>
                </a:r>
              </a:p>
              <a:p>
                <a:pPr indent="398463" algn="ctr"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𝒇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r>
                      <a:rPr lang="en-US" sz="28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𝒊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) = 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𝒊</m:t>
                    </m:r>
                    <m:r>
                      <a:rPr lang="en-US" sz="28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𝟐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US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𝐦𝐨𝐝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𝒑</m:t>
                    </m:r>
                  </m:oMath>
                </a14:m>
                <a:r>
                  <a:rPr lang="en-US" sz="2800" b="1" dirty="0">
                    <a:solidFill>
                      <a:srgbClr val="990000"/>
                    </a:solidFill>
                    <a:cs typeface="Arial" pitchFamily="34" charset="0"/>
                  </a:rPr>
                  <a:t>.</a:t>
                </a:r>
              </a:p>
              <a:p>
                <a:pPr indent="398463">
                  <a:lnSpc>
                    <a:spcPct val="80000"/>
                  </a:lnSpc>
                  <a:buFontTx/>
                  <a:buNone/>
                </a:pPr>
                <a:endParaRPr lang="en-US" sz="2800" b="1" dirty="0">
                  <a:solidFill>
                    <a:srgbClr val="990000"/>
                  </a:solidFill>
                  <a:cs typeface="Arial" pitchFamily="34" charset="0"/>
                </a:endParaRPr>
              </a:p>
              <a:p>
                <a:pPr indent="398463">
                  <a:lnSpc>
                    <a:spcPct val="80000"/>
                  </a:lnSpc>
                  <a:buFontTx/>
                  <a:buNone/>
                </a:pPr>
                <a:r>
                  <a:rPr lang="en-US" sz="2800" dirty="0">
                    <a:cs typeface="Arial" pitchFamily="34" charset="0"/>
                  </a:rPr>
                  <a:t>Why is it </a:t>
                </a:r>
                <a:r>
                  <a:rPr lang="en-US" sz="2800" b="1" dirty="0">
                    <a:cs typeface="Arial" pitchFamily="34" charset="0"/>
                  </a:rPr>
                  <a:t>one-to-one</a:t>
                </a:r>
                <a:r>
                  <a:rPr lang="en-US" sz="2800" dirty="0">
                    <a:cs typeface="Arial" pitchFamily="34" charset="0"/>
                  </a:rPr>
                  <a:t>?</a:t>
                </a:r>
                <a:endParaRPr lang="en-US" sz="2800" dirty="0"/>
              </a:p>
            </p:txBody>
          </p:sp>
        </mc:Choice>
        <mc:Fallback xmlns="">
          <p:sp>
            <p:nvSpPr>
              <p:cNvPr id="84996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3962400"/>
                <a:ext cx="9144000" cy="25146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0110" y="146343"/>
            <a:ext cx="8593887" cy="1325563"/>
          </a:xfrm>
        </p:spPr>
        <p:txBody>
          <a:bodyPr>
            <a:normAutofit/>
          </a:bodyPr>
          <a:lstStyle/>
          <a:p>
            <a:r>
              <a:rPr lang="en-US" sz="4000" dirty="0" err="1"/>
              <a:t>ElGamal</a:t>
            </a:r>
            <a:r>
              <a:rPr lang="en-US" sz="4000" dirty="0"/>
              <a:t> – implementation issues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99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199" y="1600200"/>
                <a:ext cx="8524115" cy="2298622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Which group to choose?</a:t>
                </a:r>
              </a:p>
              <a:p>
                <a:pPr marL="0" indent="0"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  <a:p>
                <a:pPr marL="0" indent="0"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E.g.: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400" dirty="0"/>
                  <a:t> is a strong prime, i.e.: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is also prime.</a:t>
                </a:r>
              </a:p>
              <a:p>
                <a:pPr marL="0" indent="0"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Plaintext space is a set of integers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849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199" y="1600200"/>
                <a:ext cx="8524115" cy="2298622"/>
              </a:xfrm>
              <a:blipFill rotWithShape="0">
                <a:blip r:embed="rId4"/>
                <a:stretch>
                  <a:fillRect l="-1073" t="-5305" b="-10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34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67382" y="6356350"/>
            <a:ext cx="2133600" cy="365125"/>
          </a:xfrm>
        </p:spPr>
        <p:txBody>
          <a:bodyPr/>
          <a:lstStyle/>
          <a:p>
            <a:fld id="{086292CB-7F25-4B3D-BDBD-847C4E8F24FC}" type="slidenum">
              <a:rPr lang="it-IT"/>
              <a:pPr/>
              <a:t>101</a:t>
            </a:fld>
            <a:endParaRPr lang="it-IT" dirty="0"/>
          </a:p>
        </p:txBody>
      </p:sp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203773" y="-84667"/>
            <a:ext cx="8860714" cy="1143000"/>
          </a:xfrm>
        </p:spPr>
        <p:txBody>
          <a:bodyPr>
            <a:normAutofit/>
          </a:bodyPr>
          <a:lstStyle/>
          <a:p>
            <a:r>
              <a:rPr lang="en-US" sz="3200" dirty="0"/>
              <a:t>Remember this picture (from</a:t>
            </a:r>
            <a:r>
              <a:rPr lang="pl-PL" sz="3200" dirty="0"/>
              <a:t> </a:t>
            </a:r>
            <a:r>
              <a:rPr lang="pl-PL" sz="3200" dirty="0" err="1"/>
              <a:t>previous</a:t>
            </a:r>
            <a:r>
              <a:rPr lang="pl-PL" sz="3200" dirty="0"/>
              <a:t> </a:t>
            </a:r>
            <a:r>
              <a:rPr lang="pl-PL" sz="3200" dirty="0" err="1"/>
              <a:t>lectures</a:t>
            </a:r>
            <a:r>
              <a:rPr lang="en-US" sz="3200" dirty="0"/>
              <a:t>)?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48836" name="Oval 4"/>
          <p:cNvSpPr>
            <a:spLocks noChangeArrowheads="1"/>
          </p:cNvSpPr>
          <p:nvPr/>
        </p:nvSpPr>
        <p:spPr bwMode="auto">
          <a:xfrm>
            <a:off x="1071538" y="1000108"/>
            <a:ext cx="1873250" cy="5786478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248837" name="Oval 5"/>
          <p:cNvSpPr>
            <a:spLocks noChangeArrowheads="1"/>
          </p:cNvSpPr>
          <p:nvPr/>
        </p:nvSpPr>
        <p:spPr bwMode="auto">
          <a:xfrm>
            <a:off x="3428992" y="2857496"/>
            <a:ext cx="5389572" cy="230505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248844" name="Text Box 12"/>
          <p:cNvSpPr txBox="1">
            <a:spLocks noChangeArrowheads="1"/>
          </p:cNvSpPr>
          <p:nvPr/>
        </p:nvSpPr>
        <p:spPr bwMode="auto">
          <a:xfrm>
            <a:off x="1833464" y="1428736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b="1" i="0" dirty="0">
                <a:solidFill>
                  <a:srgbClr val="FF0000"/>
                </a:solidFill>
                <a:latin typeface="Cambria" panose="02040503050406030204" pitchFamily="18" charset="0"/>
              </a:rPr>
              <a:t>1</a:t>
            </a:r>
            <a:endParaRPr lang="en-US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48845" name="Text Box 13"/>
          <p:cNvSpPr txBox="1">
            <a:spLocks noChangeArrowheads="1"/>
          </p:cNvSpPr>
          <p:nvPr/>
        </p:nvSpPr>
        <p:spPr bwMode="auto">
          <a:xfrm>
            <a:off x="1833464" y="1911901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b="1" i="0" dirty="0">
                <a:solidFill>
                  <a:srgbClr val="FF0000"/>
                </a:solidFill>
                <a:latin typeface="Cambria" panose="02040503050406030204" pitchFamily="18" charset="0"/>
              </a:rPr>
              <a:t>2</a:t>
            </a:r>
            <a:endParaRPr lang="en-US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48846" name="Text Box 14"/>
          <p:cNvSpPr txBox="1">
            <a:spLocks noChangeArrowheads="1"/>
          </p:cNvSpPr>
          <p:nvPr/>
        </p:nvSpPr>
        <p:spPr bwMode="auto">
          <a:xfrm>
            <a:off x="1833464" y="2416726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b="1" i="0" dirty="0">
                <a:solidFill>
                  <a:srgbClr val="FF0000"/>
                </a:solidFill>
                <a:latin typeface="Cambria" panose="02040503050406030204" pitchFamily="18" charset="0"/>
              </a:rPr>
              <a:t>3</a:t>
            </a:r>
            <a:endParaRPr lang="en-US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48847" name="Text Box 15"/>
          <p:cNvSpPr txBox="1">
            <a:spLocks noChangeArrowheads="1"/>
          </p:cNvSpPr>
          <p:nvPr/>
        </p:nvSpPr>
        <p:spPr bwMode="auto">
          <a:xfrm>
            <a:off x="1833464" y="4929198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ambria" panose="02040503050406030204" pitchFamily="18" charset="0"/>
              </a:rPr>
              <a:t>8</a:t>
            </a:r>
            <a:endParaRPr lang="en-US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48848" name="Text Box 16"/>
          <p:cNvSpPr txBox="1">
            <a:spLocks noChangeArrowheads="1"/>
          </p:cNvSpPr>
          <p:nvPr/>
        </p:nvSpPr>
        <p:spPr bwMode="auto">
          <a:xfrm>
            <a:off x="1831804" y="5500702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ambria" panose="02040503050406030204" pitchFamily="18" charset="0"/>
              </a:rPr>
              <a:t>9</a:t>
            </a:r>
            <a:endParaRPr lang="en-US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48849" name="Text Box 17"/>
          <p:cNvSpPr txBox="1">
            <a:spLocks noChangeArrowheads="1"/>
          </p:cNvSpPr>
          <p:nvPr/>
        </p:nvSpPr>
        <p:spPr bwMode="auto">
          <a:xfrm>
            <a:off x="1766682" y="6072206"/>
            <a:ext cx="457177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ambria" panose="02040503050406030204" pitchFamily="18" charset="0"/>
              </a:rPr>
              <a:t>10</a:t>
            </a:r>
            <a:endParaRPr lang="en-US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48850" name="Text Box 18"/>
          <p:cNvSpPr txBox="1">
            <a:spLocks noChangeArrowheads="1"/>
          </p:cNvSpPr>
          <p:nvPr/>
        </p:nvSpPr>
        <p:spPr bwMode="auto">
          <a:xfrm>
            <a:off x="7975472" y="3735371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b="1" i="0" dirty="0">
                <a:solidFill>
                  <a:srgbClr val="FF0000"/>
                </a:solidFill>
                <a:latin typeface="Cambria" panose="02040503050406030204" pitchFamily="18" charset="0"/>
              </a:rPr>
              <a:t>1</a:t>
            </a:r>
            <a:endParaRPr lang="en-US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860" name="Text Box 28"/>
              <p:cNvSpPr txBox="1">
                <a:spLocks noChangeArrowheads="1"/>
              </p:cNvSpPr>
              <p:nvPr/>
            </p:nvSpPr>
            <p:spPr bwMode="auto">
              <a:xfrm>
                <a:off x="272981" y="1245199"/>
                <a:ext cx="914481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l-PL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l-PL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pl-PL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  <m:sup>
                          <m:r>
                            <a:rPr lang="pl-PL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l-PL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4400" b="1" i="0" dirty="0">
                  <a:solidFill>
                    <a:srgbClr val="9933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48860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981" y="1245199"/>
                <a:ext cx="914481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8861" name="Text Box 29"/>
          <p:cNvSpPr txBox="1">
            <a:spLocks noChangeArrowheads="1"/>
          </p:cNvSpPr>
          <p:nvPr/>
        </p:nvSpPr>
        <p:spPr bwMode="auto">
          <a:xfrm>
            <a:off x="6286512" y="2643182"/>
            <a:ext cx="1372933" cy="584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3200" b="1" i="0" dirty="0">
                <a:solidFill>
                  <a:srgbClr val="FF0000"/>
                </a:solidFill>
                <a:latin typeface="Cambria" panose="02040503050406030204" pitchFamily="18" charset="0"/>
              </a:rPr>
              <a:t>QR</a:t>
            </a:r>
            <a:r>
              <a:rPr lang="en-GB" sz="3200" b="1" baseline="-25000" dirty="0">
                <a:solidFill>
                  <a:srgbClr val="FF0000"/>
                </a:solidFill>
                <a:latin typeface="Cambria" panose="02040503050406030204" pitchFamily="18" charset="0"/>
              </a:rPr>
              <a:t>11</a:t>
            </a:r>
            <a:r>
              <a:rPr lang="en-GB" sz="3200" b="1" i="0" dirty="0">
                <a:solidFill>
                  <a:srgbClr val="FF0000"/>
                </a:solidFill>
                <a:latin typeface="Cambria" panose="02040503050406030204" pitchFamily="18" charset="0"/>
              </a:rPr>
              <a:t>:</a:t>
            </a:r>
            <a:endParaRPr lang="en-US" sz="3200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cxnSp>
        <p:nvCxnSpPr>
          <p:cNvPr id="248862" name="AutoShape 30"/>
          <p:cNvCxnSpPr>
            <a:cxnSpLocks noChangeShapeType="1"/>
            <a:stCxn id="248844" idx="3"/>
            <a:endCxn id="248850" idx="1"/>
          </p:cNvCxnSpPr>
          <p:nvPr/>
        </p:nvCxnSpPr>
        <p:spPr bwMode="auto">
          <a:xfrm>
            <a:off x="2154386" y="1613402"/>
            <a:ext cx="5821086" cy="23066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48863" name="AutoShape 31"/>
          <p:cNvCxnSpPr>
            <a:cxnSpLocks noChangeShapeType="1"/>
            <a:stCxn id="248849" idx="3"/>
            <a:endCxn id="248850" idx="1"/>
          </p:cNvCxnSpPr>
          <p:nvPr/>
        </p:nvCxnSpPr>
        <p:spPr bwMode="auto">
          <a:xfrm flipV="1">
            <a:off x="2223859" y="3920037"/>
            <a:ext cx="5751613" cy="23368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48864" name="AutoShape 32"/>
          <p:cNvCxnSpPr>
            <a:cxnSpLocks noChangeShapeType="1"/>
            <a:stCxn id="248845" idx="3"/>
            <a:endCxn id="248851" idx="1"/>
          </p:cNvCxnSpPr>
          <p:nvPr/>
        </p:nvCxnSpPr>
        <p:spPr bwMode="auto">
          <a:xfrm>
            <a:off x="2154386" y="2096567"/>
            <a:ext cx="4813023" cy="18234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48865" name="AutoShape 33"/>
          <p:cNvCxnSpPr>
            <a:cxnSpLocks noChangeShapeType="1"/>
            <a:stCxn id="248848" idx="3"/>
            <a:endCxn id="248851" idx="1"/>
          </p:cNvCxnSpPr>
          <p:nvPr/>
        </p:nvCxnSpPr>
        <p:spPr bwMode="auto">
          <a:xfrm flipV="1">
            <a:off x="2152726" y="3920037"/>
            <a:ext cx="4814683" cy="17653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48866" name="AutoShape 34"/>
          <p:cNvCxnSpPr>
            <a:cxnSpLocks noChangeShapeType="1"/>
            <a:stCxn id="248846" idx="3"/>
            <a:endCxn id="248852" idx="1"/>
          </p:cNvCxnSpPr>
          <p:nvPr/>
        </p:nvCxnSpPr>
        <p:spPr bwMode="auto">
          <a:xfrm>
            <a:off x="2154386" y="2601392"/>
            <a:ext cx="3804961" cy="131864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48867" name="AutoShape 35"/>
          <p:cNvCxnSpPr>
            <a:cxnSpLocks noChangeShapeType="1"/>
            <a:stCxn id="248847" idx="3"/>
            <a:endCxn id="248852" idx="1"/>
          </p:cNvCxnSpPr>
          <p:nvPr/>
        </p:nvCxnSpPr>
        <p:spPr bwMode="auto">
          <a:xfrm flipV="1">
            <a:off x="2154386" y="3920037"/>
            <a:ext cx="3804961" cy="119382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48852" name="Text Box 20"/>
          <p:cNvSpPr txBox="1">
            <a:spLocks noChangeArrowheads="1"/>
          </p:cNvSpPr>
          <p:nvPr/>
        </p:nvSpPr>
        <p:spPr bwMode="auto">
          <a:xfrm>
            <a:off x="5959347" y="3735371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i="0" dirty="0">
                <a:solidFill>
                  <a:srgbClr val="FF0000"/>
                </a:solidFill>
                <a:latin typeface="Cambria" panose="02040503050406030204" pitchFamily="18" charset="0"/>
              </a:rPr>
              <a:t>9</a:t>
            </a:r>
          </a:p>
        </p:txBody>
      </p:sp>
      <p:sp>
        <p:nvSpPr>
          <p:cNvPr id="248851" name="Text Box 19"/>
          <p:cNvSpPr txBox="1">
            <a:spLocks noChangeArrowheads="1"/>
          </p:cNvSpPr>
          <p:nvPr/>
        </p:nvSpPr>
        <p:spPr bwMode="auto">
          <a:xfrm>
            <a:off x="6967409" y="3735371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b="1" i="0" dirty="0">
                <a:solidFill>
                  <a:srgbClr val="FF0000"/>
                </a:solidFill>
                <a:latin typeface="Cambria" panose="02040503050406030204" pitchFamily="18" charset="0"/>
              </a:rPr>
              <a:t>4</a:t>
            </a:r>
            <a:endParaRPr lang="en-US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868" name="Text Box 36"/>
              <p:cNvSpPr txBox="1">
                <a:spLocks noChangeArrowheads="1"/>
              </p:cNvSpPr>
              <p:nvPr/>
            </p:nvSpPr>
            <p:spPr bwMode="auto">
              <a:xfrm>
                <a:off x="2892971" y="1010716"/>
                <a:ext cx="2107051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l-PL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pl-PL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32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3200" b="1" i="0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48868" name="Text 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2971" y="1010716"/>
                <a:ext cx="2107051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1847738" y="2928934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ambria" panose="02040503050406030204" pitchFamily="18" charset="0"/>
              </a:rPr>
              <a:t>4</a:t>
            </a:r>
            <a:endParaRPr lang="en-US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1847738" y="4429132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ambria" panose="02040503050406030204" pitchFamily="18" charset="0"/>
              </a:rPr>
              <a:t>7</a:t>
            </a:r>
            <a:endParaRPr lang="en-US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8" name="Text Box 14"/>
          <p:cNvSpPr txBox="1">
            <a:spLocks noChangeArrowheads="1"/>
          </p:cNvSpPr>
          <p:nvPr/>
        </p:nvSpPr>
        <p:spPr bwMode="auto">
          <a:xfrm>
            <a:off x="1847738" y="3416858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ambria" panose="02040503050406030204" pitchFamily="18" charset="0"/>
              </a:rPr>
              <a:t>5</a:t>
            </a:r>
            <a:endParaRPr lang="en-US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9" name="Text Box 14"/>
          <p:cNvSpPr txBox="1">
            <a:spLocks noChangeArrowheads="1"/>
          </p:cNvSpPr>
          <p:nvPr/>
        </p:nvSpPr>
        <p:spPr bwMode="auto">
          <a:xfrm>
            <a:off x="1847738" y="3929066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ambria" panose="02040503050406030204" pitchFamily="18" charset="0"/>
              </a:rPr>
              <a:t>6</a:t>
            </a:r>
            <a:endParaRPr lang="en-US" b="1" i="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32" name="Text Box 20"/>
          <p:cNvSpPr txBox="1">
            <a:spLocks noChangeArrowheads="1"/>
          </p:cNvSpPr>
          <p:nvPr/>
        </p:nvSpPr>
        <p:spPr bwMode="auto">
          <a:xfrm>
            <a:off x="4991010" y="3714752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i="0" dirty="0">
                <a:solidFill>
                  <a:srgbClr val="FF0000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33" name="Text Box 20"/>
          <p:cNvSpPr txBox="1">
            <a:spLocks noChangeArrowheads="1"/>
          </p:cNvSpPr>
          <p:nvPr/>
        </p:nvSpPr>
        <p:spPr bwMode="auto">
          <a:xfrm>
            <a:off x="4205192" y="3714752"/>
            <a:ext cx="320922" cy="369332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i="0" dirty="0">
                <a:solidFill>
                  <a:srgbClr val="FF0000"/>
                </a:solidFill>
                <a:latin typeface="Cambria" panose="02040503050406030204" pitchFamily="18" charset="0"/>
              </a:rPr>
              <a:t>3</a:t>
            </a:r>
          </a:p>
        </p:txBody>
      </p:sp>
      <p:cxnSp>
        <p:nvCxnSpPr>
          <p:cNvPr id="35" name="Straight Arrow Connector 34"/>
          <p:cNvCxnSpPr>
            <a:stCxn id="25" idx="3"/>
            <a:endCxn id="32" idx="1"/>
          </p:cNvCxnSpPr>
          <p:nvPr/>
        </p:nvCxnSpPr>
        <p:spPr>
          <a:xfrm>
            <a:off x="2168660" y="3113600"/>
            <a:ext cx="2822350" cy="7858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7" idx="3"/>
            <a:endCxn id="32" idx="1"/>
          </p:cNvCxnSpPr>
          <p:nvPr/>
        </p:nvCxnSpPr>
        <p:spPr>
          <a:xfrm flipV="1">
            <a:off x="2168660" y="3899418"/>
            <a:ext cx="2822350" cy="7143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8" idx="3"/>
            <a:endCxn id="33" idx="1"/>
          </p:cNvCxnSpPr>
          <p:nvPr/>
        </p:nvCxnSpPr>
        <p:spPr>
          <a:xfrm>
            <a:off x="2168660" y="3601524"/>
            <a:ext cx="2036532" cy="2978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9" idx="3"/>
            <a:endCxn id="33" idx="1"/>
          </p:cNvCxnSpPr>
          <p:nvPr/>
        </p:nvCxnSpPr>
        <p:spPr>
          <a:xfrm flipV="1">
            <a:off x="2168660" y="3899418"/>
            <a:ext cx="2036532" cy="2143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24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6" grpId="0" animBg="1"/>
      <p:bldP spid="248837" grpId="0" animBg="1"/>
      <p:bldP spid="248844" grpId="0" animBg="1"/>
      <p:bldP spid="248845" grpId="0" animBg="1"/>
      <p:bldP spid="248846" grpId="0" animBg="1"/>
      <p:bldP spid="248847" grpId="0" animBg="1"/>
      <p:bldP spid="248848" grpId="0" animBg="1"/>
      <p:bldP spid="248849" grpId="0" animBg="1"/>
      <p:bldP spid="248850" grpId="0" animBg="1"/>
      <p:bldP spid="248860" grpId="0"/>
      <p:bldP spid="248861" grpId="0" animBg="1"/>
      <p:bldP spid="248852" grpId="0" animBg="1"/>
      <p:bldP spid="248851" grpId="0" animBg="1"/>
      <p:bldP spid="248868" grpId="0"/>
      <p:bldP spid="25" grpId="0" animBg="1"/>
      <p:bldP spid="27" grpId="0" animBg="1"/>
      <p:bldP spid="28" grpId="0" animBg="1"/>
      <p:bldP spid="29" grpId="0" animBg="1"/>
      <p:bldP spid="32" grpId="0" animBg="1"/>
      <p:bldP spid="33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0" y="4114800"/>
            <a:ext cx="9144000" cy="2133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indent="460375">
              <a:lnSpc>
                <a:spcPct val="90000"/>
              </a:lnSpc>
              <a:buFontTx/>
              <a:buNone/>
            </a:pPr>
            <a:r>
              <a:rPr lang="en-US" sz="2800" dirty="0"/>
              <a:t>Is it also efficiently invertible?</a:t>
            </a:r>
          </a:p>
          <a:p>
            <a:pPr indent="460375">
              <a:lnSpc>
                <a:spcPct val="90000"/>
              </a:lnSpc>
              <a:buFontTx/>
              <a:buNone/>
            </a:pPr>
            <a:endParaRPr lang="en-US" sz="2800" dirty="0"/>
          </a:p>
          <a:p>
            <a:pPr indent="460375" algn="r">
              <a:lnSpc>
                <a:spcPct val="90000"/>
              </a:lnSpc>
              <a:buFontTx/>
              <a:buNone/>
            </a:pPr>
            <a:r>
              <a:rPr lang="en-US" sz="2800" b="1" dirty="0">
                <a:solidFill>
                  <a:srgbClr val="0070C0"/>
                </a:solidFill>
              </a:rPr>
              <a:t>Yes</a:t>
            </a:r>
            <a:r>
              <a:rPr lang="en-US" sz="2800" dirty="0"/>
              <a:t> (see Chapter 6)</a:t>
            </a:r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mapping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6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1994660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dirty="0"/>
                  <a:t>So</a:t>
                </a: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𝒇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(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𝒊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) =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𝒊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𝟐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</m:t>
                      </m:r>
                      <m:r>
                        <a:rPr lang="en-US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𝐦𝐨𝐝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:endParaRPr lang="en-US" b="1" dirty="0">
                  <a:solidFill>
                    <a:srgbClr val="990000"/>
                  </a:solidFill>
                  <a:cs typeface="Arial" pitchFamily="34" charset="0"/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dirty="0"/>
                  <a:t>is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b="1" dirty="0">
                    <a:solidFill>
                      <a:srgbClr val="0070C0"/>
                    </a:solidFill>
                  </a:rPr>
                  <a:t>one-to-one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dirty="0"/>
                  <a:t>(on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).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80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1994660"/>
              </a:xfrm>
              <a:blipFill rotWithShape="0">
                <a:blip r:embed="rId3"/>
                <a:stretch>
                  <a:fillRect l="-1546" t="-5183" b="-243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62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CCA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560247" y="3368346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43648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81" y="365127"/>
            <a:ext cx="8421559" cy="1108074"/>
          </a:xfrm>
        </p:spPr>
        <p:txBody>
          <a:bodyPr>
            <a:normAutofit/>
          </a:bodyPr>
          <a:lstStyle/>
          <a:p>
            <a:r>
              <a:rPr lang="en-US" sz="4000" dirty="0" err="1"/>
              <a:t>ElGamal</a:t>
            </a:r>
            <a:r>
              <a:rPr lang="en-US" sz="4000" dirty="0"/>
              <a:t> has an interesting property</a:t>
            </a:r>
            <a:endParaRPr lang="pl-PL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681" y="1705935"/>
            <a:ext cx="8045639" cy="11614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homomorphism with respect to multiplication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A “product of two </a:t>
            </a:r>
            <a:r>
              <a:rPr lang="en-US" dirty="0" err="1"/>
              <a:t>ciphertexts</a:t>
            </a:r>
            <a:r>
              <a:rPr lang="en-US" dirty="0"/>
              <a:t>” decrypts to  a product of their corresponding messages.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74651" y="3163858"/>
                <a:ext cx="2964786" cy="8971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51" y="3163858"/>
                <a:ext cx="2964786" cy="897169"/>
              </a:xfrm>
              <a:prstGeom prst="rect">
                <a:avLst/>
              </a:prstGeom>
              <a:blipFill rotWithShape="0">
                <a:blip r:embed="rId2"/>
                <a:stretch>
                  <a:fillRect b="-680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92933" y="3381338"/>
                <a:ext cx="16973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933" y="3381338"/>
                <a:ext cx="1697324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578492" y="5648320"/>
                <a:ext cx="11262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492" y="5648320"/>
                <a:ext cx="1126206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08091" y="5648322"/>
                <a:ext cx="10166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091" y="5648322"/>
                <a:ext cx="1016625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Arrow 9"/>
          <p:cNvSpPr/>
          <p:nvPr/>
        </p:nvSpPr>
        <p:spPr>
          <a:xfrm>
            <a:off x="4124852" y="3199798"/>
            <a:ext cx="2057400" cy="82474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multiply</a:t>
            </a:r>
            <a:endParaRPr lang="pl-PL" dirty="0"/>
          </a:p>
        </p:txBody>
      </p:sp>
      <p:sp>
        <p:nvSpPr>
          <p:cNvPr id="11" name="Right Arrow 10"/>
          <p:cNvSpPr/>
          <p:nvPr/>
        </p:nvSpPr>
        <p:spPr>
          <a:xfrm>
            <a:off x="3204034" y="5466780"/>
            <a:ext cx="3119120" cy="82474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multiply</a:t>
            </a:r>
            <a:endParaRPr lang="pl-PL" dirty="0"/>
          </a:p>
        </p:txBody>
      </p:sp>
      <p:sp>
        <p:nvSpPr>
          <p:cNvPr id="12" name="Right Arrow 11"/>
          <p:cNvSpPr/>
          <p:nvPr/>
        </p:nvSpPr>
        <p:spPr>
          <a:xfrm rot="5400000">
            <a:off x="6339382" y="4378091"/>
            <a:ext cx="1531839" cy="82474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decrypt</a:t>
            </a:r>
            <a:endParaRPr lang="pl-PL" dirty="0"/>
          </a:p>
        </p:txBody>
      </p:sp>
      <p:sp>
        <p:nvSpPr>
          <p:cNvPr id="13" name="Right Arrow 12"/>
          <p:cNvSpPr/>
          <p:nvPr/>
        </p:nvSpPr>
        <p:spPr>
          <a:xfrm rot="5400000">
            <a:off x="1746423" y="4427152"/>
            <a:ext cx="1531839" cy="82474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decrypt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7398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694" y="164643"/>
            <a:ext cx="7886700" cy="1123314"/>
          </a:xfrm>
        </p:spPr>
        <p:txBody>
          <a:bodyPr/>
          <a:lstStyle/>
          <a:p>
            <a:r>
              <a:rPr lang="en-US" dirty="0"/>
              <a:t>Why?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9090" y="1431007"/>
                <a:ext cx="8789670" cy="359473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public key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𝒉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0070C0"/>
                    </a:solidFill>
                    <a:ea typeface="ＭＳ Ｐゴシック" pitchFamily="34" charset="-128"/>
                  </a:rPr>
                  <a:t>private key</a:t>
                </a:r>
                <a:r>
                  <a:rPr lang="en-US" dirty="0">
                    <a:ea typeface="ＭＳ Ｐゴシック" pitchFamily="34" charset="-128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GB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𝑮</m:t>
                        </m:r>
                        <m:r>
                          <a:rPr lang="en-GB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r>
                          <a:rPr lang="en-GB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𝒈</m:t>
                        </m:r>
                        <m:r>
                          <a:rPr lang="en-GB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r>
                          <a:rPr lang="en-GB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𝒒</m:t>
                        </m:r>
                        <m:r>
                          <a:rPr lang="en-GB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r>
                          <a:rPr lang="en-GB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𝒙</m:t>
                        </m:r>
                      </m:e>
                    </m:d>
                  </m:oMath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𝒉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),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𝒎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 :=(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𝒉</m:t>
                    </m:r>
                    <m:r>
                      <a:rPr lang="en-GB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GB" dirty="0">
                    <a:ea typeface="ＭＳ Ｐゴシック" pitchFamily="34" charset="-128"/>
                  </a:rPr>
                  <a:t>, where </a:t>
                </a: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←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𝒁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𝒒</m:t>
                        </m:r>
                      </m:sub>
                    </m:sSub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 </m:t>
                    </m:r>
                  </m:oMath>
                </a14:m>
                <a:endParaRPr lang="en-GB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𝒉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),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′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 :=(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𝒉</m:t>
                    </m:r>
                    <m:r>
                      <a:rPr lang="en-GB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′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′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GB" dirty="0">
                    <a:ea typeface="ＭＳ Ｐゴシック" pitchFamily="34" charset="-128"/>
                  </a:rPr>
                  <a:t>,  where </a:t>
                </a: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′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←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𝒁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𝒒</m:t>
                        </m:r>
                      </m:sub>
                    </m:sSub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 </m:t>
                    </m:r>
                  </m:oMath>
                </a14:m>
                <a:endParaRPr lang="en-GB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  <a:p>
                <a:pPr marL="0" indent="0">
                  <a:buNone/>
                </a:pPr>
                <a:endParaRPr lang="en-GB" dirty="0">
                  <a:ea typeface="ＭＳ Ｐゴシック" pitchFamily="34" charset="-128"/>
                </a:endParaRPr>
              </a:p>
              <a:p>
                <a:pPr marL="0" indent="0">
                  <a:buNone/>
                </a:pPr>
                <a:r>
                  <a:rPr lang="en-GB" dirty="0">
                    <a:ea typeface="ＭＳ Ｐゴシック" pitchFamily="34" charset="-128"/>
                  </a:rPr>
                  <a:t>product of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dirty="0">
                    <a:ea typeface="ＭＳ Ｐゴシック" pitchFamily="34" charset="-128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GB" dirty="0">
                    <a:ea typeface="ＭＳ Ｐゴシック" pitchFamily="34" charset="-128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p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</m:s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p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</m:oMath>
                  </m:oMathPara>
                </a14:m>
                <a:endParaRPr lang="en-GB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9090" y="1431007"/>
                <a:ext cx="8789670" cy="3594735"/>
              </a:xfrm>
              <a:blipFill>
                <a:blip r:embed="rId2"/>
                <a:stretch>
                  <a:fillRect l="-1153" t="-3521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ular Callout 4"/>
              <p:cNvSpPr/>
              <p:nvPr/>
            </p:nvSpPr>
            <p:spPr>
              <a:xfrm>
                <a:off x="3100704" y="5311843"/>
                <a:ext cx="4006215" cy="1122680"/>
              </a:xfrm>
              <a:prstGeom prst="wedgeRectCallout">
                <a:avLst>
                  <a:gd name="adj1" fmla="val -16395"/>
                  <a:gd name="adj2" fmla="val -7505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this is an encryption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with randomness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ular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704" y="5311843"/>
                <a:ext cx="4006215" cy="1122680"/>
              </a:xfrm>
              <a:prstGeom prst="wedgeRectCallout">
                <a:avLst>
                  <a:gd name="adj1" fmla="val -16395"/>
                  <a:gd name="adj2" fmla="val -75057"/>
                </a:avLst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10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2440"/>
          </a:xfrm>
        </p:spPr>
        <p:txBody>
          <a:bodyPr/>
          <a:lstStyle/>
          <a:p>
            <a:r>
              <a:rPr lang="en-US" dirty="0"/>
              <a:t>Homomorphism – good or bad?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4884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Sometimes homomorphism is a security weakness (think of the </a:t>
            </a:r>
            <a:r>
              <a:rPr lang="en-US" b="1" dirty="0">
                <a:solidFill>
                  <a:srgbClr val="FF0000"/>
                </a:solidFill>
              </a:rPr>
              <a:t>CCA security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On the other hand</a:t>
            </a:r>
            <a:r>
              <a:rPr lang="en-US" dirty="0"/>
              <a:t>: it can also be a plus.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One example</a:t>
            </a:r>
            <a:r>
              <a:rPr lang="en-US" dirty="0"/>
              <a:t>: cloud computing</a:t>
            </a:r>
            <a:endParaRPr lang="pl-PL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344" y="4805464"/>
            <a:ext cx="2337247" cy="163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2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177" y="125178"/>
            <a:ext cx="8709904" cy="1087538"/>
          </a:xfrm>
        </p:spPr>
        <p:txBody>
          <a:bodyPr/>
          <a:lstStyle/>
          <a:p>
            <a:r>
              <a:rPr lang="en-US" dirty="0"/>
              <a:t>Example: outsourcing computation</a:t>
            </a:r>
            <a:endParaRPr lang="pl-PL" dirty="0"/>
          </a:p>
        </p:txBody>
      </p:sp>
      <p:pic>
        <p:nvPicPr>
          <p:cNvPr id="4" name="Picture 44" descr="MCj0415808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6833" y="3726712"/>
            <a:ext cx="1949252" cy="2048750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174" y="3765920"/>
            <a:ext cx="2664622" cy="18631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ular Callout 5"/>
              <p:cNvSpPr/>
              <p:nvPr/>
            </p:nvSpPr>
            <p:spPr>
              <a:xfrm>
                <a:off x="422264" y="1212716"/>
                <a:ext cx="3942944" cy="1740390"/>
              </a:xfrm>
              <a:prstGeom prst="wedgeRectCallout">
                <a:avLst>
                  <a:gd name="adj1" fmla="val 16104"/>
                  <a:gd name="adj2" fmla="val 9575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has a large set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400" dirty="0"/>
                  <a:t>and wants to learn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⋅⋯⋅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ular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64" y="1212716"/>
                <a:ext cx="3942944" cy="1740390"/>
              </a:xfrm>
              <a:prstGeom prst="wedgeRectCallout">
                <a:avLst>
                  <a:gd name="adj1" fmla="val 16104"/>
                  <a:gd name="adj2" fmla="val 95757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ight Arrow 6"/>
              <p:cNvSpPr/>
              <p:nvPr/>
            </p:nvSpPr>
            <p:spPr>
              <a:xfrm>
                <a:off x="3575239" y="3495896"/>
                <a:ext cx="2232762" cy="1271081"/>
              </a:xfrm>
              <a:prstGeom prst="rightArrow">
                <a:avLst>
                  <a:gd name="adj1" fmla="val 71429"/>
                  <a:gd name="adj2" fmla="val 50000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7" name="Right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239" y="3495896"/>
                <a:ext cx="2232762" cy="1271081"/>
              </a:xfrm>
              <a:prstGeom prst="rightArrow">
                <a:avLst>
                  <a:gd name="adj1" fmla="val 71429"/>
                  <a:gd name="adj2" fmla="val 50000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9533" y="3765920"/>
                <a:ext cx="2461505" cy="864083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to</a:t>
                </a:r>
                <a:r>
                  <a:rPr lang="en-US" sz="2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: </a:t>
                </a: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168275" indent="-1682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33" y="3765920"/>
                <a:ext cx="2461505" cy="864083"/>
              </a:xfrm>
              <a:prstGeom prst="rect">
                <a:avLst/>
              </a:prstGeom>
              <a:blipFill rotWithShape="0">
                <a:blip r:embed="rId6"/>
                <a:stretch>
                  <a:fillRect l="-2906" t="-2649" b="-264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ular Callout 9"/>
              <p:cNvSpPr/>
              <p:nvPr/>
            </p:nvSpPr>
            <p:spPr>
              <a:xfrm>
                <a:off x="5382926" y="1212716"/>
                <a:ext cx="3521411" cy="1740390"/>
              </a:xfrm>
              <a:prstGeom prst="wedgeRectCallout">
                <a:avLst>
                  <a:gd name="adj1" fmla="val -100575"/>
                  <a:gd name="adj2" fmla="val 100172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indent="168275"/>
                <a:r>
                  <a:rPr lang="en-US" sz="2400" dirty="0"/>
                  <a:t>generated a key pair </a:t>
                </a:r>
              </a:p>
              <a:p>
                <a:pPr marL="1682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2400" b="1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𝐐𝐑</m:t>
                              </m:r>
                            </m:e>
                            <m:sub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</a:rPr>
                                <m:t>𝒑</m:t>
                              </m:r>
                            </m:sub>
                          </m:sSub>
                          <m:r>
                            <a:rPr lang="en-GB" sz="24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,</m:t>
                          </m:r>
                          <m:r>
                            <a:rPr lang="en-GB" sz="24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𝒈</m:t>
                          </m:r>
                          <m:r>
                            <a:rPr lang="en-GB" sz="24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,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𝒒</m:t>
                          </m:r>
                          <m:r>
                            <a:rPr lang="en-GB" sz="24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,</m:t>
                          </m:r>
                          <m:r>
                            <a:rPr lang="en-GB" sz="24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𝒉</m:t>
                          </m:r>
                        </m:e>
                      </m:d>
                    </m:oMath>
                  </m:oMathPara>
                </a14:m>
                <a:endParaRPr lang="en-US" sz="24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ＭＳ Ｐゴシック" pitchFamily="34" charset="-128"/>
                </a:endParaRPr>
              </a:p>
              <a:p>
                <a:pPr marL="1682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𝒔𝒌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=(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𝐐</m:t>
                      </m:r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sSubPr>
                        <m:e>
                          <m:r>
                            <a:rPr lang="en-US" sz="24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𝐑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𝒑</m:t>
                          </m:r>
                        </m:sub>
                      </m:sSub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𝒈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𝒒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</m:t>
                      </m:r>
                      <m:r>
                        <a:rPr lang="en-GB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𝒙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10" name="Rectangular Callou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926" y="1212716"/>
                <a:ext cx="3521411" cy="1740390"/>
              </a:xfrm>
              <a:prstGeom prst="wedgeRectCallout">
                <a:avLst>
                  <a:gd name="adj1" fmla="val -100575"/>
                  <a:gd name="adj2" fmla="val 100172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Left Arrow 10"/>
              <p:cNvSpPr/>
              <p:nvPr/>
            </p:nvSpPr>
            <p:spPr>
              <a:xfrm>
                <a:off x="3407047" y="4670419"/>
                <a:ext cx="2302498" cy="1321211"/>
              </a:xfrm>
              <a:prstGeom prst="leftArrow">
                <a:avLst>
                  <a:gd name="adj1" fmla="val 57854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Left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047" y="4670419"/>
                <a:ext cx="2302498" cy="1321211"/>
              </a:xfrm>
              <a:prstGeom prst="leftArrow">
                <a:avLst>
                  <a:gd name="adj1" fmla="val 57854"/>
                  <a:gd name="adj2" fmla="val 50000"/>
                </a:avLst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832391" y="4351478"/>
                <a:ext cx="3164008" cy="830997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computes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⋅⋯⋅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391" y="4351478"/>
                <a:ext cx="3164008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2273" t="-2759" b="-344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39543" y="4872170"/>
                <a:ext cx="2431916" cy="138456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2400" dirty="0"/>
                  <a:t>computes the result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43" y="4872170"/>
                <a:ext cx="2431916" cy="1384569"/>
              </a:xfrm>
              <a:prstGeom prst="rect">
                <a:avLst/>
              </a:prstGeom>
              <a:blipFill rotWithShape="0">
                <a:blip r:embed="rId10"/>
                <a:stretch>
                  <a:fillRect l="-269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89388" y="6211055"/>
                <a:ext cx="57184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</a:rPr>
                  <a:t>Observe</a:t>
                </a:r>
                <a:r>
                  <a:rPr lang="en-US" sz="2400" dirty="0"/>
                  <a:t>: the server doesn’t learn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/>
                  <a:t>‘s!</a:t>
                </a:r>
                <a:endParaRPr lang="pl-PL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388" y="6211055"/>
                <a:ext cx="5718425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706" t="-10526" r="-640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83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114" y="190807"/>
            <a:ext cx="7886700" cy="452014"/>
          </a:xfrm>
        </p:spPr>
        <p:txBody>
          <a:bodyPr>
            <a:normAutofit fontScale="90000"/>
          </a:bodyPr>
          <a:lstStyle/>
          <a:p>
            <a:r>
              <a:rPr lang="en-US" dirty="0"/>
              <a:t>This can be generalized!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048" y="800058"/>
            <a:ext cx="8356898" cy="8731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example on the previous slide was a bit artificial. But think about the following.</a:t>
            </a:r>
            <a:endParaRPr lang="pl-PL" dirty="0"/>
          </a:p>
        </p:txBody>
      </p:sp>
      <p:pic>
        <p:nvPicPr>
          <p:cNvPr id="5" name="Picture 44" descr="MCj0415808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2041" y="3428395"/>
            <a:ext cx="1949252" cy="2048750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382" y="3467603"/>
            <a:ext cx="2664622" cy="18631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ular Callout 6"/>
              <p:cNvSpPr/>
              <p:nvPr/>
            </p:nvSpPr>
            <p:spPr>
              <a:xfrm>
                <a:off x="246255" y="1918005"/>
                <a:ext cx="6990214" cy="834954"/>
              </a:xfrm>
              <a:prstGeom prst="wedgeRectCallout">
                <a:avLst>
                  <a:gd name="adj1" fmla="val -13862"/>
                  <a:gd name="adj2" fmla="val 112068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has some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400" dirty="0"/>
                  <a:t>and wants to learn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for some function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endParaRPr lang="pl-PL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ular Callou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55" y="1918005"/>
                <a:ext cx="6990214" cy="834954"/>
              </a:xfrm>
              <a:prstGeom prst="wedgeRectCallout">
                <a:avLst>
                  <a:gd name="adj1" fmla="val -13862"/>
                  <a:gd name="adj2" fmla="val 112068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ight Arrow 7"/>
              <p:cNvSpPr/>
              <p:nvPr/>
            </p:nvSpPr>
            <p:spPr>
              <a:xfrm>
                <a:off x="3540447" y="3197579"/>
                <a:ext cx="2232762" cy="1271081"/>
              </a:xfrm>
              <a:prstGeom prst="rightArrow">
                <a:avLst>
                  <a:gd name="adj1" fmla="val 71429"/>
                  <a:gd name="adj2" fmla="val 50000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8" name="Right Arrow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447" y="3197579"/>
                <a:ext cx="2232762" cy="1271081"/>
              </a:xfrm>
              <a:prstGeom prst="rightArrow">
                <a:avLst>
                  <a:gd name="adj1" fmla="val 71429"/>
                  <a:gd name="adj2" fmla="val 50000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14741" y="3467603"/>
                <a:ext cx="2461505" cy="864083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to</a:t>
                </a:r>
                <a:r>
                  <a:rPr lang="en-US" sz="2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: </a:t>
                </a: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168275" indent="-1682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41" y="3467603"/>
                <a:ext cx="2461505" cy="864083"/>
              </a:xfrm>
              <a:prstGeom prst="rect">
                <a:avLst/>
              </a:prstGeom>
              <a:blipFill rotWithShape="0">
                <a:blip r:embed="rId6"/>
                <a:stretch>
                  <a:fillRect l="-2663" t="-2649" b="-264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Left Arrow 10"/>
              <p:cNvSpPr/>
              <p:nvPr/>
            </p:nvSpPr>
            <p:spPr>
              <a:xfrm>
                <a:off x="3372255" y="4372102"/>
                <a:ext cx="2302498" cy="1321211"/>
              </a:xfrm>
              <a:prstGeom prst="leftArrow">
                <a:avLst>
                  <a:gd name="adj1" fmla="val 57854"/>
                  <a:gd name="adj2" fmla="val 5000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Left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255" y="4372102"/>
                <a:ext cx="2302498" cy="1321211"/>
              </a:xfrm>
              <a:prstGeom prst="leftArrow">
                <a:avLst>
                  <a:gd name="adj1" fmla="val 57854"/>
                  <a:gd name="adj2" fmla="val 50000"/>
                </a:avLst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409693" y="3467603"/>
                <a:ext cx="2460161" cy="830997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computes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from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693" y="3467603"/>
                <a:ext cx="2460161" cy="830997"/>
              </a:xfrm>
              <a:prstGeom prst="rect">
                <a:avLst/>
              </a:prstGeom>
              <a:blipFill rotWithShape="0">
                <a:blip r:embed="rId8"/>
                <a:stretch>
                  <a:fillRect l="-2179" t="-2759" r="-19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4751" y="4573853"/>
                <a:ext cx="2431916" cy="138456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2400" dirty="0"/>
                  <a:t>computes the result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51" y="4573853"/>
                <a:ext cx="2431916" cy="1384569"/>
              </a:xfrm>
              <a:prstGeom prst="rect">
                <a:avLst/>
              </a:prstGeom>
              <a:blipFill rotWithShape="0">
                <a:blip r:embed="rId9"/>
                <a:stretch>
                  <a:fillRect l="-294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Callout 13"/>
              <p:cNvSpPr/>
              <p:nvPr/>
            </p:nvSpPr>
            <p:spPr>
              <a:xfrm>
                <a:off x="5674753" y="5410679"/>
                <a:ext cx="2814536" cy="1219201"/>
              </a:xfrm>
              <a:prstGeom prst="wedgeEllipseCallout">
                <a:avLst>
                  <a:gd name="adj1" fmla="val -22816"/>
                  <a:gd name="adj2" fmla="val -104537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but how to do it for any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2400" dirty="0"/>
                  <a:t>?</a:t>
                </a:r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Oval Callou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753" y="5410679"/>
                <a:ext cx="2814536" cy="1219201"/>
              </a:xfrm>
              <a:prstGeom prst="wedgeEllipseCallout">
                <a:avLst>
                  <a:gd name="adj1" fmla="val -22816"/>
                  <a:gd name="adj2" fmla="val -104537"/>
                </a:avLst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43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227" y="365127"/>
            <a:ext cx="8579794" cy="1158874"/>
          </a:xfrm>
        </p:spPr>
        <p:txBody>
          <a:bodyPr>
            <a:normAutofit/>
          </a:bodyPr>
          <a:lstStyle/>
          <a:p>
            <a:r>
              <a:rPr lang="en-US" sz="4000" dirty="0"/>
              <a:t>Fully homomorphic encryption (FHE) </a:t>
            </a:r>
            <a:endParaRPr lang="pl-P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4502" y="1825625"/>
                <a:ext cx="8080848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Constructing encryption scheme that would allow “</a:t>
                </a:r>
                <a:r>
                  <a:rPr lang="en-US" b="1" dirty="0">
                    <a:solidFill>
                      <a:srgbClr val="0070C0"/>
                    </a:solidFill>
                  </a:rPr>
                  <a:t>homomorphic computation</a:t>
                </a:r>
                <a:r>
                  <a:rPr lang="en-US" dirty="0"/>
                  <a:t>” of any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was an </a:t>
                </a:r>
                <a:r>
                  <a:rPr lang="en-US" b="1" dirty="0"/>
                  <a:t>open problem </a:t>
                </a:r>
                <a:r>
                  <a:rPr lang="en-US" dirty="0"/>
                  <a:t>until </a:t>
                </a:r>
                <a:r>
                  <a:rPr lang="en-US" b="1" dirty="0">
                    <a:solidFill>
                      <a:srgbClr val="FF0000"/>
                    </a:solidFill>
                  </a:rPr>
                  <a:t>2009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first such construction was given in:</a:t>
                </a:r>
              </a:p>
              <a:p>
                <a:pPr marL="457200" lvl="1" indent="0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Craig Gentry. Fully Homomorphic Encryption Using Ideal Lattices. ACM Symposium on Theory of Computing (STOC), 2009</a:t>
                </a:r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Working towards construction of </a:t>
                </a:r>
                <a:r>
                  <a:rPr lang="en-US" b="1" u="sng" dirty="0">
                    <a:solidFill>
                      <a:srgbClr val="7030A0"/>
                    </a:solidFill>
                  </a:rPr>
                  <a:t>practical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b="1" dirty="0">
                    <a:solidFill>
                      <a:srgbClr val="7030A0"/>
                    </a:solidFill>
                  </a:rPr>
                  <a:t>FHE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dirty="0"/>
                  <a:t>is an active research area.</a:t>
                </a: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502" y="1825625"/>
                <a:ext cx="8080848" cy="4351338"/>
              </a:xfrm>
              <a:blipFill rotWithShape="0">
                <a:blip r:embed="rId2"/>
                <a:stretch>
                  <a:fillRect l="-1508" t="-33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C0FAE0F7-CD53-4069-8708-D12BA57A764F}"/>
                  </a:ext>
                </a:extLst>
              </p14:cNvPr>
              <p14:cNvContentPartPr/>
              <p14:nvPr/>
            </p14:nvContentPartPr>
            <p14:xfrm>
              <a:off x="1515600" y="3200400"/>
              <a:ext cx="22680" cy="25560"/>
            </p14:xfrm>
          </p:contentPart>
        </mc:Choice>
        <mc:Fallback xmlns=""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C0FAE0F7-CD53-4069-8708-D12BA57A76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6240" y="3191040"/>
                <a:ext cx="4140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01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174" y="365126"/>
            <a:ext cx="8236626" cy="1325563"/>
          </a:xfrm>
        </p:spPr>
        <p:txBody>
          <a:bodyPr>
            <a:noAutofit/>
          </a:bodyPr>
          <a:lstStyle/>
          <a:p>
            <a:r>
              <a:rPr lang="en-US" sz="3600" dirty="0"/>
              <a:t>A natural (but much simpler) question</a:t>
            </a:r>
            <a:endParaRPr lang="pl-PL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837" y="2090149"/>
            <a:ext cx="7886700" cy="3672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we construct an encryption scheme that is homomorphic </a:t>
            </a:r>
            <a:r>
              <a:rPr lang="en-US" b="1" dirty="0">
                <a:solidFill>
                  <a:srgbClr val="7030A0"/>
                </a:solidFill>
              </a:rPr>
              <a:t>with respect to addition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Answer</a:t>
            </a:r>
            <a:r>
              <a:rPr lang="en-US" dirty="0"/>
              <a:t>: </a:t>
            </a:r>
            <a:r>
              <a:rPr lang="en-US" b="1" dirty="0">
                <a:solidFill>
                  <a:srgbClr val="FF0000"/>
                </a:solidFill>
              </a:rPr>
              <a:t>Yes, </a:t>
            </a:r>
            <a:r>
              <a:rPr lang="pl-PL" b="1" dirty="0" err="1">
                <a:solidFill>
                  <a:srgbClr val="FF0000"/>
                </a:solidFill>
              </a:rPr>
              <a:t>Paillier</a:t>
            </a:r>
            <a:r>
              <a:rPr lang="en-US" b="1" dirty="0">
                <a:solidFill>
                  <a:srgbClr val="FF0000"/>
                </a:solidFill>
              </a:rPr>
              <a:t> cryptosystem</a:t>
            </a:r>
          </a:p>
          <a:p>
            <a:pPr marL="0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00B050"/>
                </a:solidFill>
              </a:rPr>
              <a:t>[Pascal Paillier "Public-Key Cryptosystems Based on Composite Degree </a:t>
            </a:r>
            <a:r>
              <a:rPr lang="en-US" b="1" dirty="0" err="1">
                <a:solidFill>
                  <a:srgbClr val="00B050"/>
                </a:solidFill>
              </a:rPr>
              <a:t>Residuosity</a:t>
            </a:r>
            <a:r>
              <a:rPr lang="en-US" b="1" dirty="0">
                <a:solidFill>
                  <a:srgbClr val="00B050"/>
                </a:solidFill>
              </a:rPr>
              <a:t> Classes". EUROCRYPT 1999]</a:t>
            </a:r>
            <a:endParaRPr lang="pl-PL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04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05765" y="177166"/>
                <a:ext cx="8582592" cy="1325563"/>
              </a:xfrm>
            </p:spPr>
            <p:txBody>
              <a:bodyPr>
                <a:normAutofit/>
              </a:bodyPr>
              <a:lstStyle/>
              <a:p>
                <a:r>
                  <a:rPr lang="pl-PL" sz="4000" dirty="0"/>
                  <a:t>Paillier</a:t>
                </a:r>
                <a:r>
                  <a:rPr lang="en-US" sz="4000" dirty="0"/>
                  <a:t> cryptosystem works over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sz="4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sz="4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4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an </a:t>
                </a:r>
                <a:r>
                  <a:rPr lang="en-US" b="1" dirty="0">
                    <a:solidFill>
                      <a:srgbClr val="7030A0"/>
                    </a:solidFill>
                  </a:rPr>
                  <a:t>RSA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7030A0"/>
                    </a:solidFill>
                  </a:rPr>
                  <a:t>modulus</a:t>
                </a:r>
                <a:endParaRPr lang="pl-PL" sz="40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05765" y="177166"/>
                <a:ext cx="8582592" cy="1325563"/>
              </a:xfrm>
              <a:blipFill rotWithShape="0">
                <a:blip r:embed="rId2"/>
                <a:stretch>
                  <a:fillRect l="-2914" t="-15596" r="-1635" b="-2110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5765" y="2010383"/>
                <a:ext cx="7886700" cy="401839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public key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private key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 does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look like?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0070C0"/>
                    </a:solidFill>
                  </a:rPr>
                  <a:t>Fact</a:t>
                </a:r>
                <a:r>
                  <a:rPr lang="en-US" dirty="0"/>
                  <a:t>: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2860675" indent="-2860675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2860675" indent="-2860675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5765" y="2010383"/>
                <a:ext cx="7886700" cy="4018394"/>
              </a:xfrm>
              <a:blipFill>
                <a:blip r:embed="rId3"/>
                <a:stretch>
                  <a:fillRect l="-1392" t="-3338" b="-212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C6D0602C-6096-418B-AA03-40A431A50320}"/>
                  </a:ext>
                </a:extLst>
              </p14:cNvPr>
              <p14:cNvContentPartPr/>
              <p14:nvPr/>
            </p14:nvContentPartPr>
            <p14:xfrm>
              <a:off x="7812360" y="4214520"/>
              <a:ext cx="10440" cy="7920"/>
            </p14:xfrm>
          </p:contentPart>
        </mc:Choice>
        <mc:Fallback xmlns=""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C6D0602C-6096-418B-AA03-40A431A503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03000" y="4205160"/>
                <a:ext cx="2916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873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8021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isomorphic to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with the following isomorphism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 algn="r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[proof: exercise]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pl-PL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802154"/>
              </a:xfrm>
              <a:blipFill rotWithShape="0">
                <a:blip r:embed="rId2"/>
                <a:stretch>
                  <a:fillRect l="-1546" t="-2157" r="-162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ular Callout 3"/>
              <p:cNvSpPr/>
              <p:nvPr/>
            </p:nvSpPr>
            <p:spPr>
              <a:xfrm>
                <a:off x="628650" y="5038928"/>
                <a:ext cx="3755283" cy="1212715"/>
              </a:xfrm>
              <a:prstGeom prst="wedgeRectCallout">
                <a:avLst>
                  <a:gd name="adj1" fmla="val 16835"/>
                  <a:gd name="adj2" fmla="val -87015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sz="2400" dirty="0"/>
                  <a:t> then we will also write: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↔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038928"/>
                <a:ext cx="3755283" cy="1212715"/>
              </a:xfrm>
              <a:prstGeom prst="wedgeRectCallout">
                <a:avLst>
                  <a:gd name="adj1" fmla="val 16835"/>
                  <a:gd name="adj2" fmla="val -87015"/>
                </a:avLst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13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765" y="177166"/>
            <a:ext cx="833247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Another fact</a:t>
            </a:r>
            <a:endParaRPr lang="pl-PL" sz="4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5765" y="1502729"/>
                <a:ext cx="8079551" cy="485767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Fact</a:t>
                </a:r>
                <a:r>
                  <a:rPr lang="en-US" dirty="0"/>
                  <a:t>: for any integer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we have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Proof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:endParaRPr lang="en-US" sz="3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num>
                            <m:den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num>
                            <m:den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num>
                            <m:den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18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1660525" indent="-1660525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num>
                            <m:den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1660525" indent="-1660525">
                  <a:buNone/>
                </a:pPr>
                <a:endParaRPr lang="en-US" sz="500" b="1" dirty="0">
                  <a:solidFill>
                    <a:srgbClr val="FF0000"/>
                  </a:solidFill>
                </a:endParaRPr>
              </a:p>
              <a:p>
                <a:pPr marL="1660525" indent="-1660525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1660525" indent="-1660525" algn="r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QED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5765" y="1502729"/>
                <a:ext cx="8079551" cy="4857670"/>
              </a:xfrm>
              <a:blipFill>
                <a:blip r:embed="rId2"/>
                <a:stretch>
                  <a:fillRect l="-1585" t="-2261" r="-150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1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765" y="177166"/>
            <a:ext cx="833247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 consequence of this fact</a:t>
            </a:r>
            <a:endParaRPr lang="pl-PL" sz="4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6730" y="2289243"/>
                <a:ext cx="7886700" cy="3720079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Consequence</a:t>
                </a:r>
                <a:r>
                  <a:rPr lang="en-US" dirty="0"/>
                  <a:t>: order of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.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730" y="2289243"/>
                <a:ext cx="7886700" cy="3720079"/>
              </a:xfrm>
              <a:blipFill>
                <a:blip r:embed="rId2"/>
                <a:stretch>
                  <a:fillRect l="-1608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ular Callout 3"/>
              <p:cNvSpPr/>
              <p:nvPr/>
            </p:nvSpPr>
            <p:spPr>
              <a:xfrm>
                <a:off x="638459" y="3749473"/>
                <a:ext cx="7477760" cy="1874520"/>
              </a:xfrm>
              <a:prstGeom prst="wedgeRectCallout">
                <a:avLst>
                  <a:gd name="adj1" fmla="val -25340"/>
                  <a:gd name="adj2" fmla="val -75330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indent="228600" algn="ctr"/>
                <a:r>
                  <a:rPr lang="en-US" sz="2800" b="1" dirty="0">
                    <a:solidFill>
                      <a:srgbClr val="0070C0"/>
                    </a:solidFill>
                  </a:rPr>
                  <a:t>why?</a:t>
                </a:r>
              </a:p>
              <a:p>
                <a:pPr indent="228600"/>
                <a:r>
                  <a:rPr lang="en-US" sz="2800" dirty="0"/>
                  <a:t>because: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for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800" dirty="0"/>
                  <a:t> we have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and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59" y="3749473"/>
                <a:ext cx="7477760" cy="1874520"/>
              </a:xfrm>
              <a:prstGeom prst="wedgeRectCallout">
                <a:avLst>
                  <a:gd name="adj1" fmla="val -25340"/>
                  <a:gd name="adj2" fmla="val -75330"/>
                </a:avLst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51727" y="1456731"/>
                <a:ext cx="5486508" cy="87851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</a:rPr>
                  <a:t>Fact</a:t>
                </a:r>
                <a:r>
                  <a:rPr lang="en-US" sz="2400" dirty="0"/>
                  <a:t>: for any integer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we have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p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727" y="1456731"/>
                <a:ext cx="5486508" cy="8785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49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Structure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586264" y="3054346"/>
            <a:ext cx="4422843" cy="305448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99359" y="1937216"/>
                <a:ext cx="1268745" cy="5686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sSup>
                            <m:sSupPr>
                              <m:ctrlP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pl-PL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359" y="1937216"/>
                <a:ext cx="1268745" cy="5686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38735" y="3098923"/>
                <a:ext cx="3946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735" y="3098923"/>
                <a:ext cx="394660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47871" y="2550475"/>
                <a:ext cx="3946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871" y="2550475"/>
                <a:ext cx="39466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659717" y="5715664"/>
                <a:ext cx="9526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717" y="5715664"/>
                <a:ext cx="952697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112515" y="2550475"/>
                <a:ext cx="8965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515" y="2550475"/>
                <a:ext cx="896592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 Brace 10"/>
          <p:cNvSpPr/>
          <p:nvPr/>
        </p:nvSpPr>
        <p:spPr>
          <a:xfrm>
            <a:off x="2249669" y="3098923"/>
            <a:ext cx="648511" cy="3158246"/>
          </a:xfrm>
          <a:prstGeom prst="leftBrace">
            <a:avLst>
              <a:gd name="adj1" fmla="val 24333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Left Brace 11"/>
          <p:cNvSpPr/>
          <p:nvPr/>
        </p:nvSpPr>
        <p:spPr>
          <a:xfrm rot="5400000">
            <a:off x="5466945" y="208368"/>
            <a:ext cx="648511" cy="4435813"/>
          </a:xfrm>
          <a:prstGeom prst="leftBrace">
            <a:avLst>
              <a:gd name="adj1" fmla="val 24333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589777" y="4395332"/>
                <a:ext cx="6783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777" y="4395332"/>
                <a:ext cx="678327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544975" y="1578117"/>
                <a:ext cx="6286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975" y="1578117"/>
                <a:ext cx="628634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 rot="5400000">
                <a:off x="2893563" y="4440377"/>
                <a:ext cx="4850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893563" y="4440377"/>
                <a:ext cx="485005" cy="40011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651021" y="2505898"/>
                <a:ext cx="4850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. .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021" y="2505898"/>
                <a:ext cx="485005" cy="40011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73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7" grpId="0"/>
      <p:bldP spid="18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46434" y="365127"/>
                <a:ext cx="4844376" cy="66355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Multiplication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46434" y="365127"/>
                <a:ext cx="4844376" cy="663552"/>
              </a:xfrm>
              <a:blipFill rotWithShape="0">
                <a:blip r:embed="rId2"/>
                <a:stretch>
                  <a:fillRect l="-4403" t="-28440" b="-3302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227410" y="2477311"/>
            <a:ext cx="6095998" cy="36770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Left Brace 10"/>
          <p:cNvSpPr/>
          <p:nvPr/>
        </p:nvSpPr>
        <p:spPr>
          <a:xfrm>
            <a:off x="971713" y="2477311"/>
            <a:ext cx="648511" cy="3677055"/>
          </a:xfrm>
          <a:prstGeom prst="leftBrace">
            <a:avLst>
              <a:gd name="adj1" fmla="val 24333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Left Brace 11"/>
          <p:cNvSpPr/>
          <p:nvPr/>
        </p:nvSpPr>
        <p:spPr>
          <a:xfrm rot="5400000">
            <a:off x="4951154" y="-1221435"/>
            <a:ext cx="648511" cy="6095998"/>
          </a:xfrm>
          <a:prstGeom prst="leftBrace">
            <a:avLst>
              <a:gd name="adj1" fmla="val 24333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11821" y="4071077"/>
                <a:ext cx="6783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21" y="4071077"/>
                <a:ext cx="678327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028976" y="1013501"/>
                <a:ext cx="6286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976" y="1013501"/>
                <a:ext cx="628634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/>
          <p:cNvSpPr/>
          <p:nvPr/>
        </p:nvSpPr>
        <p:spPr>
          <a:xfrm>
            <a:off x="3446607" y="3422459"/>
            <a:ext cx="330742" cy="31296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Oval 18"/>
          <p:cNvSpPr/>
          <p:nvPr/>
        </p:nvSpPr>
        <p:spPr>
          <a:xfrm>
            <a:off x="4406402" y="4315838"/>
            <a:ext cx="330742" cy="312962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5" name="Straight Arrow Connector 14"/>
          <p:cNvCxnSpPr>
            <a:stCxn id="3" idx="2"/>
          </p:cNvCxnSpPr>
          <p:nvPr/>
        </p:nvCxnSpPr>
        <p:spPr>
          <a:xfrm flipH="1">
            <a:off x="2227410" y="3578940"/>
            <a:ext cx="12191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3" idx="0"/>
          </p:cNvCxnSpPr>
          <p:nvPr/>
        </p:nvCxnSpPr>
        <p:spPr>
          <a:xfrm flipV="1">
            <a:off x="3611978" y="2425430"/>
            <a:ext cx="1" cy="9970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9" idx="0"/>
          </p:cNvCxnSpPr>
          <p:nvPr/>
        </p:nvCxnSpPr>
        <p:spPr>
          <a:xfrm flipV="1">
            <a:off x="4571773" y="2460556"/>
            <a:ext cx="0" cy="1855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9" idx="2"/>
          </p:cNvCxnSpPr>
          <p:nvPr/>
        </p:nvCxnSpPr>
        <p:spPr>
          <a:xfrm flipH="1">
            <a:off x="2179965" y="4472319"/>
            <a:ext cx="22264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39483" y="5175115"/>
            <a:ext cx="330742" cy="312962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0" name="Straight Arrow Connector 29"/>
          <p:cNvCxnSpPr>
            <a:endCxn id="29" idx="0"/>
          </p:cNvCxnSpPr>
          <p:nvPr/>
        </p:nvCxnSpPr>
        <p:spPr>
          <a:xfrm>
            <a:off x="6585394" y="2477311"/>
            <a:ext cx="19460" cy="26978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29" idx="2"/>
          </p:cNvCxnSpPr>
          <p:nvPr/>
        </p:nvCxnSpPr>
        <p:spPr>
          <a:xfrm>
            <a:off x="2223771" y="5331596"/>
            <a:ext cx="42157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17854" y="1991020"/>
                <a:ext cx="3882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854" y="1991020"/>
                <a:ext cx="388248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406402" y="1998342"/>
                <a:ext cx="4539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402" y="1998342"/>
                <a:ext cx="453970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226224" y="1991020"/>
                <a:ext cx="9078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224" y="1991020"/>
                <a:ext cx="907813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546544" y="3368115"/>
                <a:ext cx="3946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544" y="3368115"/>
                <a:ext cx="394660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513683" y="4231125"/>
                <a:ext cx="4603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683" y="4231125"/>
                <a:ext cx="460382" cy="400110"/>
              </a:xfrm>
              <a:prstGeom prst="rect">
                <a:avLst/>
              </a:prstGeom>
              <a:blipFill rotWithShape="0">
                <a:blip r:embed="rId9"/>
                <a:stretch>
                  <a:fillRect l="-1316" r="-1316" b="-1969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343669" y="5131541"/>
                <a:ext cx="8004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669" y="5131541"/>
                <a:ext cx="800411" cy="400110"/>
              </a:xfrm>
              <a:prstGeom prst="rect">
                <a:avLst/>
              </a:prstGeom>
              <a:blipFill rotWithShape="0">
                <a:blip r:embed="rId1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ounded Rectangle 43"/>
          <p:cNvSpPr/>
          <p:nvPr/>
        </p:nvSpPr>
        <p:spPr>
          <a:xfrm>
            <a:off x="3446606" y="2029734"/>
            <a:ext cx="1413765" cy="33660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5" name="Right Arrow 54"/>
          <p:cNvSpPr/>
          <p:nvPr/>
        </p:nvSpPr>
        <p:spPr>
          <a:xfrm>
            <a:off x="4899769" y="2092720"/>
            <a:ext cx="1316127" cy="211354"/>
          </a:xfrm>
          <a:prstGeom prst="rightArrow">
            <a:avLst>
              <a:gd name="adj1" fmla="val 13010"/>
              <a:gd name="adj2" fmla="val 11129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6" name="Rounded Rectangle 55"/>
          <p:cNvSpPr/>
          <p:nvPr/>
        </p:nvSpPr>
        <p:spPr>
          <a:xfrm>
            <a:off x="1525717" y="3368115"/>
            <a:ext cx="415487" cy="131405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7" name="Right Arrow 56"/>
          <p:cNvSpPr/>
          <p:nvPr/>
        </p:nvSpPr>
        <p:spPr>
          <a:xfrm rot="5400000">
            <a:off x="1520894" y="4856210"/>
            <a:ext cx="445961" cy="206576"/>
          </a:xfrm>
          <a:prstGeom prst="rightArrow">
            <a:avLst>
              <a:gd name="adj1" fmla="val 13010"/>
              <a:gd name="adj2" fmla="val 11129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4694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 animBg="1"/>
      <p:bldP spid="29" grpId="0" animBg="1"/>
      <p:bldP spid="38" grpId="0"/>
      <p:bldP spid="39" grpId="0"/>
      <p:bldP spid="40" grpId="0"/>
      <p:bldP spid="41" grpId="0"/>
      <p:bldP spid="42" grpId="0"/>
      <p:bldP spid="43" grpId="0"/>
      <p:bldP spid="44" grpId="0" animBg="1"/>
      <p:bldP spid="55" grpId="0" animBg="1"/>
      <p:bldP spid="56" grpId="0" animBg="1"/>
      <p:bldP spid="57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87130" y="365126"/>
                <a:ext cx="822822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pl-PL" dirty="0"/>
                  <a:t>th</a:t>
                </a:r>
                <a:r>
                  <a:rPr lang="en-US" dirty="0"/>
                  <a:t> residues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87130" y="365126"/>
                <a:ext cx="822822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41223" y="2187827"/>
                <a:ext cx="8756922" cy="39891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 number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called an </a:t>
                </a:r>
                <a14:m>
                  <m:oMath xmlns:m="http://schemas.openxmlformats.org/officeDocument/2006/math">
                    <m:r>
                      <a:rPr lang="pl-PL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pl-PL" b="1" dirty="0">
                    <a:solidFill>
                      <a:srgbClr val="0070C0"/>
                    </a:solidFill>
                  </a:rPr>
                  <a:t>th</a:t>
                </a:r>
                <a:r>
                  <a:rPr lang="en-US" b="1" dirty="0">
                    <a:solidFill>
                      <a:srgbClr val="0070C0"/>
                    </a:solidFill>
                  </a:rPr>
                  <a:t> residue modulo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if there exists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such that </a:t>
                </a:r>
                <a:br>
                  <a:rPr lang="en-US" dirty="0"/>
                </a:b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</m:sSup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How do the </a:t>
                </a:r>
                <a14:m>
                  <m:oMath xmlns:m="http://schemas.openxmlformats.org/officeDocument/2006/math">
                    <m:r>
                      <a:rPr lang="pl-PL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pl-PL" dirty="0"/>
                  <a:t>th</a:t>
                </a:r>
                <a:r>
                  <a:rPr lang="en-US" dirty="0"/>
                  <a:t> residues look like?</a:t>
                </a:r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223" y="2187827"/>
                <a:ext cx="8756922" cy="3989135"/>
              </a:xfrm>
              <a:blipFill rotWithShape="0">
                <a:blip r:embed="rId3"/>
                <a:stretch>
                  <a:fillRect l="-1462" t="-275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935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08562" y="248394"/>
                <a:ext cx="8106788" cy="1325563"/>
              </a:xfrm>
            </p:spPr>
            <p:txBody>
              <a:bodyPr/>
              <a:lstStyle/>
              <a:p>
                <a:r>
                  <a:rPr lang="en-US" dirty="0"/>
                  <a:t>A form of every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residue</a:t>
                </a:r>
                <a:endParaRPr lang="pl-PL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08562" y="248394"/>
                <a:ext cx="8106788" cy="1325563"/>
              </a:xfrm>
              <a:blipFill rotWithShape="0">
                <a:blip r:embed="rId4"/>
                <a:stretch>
                  <a:fillRect l="-300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8605" y="1830677"/>
                <a:ext cx="8154169" cy="46710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2114550" indent="-211455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</m:sSup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1946275" indent="-1946275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1946275" indent="-1946275">
                  <a:buNone/>
                </a:pPr>
                <a:r>
                  <a:rPr lang="en-US" dirty="0"/>
                  <a:t>So, every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residue is of a form </a:t>
                </a:r>
              </a:p>
              <a:p>
                <a:pPr marL="1946275" indent="-1946275">
                  <a:buNone/>
                </a:pPr>
                <a:endParaRPr lang="en-US" sz="300" dirty="0"/>
              </a:p>
              <a:p>
                <a:pPr marL="1946275" indent="-1946275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1946275" indent="-1946275">
                  <a:buNone/>
                </a:pPr>
                <a:endParaRPr lang="en-US" sz="300" b="1" dirty="0">
                  <a:solidFill>
                    <a:srgbClr val="FF0000"/>
                  </a:solidFill>
                </a:endParaRPr>
              </a:p>
              <a:p>
                <a:pPr marL="1946275" indent="-1946275">
                  <a:buNone/>
                </a:pPr>
                <a:r>
                  <a:rPr lang="en-US" dirty="0"/>
                  <a:t>Is every element of this form an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residue?</a:t>
                </a:r>
              </a:p>
              <a:p>
                <a:pPr marL="1946275" indent="-1946275" algn="r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Yes!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605" y="1830677"/>
                <a:ext cx="8154169" cy="4671099"/>
              </a:xfrm>
              <a:blipFill>
                <a:blip r:embed="rId5"/>
                <a:stretch>
                  <a:fillRect l="-1553" t="-2439" r="-1553" b="-3252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42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94148" y="358641"/>
                <a:ext cx="8833120" cy="1325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proof that every element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b="1" dirty="0">
                    <a:solidFill>
                      <a:srgbClr val="FF0000"/>
                    </a:solidFill>
                  </a:rPr>
                </a:br>
                <a:r>
                  <a:rPr lang="en-US" dirty="0"/>
                  <a:t>is an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residue</a:t>
                </a:r>
                <a:endParaRPr lang="pl-PL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4148" y="358641"/>
                <a:ext cx="8833120" cy="1325563"/>
              </a:xfrm>
              <a:blipFill rotWithShape="0">
                <a:blip r:embed="rId2"/>
                <a:stretch>
                  <a:fillRect l="-2830" t="-13364" b="-2119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4148" y="2023353"/>
                <a:ext cx="8833120" cy="464333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Take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Let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For an arbitrary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dirty="0"/>
                  <a:t> let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be such that </a:t>
                </a:r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We have: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𝑵𝒂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𝒅𝑵</m:t>
                              </m:r>
                            </m:sup>
                          </m:s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2630488" indent="-61913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𝒅𝑵</m:t>
                              </m:r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𝐦𝐨𝐝</m:t>
                              </m:r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  <m:d>
                                <m:dPr>
                                  <m:ctrlP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2630488" indent="-2630488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2630488" indent="-2630488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  <a:latin typeface="+mj-lt"/>
                  </a:rPr>
                  <a:t>Observe</a:t>
                </a:r>
                <a:r>
                  <a:rPr lang="en-US" dirty="0">
                    <a:latin typeface="Cambria Math" panose="02040503050406030204" pitchFamily="18" charset="0"/>
                  </a:rPr>
                  <a:t>: this also shows that every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residue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 has exactly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 roots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g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rad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148" y="2023353"/>
                <a:ext cx="8833120" cy="4643335"/>
              </a:xfrm>
              <a:blipFill rotWithShape="0">
                <a:blip r:embed="rId3"/>
                <a:stretch>
                  <a:fillRect l="-1242" t="-3543" b="-27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ular Callout 3"/>
              <p:cNvSpPr/>
              <p:nvPr/>
            </p:nvSpPr>
            <p:spPr>
              <a:xfrm>
                <a:off x="6400799" y="1378278"/>
                <a:ext cx="2334639" cy="2097739"/>
              </a:xfrm>
              <a:prstGeom prst="wedgeRectCallout">
                <a:avLst>
                  <a:gd name="adj1" fmla="val -63611"/>
                  <a:gd name="adj2" fmla="val -9222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this is possible because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sz="2400" b="1" dirty="0">
                    <a:solidFill>
                      <a:srgbClr val="7030A0"/>
                    </a:solidFill>
                  </a:rPr>
                  <a:t>[exercise]</a:t>
                </a:r>
                <a:endParaRPr lang="pl-PL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9" y="1378278"/>
                <a:ext cx="2334639" cy="2097739"/>
              </a:xfrm>
              <a:prstGeom prst="wedgeRectCallout">
                <a:avLst>
                  <a:gd name="adj1" fmla="val -63611"/>
                  <a:gd name="adj2" fmla="val -9222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49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43305" y="0"/>
                <a:ext cx="7886700" cy="1325563"/>
              </a:xfrm>
            </p:spPr>
            <p:txBody>
              <a:bodyPr/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residues pictorially</a:t>
                </a:r>
                <a:endParaRPr lang="pl-PL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43305" y="0"/>
                <a:ext cx="7886700" cy="1325563"/>
              </a:xfrm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827506" y="2689220"/>
                <a:ext cx="4422843" cy="305448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sSup>
                            <m:sSupPr>
                              <m:ctrlPr>
                                <a:rPr lang="en-US" sz="4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sz="4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sub>
                        <m:sup>
                          <m:r>
                            <a:rPr lang="en-US" sz="4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pl-PL" sz="4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506" y="2689220"/>
                <a:ext cx="4422843" cy="305448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79977" y="2733797"/>
                <a:ext cx="3946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977" y="2733797"/>
                <a:ext cx="394660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89113" y="2185349"/>
                <a:ext cx="3946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113" y="2185349"/>
                <a:ext cx="39466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00959" y="5350538"/>
                <a:ext cx="9526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959" y="5350538"/>
                <a:ext cx="952697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53757" y="2185349"/>
                <a:ext cx="8965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757" y="2185349"/>
                <a:ext cx="896592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/>
          <p:cNvSpPr/>
          <p:nvPr/>
        </p:nvSpPr>
        <p:spPr>
          <a:xfrm>
            <a:off x="1509346" y="2689220"/>
            <a:ext cx="648511" cy="3158246"/>
          </a:xfrm>
          <a:prstGeom prst="leftBrace">
            <a:avLst>
              <a:gd name="adj1" fmla="val 24333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Left Brace 9"/>
          <p:cNvSpPr/>
          <p:nvPr/>
        </p:nvSpPr>
        <p:spPr>
          <a:xfrm rot="5400000">
            <a:off x="4708187" y="-156758"/>
            <a:ext cx="648511" cy="4435813"/>
          </a:xfrm>
          <a:prstGeom prst="leftBrace">
            <a:avLst>
              <a:gd name="adj1" fmla="val 24333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831019" y="4030206"/>
                <a:ext cx="6783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19" y="4030206"/>
                <a:ext cx="678327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786217" y="1212991"/>
                <a:ext cx="6286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217" y="1212991"/>
                <a:ext cx="628634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 rot="5400000">
                <a:off x="2134805" y="4075251"/>
                <a:ext cx="4850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134805" y="4075251"/>
                <a:ext cx="485005" cy="40011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892263" y="2140772"/>
                <a:ext cx="4850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. .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263" y="2140772"/>
                <a:ext cx="485005" cy="40011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2840686" y="2682276"/>
            <a:ext cx="535023" cy="306837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ular Callout 15"/>
              <p:cNvSpPr/>
              <p:nvPr/>
            </p:nvSpPr>
            <p:spPr>
              <a:xfrm>
                <a:off x="2094932" y="6099041"/>
                <a:ext cx="6564671" cy="488483"/>
              </a:xfrm>
              <a:prstGeom prst="wedgeRectCallout">
                <a:avLst>
                  <a:gd name="adj1" fmla="val -36952"/>
                  <a:gd name="adj2" fmla="val -179124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500" dirty="0" err="1"/>
                  <a:t>th</a:t>
                </a:r>
                <a:r>
                  <a:rPr lang="en-US" sz="2500" dirty="0"/>
                  <a:t> residues. Denote this set </a:t>
                </a:r>
                <a14:m>
                  <m:oMath xmlns:m="http://schemas.openxmlformats.org/officeDocument/2006/math">
                    <m:r>
                      <a:rPr lang="en-US" sz="25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𝐑𝐞𝐬</m:t>
                    </m:r>
                    <m:d>
                      <m:dPr>
                        <m:ctrlP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5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sz="25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pl-PL" sz="25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Rectangular Callou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932" y="6099041"/>
                <a:ext cx="6564671" cy="488483"/>
              </a:xfrm>
              <a:prstGeom prst="wedgeRectCallout">
                <a:avLst>
                  <a:gd name="adj1" fmla="val -36952"/>
                  <a:gd name="adj2" fmla="val -179124"/>
                </a:avLst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140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72819"/>
          </a:xfrm>
        </p:spPr>
        <p:txBody>
          <a:bodyPr/>
          <a:lstStyle/>
          <a:p>
            <a:r>
              <a:rPr lang="en-US" dirty="0"/>
              <a:t>Also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65712"/>
                <a:ext cx="7886700" cy="788549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roots of every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have a form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65712"/>
                <a:ext cx="7886700" cy="788549"/>
              </a:xfrm>
              <a:blipFill rotWithShape="0">
                <a:blip r:embed="rId2"/>
                <a:stretch>
                  <a:fillRect l="-1159" t="-1846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36523" y="3273805"/>
                <a:ext cx="4422843" cy="305448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sSup>
                            <m:sSupPr>
                              <m:ctrlPr>
                                <a:rPr lang="en-US" sz="4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sz="4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sub>
                        <m:sup>
                          <m:r>
                            <a:rPr lang="en-US" sz="4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pl-PL" sz="4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523" y="3273805"/>
                <a:ext cx="4422843" cy="305448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88994" y="3318382"/>
                <a:ext cx="3946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994" y="3318382"/>
                <a:ext cx="394660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98130" y="2769934"/>
                <a:ext cx="3946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130" y="2769934"/>
                <a:ext cx="39466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09976" y="5935123"/>
                <a:ext cx="9526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976" y="5935123"/>
                <a:ext cx="952697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62774" y="2769934"/>
                <a:ext cx="8965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774" y="2769934"/>
                <a:ext cx="896592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/>
          <p:cNvSpPr/>
          <p:nvPr/>
        </p:nvSpPr>
        <p:spPr>
          <a:xfrm>
            <a:off x="718363" y="3273805"/>
            <a:ext cx="648511" cy="3158246"/>
          </a:xfrm>
          <a:prstGeom prst="leftBrace">
            <a:avLst>
              <a:gd name="adj1" fmla="val 24333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Left Brace 9"/>
          <p:cNvSpPr/>
          <p:nvPr/>
        </p:nvSpPr>
        <p:spPr>
          <a:xfrm rot="5400000">
            <a:off x="3917204" y="427827"/>
            <a:ext cx="648511" cy="4435813"/>
          </a:xfrm>
          <a:prstGeom prst="leftBrace">
            <a:avLst>
              <a:gd name="adj1" fmla="val 24333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0036" y="4614791"/>
                <a:ext cx="6783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6" y="4614791"/>
                <a:ext cx="678327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995234" y="1797576"/>
                <a:ext cx="6286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234" y="1797576"/>
                <a:ext cx="628634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 rot="5400000">
                <a:off x="1343822" y="4659836"/>
                <a:ext cx="4850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343822" y="4659836"/>
                <a:ext cx="485005" cy="40011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101280" y="2725357"/>
                <a:ext cx="4850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. .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280" y="2725357"/>
                <a:ext cx="485005" cy="40011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2045201" y="3699173"/>
            <a:ext cx="4435813" cy="37585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ular Callout 16"/>
              <p:cNvSpPr/>
              <p:nvPr/>
            </p:nvSpPr>
            <p:spPr>
              <a:xfrm>
                <a:off x="6771047" y="2872226"/>
                <a:ext cx="1980265" cy="1856849"/>
              </a:xfrm>
              <a:prstGeom prst="wedgeRoundRectCallout">
                <a:avLst>
                  <a:gd name="adj1" fmla="val -94072"/>
                  <a:gd name="adj2" fmla="val 4494"/>
                  <a:gd name="adj3" fmla="val 16667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all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400" dirty="0" err="1"/>
                  <a:t>th</a:t>
                </a:r>
                <a:r>
                  <a:rPr lang="en-US" sz="2400" dirty="0"/>
                  <a:t> roots of the same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400" dirty="0" err="1"/>
                  <a:t>th</a:t>
                </a:r>
                <a:r>
                  <a:rPr lang="en-US" sz="2400" dirty="0"/>
                  <a:t> residue</a:t>
                </a:r>
                <a:endParaRPr lang="pl-PL" sz="2400" dirty="0"/>
              </a:p>
            </p:txBody>
          </p:sp>
        </mc:Choice>
        <mc:Fallback xmlns="">
          <p:sp>
            <p:nvSpPr>
              <p:cNvPr id="17" name="Rounded Rectangular Callou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047" y="2872226"/>
                <a:ext cx="1980265" cy="1856849"/>
              </a:xfrm>
              <a:prstGeom prst="wedgeRoundRectCallout">
                <a:avLst>
                  <a:gd name="adj1" fmla="val -94072"/>
                  <a:gd name="adj2" fmla="val 4494"/>
                  <a:gd name="adj3" fmla="val 16667"/>
                </a:avLst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61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Corollary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12827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It’s easy to choose a random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residue: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Just take a random element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and 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 problem is </a:t>
                </a:r>
                <a:r>
                  <a:rPr lang="en-US" b="1" dirty="0">
                    <a:solidFill>
                      <a:srgbClr val="7030A0"/>
                    </a:solidFill>
                  </a:rPr>
                  <a:t>hard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(if one doesn’t know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dirty="0"/>
                  <a:t>)?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128273" cy="4351338"/>
              </a:xfrm>
              <a:blipFill rotWithShape="0">
                <a:blip r:embed="rId2"/>
                <a:stretch>
                  <a:fillRect l="-1499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06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463" y="303708"/>
            <a:ext cx="8243887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Decisional composite </a:t>
            </a:r>
            <a:r>
              <a:rPr lang="en-US" b="1" dirty="0" err="1">
                <a:solidFill>
                  <a:srgbClr val="0070C0"/>
                </a:solidFill>
              </a:rPr>
              <a:t>residuosity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DCR</a:t>
            </a:r>
            <a:r>
              <a:rPr lang="en-US" dirty="0"/>
              <a:t>) assumption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9575" y="2137154"/>
                <a:ext cx="8105775" cy="153366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Informally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It is hard to distinguish random element of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𝐑𝐞𝐬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from a random element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9575" y="2137154"/>
                <a:ext cx="8105775" cy="1533660"/>
              </a:xfrm>
              <a:blipFill>
                <a:blip r:embed="rId2"/>
                <a:stretch>
                  <a:fillRect l="-1504" t="-7171" b="-398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876464" y="4228289"/>
            <a:ext cx="2503252" cy="1938711"/>
            <a:chOff x="862728" y="3494221"/>
            <a:chExt cx="4422842" cy="30683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862728" y="3494221"/>
                  <a:ext cx="4422842" cy="3054485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32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e>
                              <m:sup>
                                <m:r>
                                  <a:rPr lang="en-US" sz="32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sub>
                          <m:sup>
                            <m:r>
                              <a:rPr lang="en-US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pl-PL" sz="3200" dirty="0"/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728" y="3494221"/>
                  <a:ext cx="4422842" cy="305448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ectangle 4"/>
            <p:cNvSpPr/>
            <p:nvPr/>
          </p:nvSpPr>
          <p:spPr>
            <a:xfrm>
              <a:off x="862728" y="3494221"/>
              <a:ext cx="535023" cy="3068371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726349" y="4277881"/>
                <a:ext cx="2658894" cy="1880345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sSup>
                            <m:sSupPr>
                              <m:ctrlPr>
                                <a:rPr 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sz="3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sub>
                        <m:sup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pl-PL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349" y="4277881"/>
                <a:ext cx="2658894" cy="188034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9" descr="MCj0435941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17139" y="4881202"/>
            <a:ext cx="1309856" cy="905607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4189379" y="4089812"/>
            <a:ext cx="440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?</a:t>
            </a:r>
            <a:endParaRPr lang="pl-PL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54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156" y="173904"/>
            <a:ext cx="7886700" cy="1112760"/>
          </a:xfrm>
        </p:spPr>
        <p:txBody>
          <a:bodyPr/>
          <a:lstStyle/>
          <a:p>
            <a:r>
              <a:rPr lang="en-US" dirty="0"/>
              <a:t>How to encrypt?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1156" y="1616290"/>
                <a:ext cx="8482925" cy="10343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70C0"/>
                    </a:solidFill>
                  </a:rPr>
                  <a:t>Main idea</a:t>
                </a:r>
                <a:r>
                  <a:rPr lang="en-US" sz="2400" dirty="0"/>
                  <a:t>: messages are elements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↔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400" dirty="0"/>
                  <a:t> (for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sz="2400" dirty="0"/>
                  <a:t>) 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156" y="1616290"/>
                <a:ext cx="8482925" cy="1034307"/>
              </a:xfrm>
              <a:blipFill rotWithShape="0">
                <a:blip r:embed="rId5"/>
                <a:stretch>
                  <a:fillRect l="-1150" t="-823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512757" y="2539929"/>
                <a:ext cx="2503252" cy="192993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sSup>
                            <m:sSupPr>
                              <m:ctrlPr>
                                <a:rPr 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sub>
                        <m:sup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pl-PL" sz="32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757" y="2539929"/>
                <a:ext cx="2503252" cy="192993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512757" y="2516612"/>
            <a:ext cx="2503252" cy="35019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211156" y="5052135"/>
                <a:ext cx="8734252" cy="1090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b="1" dirty="0">
                    <a:solidFill>
                      <a:srgbClr val="0070C0"/>
                    </a:solidFill>
                  </a:rPr>
                  <a:t>To encrypt</a:t>
                </a:r>
                <a:r>
                  <a:rPr lang="en-US" sz="2400" dirty="0"/>
                  <a:t> a message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multiply it by a random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𝐑𝐞𝐬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</a:t>
                </a:r>
                <a:br>
                  <a:rPr lang="en-US" sz="2400" dirty="0"/>
                </a:br>
                <a:endParaRPr lang="en-US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6" y="5052135"/>
                <a:ext cx="8734252" cy="1090613"/>
              </a:xfrm>
              <a:prstGeom prst="rect">
                <a:avLst/>
              </a:prstGeom>
              <a:blipFill rotWithShape="0">
                <a:blip r:embed="rId7"/>
                <a:stretch>
                  <a:fillRect l="-1117" t="-7263" b="-167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570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Pictorially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283195" y="2539929"/>
                <a:ext cx="5368594" cy="331671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sSup>
                            <m:sSupPr>
                              <m:ctrlPr>
                                <a:rPr 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sub>
                        <m:sup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pl-PL" sz="32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195" y="2539929"/>
                <a:ext cx="5368594" cy="331671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6165188" y="2539929"/>
            <a:ext cx="518388" cy="41083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Rectangular Callout 7"/>
          <p:cNvSpPr/>
          <p:nvPr/>
        </p:nvSpPr>
        <p:spPr>
          <a:xfrm>
            <a:off x="6165188" y="2539929"/>
            <a:ext cx="518388" cy="3316719"/>
          </a:xfrm>
          <a:prstGeom prst="wedgeRectCallout">
            <a:avLst>
              <a:gd name="adj1" fmla="val -283799"/>
              <a:gd name="adj2" fmla="val -78561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987551" y="1552970"/>
                <a:ext cx="16642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message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551" y="1552970"/>
                <a:ext cx="1664238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5495" t="-10667" b="-30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829164" y="1091305"/>
                <a:ext cx="23360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ciphertexts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164" y="1091305"/>
                <a:ext cx="2336024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3916" t="-10526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9" idx="2"/>
            <a:endCxn id="8" idx="0"/>
          </p:cNvCxnSpPr>
          <p:nvPr/>
        </p:nvCxnSpPr>
        <p:spPr>
          <a:xfrm flipH="1">
            <a:off x="6424382" y="2014635"/>
            <a:ext cx="395288" cy="525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61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/>
      <p:bldP spid="10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questions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63191"/>
            <a:ext cx="7886700" cy="239856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Is this </a:t>
            </a:r>
            <a:r>
              <a:rPr lang="en-US" b="1" dirty="0">
                <a:solidFill>
                  <a:srgbClr val="FF0000"/>
                </a:solidFill>
              </a:rPr>
              <a:t>secure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to </a:t>
            </a:r>
            <a:r>
              <a:rPr lang="en-US" b="1" dirty="0">
                <a:solidFill>
                  <a:srgbClr val="7030A0"/>
                </a:solidFill>
              </a:rPr>
              <a:t>decrypt</a:t>
            </a:r>
            <a:r>
              <a:rPr lang="en-US" dirty="0"/>
              <a:t>?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4114964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41" y="236100"/>
            <a:ext cx="7886700" cy="1325563"/>
          </a:xfrm>
        </p:spPr>
        <p:txBody>
          <a:bodyPr/>
          <a:lstStyle/>
          <a:p>
            <a:r>
              <a:rPr lang="en-US" dirty="0"/>
              <a:t>Security follows from the </a:t>
            </a:r>
            <a:r>
              <a:rPr lang="en-US" b="1" dirty="0"/>
              <a:t>DCR</a:t>
            </a:r>
            <a:r>
              <a:rPr lang="en-US" dirty="0"/>
              <a:t> assumption 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37441" y="2558077"/>
                <a:ext cx="6170447" cy="420736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ctr"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𝐑𝐞𝐬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37441" y="2558077"/>
                <a:ext cx="6170447" cy="420736"/>
              </a:xfr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80841" y="1698502"/>
            <a:ext cx="35104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Proof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(sketch):</a:t>
            </a:r>
          </a:p>
          <a:p>
            <a:r>
              <a:rPr lang="en-US" sz="2400" dirty="0"/>
              <a:t>Take the original scheme </a:t>
            </a:r>
            <a:endParaRPr lang="pl-PL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80841" y="3064248"/>
            <a:ext cx="3378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and modify it as follows:</a:t>
            </a:r>
            <a:endParaRPr lang="pl-PL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1537441" y="3672297"/>
                <a:ext cx="6170447" cy="45091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dk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dk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dk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b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441" y="3672297"/>
                <a:ext cx="6170447" cy="45091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80841" y="4341998"/>
            <a:ext cx="84425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Easy to see</a:t>
            </a:r>
            <a:r>
              <a:rPr lang="en-US" sz="24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modified scheme hides the message completely </a:t>
            </a:r>
            <a:r>
              <a:rPr lang="en-US" sz="2400" dirty="0"/>
              <a:t>(it’s a “generalized one-time pad”)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if these </a:t>
            </a:r>
            <a:r>
              <a:rPr lang="en-US" sz="2400" b="1" dirty="0">
                <a:solidFill>
                  <a:srgbClr val="7030A0"/>
                </a:solidFill>
              </a:rPr>
              <a:t>two schemes can be distinguished then the DCR assumption is broken</a:t>
            </a:r>
            <a:r>
              <a:rPr lang="en-US" sz="2400" dirty="0"/>
              <a:t>.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188348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/>
      <p:bldP spid="6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793" y="239130"/>
            <a:ext cx="7886700" cy="1325563"/>
          </a:xfrm>
        </p:spPr>
        <p:txBody>
          <a:bodyPr/>
          <a:lstStyle/>
          <a:p>
            <a:r>
              <a:rPr lang="en-US" dirty="0"/>
              <a:t>How to decrypt?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9867" y="1564693"/>
                <a:ext cx="7886700" cy="17675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Let’s view encryption as a function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↔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177323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9867" y="1564693"/>
                <a:ext cx="7886700" cy="1767538"/>
              </a:xfrm>
              <a:blipFill rotWithShape="1">
                <a:blip r:embed="rId2"/>
                <a:stretch>
                  <a:fillRect l="-1546" t="-620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5211871" y="394971"/>
                <a:ext cx="3382368" cy="90879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dk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dk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dk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𝐑𝐞𝐬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871" y="394971"/>
                <a:ext cx="3382368" cy="90879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ular Callout 4"/>
              <p:cNvSpPr/>
              <p:nvPr/>
            </p:nvSpPr>
            <p:spPr>
              <a:xfrm>
                <a:off x="2580514" y="3663208"/>
                <a:ext cx="4678587" cy="1436115"/>
              </a:xfrm>
              <a:prstGeom prst="wedgeRoundRectCallout">
                <a:avLst>
                  <a:gd name="adj1" fmla="val -31086"/>
                  <a:gd name="adj2" fmla="val -89978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u="sng" dirty="0">
                    <a:solidFill>
                      <a:srgbClr val="0070C0"/>
                    </a:solidFill>
                  </a:rPr>
                  <a:t>Problem</a:t>
                </a:r>
                <a:r>
                  <a:rPr lang="en-US" sz="2400" dirty="0"/>
                  <a:t>: </a:t>
                </a:r>
              </a:p>
              <a:p>
                <a:pPr algn="ctr"/>
                <a:r>
                  <a:rPr lang="en-US" sz="2400" dirty="0"/>
                  <a:t>the receiver can only see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algn="ctr"/>
                <a:r>
                  <a:rPr lang="en-US" sz="2400" dirty="0"/>
                  <a:t>How can he “extract” </a:t>
                </a:r>
                <a14:m>
                  <m:oMath xmlns:m="http://schemas.openxmlformats.org/officeDocument/2006/math">
                    <m:r>
                      <a:rPr lang="pl-P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from it?</a:t>
                </a:r>
                <a:endParaRPr lang="pl-PL" sz="2400" dirty="0"/>
              </a:p>
            </p:txBody>
          </p:sp>
        </mc:Choice>
        <mc:Fallback xmlns="">
          <p:sp>
            <p:nvSpPr>
              <p:cNvPr id="5" name="Rounded Rectangular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514" y="3663208"/>
                <a:ext cx="4678587" cy="1436115"/>
              </a:xfrm>
              <a:prstGeom prst="wedgeRoundRectCallout">
                <a:avLst>
                  <a:gd name="adj1" fmla="val -31086"/>
                  <a:gd name="adj2" fmla="val -89978"/>
                  <a:gd name="adj3" fmla="val 16667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41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33" y="69236"/>
            <a:ext cx="7886700" cy="1325563"/>
          </a:xfrm>
        </p:spPr>
        <p:txBody>
          <a:bodyPr/>
          <a:lstStyle/>
          <a:p>
            <a:r>
              <a:rPr lang="en-US" dirty="0"/>
              <a:t>Observation</a:t>
            </a:r>
            <a:endParaRPr lang="pl-P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5183" y="1447347"/>
                <a:ext cx="8308464" cy="280065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𝝋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pl-PL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pl-PL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𝝋</m:t>
                          </m:r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</m:d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2568575" indent="0">
                  <a:buNone/>
                </a:pPr>
                <a:r>
                  <a:rPr lang="pl-PL" sz="2400" b="1" dirty="0">
                    <a:solidFill>
                      <a:srgbClr val="FF0000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d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2568575" indent="0">
                  <a:buNone/>
                </a:pPr>
                <a:r>
                  <a:rPr lang="pl-PL" sz="2400" b="1" dirty="0">
                    <a:solidFill>
                      <a:srgbClr val="FF0000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  <m:d>
                          <m:dPr>
                            <m:ctrlP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d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24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2568575" indent="0">
                  <a:buNone/>
                </a:pPr>
                <a:r>
                  <a:rPr lang="pl-PL" sz="2400" b="1" dirty="0">
                    <a:solidFill>
                      <a:srgbClr val="FF0000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d>
                      </m:e>
                      <m:sup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  <m:d>
                          <m:dPr>
                            <m:ctrlP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d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2568575" indent="0">
                  <a:buNone/>
                </a:pPr>
                <a:r>
                  <a:rPr lang="pl-PL" sz="2400" b="1" dirty="0">
                    <a:solidFill>
                      <a:srgbClr val="FF0000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d>
                      </m:e>
                      <m:sup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  <m:d>
                          <m:dPr>
                            <m:ctrlP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d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4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2568575" indent="0">
                  <a:buNone/>
                </a:pPr>
                <a:r>
                  <a:rPr lang="pl-PL" sz="2400" b="1" dirty="0">
                    <a:solidFill>
                      <a:srgbClr val="FF0000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d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)⋅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4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183" y="1447347"/>
                <a:ext cx="8308464" cy="280065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/>
          <p:cNvSpPr/>
          <p:nvPr/>
        </p:nvSpPr>
        <p:spPr>
          <a:xfrm rot="16200000">
            <a:off x="5688099" y="2586748"/>
            <a:ext cx="457883" cy="3427597"/>
          </a:xfrm>
          <a:prstGeom prst="leftBrace">
            <a:avLst>
              <a:gd name="adj1" fmla="val 3161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05645" y="4558895"/>
                <a:ext cx="822789" cy="407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645" y="4558895"/>
                <a:ext cx="822789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581715" y="4964064"/>
                <a:ext cx="39817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d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715" y="4964064"/>
                <a:ext cx="3981796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537088" y="5495482"/>
            <a:ext cx="582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So:</a:t>
            </a:r>
            <a:endParaRPr lang="pl-PL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522030" y="5598135"/>
                <a:ext cx="6406754" cy="9414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d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d>
                                    <m:dPr>
                                      <m:ctrlP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pl-PL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030" y="5598135"/>
                <a:ext cx="6406754" cy="9414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ular Callout 10"/>
              <p:cNvSpPr/>
              <p:nvPr/>
            </p:nvSpPr>
            <p:spPr>
              <a:xfrm>
                <a:off x="176333" y="2642282"/>
                <a:ext cx="3107836" cy="1668614"/>
              </a:xfrm>
              <a:prstGeom prst="wedgeRectCallout">
                <a:avLst>
                  <a:gd name="adj1" fmla="val 55341"/>
                  <a:gd name="adj2" fmla="val 9596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here we use the fact that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</m:d>
                        </m:e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p>
                    </m:oMath>
                  </m:oMathPara>
                </a14:m>
                <a:endParaRPr lang="en-US" sz="24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11" name="Rectangular Callou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33" y="2642282"/>
                <a:ext cx="3107836" cy="1668614"/>
              </a:xfrm>
              <a:prstGeom prst="wedgeRectCallout">
                <a:avLst>
                  <a:gd name="adj1" fmla="val 55341"/>
                  <a:gd name="adj2" fmla="val 9596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288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7" grpId="0"/>
      <p:bldP spid="8" grpId="0"/>
      <p:bldP spid="9" grpId="0"/>
      <p:bldP spid="11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ular Callout 4"/>
          <p:cNvSpPr/>
          <p:nvPr/>
        </p:nvSpPr>
        <p:spPr>
          <a:xfrm>
            <a:off x="3997739" y="2165391"/>
            <a:ext cx="4258093" cy="1128698"/>
          </a:xfrm>
          <a:prstGeom prst="wedgeRoundRectCallout">
            <a:avLst>
              <a:gd name="adj1" fmla="val -13875"/>
              <a:gd name="adj2" fmla="val -86480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Continued:	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got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d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d>
                                    <m:dPr>
                                      <m:ctrlPr>
                                        <a:rPr 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  <m:r>
                                        <a:rPr 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pl-PL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pl-PL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pl-PL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</m:oMath>
                  </m:oMathPara>
                </a14:m>
                <a:endParaRPr lang="pl-PL" dirty="0"/>
              </a:p>
              <a:p>
                <a:pPr marL="0" indent="0">
                  <a:buNone/>
                </a:pPr>
                <a:r>
                  <a:rPr lang="en-US" dirty="0"/>
                  <a:t>Therefore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881880" y="1194077"/>
                <a:ext cx="15765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denote it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880" y="1194077"/>
                <a:ext cx="1576585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6202" t="-10526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030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136" y="258540"/>
            <a:ext cx="7886700" cy="947570"/>
          </a:xfrm>
        </p:spPr>
        <p:txBody>
          <a:bodyPr/>
          <a:lstStyle/>
          <a:p>
            <a:r>
              <a:rPr lang="en-US" dirty="0"/>
              <a:t>Paillier encryption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516104" y="1452943"/>
                <a:ext cx="7943850" cy="1514650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2400" b="1" u="sng" dirty="0"/>
                  <a:t>Key generation</a:t>
                </a:r>
                <a:r>
                  <a:rPr lang="en-US" sz="2400" dirty="0"/>
                  <a:t>: let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US" sz="2400" dirty="0"/>
                  <a:t> like in RSA</a:t>
                </a:r>
              </a:p>
              <a:p>
                <a:pPr lvl="1"/>
                <a:r>
                  <a:rPr lang="en-US" sz="2400" b="1" dirty="0">
                    <a:solidFill>
                      <a:srgbClr val="0070C0"/>
                    </a:solidFill>
                  </a:rPr>
                  <a:t>public key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sz="2400" b="1" dirty="0">
                    <a:solidFill>
                      <a:srgbClr val="0070C0"/>
                    </a:solidFill>
                  </a:rPr>
                  <a:t>private key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04" y="1452943"/>
                <a:ext cx="7943850" cy="1514650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516104" y="3214426"/>
                <a:ext cx="7887402" cy="123976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2400" b="1" u="sng" dirty="0"/>
                  <a:t>Encryption</a:t>
                </a:r>
                <a:r>
                  <a:rPr lang="en-US" sz="24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d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pl-PL" sz="2400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04" y="3214426"/>
                <a:ext cx="7887402" cy="1239768"/>
              </a:xfrm>
              <a:prstGeom prst="round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516104" y="4701027"/>
                <a:ext cx="7862156" cy="1480991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2400" b="1" u="sng" dirty="0"/>
                  <a:t>Decryption</a:t>
                </a:r>
                <a:r>
                  <a:rPr lang="en-US" sz="2400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𝝋</m:t>
                            </m:r>
                            <m:d>
                              <m:dPr>
                                <m:ctrlPr>
                                  <a:rPr lang="en-U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e>
                            </m:d>
                          </m:sup>
                        </m:s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 −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d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04" y="4701027"/>
                <a:ext cx="7862156" cy="1480991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362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939" y="269759"/>
            <a:ext cx="8352666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Why is this additively homomorphic?</a:t>
            </a:r>
            <a:endParaRPr lang="pl-P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8296" y="1763917"/>
                <a:ext cx="862228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↔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have: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1374775" indent="62865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205898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2058988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with randomness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8296" y="1763917"/>
                <a:ext cx="8622287" cy="4351338"/>
              </a:xfrm>
              <a:blipFill>
                <a:blip r:embed="rId2"/>
                <a:stretch>
                  <a:fillRect l="-1413" t="-252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16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CCA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628425" y="4159801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63583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encrypt longer messages?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78049"/>
            <a:ext cx="7886700" cy="3681413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Ins="274320" anchor="ctr"/>
          <a:lstStyle/>
          <a:p>
            <a:pPr marL="514350" indent="-514350">
              <a:buNone/>
            </a:pPr>
            <a:r>
              <a:rPr lang="en-US" b="1" dirty="0"/>
              <a:t>Two options:</a:t>
            </a:r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divide the message in blocks and </a:t>
            </a:r>
            <a:r>
              <a:rPr lang="en-US" b="1" dirty="0">
                <a:solidFill>
                  <a:srgbClr val="7030A0"/>
                </a:solidFill>
              </a:rPr>
              <a:t>encrypt each block separately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combine the </a:t>
            </a:r>
            <a:r>
              <a:rPr lang="en-US" b="1" dirty="0">
                <a:solidFill>
                  <a:srgbClr val="FF0000"/>
                </a:solidFill>
              </a:rPr>
              <a:t>public-key </a:t>
            </a:r>
            <a:r>
              <a:rPr lang="pl-PL" b="1" dirty="0">
                <a:solidFill>
                  <a:srgbClr val="FF0000"/>
                </a:solidFill>
              </a:rPr>
              <a:t>techniques </a:t>
            </a:r>
            <a:r>
              <a:rPr lang="en-US" dirty="0">
                <a:solidFill>
                  <a:schemeClr val="tx1"/>
                </a:solidFill>
              </a:rPr>
              <a:t>with the </a:t>
            </a:r>
            <a:r>
              <a:rPr lang="en-US" b="1" dirty="0">
                <a:solidFill>
                  <a:srgbClr val="FF0000"/>
                </a:solidFill>
              </a:rPr>
              <a:t>private-key encryption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306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87" y="94567"/>
            <a:ext cx="7694989" cy="973620"/>
          </a:xfrm>
        </p:spPr>
        <p:txBody>
          <a:bodyPr/>
          <a:lstStyle/>
          <a:p>
            <a:r>
              <a:rPr lang="en-US" dirty="0"/>
              <a:t>Encrypting block-by-block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14324" y="1916237"/>
                <a:ext cx="6124574" cy="5588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pl-PL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4" y="1916237"/>
                <a:ext cx="6124574" cy="5588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314324" y="2900486"/>
              <a:ext cx="6124575" cy="51816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1081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866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297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2239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l-PL" sz="2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pl-PL" sz="2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l-PL" sz="2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9660623"/>
                  </p:ext>
                </p:extLst>
              </p:nvPr>
            </p:nvGraphicFramePr>
            <p:xfrm>
              <a:off x="314324" y="2900486"/>
              <a:ext cx="6124575" cy="51816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108154"/>
                    <a:gridCol w="3886646"/>
                    <a:gridCol w="1129775"/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49" t="-1163" r="-453846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8683" t="-1163" r="-29467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41398" t="-1163" r="-1075" b="-2326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Left Brace 5"/>
          <p:cNvSpPr/>
          <p:nvPr/>
        </p:nvSpPr>
        <p:spPr>
          <a:xfrm rot="5400000">
            <a:off x="3160714" y="-1371155"/>
            <a:ext cx="431797" cy="6124576"/>
          </a:xfrm>
          <a:prstGeom prst="leftBrace">
            <a:avLst>
              <a:gd name="adj1" fmla="val 3385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TextBox 6"/>
          <p:cNvSpPr txBox="1"/>
          <p:nvPr/>
        </p:nvSpPr>
        <p:spPr>
          <a:xfrm>
            <a:off x="2550905" y="1118987"/>
            <a:ext cx="1651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long message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349579" y="4396848"/>
              <a:ext cx="6054066" cy="51816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0953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419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676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0025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l-PL" sz="2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pl-PL" sz="2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l-PL" sz="2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3301887"/>
                  </p:ext>
                </p:extLst>
              </p:nvPr>
            </p:nvGraphicFramePr>
            <p:xfrm>
              <a:off x="349579" y="4396848"/>
              <a:ext cx="6054066" cy="51816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095396"/>
                    <a:gridCol w="3841901"/>
                    <a:gridCol w="1116769"/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556" t="-1163" r="-453333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8685" t="-1163" r="-29319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443716" t="-1163" r="-1093" b="-2326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11" name="Straight Arrow Connector 10"/>
          <p:cNvCxnSpPr/>
          <p:nvPr/>
        </p:nvCxnSpPr>
        <p:spPr>
          <a:xfrm flipH="1">
            <a:off x="906055" y="3427851"/>
            <a:ext cx="8014" cy="9452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88619" y="3613756"/>
                <a:ext cx="915059" cy="42761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</m:sub>
                      </m:sSub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19" y="3613756"/>
                <a:ext cx="915059" cy="42761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5767810" y="3440403"/>
            <a:ext cx="16709" cy="9326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59069" y="3613756"/>
                <a:ext cx="915059" cy="42761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</m:sub>
                      </m:sSub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069" y="3613756"/>
                <a:ext cx="915059" cy="42761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036951" y="3661382"/>
                <a:ext cx="5325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951" y="3661382"/>
                <a:ext cx="532518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906056" y="4927500"/>
            <a:ext cx="1664" cy="8827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80606" y="5082349"/>
                <a:ext cx="923073" cy="40011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06" y="5082349"/>
                <a:ext cx="923073" cy="40011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>
            <a:off x="5767811" y="4941949"/>
            <a:ext cx="10359" cy="8683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359070" y="5103893"/>
                <a:ext cx="907043" cy="40011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070" y="5103893"/>
                <a:ext cx="907043" cy="40011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028938" y="5161031"/>
                <a:ext cx="5325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938" y="5161031"/>
                <a:ext cx="532518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/>
              <p:cNvGraphicFramePr>
                <a:graphicFrameLocks noGrp="1"/>
              </p:cNvGraphicFramePr>
              <p:nvPr/>
            </p:nvGraphicFramePr>
            <p:xfrm>
              <a:off x="314325" y="5837191"/>
              <a:ext cx="6124575" cy="51816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1081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866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297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4550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l-PL" sz="2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pl-PL" sz="2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l-PL" sz="24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518276"/>
                  </p:ext>
                </p:extLst>
              </p:nvPr>
            </p:nvGraphicFramePr>
            <p:xfrm>
              <a:off x="314325" y="5837191"/>
              <a:ext cx="6124575" cy="51816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108154"/>
                    <a:gridCol w="3886646"/>
                    <a:gridCol w="1129775"/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11"/>
                          <a:stretch>
                            <a:fillRect l="-549" t="-1163" r="-453846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11"/>
                          <a:stretch>
                            <a:fillRect l="-28683" t="-1163" r="-29467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11"/>
                          <a:stretch>
                            <a:fillRect l="-441398" t="-1163" r="-1075" b="-2326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1" name="Rounded Rectangular Callout 20"/>
          <p:cNvSpPr/>
          <p:nvPr/>
        </p:nvSpPr>
        <p:spPr>
          <a:xfrm>
            <a:off x="6553200" y="2292350"/>
            <a:ext cx="2381250" cy="3074321"/>
          </a:xfrm>
          <a:prstGeom prst="wedgeRoundRectCallout">
            <a:avLst>
              <a:gd name="adj1" fmla="val -66903"/>
              <a:gd name="adj2" fmla="val -71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note</a:t>
            </a:r>
            <a:r>
              <a:rPr lang="en-US" sz="2400" dirty="0"/>
              <a:t>: this is </a:t>
            </a:r>
            <a:r>
              <a:rPr lang="en-US" sz="2400" b="1" dirty="0">
                <a:solidFill>
                  <a:srgbClr val="FF0000"/>
                </a:solidFill>
              </a:rPr>
              <a:t>randomized</a:t>
            </a:r>
            <a:r>
              <a:rPr lang="en-US" sz="2400" dirty="0"/>
              <a:t>, so we don’t have the same problem as with the </a:t>
            </a:r>
            <a:r>
              <a:rPr lang="en-US" sz="2400" b="1" dirty="0"/>
              <a:t>ECB mode</a:t>
            </a:r>
            <a:endParaRPr lang="pl-PL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2505475" y="2508210"/>
            <a:ext cx="1742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 into blocks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9996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9" grpId="0" animBg="1"/>
      <p:bldP spid="13" grpId="0" animBg="1"/>
      <p:bldP spid="14" grpId="0"/>
      <p:bldP spid="16" grpId="0" animBg="1"/>
      <p:bldP spid="18" grpId="0" animBg="1"/>
      <p:bldP spid="19" grpId="0"/>
      <p:bldP spid="21" grpId="0" animBg="1"/>
      <p:bldP spid="26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3505200"/>
            <a:ext cx="9144000" cy="2514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3200" dirty="0"/>
              <a:t>A more efficient solution:</a:t>
            </a:r>
          </a:p>
          <a:p>
            <a:pPr algn="ctr"/>
            <a:endParaRPr lang="en-US" sz="3200" dirty="0"/>
          </a:p>
          <a:p>
            <a:pPr algn="ctr"/>
            <a:r>
              <a:rPr lang="pl-PL" sz="3200" b="1" dirty="0">
                <a:solidFill>
                  <a:srgbClr val="0070C0"/>
                </a:solidFill>
              </a:rPr>
              <a:t>KEM/DEM paradigm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00" y="365126"/>
            <a:ext cx="8147050" cy="1325563"/>
          </a:xfrm>
        </p:spPr>
        <p:txBody>
          <a:bodyPr/>
          <a:lstStyle/>
          <a:p>
            <a:r>
              <a:rPr lang="en-US" sz="4000" dirty="0"/>
              <a:t>A problem with this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983" y="1696006"/>
                <a:ext cx="820021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It’s rather inefficient (the number of public-key operations is proportional to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800" dirty="0"/>
                  <a:t>)</a:t>
                </a:r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83" y="1696006"/>
                <a:ext cx="8200217" cy="954107"/>
              </a:xfrm>
              <a:prstGeom prst="rect">
                <a:avLst/>
              </a:prstGeom>
              <a:blipFill rotWithShape="0">
                <a:blip r:embed="rId3"/>
                <a:stretch>
                  <a:fillRect l="-1487" t="-6369" b="-165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69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Ingrediens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01729"/>
                <a:ext cx="7886700" cy="427523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DEM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– </a:t>
                </a:r>
                <a:r>
                  <a:rPr lang="en-US" b="1" dirty="0">
                    <a:solidFill>
                      <a:srgbClr val="0070C0"/>
                    </a:solidFill>
                  </a:rPr>
                  <a:t>Data Encapsulation Mechanism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230188" indent="-230188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KEM</a:t>
                </a:r>
                <a:r>
                  <a:rPr lang="en-US" dirty="0"/>
                  <a:t> – </a:t>
                </a:r>
                <a:r>
                  <a:rPr lang="en-US" b="1" dirty="0">
                    <a:solidFill>
                      <a:srgbClr val="0070C0"/>
                    </a:solidFill>
                  </a:rPr>
                  <a:t>Key Encapsulation Mechanism</a:t>
                </a:r>
                <a:br>
                  <a:rPr lang="en-US" dirty="0"/>
                </a:br>
                <a:r>
                  <a:rPr lang="en-US" dirty="0"/>
                  <a:t>consists of the following algorithms:</a:t>
                </a:r>
              </a:p>
              <a:p>
                <a:pPr marL="515938" indent="-230188"/>
                <a:r>
                  <a:rPr lang="en-US" b="1" dirty="0">
                    <a:solidFill>
                      <a:srgbClr val="00B050"/>
                    </a:solidFill>
                  </a:rPr>
                  <a:t>key generation algorithm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– as in </a:t>
                </a:r>
                <a:r>
                  <a:rPr lang="en-US" b="1" dirty="0">
                    <a:solidFill>
                      <a:srgbClr val="7030A0"/>
                    </a:solidFill>
                  </a:rPr>
                  <a:t>PKE</a:t>
                </a:r>
                <a:r>
                  <a:rPr lang="en-US" dirty="0"/>
                  <a:t>,</a:t>
                </a:r>
              </a:p>
              <a:p>
                <a:pPr marL="515938" indent="-230188"/>
                <a:r>
                  <a:rPr lang="en-US" b="1" dirty="0">
                    <a:solidFill>
                      <a:srgbClr val="00B050"/>
                    </a:solidFill>
                  </a:rPr>
                  <a:t>encapsulation algorithm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Encaps</a:t>
                </a:r>
                <a:r>
                  <a:rPr lang="en-US" dirty="0"/>
                  <a:t>,</a:t>
                </a:r>
              </a:p>
              <a:p>
                <a:pPr marL="515938" indent="-230188"/>
                <a:r>
                  <a:rPr lang="en-US" b="1" dirty="0">
                    <a:solidFill>
                      <a:srgbClr val="00B050"/>
                    </a:solidFill>
                  </a:rPr>
                  <a:t>decapsulation algorithm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Decaps</a:t>
                </a:r>
                <a:r>
                  <a:rPr lang="en-US" dirty="0"/>
                  <a:t>.</a:t>
                </a:r>
                <a:endParaRPr lang="en-US" b="1" dirty="0">
                  <a:solidFill>
                    <a:srgbClr val="00B050"/>
                  </a:solidFill>
                </a:endParaRPr>
              </a:p>
              <a:p>
                <a:pPr marL="342900" indent="-34290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01729"/>
                <a:ext cx="7886700" cy="4275234"/>
              </a:xfrm>
              <a:blipFill rotWithShape="0">
                <a:blip r:embed="rId2"/>
                <a:stretch>
                  <a:fillRect l="-1546" t="-256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ular Callout 3"/>
          <p:cNvSpPr/>
          <p:nvPr/>
        </p:nvSpPr>
        <p:spPr>
          <a:xfrm>
            <a:off x="3663209" y="2636615"/>
            <a:ext cx="4414925" cy="618256"/>
          </a:xfrm>
          <a:prstGeom prst="wedgeRectCallout">
            <a:avLst>
              <a:gd name="adj1" fmla="val -34048"/>
              <a:gd name="adj2" fmla="val -9475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= private key encryption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282578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913" y="347023"/>
            <a:ext cx="3995012" cy="7619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KEM</a:t>
            </a:r>
            <a:r>
              <a:rPr lang="en-US" dirty="0"/>
              <a:t>: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5"/>
              <p:cNvSpPr>
                <a:spLocks noChangeArrowheads="1"/>
              </p:cNvSpPr>
              <p:nvPr/>
            </p:nvSpPr>
            <p:spPr bwMode="auto">
              <a:xfrm>
                <a:off x="1961580" y="3209162"/>
                <a:ext cx="1752600" cy="1524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𝐄𝐧𝐜𝐚𝐩𝐬</m:t>
                      </m:r>
                      <m:r>
                        <a:rPr lang="en-US" sz="28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1580" y="3209162"/>
                <a:ext cx="1752600" cy="15240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ine 14"/>
          <p:cNvSpPr>
            <a:spLocks noChangeShapeType="1"/>
          </p:cNvSpPr>
          <p:nvPr/>
        </p:nvSpPr>
        <p:spPr bwMode="auto">
          <a:xfrm>
            <a:off x="1199580" y="3971162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9"/>
              <p:cNvSpPr txBox="1">
                <a:spLocks noChangeArrowheads="1"/>
              </p:cNvSpPr>
              <p:nvPr/>
            </p:nvSpPr>
            <p:spPr bwMode="auto">
              <a:xfrm>
                <a:off x="695968" y="3728422"/>
                <a:ext cx="556563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968" y="3728422"/>
                <a:ext cx="556563" cy="400110"/>
              </a:xfrm>
              <a:prstGeom prst="rect">
                <a:avLst/>
              </a:prstGeom>
              <a:blipFill rotWithShape="0">
                <a:blip r:embed="rId3"/>
                <a:stretch>
                  <a:fillRect r="-1099" b="-1846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16977" y="1414146"/>
                <a:ext cx="17089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security parameter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77" y="1414146"/>
                <a:ext cx="1708986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2857" t="-5172" b="-1465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ine 7"/>
          <p:cNvSpPr>
            <a:spLocks noChangeShapeType="1"/>
          </p:cNvSpPr>
          <p:nvPr/>
        </p:nvSpPr>
        <p:spPr bwMode="auto">
          <a:xfrm flipH="1">
            <a:off x="2825492" y="4748934"/>
            <a:ext cx="9251" cy="3265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08006" y="5035136"/>
                <a:ext cx="83497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006" y="5035136"/>
                <a:ext cx="834972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ular Callout 10"/>
          <p:cNvSpPr/>
          <p:nvPr/>
        </p:nvSpPr>
        <p:spPr>
          <a:xfrm>
            <a:off x="1003159" y="5626081"/>
            <a:ext cx="1497821" cy="927119"/>
          </a:xfrm>
          <a:prstGeom prst="wedgeRectCallout">
            <a:avLst>
              <a:gd name="adj1" fmla="val 57147"/>
              <a:gd name="adj2" fmla="val -8355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“ciphertext”</a:t>
            </a:r>
            <a:endParaRPr lang="pl-PL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ular Callout 11"/>
              <p:cNvSpPr/>
              <p:nvPr/>
            </p:nvSpPr>
            <p:spPr>
              <a:xfrm>
                <a:off x="2710159" y="5626081"/>
                <a:ext cx="2192041" cy="927119"/>
              </a:xfrm>
              <a:prstGeom prst="wedgeRectCallout">
                <a:avLst>
                  <a:gd name="adj1" fmla="val -37191"/>
                  <a:gd name="adj2" fmla="val -83036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symmetric key</a:t>
                </a:r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ular Callou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159" y="5626081"/>
                <a:ext cx="2192041" cy="927119"/>
              </a:xfrm>
              <a:prstGeom prst="wedgeRectCallout">
                <a:avLst>
                  <a:gd name="adj1" fmla="val -37191"/>
                  <a:gd name="adj2" fmla="val -83036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6760628" y="3366532"/>
                <a:ext cx="1752600" cy="1524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𝐃𝐞𝐜𝐚𝐩𝐬</m:t>
                      </m:r>
                      <m:r>
                        <a:rPr lang="en-US" sz="2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8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60628" y="3366532"/>
                <a:ext cx="1752600" cy="15240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6001765" y="417159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9"/>
              <p:cNvSpPr txBox="1">
                <a:spLocks noChangeArrowheads="1"/>
              </p:cNvSpPr>
              <p:nvPr/>
            </p:nvSpPr>
            <p:spPr bwMode="auto">
              <a:xfrm>
                <a:off x="5509322" y="3981851"/>
                <a:ext cx="526106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9322" y="3981851"/>
                <a:ext cx="526106" cy="40011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ine 7"/>
          <p:cNvSpPr>
            <a:spLocks noChangeShapeType="1"/>
          </p:cNvSpPr>
          <p:nvPr/>
        </p:nvSpPr>
        <p:spPr bwMode="auto">
          <a:xfrm>
            <a:off x="7633791" y="2836286"/>
            <a:ext cx="3137" cy="5289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457300" y="2425389"/>
                <a:ext cx="37061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pl-PL" sz="20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7300" y="2425389"/>
                <a:ext cx="370614" cy="40011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7630654" y="4906304"/>
            <a:ext cx="3137" cy="5289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431721" y="5471784"/>
                <a:ext cx="397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721" y="5471784"/>
                <a:ext cx="397866" cy="40011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5"/>
              <p:cNvSpPr>
                <a:spLocks noChangeArrowheads="1"/>
              </p:cNvSpPr>
              <p:nvPr/>
            </p:nvSpPr>
            <p:spPr bwMode="auto">
              <a:xfrm>
                <a:off x="4802619" y="1287148"/>
                <a:ext cx="1110127" cy="83311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𝐆𝐞𝐧</m:t>
                      </m:r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2619" y="1287148"/>
                <a:ext cx="1110127" cy="833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endCxn id="22" idx="1"/>
          </p:cNvCxnSpPr>
          <p:nvPr/>
        </p:nvCxnSpPr>
        <p:spPr>
          <a:xfrm flipV="1">
            <a:off x="3736619" y="1703707"/>
            <a:ext cx="1066000" cy="31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5912746" y="1703706"/>
            <a:ext cx="560982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365581" y="1492508"/>
                <a:ext cx="11491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581" y="1492508"/>
                <a:ext cx="1149161" cy="400110"/>
              </a:xfrm>
              <a:prstGeom prst="rect">
                <a:avLst/>
              </a:prstGeom>
              <a:blipFill rotWithShape="0">
                <a:blip r:embed="rId12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ular Callout 29"/>
          <p:cNvSpPr/>
          <p:nvPr/>
        </p:nvSpPr>
        <p:spPr>
          <a:xfrm>
            <a:off x="5616670" y="708231"/>
            <a:ext cx="1497821" cy="367719"/>
          </a:xfrm>
          <a:prstGeom prst="wedgeRectCallout">
            <a:avLst>
              <a:gd name="adj1" fmla="val 22987"/>
              <a:gd name="adj2" fmla="val 18144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public key</a:t>
            </a:r>
            <a:endParaRPr lang="pl-PL" sz="2000" dirty="0"/>
          </a:p>
        </p:txBody>
      </p:sp>
      <p:sp>
        <p:nvSpPr>
          <p:cNvPr id="31" name="Rectangular Callout 30"/>
          <p:cNvSpPr/>
          <p:nvPr/>
        </p:nvSpPr>
        <p:spPr>
          <a:xfrm>
            <a:off x="7246012" y="708230"/>
            <a:ext cx="1497821" cy="367719"/>
          </a:xfrm>
          <a:prstGeom prst="wedgeRectCallout">
            <a:avLst>
              <a:gd name="adj1" fmla="val -58287"/>
              <a:gd name="adj2" fmla="val 1829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secret key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86419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8" grpId="0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/>
      <p:bldP spid="16" grpId="0" animBg="1"/>
      <p:bldP spid="17" grpId="0"/>
      <p:bldP spid="18" grpId="0" animBg="1"/>
      <p:bldP spid="19" grpId="0"/>
      <p:bldP spid="22" grpId="0" animBg="1"/>
      <p:bldP spid="28" grpId="0" animBg="1"/>
      <p:bldP spid="29" grpId="0"/>
      <p:bldP spid="30" grpId="0" animBg="1"/>
      <p:bldP spid="31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5254"/>
            <a:ext cx="8515350" cy="1325563"/>
          </a:xfrm>
        </p:spPr>
        <p:txBody>
          <a:bodyPr/>
          <a:lstStyle/>
          <a:p>
            <a:r>
              <a:rPr lang="en-US" dirty="0"/>
              <a:t>How to encrypt?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2421" y="1539380"/>
                <a:ext cx="3937740" cy="104883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– as in </a:t>
                </a:r>
                <a:r>
                  <a:rPr lang="en-US" b="1" dirty="0">
                    <a:solidFill>
                      <a:srgbClr val="FF0000"/>
                    </a:solidFill>
                  </a:rPr>
                  <a:t>KEM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–</a:t>
                </a:r>
                <a:r>
                  <a:rPr lang="en-US" b="1" dirty="0">
                    <a:solidFill>
                      <a:srgbClr val="FF0000"/>
                    </a:solidFill>
                  </a:rPr>
                  <a:t> DEM</a:t>
                </a:r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421" y="1539380"/>
                <a:ext cx="3937740" cy="1048836"/>
              </a:xfrm>
              <a:blipFill rotWithShape="0">
                <a:blip r:embed="rId2"/>
                <a:stretch>
                  <a:fillRect t="-10465" b="-1046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6"/>
          <p:cNvSpPr>
            <a:spLocks noChangeArrowheads="1"/>
          </p:cNvSpPr>
          <p:nvPr/>
        </p:nvSpPr>
        <p:spPr bwMode="auto">
          <a:xfrm>
            <a:off x="2064412" y="5686721"/>
            <a:ext cx="4587887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/>
              <p:cNvSpPr>
                <a:spLocks noChangeArrowheads="1"/>
              </p:cNvSpPr>
              <p:nvPr/>
            </p:nvSpPr>
            <p:spPr bwMode="auto">
              <a:xfrm>
                <a:off x="2032722" y="3223098"/>
                <a:ext cx="1752600" cy="1524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𝐄𝐧𝐜𝐚𝐩𝐬</m:t>
                      </m:r>
                      <m:r>
                        <a:rPr lang="en-US" sz="28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2722" y="3223098"/>
                <a:ext cx="1752600" cy="15240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4937799" y="3223098"/>
                <a:ext cx="1752600" cy="1524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endParaRPr lang="en-US" sz="32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Sup>
                        <m:sSubSup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3200" b="1" baseline="-250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7799" y="3223098"/>
                <a:ext cx="1752600" cy="15240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852199" y="2308698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1270722" y="398509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>
            <a:off x="5774645" y="4785198"/>
            <a:ext cx="0" cy="11301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 flipH="1">
            <a:off x="2909021" y="4747098"/>
            <a:ext cx="3915" cy="11682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8"/>
              <p:cNvSpPr txBox="1">
                <a:spLocks noChangeArrowheads="1"/>
              </p:cNvSpPr>
              <p:nvPr/>
            </p:nvSpPr>
            <p:spPr bwMode="auto">
              <a:xfrm>
                <a:off x="5623599" y="1906413"/>
                <a:ext cx="4572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23599" y="1906413"/>
                <a:ext cx="457200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9"/>
              <p:cNvSpPr txBox="1">
                <a:spLocks noChangeArrowheads="1"/>
              </p:cNvSpPr>
              <p:nvPr/>
            </p:nvSpPr>
            <p:spPr bwMode="auto">
              <a:xfrm>
                <a:off x="716621" y="3719918"/>
                <a:ext cx="630301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621" y="3719918"/>
                <a:ext cx="630301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2913" r="-3883" b="-2105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20"/>
              <p:cNvSpPr txBox="1">
                <a:spLocks noChangeArrowheads="1"/>
              </p:cNvSpPr>
              <p:nvPr/>
            </p:nvSpPr>
            <p:spPr bwMode="auto">
              <a:xfrm>
                <a:off x="2167458" y="5840893"/>
                <a:ext cx="1535022" cy="4230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sz="22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7458" y="5840893"/>
                <a:ext cx="1535022" cy="4230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21"/>
              <p:cNvSpPr txBox="1">
                <a:spLocks noChangeArrowheads="1"/>
              </p:cNvSpPr>
              <p:nvPr/>
            </p:nvSpPr>
            <p:spPr bwMode="auto">
              <a:xfrm>
                <a:off x="4566390" y="5817786"/>
                <a:ext cx="2295507" cy="657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 =</m:t>
                      </m:r>
                      <m:r>
                        <a:rPr lang="en-US" sz="2200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Sup>
                        <m:sSubSupPr>
                          <m:ctrlPr>
                            <a:rPr lang="en-US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1" i="0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US" sz="2200" b="1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2200" b="1" baseline="-25000" dirty="0"/>
              </a:p>
            </p:txBody>
          </p:sp>
        </mc:Choice>
        <mc:Fallback xmlns="">
          <p:sp>
            <p:nvSpPr>
              <p:cNvPr id="19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6390" y="5817786"/>
                <a:ext cx="2295507" cy="65748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utoShape 24"/>
          <p:cNvSpPr>
            <a:spLocks noChangeArrowheads="1"/>
          </p:cNvSpPr>
          <p:nvPr/>
        </p:nvSpPr>
        <p:spPr bwMode="auto">
          <a:xfrm rot="19946831" flipH="1">
            <a:off x="6011195" y="2586945"/>
            <a:ext cx="2859285" cy="1066800"/>
          </a:xfrm>
          <a:prstGeom prst="rightArrow">
            <a:avLst>
              <a:gd name="adj1" fmla="val 50000"/>
              <a:gd name="adj2" fmla="val 50074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/>
              <a:t>private key encryption</a:t>
            </a:r>
          </a:p>
        </p:txBody>
      </p:sp>
      <p:sp>
        <p:nvSpPr>
          <p:cNvPr id="22" name="AutoShape 27"/>
          <p:cNvSpPr>
            <a:spLocks noChangeArrowheads="1"/>
          </p:cNvSpPr>
          <p:nvPr/>
        </p:nvSpPr>
        <p:spPr bwMode="auto">
          <a:xfrm>
            <a:off x="6566654" y="5648621"/>
            <a:ext cx="2209800" cy="762000"/>
          </a:xfrm>
          <a:prstGeom prst="leftArrow">
            <a:avLst>
              <a:gd name="adj1" fmla="val 50000"/>
              <a:gd name="adj2" fmla="val 725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/>
              <a:t>ciphertext</a:t>
            </a:r>
          </a:p>
        </p:txBody>
      </p:sp>
      <p:cxnSp>
        <p:nvCxnSpPr>
          <p:cNvPr id="24" name="Curved Connector 23"/>
          <p:cNvCxnSpPr>
            <a:endCxn id="6" idx="1"/>
          </p:cNvCxnSpPr>
          <p:nvPr/>
        </p:nvCxnSpPr>
        <p:spPr>
          <a:xfrm rot="5400000" flipH="1" flipV="1">
            <a:off x="3561460" y="3370759"/>
            <a:ext cx="762000" cy="1990677"/>
          </a:xfrm>
          <a:prstGeom prst="curvedConnector4">
            <a:avLst>
              <a:gd name="adj1" fmla="val -47669"/>
              <a:gd name="adj2" fmla="val 6070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20"/>
              <p:cNvSpPr txBox="1">
                <a:spLocks noChangeArrowheads="1"/>
              </p:cNvSpPr>
              <p:nvPr/>
            </p:nvSpPr>
            <p:spPr bwMode="auto">
              <a:xfrm>
                <a:off x="2700815" y="5155093"/>
                <a:ext cx="468307" cy="4230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sz="22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0815" y="5155093"/>
                <a:ext cx="468307" cy="4230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20"/>
              <p:cNvSpPr txBox="1">
                <a:spLocks noChangeArrowheads="1"/>
              </p:cNvSpPr>
              <p:nvPr/>
            </p:nvSpPr>
            <p:spPr bwMode="auto">
              <a:xfrm>
                <a:off x="4012292" y="4376152"/>
                <a:ext cx="468307" cy="4230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2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2292" y="4376152"/>
                <a:ext cx="468307" cy="4230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20"/>
              <p:cNvSpPr txBox="1">
                <a:spLocks noChangeArrowheads="1"/>
              </p:cNvSpPr>
              <p:nvPr/>
            </p:nvSpPr>
            <p:spPr bwMode="auto">
              <a:xfrm>
                <a:off x="5540491" y="5133079"/>
                <a:ext cx="468307" cy="4230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2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40491" y="5133079"/>
                <a:ext cx="468307" cy="423065"/>
              </a:xfrm>
              <a:prstGeom prst="rect">
                <a:avLst/>
              </a:prstGeom>
              <a:blipFill rotWithShape="0">
                <a:blip r:embed="rId11"/>
                <a:stretch>
                  <a:fillRect r="-2532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205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12" grpId="0" animBg="1"/>
      <p:bldP spid="13" grpId="0" animBg="1"/>
      <p:bldP spid="14" grpId="0" animBg="1"/>
      <p:bldP spid="16" grpId="0"/>
      <p:bldP spid="17" grpId="0"/>
      <p:bldP spid="18" grpId="0"/>
      <p:bldP spid="19" grpId="0"/>
      <p:bldP spid="21" grpId="0" animBg="1"/>
      <p:bldP spid="22" grpId="0" animBg="1"/>
      <p:bldP spid="27" grpId="0" animBg="1"/>
      <p:bldP spid="28" grpId="0" animBg="1"/>
      <p:bldP spid="29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23541" y="285182"/>
            <a:ext cx="8229600" cy="1143000"/>
          </a:xfrm>
        </p:spPr>
        <p:txBody>
          <a:bodyPr/>
          <a:lstStyle/>
          <a:p>
            <a:r>
              <a:rPr lang="en-US" dirty="0"/>
              <a:t>How to decrypt?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2584256" y="1897987"/>
            <a:ext cx="38100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41" name="Rectangle 5"/>
              <p:cNvSpPr>
                <a:spLocks noChangeArrowheads="1"/>
              </p:cNvSpPr>
              <p:nvPr/>
            </p:nvSpPr>
            <p:spPr bwMode="auto">
              <a:xfrm>
                <a:off x="2050856" y="3498187"/>
                <a:ext cx="1752600" cy="1524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𝐃𝐞𝐜𝐚𝐩𝐬</m:t>
                      </m:r>
                      <m:r>
                        <a:rPr lang="en-US" sz="28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141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0856" y="3498187"/>
                <a:ext cx="1752600" cy="15240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42" name="Rectangle 6"/>
              <p:cNvSpPr>
                <a:spLocks noChangeArrowheads="1"/>
              </p:cNvSpPr>
              <p:nvPr/>
            </p:nvSpPr>
            <p:spPr bwMode="auto">
              <a:xfrm>
                <a:off x="5175056" y="3498187"/>
                <a:ext cx="1752600" cy="1524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endParaRPr lang="en-US" sz="32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</m:t>
                      </m:r>
                      <m:sSubSup>
                        <m:sSubSup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142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75056" y="3498187"/>
                <a:ext cx="1752600" cy="15240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143" name="Line 7"/>
          <p:cNvSpPr>
            <a:spLocks noChangeShapeType="1"/>
          </p:cNvSpPr>
          <p:nvPr/>
        </p:nvSpPr>
        <p:spPr bwMode="auto">
          <a:xfrm>
            <a:off x="2965256" y="2583787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91144" name="Line 8"/>
          <p:cNvSpPr>
            <a:spLocks noChangeShapeType="1"/>
          </p:cNvSpPr>
          <p:nvPr/>
        </p:nvSpPr>
        <p:spPr bwMode="auto">
          <a:xfrm>
            <a:off x="6089456" y="2583787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91145" name="Line 9"/>
          <p:cNvSpPr>
            <a:spLocks noChangeShapeType="1"/>
          </p:cNvSpPr>
          <p:nvPr/>
        </p:nvSpPr>
        <p:spPr bwMode="auto">
          <a:xfrm>
            <a:off x="2965256" y="5250787"/>
            <a:ext cx="1447800" cy="0"/>
          </a:xfrm>
          <a:prstGeom prst="line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91146" name="Line 10"/>
          <p:cNvSpPr>
            <a:spLocks noChangeShapeType="1"/>
          </p:cNvSpPr>
          <p:nvPr/>
        </p:nvSpPr>
        <p:spPr bwMode="auto">
          <a:xfrm>
            <a:off x="4413056" y="4260187"/>
            <a:ext cx="0" cy="990600"/>
          </a:xfrm>
          <a:prstGeom prst="line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91147" name="Line 11"/>
          <p:cNvSpPr>
            <a:spLocks noChangeShapeType="1"/>
          </p:cNvSpPr>
          <p:nvPr/>
        </p:nvSpPr>
        <p:spPr bwMode="auto">
          <a:xfrm>
            <a:off x="4413056" y="4260187"/>
            <a:ext cx="762000" cy="0"/>
          </a:xfrm>
          <a:prstGeom prst="line">
            <a:avLst/>
          </a:prstGeom>
          <a:ln>
            <a:solidFill>
              <a:schemeClr val="tx1"/>
            </a:solidFill>
            <a:headEnd/>
            <a:tailEnd type="triangl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91148" name="Line 12"/>
          <p:cNvSpPr>
            <a:spLocks noChangeShapeType="1"/>
          </p:cNvSpPr>
          <p:nvPr/>
        </p:nvSpPr>
        <p:spPr bwMode="auto">
          <a:xfrm>
            <a:off x="1288856" y="4260187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91149" name="Line 13"/>
          <p:cNvSpPr>
            <a:spLocks noChangeShapeType="1"/>
          </p:cNvSpPr>
          <p:nvPr/>
        </p:nvSpPr>
        <p:spPr bwMode="auto">
          <a:xfrm>
            <a:off x="6089456" y="5022187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91150" name="Line 14"/>
          <p:cNvSpPr>
            <a:spLocks noChangeShapeType="1"/>
          </p:cNvSpPr>
          <p:nvPr/>
        </p:nvSpPr>
        <p:spPr bwMode="auto">
          <a:xfrm>
            <a:off x="2965256" y="5022187"/>
            <a:ext cx="0" cy="228600"/>
          </a:xfrm>
          <a:prstGeom prst="line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51" name="Text Box 15"/>
              <p:cNvSpPr txBox="1">
                <a:spLocks noChangeArrowheads="1"/>
              </p:cNvSpPr>
              <p:nvPr/>
            </p:nvSpPr>
            <p:spPr bwMode="auto">
              <a:xfrm>
                <a:off x="4172839" y="5040291"/>
                <a:ext cx="439544" cy="461665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151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2839" y="5040291"/>
                <a:ext cx="439544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52" name="Text Box 16"/>
              <p:cNvSpPr txBox="1">
                <a:spLocks noChangeArrowheads="1"/>
              </p:cNvSpPr>
              <p:nvPr/>
            </p:nvSpPr>
            <p:spPr bwMode="auto">
              <a:xfrm>
                <a:off x="5860856" y="5631787"/>
                <a:ext cx="4572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152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0856" y="5631787"/>
                <a:ext cx="457200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53" name="Text Box 17"/>
              <p:cNvSpPr txBox="1">
                <a:spLocks noChangeArrowheads="1"/>
              </p:cNvSpPr>
              <p:nvPr/>
            </p:nvSpPr>
            <p:spPr bwMode="auto">
              <a:xfrm>
                <a:off x="779708" y="4029354"/>
                <a:ext cx="59343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153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708" y="4029354"/>
                <a:ext cx="593432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54" name="Text Box 18"/>
              <p:cNvSpPr txBox="1">
                <a:spLocks noChangeArrowheads="1"/>
              </p:cNvSpPr>
              <p:nvPr/>
            </p:nvSpPr>
            <p:spPr bwMode="auto">
              <a:xfrm>
                <a:off x="2717592" y="1978941"/>
                <a:ext cx="5334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15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7592" y="1978941"/>
                <a:ext cx="5334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55" name="Text Box 19"/>
              <p:cNvSpPr txBox="1">
                <a:spLocks noChangeArrowheads="1"/>
              </p:cNvSpPr>
              <p:nvPr/>
            </p:nvSpPr>
            <p:spPr bwMode="auto">
              <a:xfrm>
                <a:off x="5784656" y="1978949"/>
                <a:ext cx="5334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155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4656" y="1978949"/>
                <a:ext cx="533400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159" name="AutoShape 23"/>
          <p:cNvSpPr>
            <a:spLocks noChangeArrowheads="1"/>
          </p:cNvSpPr>
          <p:nvPr/>
        </p:nvSpPr>
        <p:spPr bwMode="auto">
          <a:xfrm>
            <a:off x="6318056" y="1859887"/>
            <a:ext cx="2209800" cy="762000"/>
          </a:xfrm>
          <a:prstGeom prst="leftArrow">
            <a:avLst>
              <a:gd name="adj1" fmla="val 50000"/>
              <a:gd name="adj2" fmla="val 725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/>
              <a:t>ciphertext</a:t>
            </a: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 rot="19946831" flipH="1">
            <a:off x="6118951" y="2909955"/>
            <a:ext cx="2859285" cy="1066800"/>
          </a:xfrm>
          <a:prstGeom prst="rightArrow">
            <a:avLst>
              <a:gd name="adj1" fmla="val 50000"/>
              <a:gd name="adj2" fmla="val 50074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/>
              <a:t>private-key decryption</a:t>
            </a: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19946831">
            <a:off x="242253" y="4815698"/>
            <a:ext cx="3101895" cy="1066800"/>
          </a:xfrm>
          <a:prstGeom prst="rightArrow">
            <a:avLst>
              <a:gd name="adj1" fmla="val 50000"/>
              <a:gd name="adj2" fmla="val 48214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/>
              <a:t>key decapsulation</a:t>
            </a:r>
          </a:p>
        </p:txBody>
      </p:sp>
    </p:spTree>
    <p:extLst>
      <p:ext uri="{BB962C8B-B14F-4D97-AF65-F5344CB8AC3E}">
        <p14:creationId xmlns:p14="http://schemas.microsoft.com/office/powerpoint/2010/main" val="191804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 animBg="1"/>
      <p:bldP spid="91141" grpId="0" animBg="1"/>
      <p:bldP spid="91142" grpId="0" animBg="1"/>
      <p:bldP spid="91143" grpId="0" animBg="1"/>
      <p:bldP spid="91144" grpId="0" animBg="1"/>
      <p:bldP spid="91145" grpId="0" animBg="1"/>
      <p:bldP spid="91146" grpId="0" animBg="1"/>
      <p:bldP spid="91147" grpId="0" animBg="1"/>
      <p:bldP spid="91148" grpId="0" animBg="1"/>
      <p:bldP spid="91149" grpId="0" animBg="1"/>
      <p:bldP spid="91150" grpId="0" animBg="1"/>
      <p:bldP spid="91151" grpId="0" animBg="1"/>
      <p:bldP spid="91152" grpId="0"/>
      <p:bldP spid="91154" grpId="0"/>
      <p:bldP spid="91155" grpId="0"/>
      <p:bldP spid="91159" grpId="0" animBg="1"/>
      <p:bldP spid="20" grpId="0" animBg="1"/>
      <p:bldP spid="21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6" y="0"/>
            <a:ext cx="7886700" cy="1325563"/>
          </a:xfrm>
        </p:spPr>
        <p:txBody>
          <a:bodyPr/>
          <a:lstStyle/>
          <a:p>
            <a:r>
              <a:rPr lang="en-US" dirty="0"/>
              <a:t>One method to implement </a:t>
            </a:r>
            <a:r>
              <a:rPr lang="en-US" b="1" dirty="0">
                <a:solidFill>
                  <a:srgbClr val="FF0000"/>
                </a:solidFill>
              </a:rPr>
              <a:t>KEM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26576" y="1270494"/>
                <a:ext cx="8728524" cy="516205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pl-PL" sz="2500" b="1" dirty="0">
                    <a:solidFill>
                      <a:srgbClr val="FF0000"/>
                    </a:solidFill>
                  </a:rPr>
                  <a:t>Hybrid encryption:</a:t>
                </a:r>
              </a:p>
              <a:p>
                <a:endParaRPr lang="pl-PL" sz="2500" dirty="0"/>
              </a:p>
              <a:p>
                <a:r>
                  <a:rPr lang="en-US" sz="2500" dirty="0"/>
                  <a:t>Take a </a:t>
                </a:r>
                <a:r>
                  <a:rPr lang="en-US" sz="2500" b="1" dirty="0">
                    <a:solidFill>
                      <a:srgbClr val="7030A0"/>
                    </a:solidFill>
                  </a:rPr>
                  <a:t>public-key encryption </a:t>
                </a:r>
                <a:r>
                  <a:rPr lang="en-US" sz="2500" dirty="0"/>
                  <a:t>scheme </a:t>
                </a:r>
                <a14:m>
                  <m:oMath xmlns:m="http://schemas.openxmlformats.org/officeDocument/2006/math"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5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5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5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.</a:t>
                </a:r>
              </a:p>
              <a:p>
                <a:endParaRPr lang="en-US" sz="2500" dirty="0"/>
              </a:p>
              <a:p>
                <a:r>
                  <a:rPr lang="en-US" sz="2500" dirty="0"/>
                  <a:t>Define </a:t>
                </a:r>
                <a14:m>
                  <m:oMath xmlns:m="http://schemas.openxmlformats.org/officeDocument/2006/math">
                    <m:r>
                      <a:rPr lang="en-US" sz="25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𝐊𝐄𝐌</m:t>
                    </m:r>
                  </m:oMath>
                </a14:m>
                <a:r>
                  <a:rPr lang="en-US" sz="2500" dirty="0"/>
                  <a:t> as follows:</a:t>
                </a:r>
              </a:p>
              <a:p>
                <a:endParaRPr lang="en-US" sz="2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5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</m:oMath>
                </a14:m>
                <a:r>
                  <a:rPr lang="en-US" sz="25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500" dirty="0"/>
                  <a:t>is the same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5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𝐄𝐧𝐜𝐚𝐩</m:t>
                    </m:r>
                    <m:sSub>
                      <m:sSubPr>
                        <m:ctrlP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𝒑𝒌</m:t>
                        </m:r>
                      </m:sub>
                    </m:sSub>
                    <m:r>
                      <a:rPr lang="en-US" sz="2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tx1"/>
                    </a:solidFill>
                  </a:rPr>
                  <a:t>generate a </a:t>
                </a:r>
                <a:r>
                  <a:rPr lang="en-US" sz="2500" b="1" dirty="0">
                    <a:solidFill>
                      <a:srgbClr val="0070C0"/>
                    </a:solidFill>
                  </a:rPr>
                  <a:t>random symmetric key </a:t>
                </a:r>
                <a14:m>
                  <m:oMath xmlns:m="http://schemas.openxmlformats.org/officeDocument/2006/math"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5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500" dirty="0"/>
                  <a:t>and </a:t>
                </a:r>
                <a:r>
                  <a:rPr lang="en-US" sz="2500" b="1" dirty="0"/>
                  <a:t>output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5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𝐄𝐧</m:t>
                          </m:r>
                          <m:sSub>
                            <m:sSubPr>
                              <m:ctrlP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𝒑𝒌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r>
                            <a:rPr lang="en-US" sz="25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5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</m:oMath>
                  </m:oMathPara>
                </a14:m>
                <a:endParaRPr lang="en-US" sz="2500" b="1" dirty="0">
                  <a:solidFill>
                    <a:srgbClr val="FF0000"/>
                  </a:solidFill>
                </a:endParaRPr>
              </a:p>
              <a:p>
                <a:endParaRPr lang="en-US" sz="2500" b="1" dirty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5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𝐃𝐞𝐜𝐚𝐩</m:t>
                    </m:r>
                    <m:sSub>
                      <m:sSubPr>
                        <m:ctrlPr>
                          <a:rPr lang="en-US" sz="25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sz="25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𝒔𝒌</m:t>
                        </m:r>
                      </m:sub>
                    </m:sSub>
                  </m:oMath>
                </a14:m>
                <a:r>
                  <a:rPr lang="en-US" sz="2500" b="1" dirty="0">
                    <a:solidFill>
                      <a:srgbClr val="FF0000"/>
                    </a:solidFill>
                  </a:rPr>
                  <a:t>  </a:t>
                </a:r>
                <a:r>
                  <a:rPr lang="en-US" sz="2500" dirty="0"/>
                  <a:t>= on input </a:t>
                </a:r>
                <a14:m>
                  <m:oMath xmlns:m="http://schemas.openxmlformats.org/officeDocument/2006/math"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sz="25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500" b="1" dirty="0"/>
                  <a:t>output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</m:t>
                    </m:r>
                    <m:sSub>
                      <m:sSubPr>
                        <m:ctrlP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𝒔𝒌</m:t>
                        </m:r>
                      </m:sub>
                    </m:sSub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5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6" y="1270494"/>
                <a:ext cx="8728524" cy="5162056"/>
              </a:xfrm>
              <a:prstGeom prst="rect">
                <a:avLst/>
              </a:prstGeom>
              <a:blipFill>
                <a:blip r:embed="rId2"/>
                <a:stretch>
                  <a:fillRect l="-1188" t="-826" b="-23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390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5259983" y="3387898"/>
            <a:ext cx="3505696" cy="261547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0" name="Rounded Rectangle 59"/>
          <p:cNvSpPr/>
          <p:nvPr/>
        </p:nvSpPr>
        <p:spPr>
          <a:xfrm>
            <a:off x="949464" y="3469533"/>
            <a:ext cx="3142741" cy="236154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9" name="Rounded Rectangle 58"/>
          <p:cNvSpPr/>
          <p:nvPr/>
        </p:nvSpPr>
        <p:spPr>
          <a:xfrm>
            <a:off x="5255783" y="719224"/>
            <a:ext cx="3505696" cy="259456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8" name="Rounded Rectangle 57"/>
          <p:cNvSpPr/>
          <p:nvPr/>
        </p:nvSpPr>
        <p:spPr>
          <a:xfrm>
            <a:off x="970104" y="1020087"/>
            <a:ext cx="3164835" cy="207301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382" y="153536"/>
            <a:ext cx="2767029" cy="875020"/>
          </a:xfrm>
        </p:spPr>
        <p:txBody>
          <a:bodyPr/>
          <a:lstStyle/>
          <a:p>
            <a:r>
              <a:rPr lang="en-US" dirty="0"/>
              <a:t>Pictorially: 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5"/>
              <p:cNvSpPr>
                <a:spLocks noChangeArrowheads="1"/>
              </p:cNvSpPr>
              <p:nvPr/>
            </p:nvSpPr>
            <p:spPr bwMode="auto">
              <a:xfrm>
                <a:off x="6521460" y="1730159"/>
                <a:ext cx="1528822" cy="74934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sz="28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1460" y="1730159"/>
                <a:ext cx="1528822" cy="7493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7285871" y="1366287"/>
            <a:ext cx="0" cy="3638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/>
          </a:p>
        </p:txBody>
      </p:sp>
      <p:sp>
        <p:nvSpPr>
          <p:cNvPr id="6" name="Line 14"/>
          <p:cNvSpPr>
            <a:spLocks noChangeShapeType="1"/>
          </p:cNvSpPr>
          <p:nvPr/>
        </p:nvSpPr>
        <p:spPr bwMode="auto">
          <a:xfrm>
            <a:off x="5823519" y="2097105"/>
            <a:ext cx="6647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/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7285871" y="2487178"/>
            <a:ext cx="0" cy="2919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7"/>
              <p:cNvSpPr txBox="1">
                <a:spLocks noChangeArrowheads="1"/>
              </p:cNvSpPr>
              <p:nvPr/>
            </p:nvSpPr>
            <p:spPr bwMode="auto">
              <a:xfrm>
                <a:off x="6619438" y="901445"/>
                <a:ext cx="125912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random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19438" y="901445"/>
                <a:ext cx="1259127" cy="400110"/>
              </a:xfrm>
              <a:prstGeom prst="rect">
                <a:avLst/>
              </a:prstGeom>
              <a:blipFill>
                <a:blip r:embed="rId3"/>
                <a:stretch>
                  <a:fillRect l="-5340" t="-9091" b="-2575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9"/>
              <p:cNvSpPr txBox="1">
                <a:spLocks noChangeArrowheads="1"/>
              </p:cNvSpPr>
              <p:nvPr/>
            </p:nvSpPr>
            <p:spPr bwMode="auto">
              <a:xfrm>
                <a:off x="5340168" y="1879336"/>
                <a:ext cx="556563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0168" y="1879336"/>
                <a:ext cx="556563" cy="400110"/>
              </a:xfrm>
              <a:prstGeom prst="rect">
                <a:avLst/>
              </a:prstGeom>
              <a:blipFill>
                <a:blip r:embed="rId4"/>
                <a:stretch>
                  <a:fillRect r="-1099" b="-1818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20"/>
              <p:cNvSpPr txBox="1">
                <a:spLocks noChangeArrowheads="1"/>
              </p:cNvSpPr>
              <p:nvPr/>
            </p:nvSpPr>
            <p:spPr bwMode="auto">
              <a:xfrm>
                <a:off x="6488224" y="2784064"/>
                <a:ext cx="1658781" cy="4497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𝐄𝐧</m:t>
                          </m:r>
                          <m:sSub>
                            <m:sSubPr>
                              <m:ctrlPr>
                                <a:rPr lang="en-US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𝒑𝒌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88224" y="2784064"/>
                <a:ext cx="1658781" cy="449739"/>
              </a:xfrm>
              <a:prstGeom prst="rect">
                <a:avLst/>
              </a:prstGeom>
              <a:blipFill>
                <a:blip r:embed="rId5"/>
                <a:stretch>
                  <a:fillRect b="-123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2231043" y="1468415"/>
                <a:ext cx="1528822" cy="7778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𝐄𝐧𝐜𝐚𝐩𝐬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1043" y="1468415"/>
                <a:ext cx="1528822" cy="777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1566338" y="1890748"/>
            <a:ext cx="6647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/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 flipH="1">
            <a:off x="3003027" y="2282912"/>
            <a:ext cx="1450" cy="3071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9"/>
              <p:cNvSpPr txBox="1">
                <a:spLocks noChangeArrowheads="1"/>
              </p:cNvSpPr>
              <p:nvPr/>
            </p:nvSpPr>
            <p:spPr bwMode="auto">
              <a:xfrm>
                <a:off x="1082986" y="1672979"/>
                <a:ext cx="556563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2986" y="1672979"/>
                <a:ext cx="556563" cy="400110"/>
              </a:xfrm>
              <a:prstGeom prst="rect">
                <a:avLst/>
              </a:prstGeom>
              <a:blipFill>
                <a:blip r:embed="rId7"/>
                <a:stretch>
                  <a:fillRect r="-1099" b="-1818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20"/>
              <p:cNvSpPr txBox="1">
                <a:spLocks noChangeArrowheads="1"/>
              </p:cNvSpPr>
              <p:nvPr/>
            </p:nvSpPr>
            <p:spPr bwMode="auto">
              <a:xfrm>
                <a:off x="2591212" y="2582171"/>
                <a:ext cx="844820" cy="3929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1212" y="2582171"/>
                <a:ext cx="844820" cy="3929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urved Connector 21"/>
          <p:cNvCxnSpPr>
            <a:stCxn id="8" idx="3"/>
            <a:endCxn id="12" idx="3"/>
          </p:cNvCxnSpPr>
          <p:nvPr/>
        </p:nvCxnSpPr>
        <p:spPr>
          <a:xfrm>
            <a:off x="7878565" y="1101500"/>
            <a:ext cx="268440" cy="1907434"/>
          </a:xfrm>
          <a:prstGeom prst="curvedConnector3">
            <a:avLst>
              <a:gd name="adj1" fmla="val 1851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5"/>
              <p:cNvSpPr>
                <a:spLocks noChangeArrowheads="1"/>
              </p:cNvSpPr>
              <p:nvPr/>
            </p:nvSpPr>
            <p:spPr bwMode="auto">
              <a:xfrm>
                <a:off x="6622383" y="4317754"/>
                <a:ext cx="1528822" cy="74934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800" b="1" dirty="0">
                    <a:solidFill>
                      <a:srgbClr val="FF0000"/>
                    </a:solidFill>
                  </a:rPr>
                  <a:t>De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𝐜</m:t>
                    </m:r>
                    <m:r>
                      <a:rPr lang="en-US" sz="28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8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2383" y="4317754"/>
                <a:ext cx="1528822" cy="7493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ine 7"/>
          <p:cNvSpPr>
            <a:spLocks noChangeShapeType="1"/>
          </p:cNvSpPr>
          <p:nvPr/>
        </p:nvSpPr>
        <p:spPr bwMode="auto">
          <a:xfrm>
            <a:off x="7386794" y="3953882"/>
            <a:ext cx="0" cy="3638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/>
          </a:p>
        </p:txBody>
      </p:sp>
      <p:sp>
        <p:nvSpPr>
          <p:cNvPr id="33" name="Line 14"/>
          <p:cNvSpPr>
            <a:spLocks noChangeShapeType="1"/>
          </p:cNvSpPr>
          <p:nvPr/>
        </p:nvSpPr>
        <p:spPr bwMode="auto">
          <a:xfrm>
            <a:off x="5924442" y="4684700"/>
            <a:ext cx="6647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/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>
            <a:off x="7386794" y="5074773"/>
            <a:ext cx="0" cy="2919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7"/>
              <p:cNvSpPr txBox="1">
                <a:spLocks noChangeArrowheads="1"/>
              </p:cNvSpPr>
              <p:nvPr/>
            </p:nvSpPr>
            <p:spPr bwMode="auto">
              <a:xfrm>
                <a:off x="7201487" y="3492589"/>
                <a:ext cx="37061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487" y="3492589"/>
                <a:ext cx="37061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19"/>
              <p:cNvSpPr txBox="1">
                <a:spLocks noChangeArrowheads="1"/>
              </p:cNvSpPr>
              <p:nvPr/>
            </p:nvSpPr>
            <p:spPr bwMode="auto">
              <a:xfrm>
                <a:off x="5441091" y="4466931"/>
                <a:ext cx="526105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1091" y="4466931"/>
                <a:ext cx="526105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20"/>
              <p:cNvSpPr txBox="1">
                <a:spLocks noChangeArrowheads="1"/>
              </p:cNvSpPr>
              <p:nvPr/>
            </p:nvSpPr>
            <p:spPr bwMode="auto">
              <a:xfrm>
                <a:off x="6862904" y="5430967"/>
                <a:ext cx="104778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  <m:d>
                        <m:d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62904" y="5430967"/>
                <a:ext cx="1047780" cy="400110"/>
              </a:xfrm>
              <a:prstGeom prst="rect">
                <a:avLst/>
              </a:prstGeom>
              <a:blipFill>
                <a:blip r:embed="rId12"/>
                <a:stretch>
                  <a:fillRect l="-8721" b="-454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5"/>
              <p:cNvSpPr>
                <a:spLocks noChangeArrowheads="1"/>
              </p:cNvSpPr>
              <p:nvPr/>
            </p:nvSpPr>
            <p:spPr bwMode="auto">
              <a:xfrm>
                <a:off x="2169668" y="4227183"/>
                <a:ext cx="1528822" cy="7778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</a:rPr>
                  <a:t>De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𝐜𝐚𝐩𝐬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9668" y="4227183"/>
                <a:ext cx="1528822" cy="77787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Line 14"/>
          <p:cNvSpPr>
            <a:spLocks noChangeShapeType="1"/>
          </p:cNvSpPr>
          <p:nvPr/>
        </p:nvSpPr>
        <p:spPr bwMode="auto">
          <a:xfrm>
            <a:off x="1504963" y="4649516"/>
            <a:ext cx="6647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/>
          </a:p>
        </p:txBody>
      </p:sp>
      <p:sp>
        <p:nvSpPr>
          <p:cNvPr id="40" name="Line 16"/>
          <p:cNvSpPr>
            <a:spLocks noChangeShapeType="1"/>
          </p:cNvSpPr>
          <p:nvPr/>
        </p:nvSpPr>
        <p:spPr bwMode="auto">
          <a:xfrm flipH="1">
            <a:off x="2941652" y="5041680"/>
            <a:ext cx="1450" cy="3071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19"/>
              <p:cNvSpPr txBox="1">
                <a:spLocks noChangeArrowheads="1"/>
              </p:cNvSpPr>
              <p:nvPr/>
            </p:nvSpPr>
            <p:spPr bwMode="auto">
              <a:xfrm>
                <a:off x="1021611" y="4431747"/>
                <a:ext cx="526106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1611" y="4431747"/>
                <a:ext cx="526106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20"/>
              <p:cNvSpPr txBox="1">
                <a:spLocks noChangeArrowheads="1"/>
              </p:cNvSpPr>
              <p:nvPr/>
            </p:nvSpPr>
            <p:spPr bwMode="auto">
              <a:xfrm>
                <a:off x="2529837" y="5340939"/>
                <a:ext cx="844820" cy="3929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9837" y="5340939"/>
                <a:ext cx="844820" cy="39299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Line 16"/>
          <p:cNvSpPr>
            <a:spLocks noChangeShapeType="1"/>
          </p:cNvSpPr>
          <p:nvPr/>
        </p:nvSpPr>
        <p:spPr bwMode="auto">
          <a:xfrm flipH="1">
            <a:off x="2952247" y="3891299"/>
            <a:ext cx="1450" cy="3071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20"/>
              <p:cNvSpPr txBox="1">
                <a:spLocks noChangeArrowheads="1"/>
              </p:cNvSpPr>
              <p:nvPr/>
            </p:nvSpPr>
            <p:spPr bwMode="auto">
              <a:xfrm>
                <a:off x="2709921" y="3469533"/>
                <a:ext cx="484651" cy="3929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9921" y="3469533"/>
                <a:ext cx="484651" cy="39299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4517145" y="1730159"/>
            <a:ext cx="428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=</a:t>
            </a:r>
            <a:endParaRPr lang="pl-PL" sz="3200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4513024" y="4374598"/>
            <a:ext cx="428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=</a:t>
            </a:r>
            <a:endParaRPr lang="pl-PL" sz="3200" b="1" dirty="0"/>
          </a:p>
        </p:txBody>
      </p:sp>
      <p:sp>
        <p:nvSpPr>
          <p:cNvPr id="3" name="TextBox 2"/>
          <p:cNvSpPr txBox="1"/>
          <p:nvPr/>
        </p:nvSpPr>
        <p:spPr>
          <a:xfrm flipH="1">
            <a:off x="316822" y="6183366"/>
            <a:ext cx="6006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/>
              <a:t>Other methods exist.</a:t>
            </a:r>
          </a:p>
        </p:txBody>
      </p:sp>
    </p:spTree>
    <p:extLst>
      <p:ext uri="{BB962C8B-B14F-4D97-AF65-F5344CB8AC3E}">
        <p14:creationId xmlns:p14="http://schemas.microsoft.com/office/powerpoint/2010/main" val="426358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0" grpId="0" animBg="1"/>
      <p:bldP spid="59" grpId="0" animBg="1"/>
      <p:bldP spid="58" grpId="0" animBg="1"/>
      <p:bldP spid="4" grpId="0" animBg="1"/>
      <p:bldP spid="5" grpId="0" animBg="1"/>
      <p:bldP spid="6" grpId="0" animBg="1"/>
      <p:bldP spid="7" grpId="0" animBg="1"/>
      <p:bldP spid="8" grpId="0"/>
      <p:bldP spid="9" grpId="0"/>
      <p:bldP spid="12" grpId="0"/>
      <p:bldP spid="13" grpId="0" animBg="1"/>
      <p:bldP spid="14" grpId="0" animBg="1"/>
      <p:bldP spid="15" grpId="0" animBg="1"/>
      <p:bldP spid="16" grpId="0"/>
      <p:bldP spid="17" grpId="0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/>
      <p:bldP spid="38" grpId="0" animBg="1"/>
      <p:bldP spid="39" grpId="0" animBg="1"/>
      <p:bldP spid="40" grpId="0" animBg="1"/>
      <p:bldP spid="41" grpId="0"/>
      <p:bldP spid="42" grpId="0"/>
      <p:bldP spid="44" grpId="0" animBg="1"/>
      <p:bldP spid="45" grpId="0"/>
      <p:bldP spid="56" grpId="0"/>
      <p:bldP spid="57" grpId="0"/>
      <p:bldP spid="3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66726"/>
            <a:ext cx="8312150" cy="1325563"/>
          </a:xfrm>
        </p:spPr>
        <p:txBody>
          <a:bodyPr/>
          <a:lstStyle/>
          <a:p>
            <a:r>
              <a:rPr lang="en-US" dirty="0"/>
              <a:t>Consequences of these approaches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55849"/>
            <a:ext cx="8134350" cy="40306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longer messages the cost of encryption is </a:t>
            </a:r>
            <a:r>
              <a:rPr lang="en-US" b="1" dirty="0">
                <a:solidFill>
                  <a:srgbClr val="0070C0"/>
                </a:solidFill>
              </a:rPr>
              <a:t>dominated by the cost of symmetric operations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>
                <a:solidFill>
                  <a:srgbClr val="7030A0"/>
                </a:solidFill>
              </a:rPr>
              <a:t>Hence</a:t>
            </a:r>
            <a:r>
              <a:rPr lang="en-US" dirty="0"/>
              <a:t>: the public-key operations (amortized over the length of the messages) are almost “for free”.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446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CCA security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Definition of the </a:t>
            </a:r>
            <a:r>
              <a:rPr lang="en-US" b="1" dirty="0"/>
              <a:t>CCA security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Constructions of </a:t>
            </a:r>
            <a:r>
              <a:rPr lang="en-US" b="1" dirty="0"/>
              <a:t>CCA-secure </a:t>
            </a:r>
            <a:r>
              <a:rPr lang="en-US" dirty="0"/>
              <a:t>symmetric encryption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Constructions of </a:t>
            </a:r>
            <a:r>
              <a:rPr lang="en-US" b="1" dirty="0"/>
              <a:t>CCA-secure </a:t>
            </a:r>
            <a:r>
              <a:rPr lang="en-US" b="1" dirty="0">
                <a:solidFill>
                  <a:srgbClr val="7030A0"/>
                </a:solidFill>
              </a:rPr>
              <a:t>RSA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encryption schemes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945257" y="3931200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94764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Chosen-</a:t>
            </a:r>
            <a:r>
              <a:rPr lang="pl-PL" dirty="0"/>
              <a:t>ciphertext </a:t>
            </a:r>
            <a:r>
              <a:rPr lang="en-US" dirty="0"/>
              <a:t>attacks – motivation 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96255"/>
            <a:ext cx="7886700" cy="1082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Consider the following scenario:</a:t>
            </a:r>
            <a:endParaRPr lang="pl-PL" sz="2400" dirty="0"/>
          </a:p>
        </p:txBody>
      </p:sp>
      <p:pic>
        <p:nvPicPr>
          <p:cNvPr id="4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1992" y="3816476"/>
            <a:ext cx="2002325" cy="1837853"/>
          </a:xfrm>
          <a:prstGeom prst="rect">
            <a:avLst/>
          </a:prstGeom>
          <a:noFill/>
        </p:spPr>
      </p:pic>
      <p:pic>
        <p:nvPicPr>
          <p:cNvPr id="5" name="Picture 3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9229" y="4116296"/>
            <a:ext cx="1676400" cy="1158875"/>
          </a:xfrm>
          <a:prstGeom prst="rect">
            <a:avLst/>
          </a:prstGeom>
          <a:noFill/>
        </p:spPr>
      </p:pic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2694392" y="4391167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8"/>
              <p:cNvSpPr txBox="1">
                <a:spLocks noChangeArrowheads="1"/>
              </p:cNvSpPr>
              <p:nvPr/>
            </p:nvSpPr>
            <p:spPr bwMode="auto">
              <a:xfrm>
                <a:off x="3239530" y="4211846"/>
                <a:ext cx="2664940" cy="369332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1" baseline="-25000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that depends 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9530" y="4211846"/>
                <a:ext cx="2664940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11290" b="-2096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2628550" y="5227508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0"/>
              <p:cNvSpPr txBox="1">
                <a:spLocks noChangeArrowheads="1"/>
              </p:cNvSpPr>
              <p:nvPr/>
            </p:nvSpPr>
            <p:spPr bwMode="auto">
              <a:xfrm>
                <a:off x="3543300" y="4904342"/>
                <a:ext cx="2057400" cy="923330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cannot be decrypted then send “</a:t>
                </a:r>
                <a:r>
                  <a:rPr lang="en-US" b="1" dirty="0">
                    <a:solidFill>
                      <a:srgbClr val="7030A0"/>
                    </a:solidFill>
                  </a:rPr>
                  <a:t>error</a:t>
                </a:r>
                <a:r>
                  <a:rPr lang="en-US" dirty="0"/>
                  <a:t>”</a:t>
                </a:r>
              </a:p>
            </p:txBody>
          </p:sp>
        </mc:Choice>
        <mc:Fallback xmlns="">
          <p:sp>
            <p:nvSpPr>
              <p:cNvPr id="11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3300" y="4904342"/>
                <a:ext cx="2057400" cy="923330"/>
              </a:xfrm>
              <a:prstGeom prst="rect">
                <a:avLst/>
              </a:prstGeom>
              <a:blipFill rotWithShape="0">
                <a:blip r:embed="rId6"/>
                <a:stretch>
                  <a:fillRect t="-4605" b="-8553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26"/>
              <p:cNvSpPr txBox="1">
                <a:spLocks noChangeArrowheads="1"/>
              </p:cNvSpPr>
              <p:nvPr/>
            </p:nvSpPr>
            <p:spPr bwMode="auto">
              <a:xfrm>
                <a:off x="6546480" y="3500114"/>
                <a:ext cx="1873679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has a key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46480" y="3500114"/>
                <a:ext cx="1873679" cy="369332"/>
              </a:xfrm>
              <a:prstGeom prst="rect">
                <a:avLst/>
              </a:prstGeom>
              <a:blipFill rotWithShape="0">
                <a:blip r:embed="rId7"/>
                <a:stretch>
                  <a:fillRect t="-9677" b="-2096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own Arrow 16"/>
              <p:cNvSpPr/>
              <p:nvPr/>
            </p:nvSpPr>
            <p:spPr>
              <a:xfrm>
                <a:off x="1211721" y="3202069"/>
                <a:ext cx="611470" cy="773686"/>
              </a:xfrm>
              <a:prstGeom prst="down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Down Arrow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721" y="3202069"/>
                <a:ext cx="611470" cy="773686"/>
              </a:xfrm>
              <a:prstGeom prst="downArrow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ular Callout 18"/>
              <p:cNvSpPr/>
              <p:nvPr/>
            </p:nvSpPr>
            <p:spPr>
              <a:xfrm>
                <a:off x="628650" y="5674861"/>
                <a:ext cx="2560880" cy="612648"/>
              </a:xfrm>
              <a:prstGeom prst="wedgeRectCallout">
                <a:avLst>
                  <a:gd name="adj1" fmla="val -18861"/>
                  <a:gd name="adj2" fmla="val -9865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obtains some information about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Rectangular Callou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674861"/>
                <a:ext cx="2560880" cy="612648"/>
              </a:xfrm>
              <a:prstGeom prst="wedgeRectCallout">
                <a:avLst>
                  <a:gd name="adj1" fmla="val -18861"/>
                  <a:gd name="adj2" fmla="val -98657"/>
                </a:avLst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35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5" grpId="0" animBg="1"/>
      <p:bldP spid="17" grpId="0" animBg="1"/>
      <p:bldP spid="1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115" y="365126"/>
            <a:ext cx="8501604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Another scenario</a:t>
            </a:r>
            <a:endParaRPr lang="pl-PL" sz="4000" dirty="0"/>
          </a:p>
        </p:txBody>
      </p:sp>
      <p:pic>
        <p:nvPicPr>
          <p:cNvPr id="4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94360" y="2466387"/>
            <a:ext cx="2002325" cy="1837853"/>
          </a:xfrm>
          <a:prstGeom prst="rect">
            <a:avLst/>
          </a:prstGeom>
          <a:noFill/>
        </p:spPr>
      </p:pic>
      <p:pic>
        <p:nvPicPr>
          <p:cNvPr id="5" name="Picture 3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6713" y="2883592"/>
            <a:ext cx="1676400" cy="1158875"/>
          </a:xfrm>
          <a:prstGeom prst="rect">
            <a:avLst/>
          </a:prstGeom>
          <a:noFill/>
        </p:spPr>
      </p:pic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2141317" y="3200400"/>
            <a:ext cx="3754280" cy="24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8"/>
              <p:cNvSpPr txBox="1">
                <a:spLocks noChangeArrowheads="1"/>
              </p:cNvSpPr>
              <p:nvPr/>
            </p:nvSpPr>
            <p:spPr bwMode="auto">
              <a:xfrm>
                <a:off x="3384715" y="3015734"/>
                <a:ext cx="1270762" cy="369332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4715" y="3015734"/>
                <a:ext cx="127076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ular Callout 7"/>
              <p:cNvSpPr/>
              <p:nvPr/>
            </p:nvSpPr>
            <p:spPr>
              <a:xfrm>
                <a:off x="3236829" y="4218971"/>
                <a:ext cx="3106097" cy="1504709"/>
              </a:xfrm>
              <a:prstGeom prst="wedgeRectCallout">
                <a:avLst>
                  <a:gd name="adj1" fmla="val 56780"/>
                  <a:gd name="adj2" fmla="val -86905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𝒔𝒌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= “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alarm</a:t>
                </a:r>
                <a:r>
                  <a:rPr lang="en-US" sz="2400" dirty="0"/>
                  <a:t>”</a:t>
                </a:r>
              </a:p>
              <a:p>
                <a:pPr algn="ctr"/>
                <a:r>
                  <a:rPr lang="en-US" sz="2400" dirty="0"/>
                  <a:t>then announce “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alarm</a:t>
                </a:r>
                <a:r>
                  <a:rPr lang="en-US" sz="2400" dirty="0"/>
                  <a:t>” to everybody.</a:t>
                </a:r>
                <a:endParaRPr lang="pl-PL" sz="2400" dirty="0"/>
              </a:p>
            </p:txBody>
          </p:sp>
        </mc:Choice>
        <mc:Fallback xmlns="">
          <p:sp>
            <p:nvSpPr>
              <p:cNvPr id="8" name="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829" y="4218971"/>
                <a:ext cx="3106097" cy="1504709"/>
              </a:xfrm>
              <a:prstGeom prst="wedgeRectCallout">
                <a:avLst>
                  <a:gd name="adj1" fmla="val 56780"/>
                  <a:gd name="adj2" fmla="val -86905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499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Line 7"/>
          <p:cNvSpPr>
            <a:spLocks noChangeShapeType="1"/>
          </p:cNvSpPr>
          <p:nvPr/>
        </p:nvSpPr>
        <p:spPr bwMode="auto">
          <a:xfrm flipH="1">
            <a:off x="2455352" y="3961558"/>
            <a:ext cx="3666768" cy="1494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392" y="255168"/>
            <a:ext cx="7886700" cy="896248"/>
          </a:xfrm>
        </p:spPr>
        <p:txBody>
          <a:bodyPr/>
          <a:lstStyle/>
          <a:p>
            <a:r>
              <a:rPr lang="en-US" dirty="0"/>
              <a:t>A more advanced example</a:t>
            </a:r>
            <a:endParaRPr lang="pl-PL" dirty="0"/>
          </a:p>
        </p:txBody>
      </p:sp>
      <p:pic>
        <p:nvPicPr>
          <p:cNvPr id="4" name="Picture 3" descr="MCj0435941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5610" y="3134824"/>
            <a:ext cx="1676400" cy="1158875"/>
          </a:xfrm>
          <a:prstGeom prst="rect">
            <a:avLst/>
          </a:prstGeom>
          <a:noFill/>
        </p:spPr>
      </p:pic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2514677" y="3532243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8"/>
              <p:cNvSpPr txBox="1">
                <a:spLocks noChangeArrowheads="1"/>
              </p:cNvSpPr>
              <p:nvPr/>
            </p:nvSpPr>
            <p:spPr bwMode="auto">
              <a:xfrm>
                <a:off x="3083273" y="3297445"/>
                <a:ext cx="2664940" cy="369332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1" baseline="-25000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that depends 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3273" y="3297445"/>
                <a:ext cx="2664940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11290" b="-2096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Down Arrow 6"/>
              <p:cNvSpPr/>
              <p:nvPr/>
            </p:nvSpPr>
            <p:spPr>
              <a:xfrm>
                <a:off x="1055464" y="1950332"/>
                <a:ext cx="651804" cy="1111021"/>
              </a:xfrm>
              <a:prstGeom prst="down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Down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464" y="1950332"/>
                <a:ext cx="651804" cy="1111021"/>
              </a:xfrm>
              <a:prstGeom prst="downArrow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05935" y="2557839"/>
            <a:ext cx="2002325" cy="183785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ular Callout 8"/>
              <p:cNvSpPr/>
              <p:nvPr/>
            </p:nvSpPr>
            <p:spPr>
              <a:xfrm>
                <a:off x="2439371" y="1418682"/>
                <a:ext cx="3405845" cy="1492349"/>
              </a:xfrm>
              <a:prstGeom prst="wedgeRectCallout">
                <a:avLst>
                  <a:gd name="adj1" fmla="val -78423"/>
                  <a:gd name="adj2" fmla="val 19086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/>
                <a:endParaRPr lang="en-US" b="1" dirty="0">
                  <a:solidFill>
                    <a:srgbClr val="FF0000"/>
                  </a:solidFill>
                </a:endParaRPr>
              </a:p>
              <a:p>
                <a:pPr algn="ctr"/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ular Callou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371" y="1418682"/>
                <a:ext cx="3405845" cy="1492349"/>
              </a:xfrm>
              <a:prstGeom prst="wedgeRectCallout">
                <a:avLst>
                  <a:gd name="adj1" fmla="val -78423"/>
                  <a:gd name="adj2" fmla="val 19086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624232" y="2263058"/>
                <a:ext cx="1055097" cy="369332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232" y="2263058"/>
                <a:ext cx="1055097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2903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850255" y="4444677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Bob</a:t>
            </a:r>
            <a:endParaRPr lang="pl-PL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91653" y="1862940"/>
            <a:ext cx="2927857" cy="91971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From: Alice@gmail.com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To: Bob@gmail.com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&lt;some text&gt;</a:t>
            </a:r>
            <a:endParaRPr lang="pl-PL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5464" y="4395692"/>
            <a:ext cx="55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Eve</a:t>
            </a:r>
            <a:endParaRPr lang="pl-PL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ular Callout 14"/>
              <p:cNvSpPr/>
              <p:nvPr/>
            </p:nvSpPr>
            <p:spPr>
              <a:xfrm>
                <a:off x="1824532" y="4888734"/>
                <a:ext cx="3405845" cy="1492349"/>
              </a:xfrm>
              <a:prstGeom prst="wedgeRectCallout">
                <a:avLst>
                  <a:gd name="adj1" fmla="val -2636"/>
                  <a:gd name="adj2" fmla="val -137586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/>
                <a:endParaRPr lang="en-US" b="1" dirty="0">
                  <a:solidFill>
                    <a:srgbClr val="FF0000"/>
                  </a:solidFill>
                </a:endParaRPr>
              </a:p>
              <a:p>
                <a:pPr algn="ctr"/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ectangular Callou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532" y="4888734"/>
                <a:ext cx="3405845" cy="1492349"/>
              </a:xfrm>
              <a:prstGeom prst="wedgeRectCallout">
                <a:avLst>
                  <a:gd name="adj1" fmla="val -2636"/>
                  <a:gd name="adj2" fmla="val -137586"/>
                </a:avLst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2063525" y="5332991"/>
            <a:ext cx="2927857" cy="91971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From: Eve@gmail.com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To: Bob@gmail.com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&lt;some text&gt;</a:t>
            </a:r>
            <a:endParaRPr lang="pl-PL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3507337" y="3820884"/>
            <a:ext cx="2112173" cy="82029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algn="ctr"/>
            <a:r>
              <a:rPr lang="en-US" dirty="0"/>
              <a:t>replies to </a:t>
            </a:r>
            <a:r>
              <a:rPr lang="en-US" b="1" dirty="0">
                <a:solidFill>
                  <a:srgbClr val="0070C0"/>
                </a:solidFill>
              </a:rPr>
              <a:t>Eve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citing </a:t>
            </a:r>
          </a:p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3747914" y="4207213"/>
            <a:ext cx="1631018" cy="29943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&lt;some text&gt;</a:t>
            </a:r>
            <a:endParaRPr lang="pl-PL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35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5" grpId="0" animBg="1"/>
      <p:bldP spid="6" grpId="0" animBg="1"/>
      <p:bldP spid="7" grpId="0" animBg="1"/>
      <p:bldP spid="9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IND-CPA</a:t>
            </a:r>
            <a:r>
              <a:rPr lang="en-US" dirty="0"/>
              <a:t> security does not imply that such attacks are impossible.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need a </a:t>
            </a:r>
            <a:r>
              <a:rPr lang="en-US" b="1" dirty="0">
                <a:solidFill>
                  <a:srgbClr val="0070C0"/>
                </a:solidFill>
              </a:rPr>
              <a:t>stronger</a:t>
            </a:r>
            <a:r>
              <a:rPr lang="en-US" dirty="0"/>
              <a:t> security definition.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will be called: </a:t>
            </a:r>
          </a:p>
          <a:p>
            <a:pPr marL="0" indent="0" algn="ctr">
              <a:buNone/>
            </a:pPr>
            <a:r>
              <a:rPr lang="en-US" b="1" dirty="0"/>
              <a:t>chosen-ciphertext security (</a:t>
            </a:r>
            <a:r>
              <a:rPr lang="en-US" b="1" dirty="0">
                <a:solidFill>
                  <a:srgbClr val="FF0000"/>
                </a:solidFill>
              </a:rPr>
              <a:t>IND-CCA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It can be defined both for the </a:t>
            </a:r>
            <a:r>
              <a:rPr lang="en-US" b="1" dirty="0">
                <a:solidFill>
                  <a:srgbClr val="7030A0"/>
                </a:solidFill>
              </a:rPr>
              <a:t>symmetric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7030A0"/>
                </a:solidFill>
              </a:rPr>
              <a:t>asymmetric</a:t>
            </a:r>
            <a:r>
              <a:rPr lang="en-US" dirty="0"/>
              <a:t> case.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9387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31693" y="2126992"/>
            <a:ext cx="2002325" cy="1837853"/>
          </a:xfrm>
          <a:prstGeom prst="rect">
            <a:avLst/>
          </a:prstGeom>
          <a:noFill/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"/>
            <a:ext cx="8229600" cy="1143000"/>
          </a:xfrm>
        </p:spPr>
        <p:txBody>
          <a:bodyPr/>
          <a:lstStyle/>
          <a:p>
            <a:r>
              <a:rPr lang="en-GB"/>
              <a:t>Decryption oracle</a:t>
            </a: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76146"/>
            <a:ext cx="8229600" cy="647699"/>
          </a:xfrm>
        </p:spPr>
        <p:txBody>
          <a:bodyPr>
            <a:normAutofit fontScale="92500"/>
          </a:bodyPr>
          <a:lstStyle/>
          <a:p>
            <a:pPr marL="0" indent="0">
              <a:buFontTx/>
              <a:buNone/>
            </a:pPr>
            <a:r>
              <a:rPr lang="en-GB" sz="2400" dirty="0"/>
              <a:t>To define the IND-CCA security we consider a </a:t>
            </a:r>
            <a:r>
              <a:rPr lang="en-GB" sz="2400" b="1" u="sng" dirty="0">
                <a:solidFill>
                  <a:srgbClr val="FF0000"/>
                </a:solidFill>
              </a:rPr>
              <a:t>decryption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b="1" dirty="0">
                <a:solidFill>
                  <a:srgbClr val="FF0000"/>
                </a:solidFill>
              </a:rPr>
              <a:t>oracle</a:t>
            </a:r>
            <a:r>
              <a:rPr lang="en-GB" sz="2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9" name="Rectangle 5"/>
              <p:cNvSpPr>
                <a:spLocks noChangeArrowheads="1"/>
              </p:cNvSpPr>
              <p:nvPr/>
            </p:nvSpPr>
            <p:spPr bwMode="auto">
              <a:xfrm>
                <a:off x="7307981" y="2746124"/>
                <a:ext cx="492443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8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7981" y="2746124"/>
                <a:ext cx="492443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390" name="Picture 6" descr="MCj0435941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6099" y="2351868"/>
            <a:ext cx="2209800" cy="1527175"/>
          </a:xfrm>
          <a:prstGeom prst="rect">
            <a:avLst/>
          </a:prstGeom>
          <a:noFill/>
        </p:spPr>
      </p:pic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3502743" y="260389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92" name="Rectangle 8"/>
              <p:cNvSpPr>
                <a:spLocks noChangeArrowheads="1"/>
              </p:cNvSpPr>
              <p:nvPr/>
            </p:nvSpPr>
            <p:spPr bwMode="auto">
              <a:xfrm>
                <a:off x="4567554" y="2400930"/>
                <a:ext cx="5508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92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7554" y="2400930"/>
                <a:ext cx="550863" cy="36988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5" name="Line 11"/>
          <p:cNvSpPr>
            <a:spLocks noChangeShapeType="1"/>
          </p:cNvSpPr>
          <p:nvPr/>
        </p:nvSpPr>
        <p:spPr bwMode="auto">
          <a:xfrm flipH="1">
            <a:off x="3502743" y="313729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96" name="Rectangle 12"/>
              <p:cNvSpPr>
                <a:spLocks noChangeArrowheads="1"/>
              </p:cNvSpPr>
              <p:nvPr/>
            </p:nvSpPr>
            <p:spPr bwMode="auto">
              <a:xfrm>
                <a:off x="4226643" y="2984890"/>
                <a:ext cx="12192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96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6643" y="2984890"/>
                <a:ext cx="1219200" cy="36988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7" name="Line 13"/>
          <p:cNvSpPr>
            <a:spLocks noChangeShapeType="1"/>
          </p:cNvSpPr>
          <p:nvPr/>
        </p:nvSpPr>
        <p:spPr bwMode="auto">
          <a:xfrm>
            <a:off x="3502743" y="3746890"/>
            <a:ext cx="2514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 flipH="1">
            <a:off x="3502743" y="4280290"/>
            <a:ext cx="2514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 rot="5400000">
            <a:off x="4585418" y="4728758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b="1"/>
              <a:t>. . .</a:t>
            </a:r>
            <a:endParaRPr lang="en-US" b="1"/>
          </a:p>
        </p:txBody>
      </p:sp>
      <p:sp>
        <p:nvSpPr>
          <p:cNvPr id="16405" name="Line 21"/>
          <p:cNvSpPr>
            <a:spLocks noChangeShapeType="1"/>
          </p:cNvSpPr>
          <p:nvPr/>
        </p:nvSpPr>
        <p:spPr bwMode="auto">
          <a:xfrm>
            <a:off x="3502743" y="542329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07" name="Line 23"/>
          <p:cNvSpPr>
            <a:spLocks noChangeShapeType="1"/>
          </p:cNvSpPr>
          <p:nvPr/>
        </p:nvSpPr>
        <p:spPr bwMode="auto">
          <a:xfrm flipH="1">
            <a:off x="3502743" y="595669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10" name="Rectangle 26"/>
              <p:cNvSpPr>
                <a:spLocks noChangeArrowheads="1"/>
              </p:cNvSpPr>
              <p:nvPr/>
            </p:nvSpPr>
            <p:spPr bwMode="auto">
              <a:xfrm>
                <a:off x="4560812" y="3573059"/>
                <a:ext cx="5508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410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0812" y="3573059"/>
                <a:ext cx="550863" cy="36988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11" name="Rectangle 27"/>
              <p:cNvSpPr>
                <a:spLocks noChangeArrowheads="1"/>
              </p:cNvSpPr>
              <p:nvPr/>
            </p:nvSpPr>
            <p:spPr bwMode="auto">
              <a:xfrm>
                <a:off x="4226643" y="4127890"/>
                <a:ext cx="12192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411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6643" y="4127890"/>
                <a:ext cx="1219200" cy="36988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12" name="Rectangle 28"/>
              <p:cNvSpPr>
                <a:spLocks noChangeArrowheads="1"/>
              </p:cNvSpPr>
              <p:nvPr/>
            </p:nvSpPr>
            <p:spPr bwMode="auto">
              <a:xfrm>
                <a:off x="4560812" y="5238346"/>
                <a:ext cx="5508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412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0812" y="5238346"/>
                <a:ext cx="550863" cy="36988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13" name="Rectangle 29"/>
              <p:cNvSpPr>
                <a:spLocks noChangeArrowheads="1"/>
              </p:cNvSpPr>
              <p:nvPr/>
            </p:nvSpPr>
            <p:spPr bwMode="auto">
              <a:xfrm>
                <a:off x="4226643" y="5793178"/>
                <a:ext cx="12192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413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6643" y="5793178"/>
                <a:ext cx="1219200" cy="36988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14" name="Text Box 30"/>
              <p:cNvSpPr txBox="1">
                <a:spLocks noChangeArrowheads="1"/>
              </p:cNvSpPr>
              <p:nvPr/>
            </p:nvSpPr>
            <p:spPr bwMode="auto">
              <a:xfrm>
                <a:off x="6553382" y="3573059"/>
                <a:ext cx="2217747" cy="301621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200" b="1" u="sng" dirty="0">
                    <a:solidFill>
                      <a:srgbClr val="0070C0"/>
                    </a:solidFill>
                  </a:rPr>
                  <a:t>convention:</a:t>
                </a:r>
              </a:p>
              <a:p>
                <a:pPr algn="ctr"/>
                <a:endParaRPr lang="en-US" sz="1400" b="1" dirty="0">
                  <a:solidFill>
                    <a:srgbClr val="9933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r>
                        <a:rPr lang="en-US" sz="22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d>
                        <m:dPr>
                          <m:ctrlPr>
                            <a:rPr lang="en-US" sz="2200" b="1" i="1" baseline="-250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200" b="1" i="1" baseline="-25000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 ⊥</m:t>
                      </m:r>
                    </m:oMath>
                  </m:oMathPara>
                </a14:m>
                <a:endParaRPr lang="en-GB" sz="22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sz="2200" dirty="0"/>
                  <a:t> cannot be </a:t>
                </a:r>
              </a:p>
              <a:p>
                <a:pPr algn="ctr"/>
                <a:r>
                  <a:rPr lang="en-GB" sz="2200" dirty="0"/>
                  <a:t>decrypted</a:t>
                </a:r>
              </a:p>
              <a:p>
                <a:pPr algn="ctr"/>
                <a:endParaRPr lang="en-GB" sz="2200" dirty="0"/>
              </a:p>
              <a:p>
                <a:pPr algn="ctr"/>
                <a:r>
                  <a:rPr lang="en-GB" sz="2200" dirty="0"/>
                  <a:t>we call such a ciphertext “</a:t>
                </a:r>
                <a:r>
                  <a:rPr lang="en-GB" sz="2200" b="1" dirty="0">
                    <a:solidFill>
                      <a:srgbClr val="7030A0"/>
                    </a:solidFill>
                  </a:rPr>
                  <a:t>invalid</a:t>
                </a:r>
                <a:r>
                  <a:rPr lang="en-GB" sz="2200" dirty="0"/>
                  <a:t>”</a:t>
                </a:r>
                <a:endParaRPr 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414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3382" y="3573059"/>
                <a:ext cx="2217747" cy="301621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314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nimBg="1"/>
      <p:bldP spid="16391" grpId="0" animBg="1"/>
      <p:bldP spid="16392" grpId="0" animBg="1"/>
      <p:bldP spid="16395" grpId="0" animBg="1"/>
      <p:bldP spid="16396" grpId="0" animBg="1"/>
      <p:bldP spid="16397" grpId="0" animBg="1"/>
      <p:bldP spid="16399" grpId="0" animBg="1"/>
      <p:bldP spid="16401" grpId="0"/>
      <p:bldP spid="16405" grpId="0" animBg="1"/>
      <p:bldP spid="16407" grpId="0" animBg="1"/>
      <p:bldP spid="16410" grpId="0" animBg="1"/>
      <p:bldP spid="16411" grpId="0" animBg="1"/>
      <p:bldP spid="16412" grpId="0" animBg="1"/>
      <p:bldP spid="16413" grpId="0" animBg="1"/>
      <p:bldP spid="16414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ular Callout 1"/>
          <p:cNvSpPr/>
          <p:nvPr/>
        </p:nvSpPr>
        <p:spPr>
          <a:xfrm>
            <a:off x="476834" y="2333683"/>
            <a:ext cx="8179112" cy="3124668"/>
          </a:xfrm>
          <a:prstGeom prst="wedgeRoundRectCallout">
            <a:avLst>
              <a:gd name="adj1" fmla="val -20558"/>
              <a:gd name="adj2" fmla="val 5855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6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34100" y="2825326"/>
            <a:ext cx="2002325" cy="1837853"/>
          </a:xfrm>
          <a:prstGeom prst="rect">
            <a:avLst/>
          </a:prstGeom>
          <a:noFill/>
        </p:spPr>
      </p:pic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GB"/>
              <a:t>Decryption/encryption oracle</a:t>
            </a: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229600" cy="129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/>
              <a:t>We assume that </a:t>
            </a:r>
            <a:r>
              <a:rPr lang="en-GB" sz="2400" b="1" dirty="0"/>
              <a:t>also </a:t>
            </a:r>
            <a:r>
              <a:rPr lang="en-GB" sz="2400" b="1" dirty="0">
                <a:solidFill>
                  <a:srgbClr val="FF0000"/>
                </a:solidFill>
              </a:rPr>
              <a:t>IND-CPA</a:t>
            </a:r>
            <a:r>
              <a:rPr lang="en-GB" sz="2400" b="1" dirty="0"/>
              <a:t> </a:t>
            </a:r>
            <a:r>
              <a:rPr lang="en-GB" sz="2400" dirty="0"/>
              <a:t>is allowed.</a:t>
            </a:r>
            <a:endParaRPr lang="en-US" sz="2400" dirty="0"/>
          </a:p>
          <a:p>
            <a:pPr>
              <a:buNone/>
            </a:pPr>
            <a:r>
              <a:rPr lang="en-GB" sz="2400" dirty="0"/>
              <a:t>Two types of queries:</a:t>
            </a:r>
            <a:endParaRPr lang="en-US" sz="2400" dirty="0"/>
          </a:p>
          <a:p>
            <a:pPr>
              <a:buFontTx/>
              <a:buNone/>
            </a:pP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7" name="Rectangle 5"/>
              <p:cNvSpPr>
                <a:spLocks noChangeArrowheads="1"/>
              </p:cNvSpPr>
              <p:nvPr/>
            </p:nvSpPr>
            <p:spPr bwMode="auto">
              <a:xfrm>
                <a:off x="6777042" y="3682582"/>
                <a:ext cx="923925" cy="381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57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7042" y="3682582"/>
                <a:ext cx="923925" cy="381000"/>
              </a:xfrm>
              <a:prstGeom prst="rect">
                <a:avLst/>
              </a:prstGeom>
              <a:blipFill rotWithShape="0">
                <a:blip r:embed="rId4"/>
                <a:stretch>
                  <a:fillRect l="-8553" r="-3289" b="-937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58" name="Picture 6" descr="MCj0435941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8200" y="2971800"/>
            <a:ext cx="2209800" cy="1527175"/>
          </a:xfrm>
          <a:prstGeom prst="rect">
            <a:avLst/>
          </a:prstGeom>
          <a:noFill/>
        </p:spPr>
      </p:pic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3200400" y="2895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60" name="Rectangle 8"/>
              <p:cNvSpPr>
                <a:spLocks noChangeArrowheads="1"/>
              </p:cNvSpPr>
              <p:nvPr/>
            </p:nvSpPr>
            <p:spPr bwMode="auto">
              <a:xfrm>
                <a:off x="3810000" y="2743200"/>
                <a:ext cx="1447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Decrypt</a:t>
                </a:r>
                <a:r>
                  <a:rPr lang="en-US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60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2743200"/>
                <a:ext cx="1447800" cy="36988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61" name="Line 9"/>
          <p:cNvSpPr>
            <a:spLocks noChangeShapeType="1"/>
          </p:cNvSpPr>
          <p:nvPr/>
        </p:nvSpPr>
        <p:spPr bwMode="auto">
          <a:xfrm flipH="1">
            <a:off x="3200400" y="34290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62" name="Rectangle 10"/>
              <p:cNvSpPr>
                <a:spLocks noChangeArrowheads="1"/>
              </p:cNvSpPr>
              <p:nvPr/>
            </p:nvSpPr>
            <p:spPr bwMode="auto">
              <a:xfrm>
                <a:off x="3924300" y="3276600"/>
                <a:ext cx="1219200" cy="36298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</m:t>
                      </m:r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  <m:d>
                        <m:d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pl-PL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62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4300" y="3276600"/>
                <a:ext cx="1219200" cy="3629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3200400" y="4038600"/>
            <a:ext cx="2514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 flipH="1">
            <a:off x="3200400" y="4572000"/>
            <a:ext cx="2514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69" name="Rectangle 17"/>
              <p:cNvSpPr>
                <a:spLocks noChangeArrowheads="1"/>
              </p:cNvSpPr>
              <p:nvPr/>
            </p:nvSpPr>
            <p:spPr bwMode="auto">
              <a:xfrm>
                <a:off x="3810000" y="3886200"/>
                <a:ext cx="14478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Encrypt</a:t>
                </a:r>
                <a:r>
                  <a:rPr lang="en-US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69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3886200"/>
                <a:ext cx="1447800" cy="36988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70" name="Rectangle 18"/>
              <p:cNvSpPr>
                <a:spLocks noChangeArrowheads="1"/>
              </p:cNvSpPr>
              <p:nvPr/>
            </p:nvSpPr>
            <p:spPr bwMode="auto">
              <a:xfrm>
                <a:off x="3924300" y="4419600"/>
                <a:ext cx="12192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  <m:d>
                        <m:d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70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4300" y="4419600"/>
                <a:ext cx="1219200" cy="36988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777098" y="5884695"/>
            <a:ext cx="4261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this is called a </a:t>
            </a:r>
            <a:r>
              <a:rPr lang="en-US" sz="2400" b="1" dirty="0">
                <a:solidFill>
                  <a:srgbClr val="7030A0"/>
                </a:solidFill>
              </a:rPr>
              <a:t>IND-CCA-attack</a:t>
            </a:r>
            <a:endParaRPr lang="pl-PL" sz="2400" b="1" dirty="0">
              <a:solidFill>
                <a:srgbClr val="7030A0"/>
              </a:solidFill>
            </a:endParaRPr>
          </a:p>
        </p:txBody>
      </p:sp>
      <p:sp>
        <p:nvSpPr>
          <p:cNvPr id="4" name="Rectangular Callout 3"/>
          <p:cNvSpPr/>
          <p:nvPr/>
        </p:nvSpPr>
        <p:spPr>
          <a:xfrm>
            <a:off x="5783720" y="1067491"/>
            <a:ext cx="2750680" cy="839847"/>
          </a:xfrm>
          <a:prstGeom prst="wedgeRectCallout">
            <a:avLst>
              <a:gd name="adj1" fmla="val -69936"/>
              <a:gd name="adj2" fmla="val -1804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this will be used in the symmetric case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156603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557" grpId="0" animBg="1"/>
      <p:bldP spid="23559" grpId="0" animBg="1"/>
      <p:bldP spid="23560" grpId="0" animBg="1"/>
      <p:bldP spid="23561" grpId="0" animBg="1"/>
      <p:bldP spid="23562" grpId="0" animBg="1"/>
      <p:bldP spid="23563" grpId="0" animBg="1"/>
      <p:bldP spid="23564" grpId="0" animBg="1"/>
      <p:bldP spid="23569" grpId="0" animBg="1"/>
      <p:bldP spid="23570" grpId="0" animBg="1"/>
      <p:bldP spid="3" grpId="0"/>
      <p:bldP spid="4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9014" y="1849456"/>
            <a:ext cx="2002325" cy="1837853"/>
          </a:xfrm>
          <a:prstGeom prst="rect">
            <a:avLst/>
          </a:prstGeom>
          <a:noFill/>
        </p:spPr>
      </p:pic>
      <p:sp>
        <p:nvSpPr>
          <p:cNvPr id="58400" name="Rectangle 32"/>
          <p:cNvSpPr>
            <a:spLocks noChangeArrowheads="1"/>
          </p:cNvSpPr>
          <p:nvPr/>
        </p:nvSpPr>
        <p:spPr bwMode="auto">
          <a:xfrm>
            <a:off x="15490" y="4169726"/>
            <a:ext cx="9144000" cy="10244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1739" y="452139"/>
            <a:ext cx="8229600" cy="559903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IND-CCA security</a:t>
            </a:r>
            <a:r>
              <a:rPr lang="en-GB" dirty="0"/>
              <a:t>– the game in the </a:t>
            </a:r>
            <a:r>
              <a:rPr lang="en-GB" b="1" dirty="0">
                <a:solidFill>
                  <a:srgbClr val="7030A0"/>
                </a:solidFill>
              </a:rPr>
              <a:t>symmetric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/>
              <a:t>case</a:t>
            </a:r>
            <a:endParaRPr lang="en-US" dirty="0"/>
          </a:p>
        </p:txBody>
      </p:sp>
      <p:pic>
        <p:nvPicPr>
          <p:cNvPr id="58371" name="Picture 3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2441362"/>
            <a:ext cx="1676400" cy="1158875"/>
          </a:xfrm>
          <a:prstGeom prst="rect">
            <a:avLst/>
          </a:prstGeom>
          <a:noFill/>
        </p:spPr>
      </p:pic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6447634" y="3108078"/>
            <a:ext cx="2555635" cy="64633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decryption/encryption oracle</a:t>
            </a: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381000" y="6131017"/>
            <a:ext cx="1828800" cy="3698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l-PL" dirty="0"/>
              <a:t>has to guess </a:t>
            </a:r>
            <a:r>
              <a:rPr lang="pl-PL" b="1" i="1" dirty="0">
                <a:solidFill>
                  <a:srgbClr val="FF0000"/>
                </a:solidFill>
              </a:rPr>
              <a:t>b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58385" name="Line 17"/>
          <p:cNvSpPr>
            <a:spLocks noChangeShapeType="1"/>
          </p:cNvSpPr>
          <p:nvPr/>
        </p:nvSpPr>
        <p:spPr bwMode="auto">
          <a:xfrm>
            <a:off x="2661422" y="4453699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8386" name="Text Box 18"/>
          <p:cNvSpPr txBox="1">
            <a:spLocks noChangeArrowheads="1"/>
          </p:cNvSpPr>
          <p:nvPr/>
        </p:nvSpPr>
        <p:spPr bwMode="auto">
          <a:xfrm>
            <a:off x="4185422" y="4301299"/>
            <a:ext cx="94298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2661422" y="4987099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88" name="Text Box 20"/>
              <p:cNvSpPr txBox="1">
                <a:spLocks noChangeArrowheads="1"/>
              </p:cNvSpPr>
              <p:nvPr/>
            </p:nvSpPr>
            <p:spPr bwMode="auto">
              <a:xfrm>
                <a:off x="3666312" y="4797324"/>
                <a:ext cx="19812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b="1" i="1" dirty="0">
                    <a:solidFill>
                      <a:srgbClr val="FF0000"/>
                    </a:solidFill>
                  </a:rPr>
                  <a:t>c</a:t>
                </a:r>
                <a:r>
                  <a:rPr lang="pl-PL" b="1" dirty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pl-PL" b="1" dirty="0">
                    <a:solidFill>
                      <a:srgbClr val="FF0000"/>
                    </a:solidFill>
                  </a:rPr>
                  <a:t>(</a:t>
                </a:r>
                <a:r>
                  <a:rPr lang="pl-PL" b="1" i="1" dirty="0" err="1">
                    <a:solidFill>
                      <a:srgbClr val="FF0000"/>
                    </a:solidFill>
                  </a:rPr>
                  <a:t>m</a:t>
                </a:r>
                <a:r>
                  <a:rPr lang="pl-PL" b="1" i="1" baseline="-25000" dirty="0" err="1">
                    <a:solidFill>
                      <a:srgbClr val="FF0000"/>
                    </a:solidFill>
                  </a:rPr>
                  <a:t>b</a:t>
                </a:r>
                <a:r>
                  <a:rPr lang="pl-PL" b="1" dirty="0">
                    <a:solidFill>
                      <a:srgbClr val="FF0000"/>
                    </a:solidFill>
                  </a:rPr>
                  <a:t>)</a:t>
                </a:r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88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6312" y="4797324"/>
                <a:ext cx="1981200" cy="369888"/>
              </a:xfrm>
              <a:prstGeom prst="rect">
                <a:avLst/>
              </a:prstGeom>
              <a:blipFill rotWithShape="0">
                <a:blip r:embed="rId5"/>
                <a:stretch>
                  <a:fillRect t="-11290" b="-2096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853690" y="4203600"/>
            <a:ext cx="17526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dirty="0"/>
              <a:t>chooses</a:t>
            </a:r>
            <a:r>
              <a:rPr lang="pl-PL" b="1" dirty="0">
                <a:solidFill>
                  <a:srgbClr val="990000"/>
                </a:solidFill>
              </a:rPr>
              <a:t> 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2915615" y="1521102"/>
            <a:ext cx="2066976" cy="646331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pl-PL" dirty="0"/>
              <a:t>security parameter</a:t>
            </a:r>
          </a:p>
          <a:p>
            <a:pPr algn="ctr"/>
            <a:r>
              <a:rPr lang="pl-PL" b="1" dirty="0">
                <a:solidFill>
                  <a:srgbClr val="FF0000"/>
                </a:solidFill>
              </a:rPr>
              <a:t>1</a:t>
            </a:r>
            <a:r>
              <a:rPr lang="pl-PL" b="1" i="1" baseline="30000" dirty="0">
                <a:solidFill>
                  <a:srgbClr val="FF0000"/>
                </a:solidFill>
              </a:rPr>
              <a:t>n</a:t>
            </a:r>
            <a:endParaRPr lang="en-US" b="1" i="1" baseline="30000" dirty="0">
              <a:solidFill>
                <a:srgbClr val="FF0000"/>
              </a:solidFill>
            </a:endParaRPr>
          </a:p>
        </p:txBody>
      </p:sp>
      <p:sp>
        <p:nvSpPr>
          <p:cNvPr id="58392" name="Line 24"/>
          <p:cNvSpPr>
            <a:spLocks noChangeShapeType="1"/>
          </p:cNvSpPr>
          <p:nvPr/>
        </p:nvSpPr>
        <p:spPr bwMode="auto">
          <a:xfrm flipH="1">
            <a:off x="1717772" y="1960918"/>
            <a:ext cx="1180865" cy="4434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393" name="Line 25"/>
          <p:cNvSpPr>
            <a:spLocks noChangeShapeType="1"/>
          </p:cNvSpPr>
          <p:nvPr/>
        </p:nvSpPr>
        <p:spPr bwMode="auto">
          <a:xfrm>
            <a:off x="4999570" y="1989750"/>
            <a:ext cx="1655137" cy="6574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94" name="Text Box 26"/>
              <p:cNvSpPr txBox="1">
                <a:spLocks noChangeArrowheads="1"/>
              </p:cNvSpPr>
              <p:nvPr/>
            </p:nvSpPr>
            <p:spPr bwMode="auto">
              <a:xfrm>
                <a:off x="5544132" y="1353425"/>
                <a:ext cx="3211508" cy="6463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Tx/>
                  <a:buAutoNum type="arabicPeriod"/>
                </a:pPr>
                <a:r>
                  <a:rPr lang="en-US" dirty="0"/>
                  <a:t>generates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342900" indent="-342900" algn="l">
                  <a:buFontTx/>
                  <a:buAutoNum type="arabicPeriod"/>
                </a:pPr>
                <a:r>
                  <a:rPr lang="en-US" dirty="0"/>
                  <a:t>chooses</a:t>
                </a:r>
                <a:r>
                  <a:rPr lang="pl-PL" dirty="0"/>
                  <a:t> </a:t>
                </a:r>
                <a:r>
                  <a:rPr lang="en-US" dirty="0"/>
                  <a:t>random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←{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pl-PL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583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44132" y="1353425"/>
                <a:ext cx="3211508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326" t="-5607" b="-1215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01" name="Text Box 33"/>
          <p:cNvSpPr txBox="1">
            <a:spLocks noChangeArrowheads="1"/>
          </p:cNvSpPr>
          <p:nvPr/>
        </p:nvSpPr>
        <p:spPr bwMode="auto">
          <a:xfrm>
            <a:off x="15490" y="3746400"/>
            <a:ext cx="1914525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dirty="0"/>
              <a:t>challenge phase:</a:t>
            </a:r>
            <a:endParaRPr lang="en-US" dirty="0"/>
          </a:p>
        </p:txBody>
      </p:sp>
      <p:sp>
        <p:nvSpPr>
          <p:cNvPr id="20" name="Line 21"/>
          <p:cNvSpPr>
            <a:spLocks noChangeShapeType="1"/>
          </p:cNvSpPr>
          <p:nvPr/>
        </p:nvSpPr>
        <p:spPr bwMode="auto">
          <a:xfrm>
            <a:off x="2700813" y="3064131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>
            <a:off x="2700813" y="3140331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>
            <a:off x="2700813" y="3216531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Line 24"/>
          <p:cNvSpPr>
            <a:spLocks noChangeShapeType="1"/>
          </p:cNvSpPr>
          <p:nvPr/>
        </p:nvSpPr>
        <p:spPr bwMode="auto">
          <a:xfrm>
            <a:off x="2700813" y="3292731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Line 25"/>
          <p:cNvSpPr>
            <a:spLocks noChangeShapeType="1"/>
          </p:cNvSpPr>
          <p:nvPr/>
        </p:nvSpPr>
        <p:spPr bwMode="auto">
          <a:xfrm>
            <a:off x="2700813" y="3368931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Line 26"/>
          <p:cNvSpPr>
            <a:spLocks noChangeShapeType="1"/>
          </p:cNvSpPr>
          <p:nvPr/>
        </p:nvSpPr>
        <p:spPr bwMode="auto">
          <a:xfrm>
            <a:off x="2700813" y="3445131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>
            <a:off x="2700813" y="3521331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Line 21"/>
          <p:cNvSpPr>
            <a:spLocks noChangeShapeType="1"/>
          </p:cNvSpPr>
          <p:nvPr/>
        </p:nvSpPr>
        <p:spPr bwMode="auto">
          <a:xfrm>
            <a:off x="2724765" y="54480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Line 22"/>
          <p:cNvSpPr>
            <a:spLocks noChangeShapeType="1"/>
          </p:cNvSpPr>
          <p:nvPr/>
        </p:nvSpPr>
        <p:spPr bwMode="auto">
          <a:xfrm>
            <a:off x="2724765" y="55242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" name="Line 23"/>
          <p:cNvSpPr>
            <a:spLocks noChangeShapeType="1"/>
          </p:cNvSpPr>
          <p:nvPr/>
        </p:nvSpPr>
        <p:spPr bwMode="auto">
          <a:xfrm>
            <a:off x="2724765" y="56004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" name="Line 24"/>
          <p:cNvSpPr>
            <a:spLocks noChangeShapeType="1"/>
          </p:cNvSpPr>
          <p:nvPr/>
        </p:nvSpPr>
        <p:spPr bwMode="auto">
          <a:xfrm>
            <a:off x="2724765" y="56766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>
            <a:off x="2724765" y="57528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26"/>
          <p:cNvSpPr>
            <a:spLocks noChangeShapeType="1"/>
          </p:cNvSpPr>
          <p:nvPr/>
        </p:nvSpPr>
        <p:spPr bwMode="auto">
          <a:xfrm>
            <a:off x="2724765" y="58290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Line 27"/>
          <p:cNvSpPr>
            <a:spLocks noChangeShapeType="1"/>
          </p:cNvSpPr>
          <p:nvPr/>
        </p:nvSpPr>
        <p:spPr bwMode="auto">
          <a:xfrm>
            <a:off x="2724765" y="59052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" name="Line 28"/>
          <p:cNvSpPr>
            <a:spLocks noChangeShapeType="1"/>
          </p:cNvSpPr>
          <p:nvPr/>
        </p:nvSpPr>
        <p:spPr bwMode="auto">
          <a:xfrm>
            <a:off x="2724765" y="59814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" name="AutoShape 29"/>
          <p:cNvSpPr>
            <a:spLocks noChangeArrowheads="1"/>
          </p:cNvSpPr>
          <p:nvPr/>
        </p:nvSpPr>
        <p:spPr bwMode="auto">
          <a:xfrm>
            <a:off x="3410565" y="5377912"/>
            <a:ext cx="2209800" cy="699373"/>
          </a:xfrm>
          <a:prstGeom prst="cloudCallout">
            <a:avLst>
              <a:gd name="adj1" fmla="val 42097"/>
              <a:gd name="adj2" fmla="val 22023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 anchorCtr="1"/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IND-CCA</a:t>
            </a:r>
            <a:r>
              <a:rPr lang="en-GB" b="1" dirty="0"/>
              <a:t>-attack</a:t>
            </a:r>
            <a:endParaRPr lang="en-US" b="1" dirty="0"/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>
            <a:off x="2700813" y="3597531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AutoShape 40"/>
              <p:cNvSpPr>
                <a:spLocks noChangeArrowheads="1"/>
              </p:cNvSpPr>
              <p:nvPr/>
            </p:nvSpPr>
            <p:spPr bwMode="auto">
              <a:xfrm>
                <a:off x="5991284" y="6096374"/>
                <a:ext cx="2915234" cy="609600"/>
              </a:xfrm>
              <a:prstGeom prst="wedgeRoundRectCallout">
                <a:avLst>
                  <a:gd name="adj1" fmla="val -66164"/>
                  <a:gd name="adj2" fmla="val -101144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:r>
                  <a:rPr lang="en-GB" dirty="0"/>
                  <a:t>Here the adversary </a:t>
                </a:r>
                <a:r>
                  <a:rPr lang="en-GB" b="1" dirty="0"/>
                  <a:t>cannot</a:t>
                </a:r>
                <a:r>
                  <a:rPr lang="en-GB" dirty="0"/>
                  <a:t> ask for decryption</a:t>
                </a:r>
                <a:r>
                  <a:rPr lang="en-GB" b="1" dirty="0">
                    <a:solidFill>
                      <a:srgbClr val="990000"/>
                    </a:solidFill>
                  </a:rPr>
                  <a:t> </a:t>
                </a:r>
                <a:r>
                  <a:rPr lang="en-GB" dirty="0"/>
                  <a:t>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43" name="AutoShap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91284" y="6096374"/>
                <a:ext cx="2915234" cy="609600"/>
              </a:xfrm>
              <a:prstGeom prst="wedgeRoundRectCallout">
                <a:avLst>
                  <a:gd name="adj1" fmla="val -66164"/>
                  <a:gd name="adj2" fmla="val -101144"/>
                  <a:gd name="adj3" fmla="val 16667"/>
                </a:avLst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utoShape 29"/>
          <p:cNvSpPr>
            <a:spLocks noChangeArrowheads="1"/>
          </p:cNvSpPr>
          <p:nvPr/>
        </p:nvSpPr>
        <p:spPr bwMode="auto">
          <a:xfrm>
            <a:off x="3153125" y="2990817"/>
            <a:ext cx="2601167" cy="699378"/>
          </a:xfrm>
          <a:prstGeom prst="cloudCallout">
            <a:avLst>
              <a:gd name="adj1" fmla="val 42097"/>
              <a:gd name="adj2" fmla="val 22023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 anchorCtr="1"/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IND-CCA</a:t>
            </a:r>
            <a:r>
              <a:rPr lang="en-GB" b="1" dirty="0"/>
              <a:t>-attack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3143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00" grpId="0" animBg="1"/>
      <p:bldP spid="58379" grpId="0" animBg="1"/>
      <p:bldP spid="58385" grpId="0" animBg="1"/>
      <p:bldP spid="58386" grpId="0" animBg="1"/>
      <p:bldP spid="58387" grpId="0" animBg="1"/>
      <p:bldP spid="58388" grpId="0" animBg="1"/>
      <p:bldP spid="58389" grpId="0" animBg="1"/>
      <p:bldP spid="58394" grpId="0" animBg="1"/>
      <p:bldP spid="58401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28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9014" y="1849456"/>
            <a:ext cx="2002325" cy="1837853"/>
          </a:xfrm>
          <a:prstGeom prst="rect">
            <a:avLst/>
          </a:prstGeom>
          <a:noFill/>
        </p:spPr>
      </p:pic>
      <p:sp>
        <p:nvSpPr>
          <p:cNvPr id="58400" name="Rectangle 32"/>
          <p:cNvSpPr>
            <a:spLocks noChangeArrowheads="1"/>
          </p:cNvSpPr>
          <p:nvPr/>
        </p:nvSpPr>
        <p:spPr bwMode="auto">
          <a:xfrm>
            <a:off x="15490" y="4169726"/>
            <a:ext cx="9144000" cy="10244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58371" name="Picture 3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2441362"/>
            <a:ext cx="1676400" cy="1158875"/>
          </a:xfrm>
          <a:prstGeom prst="rect">
            <a:avLst/>
          </a:prstGeom>
          <a:noFill/>
        </p:spPr>
      </p:pic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381000" y="6131017"/>
            <a:ext cx="1828800" cy="3698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l-PL" dirty="0"/>
              <a:t>has to guess </a:t>
            </a:r>
            <a:r>
              <a:rPr lang="pl-PL" b="1" i="1" dirty="0">
                <a:solidFill>
                  <a:srgbClr val="FF0000"/>
                </a:solidFill>
              </a:rPr>
              <a:t>b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58385" name="Line 17"/>
          <p:cNvSpPr>
            <a:spLocks noChangeShapeType="1"/>
          </p:cNvSpPr>
          <p:nvPr/>
        </p:nvSpPr>
        <p:spPr bwMode="auto">
          <a:xfrm>
            <a:off x="2661422" y="4453699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8386" name="Text Box 18"/>
          <p:cNvSpPr txBox="1">
            <a:spLocks noChangeArrowheads="1"/>
          </p:cNvSpPr>
          <p:nvPr/>
        </p:nvSpPr>
        <p:spPr bwMode="auto">
          <a:xfrm>
            <a:off x="4185422" y="4301299"/>
            <a:ext cx="94298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2661422" y="4987099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88" name="Text Box 20"/>
              <p:cNvSpPr txBox="1">
                <a:spLocks noChangeArrowheads="1"/>
              </p:cNvSpPr>
              <p:nvPr/>
            </p:nvSpPr>
            <p:spPr bwMode="auto">
              <a:xfrm>
                <a:off x="3666312" y="4797324"/>
                <a:ext cx="1981200" cy="394210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b="1" i="1" dirty="0">
                    <a:solidFill>
                      <a:srgbClr val="FF0000"/>
                    </a:solidFill>
                  </a:rPr>
                  <a:t>c</a:t>
                </a:r>
                <a:r>
                  <a:rPr lang="pl-PL" b="1" dirty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𝒑𝒌</m:t>
                        </m:r>
                      </m:sub>
                    </m:sSub>
                  </m:oMath>
                </a14:m>
                <a:r>
                  <a:rPr lang="pl-PL" b="1" dirty="0">
                    <a:solidFill>
                      <a:srgbClr val="FF0000"/>
                    </a:solidFill>
                  </a:rPr>
                  <a:t>(</a:t>
                </a:r>
                <a:r>
                  <a:rPr lang="pl-PL" b="1" i="1" dirty="0" err="1">
                    <a:solidFill>
                      <a:srgbClr val="FF0000"/>
                    </a:solidFill>
                  </a:rPr>
                  <a:t>m</a:t>
                </a:r>
                <a:r>
                  <a:rPr lang="pl-PL" b="1" i="1" baseline="-25000" dirty="0" err="1">
                    <a:solidFill>
                      <a:srgbClr val="FF0000"/>
                    </a:solidFill>
                  </a:rPr>
                  <a:t>b</a:t>
                </a:r>
                <a:r>
                  <a:rPr lang="pl-PL" b="1" dirty="0">
                    <a:solidFill>
                      <a:srgbClr val="FF0000"/>
                    </a:solidFill>
                  </a:rPr>
                  <a:t>)</a:t>
                </a:r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388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6312" y="4797324"/>
                <a:ext cx="1981200" cy="394210"/>
              </a:xfrm>
              <a:prstGeom prst="rect">
                <a:avLst/>
              </a:prstGeom>
              <a:blipFill rotWithShape="0">
                <a:blip r:embed="rId5"/>
                <a:stretch>
                  <a:fillRect t="-10606" b="-13636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853690" y="4203600"/>
            <a:ext cx="17526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dirty="0"/>
              <a:t>chooses</a:t>
            </a:r>
            <a:r>
              <a:rPr lang="pl-PL" b="1" dirty="0">
                <a:solidFill>
                  <a:srgbClr val="990000"/>
                </a:solidFill>
              </a:rPr>
              <a:t> 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8392" name="Line 24"/>
          <p:cNvSpPr>
            <a:spLocks noChangeShapeType="1"/>
          </p:cNvSpPr>
          <p:nvPr/>
        </p:nvSpPr>
        <p:spPr bwMode="auto">
          <a:xfrm flipH="1">
            <a:off x="1717772" y="1960918"/>
            <a:ext cx="1180865" cy="4434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393" name="Line 25"/>
          <p:cNvSpPr>
            <a:spLocks noChangeShapeType="1"/>
          </p:cNvSpPr>
          <p:nvPr/>
        </p:nvSpPr>
        <p:spPr bwMode="auto">
          <a:xfrm>
            <a:off x="4999570" y="1989750"/>
            <a:ext cx="1655137" cy="6574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94" name="Text Box 26"/>
              <p:cNvSpPr txBox="1">
                <a:spLocks noChangeArrowheads="1"/>
              </p:cNvSpPr>
              <p:nvPr/>
            </p:nvSpPr>
            <p:spPr bwMode="auto">
              <a:xfrm>
                <a:off x="5371510" y="1418902"/>
                <a:ext cx="3578128" cy="6463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Tx/>
                  <a:buAutoNum type="arabicPeriod"/>
                </a:pPr>
                <a:r>
                  <a:rPr lang="en-US" dirty="0"/>
                  <a:t>generates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𝒑𝒌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𝒔𝒌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342900" indent="-342900" algn="l">
                  <a:buFontTx/>
                  <a:buAutoNum type="arabicPeriod"/>
                </a:pPr>
                <a:r>
                  <a:rPr lang="en-US" dirty="0"/>
                  <a:t>chooses</a:t>
                </a:r>
                <a:r>
                  <a:rPr lang="pl-PL" dirty="0"/>
                  <a:t> </a:t>
                </a:r>
                <a:r>
                  <a:rPr lang="en-US" dirty="0"/>
                  <a:t>random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←{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pl-PL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583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1510" y="1418902"/>
                <a:ext cx="3578128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190" t="-6542" b="-1215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01" name="Text Box 33"/>
          <p:cNvSpPr txBox="1">
            <a:spLocks noChangeArrowheads="1"/>
          </p:cNvSpPr>
          <p:nvPr/>
        </p:nvSpPr>
        <p:spPr bwMode="auto">
          <a:xfrm>
            <a:off x="15490" y="3746400"/>
            <a:ext cx="1914525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dirty="0"/>
              <a:t>challenge phase:</a:t>
            </a:r>
            <a:endParaRPr lang="en-US" dirty="0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 flipH="1">
            <a:off x="2713834" y="2988950"/>
            <a:ext cx="3540026" cy="0"/>
          </a:xfrm>
          <a:prstGeom prst="line">
            <a:avLst/>
          </a:prstGeom>
          <a:ln w="28575"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31"/>
              <p:cNvSpPr txBox="1">
                <a:spLocks noChangeArrowheads="1"/>
              </p:cNvSpPr>
              <p:nvPr/>
            </p:nvSpPr>
            <p:spPr bwMode="auto">
              <a:xfrm>
                <a:off x="4275934" y="2744658"/>
                <a:ext cx="6096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5934" y="2744658"/>
                <a:ext cx="609600" cy="36988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ine 21"/>
          <p:cNvSpPr>
            <a:spLocks noChangeShapeType="1"/>
          </p:cNvSpPr>
          <p:nvPr/>
        </p:nvSpPr>
        <p:spPr bwMode="auto">
          <a:xfrm>
            <a:off x="2713834" y="3368363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>
            <a:off x="2713834" y="3444563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>
            <a:off x="2713834" y="3520763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Line 24"/>
          <p:cNvSpPr>
            <a:spLocks noChangeShapeType="1"/>
          </p:cNvSpPr>
          <p:nvPr/>
        </p:nvSpPr>
        <p:spPr bwMode="auto">
          <a:xfrm>
            <a:off x="2713834" y="3596963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Line 25"/>
          <p:cNvSpPr>
            <a:spLocks noChangeShapeType="1"/>
          </p:cNvSpPr>
          <p:nvPr/>
        </p:nvSpPr>
        <p:spPr bwMode="auto">
          <a:xfrm>
            <a:off x="2713834" y="3673163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Line 26"/>
          <p:cNvSpPr>
            <a:spLocks noChangeShapeType="1"/>
          </p:cNvSpPr>
          <p:nvPr/>
        </p:nvSpPr>
        <p:spPr bwMode="auto">
          <a:xfrm>
            <a:off x="2713834" y="3749363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>
            <a:off x="2713834" y="3825563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AutoShape 29"/>
          <p:cNvSpPr>
            <a:spLocks noChangeArrowheads="1"/>
          </p:cNvSpPr>
          <p:nvPr/>
        </p:nvSpPr>
        <p:spPr bwMode="auto">
          <a:xfrm>
            <a:off x="3475834" y="3368363"/>
            <a:ext cx="2209800" cy="533400"/>
          </a:xfrm>
          <a:prstGeom prst="cloudCallout">
            <a:avLst>
              <a:gd name="adj1" fmla="val 42097"/>
              <a:gd name="adj2" fmla="val 22023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 anchorCtr="1"/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IND-CCA</a:t>
            </a:r>
            <a:r>
              <a:rPr lang="en-GB" b="1" dirty="0"/>
              <a:t>-attack</a:t>
            </a:r>
            <a:endParaRPr lang="en-US" b="1" dirty="0"/>
          </a:p>
        </p:txBody>
      </p:sp>
      <p:sp>
        <p:nvSpPr>
          <p:cNvPr id="29" name="Line 21"/>
          <p:cNvSpPr>
            <a:spLocks noChangeShapeType="1"/>
          </p:cNvSpPr>
          <p:nvPr/>
        </p:nvSpPr>
        <p:spPr bwMode="auto">
          <a:xfrm>
            <a:off x="2724765" y="54480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Line 22"/>
          <p:cNvSpPr>
            <a:spLocks noChangeShapeType="1"/>
          </p:cNvSpPr>
          <p:nvPr/>
        </p:nvSpPr>
        <p:spPr bwMode="auto">
          <a:xfrm>
            <a:off x="2724765" y="55242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" name="Line 23"/>
          <p:cNvSpPr>
            <a:spLocks noChangeShapeType="1"/>
          </p:cNvSpPr>
          <p:nvPr/>
        </p:nvSpPr>
        <p:spPr bwMode="auto">
          <a:xfrm>
            <a:off x="2724765" y="56004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" name="Line 24"/>
          <p:cNvSpPr>
            <a:spLocks noChangeShapeType="1"/>
          </p:cNvSpPr>
          <p:nvPr/>
        </p:nvSpPr>
        <p:spPr bwMode="auto">
          <a:xfrm>
            <a:off x="2724765" y="56766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>
            <a:off x="2724765" y="57528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26"/>
          <p:cNvSpPr>
            <a:spLocks noChangeShapeType="1"/>
          </p:cNvSpPr>
          <p:nvPr/>
        </p:nvSpPr>
        <p:spPr bwMode="auto">
          <a:xfrm>
            <a:off x="2724765" y="58290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Line 27"/>
          <p:cNvSpPr>
            <a:spLocks noChangeShapeType="1"/>
          </p:cNvSpPr>
          <p:nvPr/>
        </p:nvSpPr>
        <p:spPr bwMode="auto">
          <a:xfrm>
            <a:off x="2724765" y="59052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" name="Line 28"/>
          <p:cNvSpPr>
            <a:spLocks noChangeShapeType="1"/>
          </p:cNvSpPr>
          <p:nvPr/>
        </p:nvSpPr>
        <p:spPr bwMode="auto">
          <a:xfrm>
            <a:off x="2724765" y="5981417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" name="AutoShape 29"/>
          <p:cNvSpPr>
            <a:spLocks noChangeArrowheads="1"/>
          </p:cNvSpPr>
          <p:nvPr/>
        </p:nvSpPr>
        <p:spPr bwMode="auto">
          <a:xfrm>
            <a:off x="3486765" y="5448017"/>
            <a:ext cx="2209800" cy="533400"/>
          </a:xfrm>
          <a:prstGeom prst="cloudCallout">
            <a:avLst>
              <a:gd name="adj1" fmla="val 42097"/>
              <a:gd name="adj2" fmla="val 22023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 anchorCtr="1"/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IND-CCA</a:t>
            </a:r>
            <a:r>
              <a:rPr lang="en-GB" b="1" dirty="0"/>
              <a:t>-attack</a:t>
            </a:r>
            <a:endParaRPr lang="en-US" b="1" dirty="0"/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>
            <a:off x="2713834" y="3901763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AutoShape 39"/>
              <p:cNvSpPr>
                <a:spLocks noChangeArrowheads="1"/>
              </p:cNvSpPr>
              <p:nvPr/>
            </p:nvSpPr>
            <p:spPr bwMode="auto">
              <a:xfrm>
                <a:off x="6838366" y="5257800"/>
                <a:ext cx="2000834" cy="609600"/>
              </a:xfrm>
              <a:prstGeom prst="wedgeRoundRectCallout">
                <a:avLst>
                  <a:gd name="adj1" fmla="val -128955"/>
                  <a:gd name="adj2" fmla="val -162409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have to be </a:t>
                </a:r>
                <a:r>
                  <a:rPr lang="en-US" b="1" dirty="0"/>
                  <a:t>legal for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AutoShap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8366" y="5257800"/>
                <a:ext cx="2000834" cy="609600"/>
              </a:xfrm>
              <a:prstGeom prst="wedgeRoundRectCallout">
                <a:avLst>
                  <a:gd name="adj1" fmla="val -128955"/>
                  <a:gd name="adj2" fmla="val -162409"/>
                  <a:gd name="adj3" fmla="val 16667"/>
                </a:avLst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AutoShape 40"/>
              <p:cNvSpPr>
                <a:spLocks noChangeArrowheads="1"/>
              </p:cNvSpPr>
              <p:nvPr/>
            </p:nvSpPr>
            <p:spPr bwMode="auto">
              <a:xfrm>
                <a:off x="5991284" y="6096374"/>
                <a:ext cx="2915234" cy="609600"/>
              </a:xfrm>
              <a:prstGeom prst="wedgeRoundRectCallout">
                <a:avLst>
                  <a:gd name="adj1" fmla="val -66164"/>
                  <a:gd name="adj2" fmla="val -101144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:r>
                  <a:rPr lang="en-GB" dirty="0"/>
                  <a:t>Here the adversary </a:t>
                </a:r>
                <a:r>
                  <a:rPr lang="en-GB" b="1" dirty="0"/>
                  <a:t>cannot</a:t>
                </a:r>
                <a:r>
                  <a:rPr lang="en-GB" dirty="0"/>
                  <a:t> ask for decryption</a:t>
                </a:r>
                <a:r>
                  <a:rPr lang="en-GB" b="1" dirty="0">
                    <a:solidFill>
                      <a:srgbClr val="990000"/>
                    </a:solidFill>
                  </a:rPr>
                  <a:t> </a:t>
                </a:r>
                <a:r>
                  <a:rPr lang="en-GB" dirty="0"/>
                  <a:t>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43" name="AutoShap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91284" y="6096374"/>
                <a:ext cx="2915234" cy="609600"/>
              </a:xfrm>
              <a:prstGeom prst="wedgeRoundRectCallout">
                <a:avLst>
                  <a:gd name="adj1" fmla="val -66164"/>
                  <a:gd name="adj2" fmla="val -101144"/>
                  <a:gd name="adj3" fmla="val 16667"/>
                </a:avLst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2"/>
          <p:cNvSpPr>
            <a:spLocks noGrp="1" noChangeArrowheads="1"/>
          </p:cNvSpPr>
          <p:nvPr>
            <p:ph type="title"/>
          </p:nvPr>
        </p:nvSpPr>
        <p:spPr>
          <a:xfrm>
            <a:off x="281738" y="452139"/>
            <a:ext cx="8862261" cy="559903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IND-CCA security</a:t>
            </a:r>
            <a:r>
              <a:rPr lang="en-GB" dirty="0"/>
              <a:t>– the game in the </a:t>
            </a:r>
            <a:r>
              <a:rPr lang="en-GB" b="1" dirty="0">
                <a:solidFill>
                  <a:srgbClr val="7030A0"/>
                </a:solidFill>
              </a:rPr>
              <a:t>asymmetric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/>
              <a:t>case</a:t>
            </a:r>
            <a:endParaRPr lang="en-US" dirty="0"/>
          </a:p>
        </p:txBody>
      </p:sp>
      <p:sp>
        <p:nvSpPr>
          <p:cNvPr id="45" name="Text Box 23"/>
          <p:cNvSpPr txBox="1">
            <a:spLocks noChangeArrowheads="1"/>
          </p:cNvSpPr>
          <p:nvPr/>
        </p:nvSpPr>
        <p:spPr bwMode="auto">
          <a:xfrm>
            <a:off x="2915615" y="1521102"/>
            <a:ext cx="2066976" cy="646331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pl-PL" dirty="0"/>
              <a:t>security parameter</a:t>
            </a:r>
          </a:p>
          <a:p>
            <a:pPr algn="ctr"/>
            <a:r>
              <a:rPr lang="pl-PL" b="1" dirty="0">
                <a:solidFill>
                  <a:srgbClr val="FF0000"/>
                </a:solidFill>
              </a:rPr>
              <a:t>1</a:t>
            </a:r>
            <a:r>
              <a:rPr lang="pl-PL" b="1" i="1" baseline="30000" dirty="0">
                <a:solidFill>
                  <a:srgbClr val="FF0000"/>
                </a:solidFill>
              </a:rPr>
              <a:t>n</a:t>
            </a:r>
            <a:endParaRPr lang="en-US" b="1" i="1" baseline="30000" dirty="0">
              <a:solidFill>
                <a:srgbClr val="FF0000"/>
              </a:solidFill>
            </a:endParaRPr>
          </a:p>
        </p:txBody>
      </p:sp>
      <p:sp>
        <p:nvSpPr>
          <p:cNvPr id="46" name="Line 24"/>
          <p:cNvSpPr>
            <a:spLocks noChangeShapeType="1"/>
          </p:cNvSpPr>
          <p:nvPr/>
        </p:nvSpPr>
        <p:spPr bwMode="auto">
          <a:xfrm flipH="1">
            <a:off x="1717772" y="1960918"/>
            <a:ext cx="1180865" cy="4434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25"/>
          <p:cNvSpPr>
            <a:spLocks noChangeShapeType="1"/>
          </p:cNvSpPr>
          <p:nvPr/>
        </p:nvSpPr>
        <p:spPr bwMode="auto">
          <a:xfrm>
            <a:off x="4999570" y="1989750"/>
            <a:ext cx="1655137" cy="6574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Text Box 5"/>
          <p:cNvSpPr txBox="1">
            <a:spLocks noChangeArrowheads="1"/>
          </p:cNvSpPr>
          <p:nvPr/>
        </p:nvSpPr>
        <p:spPr bwMode="auto">
          <a:xfrm>
            <a:off x="6447634" y="3108078"/>
            <a:ext cx="2555635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decryption oracle</a:t>
            </a:r>
          </a:p>
        </p:txBody>
      </p:sp>
    </p:spTree>
    <p:extLst>
      <p:ext uri="{BB962C8B-B14F-4D97-AF65-F5344CB8AC3E}">
        <p14:creationId xmlns:p14="http://schemas.microsoft.com/office/powerpoint/2010/main" val="157031790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type="title"/>
          </p:nvPr>
        </p:nvSpPr>
        <p:spPr>
          <a:xfrm>
            <a:off x="246364" y="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IND-CCA</a:t>
            </a:r>
            <a:r>
              <a:rPr lang="en-US" dirty="0"/>
              <a:t> 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12" name="Text Box 4"/>
              <p:cNvSpPr txBox="1">
                <a:spLocks noChangeArrowheads="1"/>
              </p:cNvSpPr>
              <p:nvPr/>
            </p:nvSpPr>
            <p:spPr bwMode="auto">
              <a:xfrm>
                <a:off x="304800" y="1222940"/>
                <a:ext cx="8458200" cy="454956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r>
                  <a:rPr lang="en-GB" sz="2400" b="1" u="sng" dirty="0">
                    <a:solidFill>
                      <a:srgbClr val="0070C0"/>
                    </a:solidFill>
                  </a:rPr>
                  <a:t>Security </a:t>
                </a:r>
                <a:r>
                  <a:rPr lang="en-US" sz="2400" b="1" u="sng" dirty="0">
                    <a:solidFill>
                      <a:srgbClr val="0070C0"/>
                    </a:solidFill>
                  </a:rPr>
                  <a:t>definition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(in the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asymmetric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case)</a:t>
                </a:r>
                <a:r>
                  <a:rPr lang="pl-PL" sz="2400" dirty="0">
                    <a:solidFill>
                      <a:schemeClr val="tx1"/>
                    </a:solidFill>
                  </a:rPr>
                  <a:t>:</a:t>
                </a:r>
              </a:p>
              <a:p>
                <a:endParaRPr lang="en-US" sz="2400" b="1" u="sng" dirty="0">
                  <a:solidFill>
                    <a:schemeClr val="tx2"/>
                  </a:solidFill>
                </a:endParaRPr>
              </a:p>
              <a:p>
                <a:endParaRPr lang="pl-PL" sz="2400" b="1" u="sng" dirty="0">
                  <a:solidFill>
                    <a:schemeClr val="tx2"/>
                  </a:solidFill>
                </a:endParaRPr>
              </a:p>
              <a:p>
                <a:r>
                  <a:rPr lang="pl-PL" sz="2400" dirty="0"/>
                  <a:t>We say that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pl-PL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has</a:t>
                </a:r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indistinguishable encryptions</a:t>
                </a:r>
                <a:r>
                  <a:rPr lang="pl-PL" sz="2400" b="1" dirty="0">
                    <a:solidFill>
                      <a:srgbClr val="7030A0"/>
                    </a:solidFill>
                  </a:rPr>
                  <a:t> under a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chosen-ciphertext attack </a:t>
                </a:r>
                <a:r>
                  <a:rPr lang="pl-PL" sz="2400" b="1" dirty="0">
                    <a:solidFill>
                      <a:srgbClr val="7030A0"/>
                    </a:solidFill>
                  </a:rPr>
                  <a:t>(IND-CCA)</a:t>
                </a:r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pl-PL" sz="2400" dirty="0"/>
                  <a:t>if </a:t>
                </a:r>
                <a:r>
                  <a:rPr lang="en-US" sz="2400" dirty="0"/>
                  <a:t>any </a:t>
                </a:r>
                <a:br>
                  <a:rPr lang="en-US" sz="2400" dirty="0"/>
                </a:br>
                <a:endParaRPr lang="en-US" sz="2400" dirty="0"/>
              </a:p>
              <a:p>
                <a:pPr algn="ctr"/>
                <a:r>
                  <a:rPr lang="en-US" sz="2400" b="1" dirty="0">
                    <a:solidFill>
                      <a:srgbClr val="00B050"/>
                    </a:solidFill>
                  </a:rPr>
                  <a:t>randomized polynomial time</a:t>
                </a:r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pl-PL" sz="2400" dirty="0"/>
                  <a:t>adversary </a:t>
                </a:r>
                <a:br>
                  <a:rPr lang="en-US" sz="2400" dirty="0"/>
                </a:br>
                <a:endParaRPr lang="en-US" sz="2400" dirty="0"/>
              </a:p>
              <a:p>
                <a:pPr algn="ctr"/>
                <a:r>
                  <a:rPr lang="pl-PL" sz="2400" dirty="0"/>
                  <a:t>guesses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pl-PL" sz="2400" b="1" dirty="0">
                    <a:solidFill>
                      <a:srgbClr val="993300"/>
                    </a:solidFill>
                  </a:rPr>
                  <a:t> </a:t>
                </a:r>
                <a:r>
                  <a:rPr lang="pl-PL" sz="2400" dirty="0"/>
                  <a:t>correctly </a:t>
                </a:r>
                <a:br>
                  <a:rPr lang="en-US" sz="2400" dirty="0"/>
                </a:br>
                <a:endParaRPr lang="en-US" sz="2400" dirty="0"/>
              </a:p>
              <a:p>
                <a:pPr algn="ctr"/>
                <a:r>
                  <a:rPr lang="pl-PL" sz="2400" dirty="0"/>
                  <a:t>with probability at most</a:t>
                </a:r>
                <a:r>
                  <a:rPr lang="pl-PL" sz="24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𝜺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993300"/>
                    </a:solidFill>
                  </a:rPr>
                  <a:t> </a:t>
                </a:r>
                <a:r>
                  <a:rPr lang="pl-PL" sz="2400" b="1" dirty="0">
                    <a:solidFill>
                      <a:srgbClr val="993300"/>
                    </a:solidFill>
                  </a:rPr>
                  <a:t>,</a:t>
                </a:r>
                <a:r>
                  <a:rPr lang="pl-PL" sz="2400" dirty="0"/>
                  <a:t> where</a:t>
                </a:r>
                <a:r>
                  <a:rPr lang="pl-PL" sz="24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l-G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𝜺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400" dirty="0"/>
                  <a:t>is </a:t>
                </a:r>
                <a:r>
                  <a:rPr lang="pl-PL" sz="2400" dirty="0" err="1"/>
                  <a:t>negligible</a:t>
                </a:r>
                <a:r>
                  <a:rPr lang="pl-PL" sz="2400" dirty="0"/>
                  <a:t>.</a:t>
                </a:r>
                <a:endParaRPr lang="en-GB" sz="2400" dirty="0"/>
              </a:p>
            </p:txBody>
          </p:sp>
        </mc:Choice>
        <mc:Fallback xmlns="">
          <p:sp>
            <p:nvSpPr>
              <p:cNvPr id="6861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222940"/>
                <a:ext cx="8458200" cy="45495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13" name="AutoShape 5"/>
          <p:cNvSpPr>
            <a:spLocks noChangeArrowheads="1"/>
          </p:cNvSpPr>
          <p:nvPr/>
        </p:nvSpPr>
        <p:spPr bwMode="auto">
          <a:xfrm>
            <a:off x="5873477" y="286101"/>
            <a:ext cx="2602487" cy="936839"/>
          </a:xfrm>
          <a:prstGeom prst="wedgeRectCallout">
            <a:avLst>
              <a:gd name="adj1" fmla="val 10107"/>
              <a:gd name="adj2" fmla="val 217524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pl-PL" sz="2400" dirty="0"/>
              <a:t>Alternative name: </a:t>
            </a:r>
            <a:r>
              <a:rPr lang="pl-PL" sz="2400" b="1" dirty="0">
                <a:solidFill>
                  <a:srgbClr val="7030A0"/>
                </a:solidFill>
              </a:rPr>
              <a:t>IND-CCA</a:t>
            </a:r>
            <a:r>
              <a:rPr lang="en-US" sz="2400" b="1" dirty="0">
                <a:solidFill>
                  <a:srgbClr val="7030A0"/>
                </a:solidFill>
              </a:rPr>
              <a:t>-secure</a:t>
            </a:r>
            <a:r>
              <a:rPr lang="en-GB" sz="2400" b="1" dirty="0">
                <a:solidFill>
                  <a:srgbClr val="7030A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ular Callout 1"/>
              <p:cNvSpPr/>
              <p:nvPr/>
            </p:nvSpPr>
            <p:spPr>
              <a:xfrm>
                <a:off x="1279037" y="1716604"/>
                <a:ext cx="4729075" cy="519050"/>
              </a:xfrm>
              <a:prstGeom prst="wedgeRectCallou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In the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symmetric</a:t>
                </a:r>
                <a:r>
                  <a:rPr lang="en-US" sz="2400" dirty="0"/>
                  <a:t> case: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Rectangular Callou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037" y="1716604"/>
                <a:ext cx="4729075" cy="519050"/>
              </a:xfrm>
              <a:prstGeom prst="wedgeRectCallou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58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animBg="1"/>
      <p:bldP spid="2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Easy to see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IND-CCA security</a:t>
            </a:r>
            <a:r>
              <a:rPr lang="en-US" dirty="0"/>
              <a:t> implies </a:t>
            </a:r>
            <a:r>
              <a:rPr lang="en-US" b="1" dirty="0">
                <a:solidFill>
                  <a:srgbClr val="FF0000"/>
                </a:solidFill>
              </a:rPr>
              <a:t>IND-CPA security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(because the adversary in the “</a:t>
            </a:r>
            <a:r>
              <a:rPr lang="en-US" b="1" dirty="0">
                <a:solidFill>
                  <a:srgbClr val="FF0000"/>
                </a:solidFill>
              </a:rPr>
              <a:t>IND-CCA game</a:t>
            </a:r>
            <a:r>
              <a:rPr lang="en-US" dirty="0"/>
              <a:t>” is at least as powerful as the one in the “</a:t>
            </a:r>
            <a:r>
              <a:rPr lang="en-US" b="1" dirty="0">
                <a:solidFill>
                  <a:srgbClr val="FF0000"/>
                </a:solidFill>
              </a:rPr>
              <a:t>IND-CPA game</a:t>
            </a:r>
            <a:r>
              <a:rPr lang="en-US" dirty="0"/>
              <a:t>”)</a:t>
            </a:r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b="1" dirty="0">
                <a:solidFill>
                  <a:srgbClr val="7030A0"/>
                </a:solidFill>
              </a:rPr>
              <a:t>What about the implication in the other direction?</a:t>
            </a:r>
            <a:endParaRPr lang="pl-PL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87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1247756"/>
            <a:ext cx="9144000" cy="1066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/>
              <a:t>IND-CPA security does </a:t>
            </a:r>
            <a:r>
              <a:rPr lang="en-US" sz="3200" b="1" dirty="0">
                <a:solidFill>
                  <a:srgbClr val="FF0000"/>
                </a:solidFill>
              </a:rPr>
              <a:t>not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imply the IND-CCA 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9520" y="3357562"/>
                <a:ext cx="8274479" cy="3071834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sz="2400" b="1" u="sng" dirty="0">
                    <a:solidFill>
                      <a:srgbClr val="0070C0"/>
                    </a:solidFill>
                  </a:rPr>
                  <a:t>Informally</a:t>
                </a:r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r>
                  <a:rPr lang="en-US" sz="2400" dirty="0"/>
                  <a:t>To win the game it is enough that Eve is computes some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r>
                  <a:rPr lang="en-US" sz="2400" dirty="0"/>
                  <a:t>such that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′) </m:t>
                    </m:r>
                  </m:oMath>
                </a14:m>
                <a:r>
                  <a:rPr lang="en-US" sz="2400" dirty="0"/>
                  <a:t>is “</a:t>
                </a:r>
                <a:r>
                  <a:rPr lang="en-US" sz="2400" i="1" dirty="0"/>
                  <a:t>related to</a:t>
                </a:r>
                <a:r>
                  <a:rPr lang="en-US" sz="2400" dirty="0"/>
                  <a:t>”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  <a:br>
                  <a:rPr lang="en-US" sz="2400" b="1" dirty="0">
                    <a:solidFill>
                      <a:srgbClr val="C00000"/>
                    </a:solidFill>
                  </a:rPr>
                </a:br>
                <a:r>
                  <a:rPr lang="en-US" sz="2400" dirty="0"/>
                  <a:t>(</a:t>
                </a:r>
                <a:r>
                  <a:rPr lang="en-US" sz="2400" b="1" dirty="0"/>
                  <a:t>Why?  </a:t>
                </a:r>
                <a:r>
                  <a:rPr lang="en-US" sz="2400" dirty="0"/>
                  <a:t>Because then she is allowed to ask for it.)</a:t>
                </a:r>
              </a:p>
              <a:p>
                <a:pPr marL="0" indent="0">
                  <a:buNone/>
                </a:pPr>
                <a:br>
                  <a:rPr lang="en-US" sz="2400" dirty="0"/>
                </a:br>
                <a:r>
                  <a:rPr lang="en-US" sz="2400" b="1" u="sng" dirty="0"/>
                  <a:t>For example</a:t>
                </a:r>
                <a:r>
                  <a:rPr lang="en-US" sz="2400" dirty="0"/>
                  <a:t>: it is possible for any stream cipher!</a:t>
                </a:r>
              </a:p>
              <a:p>
                <a:pPr algn="ctr">
                  <a:buNone/>
                </a:pPr>
                <a:r>
                  <a:rPr lang="en-US" sz="2400" dirty="0"/>
                  <a:t>if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⊕(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ym typeface="Symbol"/>
                  </a:rPr>
                  <a:t> then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𝐃𝐞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4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𝐜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𝒄</m:t>
                            </m:r>
                          </m:e>
                          <m:sup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𝐃𝐞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4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𝐜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𝒄</m:t>
                        </m:r>
                      </m:e>
                    </m:d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⊕(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,…,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sym typeface="Symbol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9520" y="3357562"/>
                <a:ext cx="8274479" cy="3071834"/>
              </a:xfrm>
              <a:blipFill>
                <a:blip r:embed="rId3"/>
                <a:stretch>
                  <a:fillRect l="-1179" t="-27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58082" y="1000108"/>
            <a:ext cx="1285884" cy="1180261"/>
          </a:xfrm>
          <a:prstGeom prst="rect">
            <a:avLst/>
          </a:prstGeom>
          <a:noFill/>
        </p:spPr>
      </p:pic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2819400" y="1476356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0"/>
              <p:cNvSpPr txBox="1">
                <a:spLocks noChangeArrowheads="1"/>
              </p:cNvSpPr>
              <p:nvPr/>
            </p:nvSpPr>
            <p:spPr bwMode="auto">
              <a:xfrm>
                <a:off x="4343400" y="1323956"/>
                <a:ext cx="8382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3400" y="1323956"/>
                <a:ext cx="838200" cy="36988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2819400" y="2009756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2"/>
              <p:cNvSpPr txBox="1">
                <a:spLocks noChangeArrowheads="1"/>
              </p:cNvSpPr>
              <p:nvPr/>
            </p:nvSpPr>
            <p:spPr bwMode="auto">
              <a:xfrm>
                <a:off x="3657600" y="1857356"/>
                <a:ext cx="19812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1857356"/>
                <a:ext cx="1981200" cy="369888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ine 30"/>
          <p:cNvSpPr>
            <a:spLocks noChangeShapeType="1"/>
          </p:cNvSpPr>
          <p:nvPr/>
        </p:nvSpPr>
        <p:spPr bwMode="auto">
          <a:xfrm>
            <a:off x="2667000" y="2619356"/>
            <a:ext cx="35814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Line 31"/>
          <p:cNvSpPr>
            <a:spLocks noChangeShapeType="1"/>
          </p:cNvSpPr>
          <p:nvPr/>
        </p:nvSpPr>
        <p:spPr bwMode="auto">
          <a:xfrm>
            <a:off x="2667000" y="2695556"/>
            <a:ext cx="3581400" cy="0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Line 32"/>
          <p:cNvSpPr>
            <a:spLocks noChangeShapeType="1"/>
          </p:cNvSpPr>
          <p:nvPr/>
        </p:nvSpPr>
        <p:spPr bwMode="auto">
          <a:xfrm>
            <a:off x="2667000" y="2771756"/>
            <a:ext cx="35814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Line 33"/>
          <p:cNvSpPr>
            <a:spLocks noChangeShapeType="1"/>
          </p:cNvSpPr>
          <p:nvPr/>
        </p:nvSpPr>
        <p:spPr bwMode="auto">
          <a:xfrm>
            <a:off x="2667000" y="2847956"/>
            <a:ext cx="3581400" cy="0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Line 34"/>
          <p:cNvSpPr>
            <a:spLocks noChangeShapeType="1"/>
          </p:cNvSpPr>
          <p:nvPr/>
        </p:nvSpPr>
        <p:spPr bwMode="auto">
          <a:xfrm>
            <a:off x="2667000" y="2924156"/>
            <a:ext cx="35814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Line 35"/>
          <p:cNvSpPr>
            <a:spLocks noChangeShapeType="1"/>
          </p:cNvSpPr>
          <p:nvPr/>
        </p:nvSpPr>
        <p:spPr bwMode="auto">
          <a:xfrm>
            <a:off x="2667000" y="3000356"/>
            <a:ext cx="3581400" cy="0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Line 36"/>
          <p:cNvSpPr>
            <a:spLocks noChangeShapeType="1"/>
          </p:cNvSpPr>
          <p:nvPr/>
        </p:nvSpPr>
        <p:spPr bwMode="auto">
          <a:xfrm>
            <a:off x="2667000" y="3076556"/>
            <a:ext cx="35814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Line 37"/>
          <p:cNvSpPr>
            <a:spLocks noChangeShapeType="1"/>
          </p:cNvSpPr>
          <p:nvPr/>
        </p:nvSpPr>
        <p:spPr bwMode="auto">
          <a:xfrm>
            <a:off x="2667000" y="3152756"/>
            <a:ext cx="3581400" cy="0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AutoShape 38"/>
          <p:cNvSpPr>
            <a:spLocks noChangeArrowheads="1"/>
          </p:cNvSpPr>
          <p:nvPr/>
        </p:nvSpPr>
        <p:spPr bwMode="auto">
          <a:xfrm>
            <a:off x="3429000" y="2592365"/>
            <a:ext cx="2209800" cy="533400"/>
          </a:xfrm>
          <a:prstGeom prst="cloudCallout">
            <a:avLst>
              <a:gd name="adj1" fmla="val 431"/>
              <a:gd name="adj2" fmla="val -49106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 anchorCtr="1"/>
          <a:lstStyle/>
          <a:p>
            <a:pPr algn="ctr"/>
            <a:r>
              <a:rPr lang="en-GB" b="1" dirty="0"/>
              <a:t>IND-CCA-attack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AutoShape 40"/>
              <p:cNvSpPr>
                <a:spLocks noChangeArrowheads="1"/>
              </p:cNvSpPr>
              <p:nvPr/>
            </p:nvSpPr>
            <p:spPr bwMode="auto">
              <a:xfrm>
                <a:off x="6357950" y="2786058"/>
                <a:ext cx="2667000" cy="609600"/>
              </a:xfrm>
              <a:prstGeom prst="wedgeRoundRectCallout">
                <a:avLst>
                  <a:gd name="adj1" fmla="val -95234"/>
                  <a:gd name="adj2" fmla="val -32243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r>
                  <a:rPr lang="en-GB" dirty="0"/>
                  <a:t>Here </a:t>
                </a:r>
                <a:r>
                  <a:rPr lang="en-GB" b="1" dirty="0"/>
                  <a:t>Eve</a:t>
                </a:r>
                <a:r>
                  <a:rPr lang="en-GB" dirty="0"/>
                  <a:t> cannot ask for decryption</a:t>
                </a:r>
                <a:r>
                  <a:rPr lang="en-GB" b="1" dirty="0">
                    <a:solidFill>
                      <a:srgbClr val="990000"/>
                    </a:solidFill>
                  </a:rPr>
                  <a:t> </a:t>
                </a:r>
                <a:r>
                  <a:rPr lang="en-GB" dirty="0"/>
                  <a:t>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22" name="AutoShap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57950" y="2786058"/>
                <a:ext cx="2667000" cy="609600"/>
              </a:xfrm>
              <a:prstGeom prst="wedgeRoundRectCallout">
                <a:avLst>
                  <a:gd name="adj1" fmla="val -95234"/>
                  <a:gd name="adj2" fmla="val -32243"/>
                  <a:gd name="adj3" fmla="val 16667"/>
                </a:avLst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8" descr="MCj0435941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00034" y="1142984"/>
            <a:ext cx="1325908" cy="915982"/>
          </a:xfrm>
          <a:prstGeom prst="rect">
            <a:avLst/>
          </a:prstGeom>
          <a:noFill/>
        </p:spPr>
      </p:pic>
      <p:cxnSp>
        <p:nvCxnSpPr>
          <p:cNvPr id="31" name="Elbow Connector 30"/>
          <p:cNvCxnSpPr>
            <a:endCxn id="20" idx="0"/>
          </p:cNvCxnSpPr>
          <p:nvPr/>
        </p:nvCxnSpPr>
        <p:spPr>
          <a:xfrm rot="5400000" flipH="1" flipV="1">
            <a:off x="485934" y="2873166"/>
            <a:ext cx="2964021" cy="293582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76793" y="2522844"/>
                <a:ext cx="1795088" cy="6588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here ask about the “related”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93" y="2522844"/>
                <a:ext cx="1795088" cy="65881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>
            <a:off x="500034" y="5834195"/>
            <a:ext cx="54900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6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construct IND-CCA-secure schemes?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61733"/>
            <a:ext cx="7886700" cy="3815230"/>
          </a:xfrm>
        </p:spPr>
        <p:txBody>
          <a:bodyPr/>
          <a:lstStyle/>
          <a:p>
            <a:r>
              <a:rPr lang="en-US" dirty="0"/>
              <a:t>in the </a:t>
            </a:r>
            <a:r>
              <a:rPr lang="en-US" b="1" dirty="0">
                <a:solidFill>
                  <a:srgbClr val="7030A0"/>
                </a:solidFill>
              </a:rPr>
              <a:t>symmetric case</a:t>
            </a:r>
            <a:r>
              <a:rPr lang="en-US" dirty="0"/>
              <a:t>: </a:t>
            </a:r>
            <a:r>
              <a:rPr lang="en-US" b="1" dirty="0">
                <a:solidFill>
                  <a:srgbClr val="00B050"/>
                </a:solidFill>
              </a:rPr>
              <a:t>easy</a:t>
            </a:r>
            <a:br>
              <a:rPr lang="en-US" b="1" dirty="0">
                <a:solidFill>
                  <a:srgbClr val="00B050"/>
                </a:solidFill>
              </a:rPr>
            </a:br>
            <a:endParaRPr lang="en-US" b="1" dirty="0">
              <a:solidFill>
                <a:srgbClr val="00B050"/>
              </a:solidFill>
            </a:endParaRPr>
          </a:p>
          <a:p>
            <a:r>
              <a:rPr lang="en-US" dirty="0"/>
              <a:t>in the </a:t>
            </a:r>
            <a:r>
              <a:rPr lang="en-US" b="1" dirty="0">
                <a:solidFill>
                  <a:srgbClr val="7030A0"/>
                </a:solidFill>
              </a:rPr>
              <a:t>asymmetric case</a:t>
            </a:r>
            <a:r>
              <a:rPr lang="en-US" dirty="0"/>
              <a:t>: usually </a:t>
            </a:r>
            <a:r>
              <a:rPr lang="en-US" b="1" dirty="0">
                <a:solidFill>
                  <a:srgbClr val="FF0000"/>
                </a:solidFill>
              </a:rPr>
              <a:t>harder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(also: in this case the “</a:t>
            </a:r>
            <a:r>
              <a:rPr lang="en-US" b="1" dirty="0">
                <a:solidFill>
                  <a:srgbClr val="0070C0"/>
                </a:solidFill>
              </a:rPr>
              <a:t>IND-CCA attacks</a:t>
            </a:r>
            <a:r>
              <a:rPr lang="en-US" dirty="0"/>
              <a:t>” are more realistic).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9359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IND-CCA security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Definition of the </a:t>
            </a:r>
            <a:r>
              <a:rPr lang="en-US" b="1" dirty="0"/>
              <a:t>IND-CCA security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Constructions of </a:t>
            </a:r>
            <a:r>
              <a:rPr lang="en-US" b="1" dirty="0"/>
              <a:t>IND-CCA-secure </a:t>
            </a:r>
            <a:r>
              <a:rPr lang="en-US" dirty="0"/>
              <a:t>symmetric encryption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Constructions of </a:t>
            </a:r>
            <a:r>
              <a:rPr lang="en-US" b="1" dirty="0"/>
              <a:t>IND-CCA-secure </a:t>
            </a:r>
            <a:r>
              <a:rPr lang="en-US" b="1" dirty="0">
                <a:solidFill>
                  <a:srgbClr val="7030A0"/>
                </a:solidFill>
              </a:rPr>
              <a:t>RSA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encryption schemes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1017446" y="4203916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02805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418" y="71225"/>
            <a:ext cx="8010467" cy="1151715"/>
          </a:xfrm>
        </p:spPr>
        <p:txBody>
          <a:bodyPr/>
          <a:lstStyle/>
          <a:p>
            <a:r>
              <a:rPr lang="en-US" dirty="0"/>
              <a:t>Symmetric case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2442" y="1270511"/>
                <a:ext cx="8510091" cy="576419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500" dirty="0"/>
                  <a:t>Simplest method: </a:t>
                </a:r>
                <a:r>
                  <a:rPr lang="en-US" sz="2500" b="1" dirty="0"/>
                  <a:t>authenticate</a:t>
                </a:r>
                <a:r>
                  <a:rPr lang="en-US" sz="2500" dirty="0"/>
                  <a:t> every ciphertext with a MAC.</a:t>
                </a:r>
              </a:p>
              <a:p>
                <a:pPr marL="0" indent="0">
                  <a:buNone/>
                </a:pPr>
                <a:endParaRPr lang="en-US" sz="900" dirty="0"/>
              </a:p>
              <a:p>
                <a:pPr marL="0" indent="0">
                  <a:buNone/>
                </a:pPr>
                <a:r>
                  <a:rPr lang="en-US" sz="2500" dirty="0"/>
                  <a:t>Ingredients:</a:t>
                </a:r>
              </a:p>
              <a:p>
                <a14:m>
                  <m:oMath xmlns:m="http://schemas.openxmlformats.org/officeDocument/2006/math"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5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5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500" dirty="0"/>
                  <a:t>– a </a:t>
                </a:r>
                <a:r>
                  <a:rPr lang="en-US" sz="2500" b="1" u="sng" dirty="0">
                    <a:solidFill>
                      <a:srgbClr val="7030A0"/>
                    </a:solidFill>
                  </a:rPr>
                  <a:t>IND-CPA</a:t>
                </a:r>
                <a:r>
                  <a:rPr lang="en-US" sz="2500" b="1" dirty="0">
                    <a:solidFill>
                      <a:srgbClr val="7030A0"/>
                    </a:solidFill>
                  </a:rPr>
                  <a:t>-secure symmetric encryption </a:t>
                </a:r>
                <a:r>
                  <a:rPr lang="en-US" sz="2500" dirty="0"/>
                  <a:t>scheme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𝐓𝐚𝐠</m:t>
                        </m:r>
                        <m:r>
                          <a:rPr lang="en-US" sz="2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5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𝐕𝐫𝐟𝐲</m:t>
                        </m:r>
                      </m:e>
                    </m:d>
                  </m:oMath>
                </a14:m>
                <a:r>
                  <a:rPr lang="en-US" sz="25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500" dirty="0"/>
                  <a:t>– a </a:t>
                </a:r>
                <a:r>
                  <a:rPr lang="en-US" sz="2500" b="1" dirty="0">
                    <a:solidFill>
                      <a:srgbClr val="7030A0"/>
                    </a:solidFill>
                  </a:rPr>
                  <a:t>message authentication code</a:t>
                </a:r>
                <a:r>
                  <a:rPr lang="pl-PL" sz="25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500" dirty="0"/>
                  <a:t>that is </a:t>
                </a:r>
                <a:r>
                  <a:rPr lang="en-US" sz="2500" b="1" dirty="0">
                    <a:solidFill>
                      <a:srgbClr val="0070C0"/>
                    </a:solidFill>
                  </a:rPr>
                  <a:t>strongly secure</a:t>
                </a:r>
                <a:r>
                  <a:rPr lang="en-US" sz="2500" dirty="0"/>
                  <a:t>.</a:t>
                </a:r>
                <a:endParaRPr lang="en-US" sz="25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05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5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442" y="1270511"/>
                <a:ext cx="8510091" cy="5764198"/>
              </a:xfrm>
              <a:blipFill>
                <a:blip r:embed="rId2"/>
                <a:stretch>
                  <a:fillRect l="-1146" t="-1480" r="-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ular Callout 3"/>
              <p:cNvSpPr/>
              <p:nvPr/>
            </p:nvSpPr>
            <p:spPr>
              <a:xfrm>
                <a:off x="560980" y="4140043"/>
                <a:ext cx="8201553" cy="1638067"/>
              </a:xfrm>
              <a:prstGeom prst="wedgeRoundRectCallout">
                <a:avLst>
                  <a:gd name="adj1" fmla="val -24322"/>
                  <a:gd name="adj2" fmla="val -77569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A MAC is </a:t>
                </a:r>
                <a:r>
                  <a:rPr lang="en-US" sz="2400" b="1" dirty="0"/>
                  <a:t>strongly secure </a:t>
                </a:r>
                <a:r>
                  <a:rPr lang="en-US" sz="2400" dirty="0"/>
                  <a:t>if the adversary cannot produce a valid tag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on a message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even if he saw a valid pair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(where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400" dirty="0"/>
                  <a:t>)</a:t>
                </a:r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ounded 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980" y="4140043"/>
                <a:ext cx="8201553" cy="1638067"/>
              </a:xfrm>
              <a:prstGeom prst="wedgeRoundRectCallout">
                <a:avLst>
                  <a:gd name="adj1" fmla="val -24322"/>
                  <a:gd name="adj2" fmla="val -77569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59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418" y="71225"/>
            <a:ext cx="8010467" cy="1151715"/>
          </a:xfrm>
        </p:spPr>
        <p:txBody>
          <a:bodyPr>
            <a:normAutofit fontScale="90000"/>
          </a:bodyPr>
          <a:lstStyle/>
          <a:p>
            <a:r>
              <a:rPr lang="en-US" dirty="0"/>
              <a:t>The method from previous lectures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2442" y="1270511"/>
                <a:ext cx="8409114" cy="576419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b="1" dirty="0">
                    <a:solidFill>
                      <a:srgbClr val="0070C0"/>
                    </a:solidFill>
                    <a:cs typeface="Arial" charset="0"/>
                  </a:rPr>
                  <a:t>encrypt-then-authenticate</a:t>
                </a:r>
                <a:r>
                  <a:rPr lang="en-GB" dirty="0">
                    <a:solidFill>
                      <a:srgbClr val="0070C0"/>
                    </a:solidFill>
                    <a:cs typeface="Arial" charset="0"/>
                  </a:rPr>
                  <a:t>: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rgbClr val="0070C0"/>
                  </a:solidFill>
                  <a:cs typeface="Arial" charset="0"/>
                </a:endParaRP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00B050"/>
                    </a:solidFill>
                    <a:cs typeface="Arial" charset="0"/>
                  </a:rPr>
                  <a:t>key</a:t>
                </a:r>
                <a:r>
                  <a:rPr lang="en-GB" dirty="0">
                    <a:cs typeface="Arial" charset="0"/>
                  </a:rPr>
                  <a:t>: a pair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1" dirty="0">
                  <a:solidFill>
                    <a:srgbClr val="FF0000"/>
                  </a:solidFill>
                  <a:cs typeface="Arial" charset="0"/>
                </a:endParaRPr>
              </a:p>
              <a:p>
                <a:r>
                  <a:rPr lang="en-GB" dirty="0">
                    <a:cs typeface="Arial" charset="0"/>
                  </a:rPr>
                  <a:t>to </a:t>
                </a:r>
                <a:r>
                  <a:rPr lang="en-GB" b="1" dirty="0">
                    <a:solidFill>
                      <a:srgbClr val="00B050"/>
                    </a:solidFill>
                    <a:cs typeface="Arial" charset="0"/>
                  </a:rPr>
                  <a:t>encrypt</a:t>
                </a:r>
                <a:r>
                  <a:rPr lang="en-GB" dirty="0">
                    <a:solidFill>
                      <a:srgbClr val="00B05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dirty="0"/>
                  <a:t> compute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>
                    <a:solidFill>
                      <a:srgbClr val="993300"/>
                    </a:solidFill>
                    <a:cs typeface="Arial" charset="0"/>
                  </a:rPr>
                  <a:t> </a:t>
                </a:r>
                <a:r>
                  <a:rPr lang="en-GB" dirty="0">
                    <a:cs typeface="Arial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𝐓𝐚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>
                    <a:cs typeface="Arial" charset="0"/>
                  </a:rPr>
                  <a:t>,  and output</a:t>
                </a:r>
                <a:r>
                  <a:rPr lang="en-GB" b="1" dirty="0">
                    <a:solidFill>
                      <a:srgbClr val="9933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𝒄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𝒕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</m:oMath>
                </a14:m>
                <a:endParaRPr lang="en-GB" b="1" dirty="0">
                  <a:solidFill>
                    <a:srgbClr val="FF0000"/>
                  </a:solidFill>
                  <a:cs typeface="Arial" charset="0"/>
                </a:endParaRPr>
              </a:p>
              <a:p>
                <a:r>
                  <a:rPr lang="en-US" dirty="0"/>
                  <a:t>to </a:t>
                </a:r>
                <a:r>
                  <a:rPr lang="en-US" b="1" dirty="0">
                    <a:solidFill>
                      <a:srgbClr val="00B050"/>
                    </a:solidFill>
                  </a:rPr>
                  <a:t>decrypt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3259138" indent="-3030538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𝐕𝐫𝐟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𝐧𝐨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then output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br>
                  <a:rPr lang="en-US" b="1" dirty="0">
                    <a:solidFill>
                      <a:srgbClr val="FF0000"/>
                    </a:solidFill>
                  </a:rPr>
                </a:br>
                <a:r>
                  <a:rPr lang="en-US" dirty="0"/>
                  <a:t>otherwise output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442" y="1270511"/>
                <a:ext cx="8409114" cy="5764198"/>
              </a:xfrm>
              <a:blipFill rotWithShape="0">
                <a:blip r:embed="rId2"/>
                <a:stretch>
                  <a:fillRect l="-1449" t="-179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C7E97374-C9AD-4218-A466-BA0E0FB4A075}"/>
                  </a:ext>
                </a:extLst>
              </p14:cNvPr>
              <p14:cNvContentPartPr/>
              <p14:nvPr/>
            </p14:nvContentPartPr>
            <p14:xfrm>
              <a:off x="2265840" y="2613960"/>
              <a:ext cx="3192840" cy="709920"/>
            </p14:xfrm>
          </p:contentPart>
        </mc:Choice>
        <mc:Fallback xmlns=""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C7E97374-C9AD-4218-A466-BA0E0FB4A0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6480" y="2604600"/>
                <a:ext cx="3211560" cy="72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383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7" y="21255"/>
            <a:ext cx="7886700" cy="899153"/>
          </a:xfrm>
        </p:spPr>
        <p:txBody>
          <a:bodyPr>
            <a:normAutofit/>
          </a:bodyPr>
          <a:lstStyle/>
          <a:p>
            <a:r>
              <a:rPr lang="en-US" sz="4000" dirty="0"/>
              <a:t>Why is this secure?</a:t>
            </a:r>
            <a:endParaRPr lang="pl-PL" sz="4000" dirty="0"/>
          </a:p>
        </p:txBody>
      </p:sp>
      <p:pic>
        <p:nvPicPr>
          <p:cNvPr id="4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66333" y="888450"/>
            <a:ext cx="2002325" cy="1837853"/>
          </a:xfrm>
          <a:prstGeom prst="rect">
            <a:avLst/>
          </a:prstGeom>
          <a:noFill/>
        </p:spPr>
      </p:pic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0" y="2332367"/>
            <a:ext cx="9144000" cy="10244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6" name="Picture 3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7910" y="965980"/>
            <a:ext cx="1676400" cy="1158875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/>
        </p:nvSpPr>
        <p:spPr bwMode="auto">
          <a:xfrm>
            <a:off x="2645932" y="261634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4169932" y="2463940"/>
            <a:ext cx="94298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645932" y="3149740"/>
            <a:ext cx="365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20"/>
              <p:cNvSpPr txBox="1">
                <a:spLocks noChangeArrowheads="1"/>
              </p:cNvSpPr>
              <p:nvPr/>
            </p:nvSpPr>
            <p:spPr bwMode="auto">
              <a:xfrm>
                <a:off x="3650822" y="2959965"/>
                <a:ext cx="1981200" cy="369888"/>
              </a:xfrm>
              <a:prstGeom prst="rect">
                <a:avLst/>
              </a:prstGeom>
              <a:solidFill>
                <a:srgbClr val="F3F4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pl-PL" b="1" i="1" dirty="0">
                    <a:solidFill>
                      <a:srgbClr val="FF0000"/>
                    </a:solidFill>
                  </a:rPr>
                  <a:t>c</a:t>
                </a:r>
                <a:r>
                  <a:rPr lang="pl-PL" b="1" dirty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pl-PL" b="1" dirty="0">
                    <a:solidFill>
                      <a:srgbClr val="FF0000"/>
                    </a:solidFill>
                  </a:rPr>
                  <a:t>(</a:t>
                </a:r>
                <a:r>
                  <a:rPr lang="pl-PL" b="1" i="1" dirty="0" err="1">
                    <a:solidFill>
                      <a:srgbClr val="FF0000"/>
                    </a:solidFill>
                  </a:rPr>
                  <a:t>m</a:t>
                </a:r>
                <a:r>
                  <a:rPr lang="pl-PL" b="1" i="1" baseline="-25000" dirty="0" err="1">
                    <a:solidFill>
                      <a:srgbClr val="FF0000"/>
                    </a:solidFill>
                  </a:rPr>
                  <a:t>b</a:t>
                </a:r>
                <a:r>
                  <a:rPr lang="pl-PL" b="1" dirty="0">
                    <a:solidFill>
                      <a:srgbClr val="FF0000"/>
                    </a:solidFill>
                  </a:rPr>
                  <a:t>)</a:t>
                </a:r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0822" y="2959965"/>
                <a:ext cx="1981200" cy="369888"/>
              </a:xfrm>
              <a:prstGeom prst="rect">
                <a:avLst/>
              </a:prstGeom>
              <a:blipFill rotWithShape="0">
                <a:blip r:embed="rId4"/>
                <a:stretch>
                  <a:fillRect t="-11475" b="-2295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838200" y="2366241"/>
            <a:ext cx="1752600" cy="369888"/>
          </a:xfrm>
          <a:prstGeom prst="rect">
            <a:avLst/>
          </a:prstGeom>
          <a:solidFill>
            <a:srgbClr val="F3F4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dirty="0"/>
              <a:t>chooses</a:t>
            </a:r>
            <a:r>
              <a:rPr lang="pl-PL" b="1" dirty="0">
                <a:solidFill>
                  <a:srgbClr val="990000"/>
                </a:solidFill>
              </a:rPr>
              <a:t> 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0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baseline="-25000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Line 21"/>
          <p:cNvSpPr>
            <a:spLocks noChangeShapeType="1"/>
          </p:cNvSpPr>
          <p:nvPr/>
        </p:nvSpPr>
        <p:spPr bwMode="auto">
          <a:xfrm>
            <a:off x="2685323" y="1588749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22"/>
          <p:cNvSpPr>
            <a:spLocks noChangeShapeType="1"/>
          </p:cNvSpPr>
          <p:nvPr/>
        </p:nvSpPr>
        <p:spPr bwMode="auto">
          <a:xfrm>
            <a:off x="2685323" y="1664949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Line 23"/>
          <p:cNvSpPr>
            <a:spLocks noChangeShapeType="1"/>
          </p:cNvSpPr>
          <p:nvPr/>
        </p:nvSpPr>
        <p:spPr bwMode="auto">
          <a:xfrm>
            <a:off x="2685323" y="1741149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Line 24"/>
          <p:cNvSpPr>
            <a:spLocks noChangeShapeType="1"/>
          </p:cNvSpPr>
          <p:nvPr/>
        </p:nvSpPr>
        <p:spPr bwMode="auto">
          <a:xfrm>
            <a:off x="2685323" y="1817349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Line 25"/>
          <p:cNvSpPr>
            <a:spLocks noChangeShapeType="1"/>
          </p:cNvSpPr>
          <p:nvPr/>
        </p:nvSpPr>
        <p:spPr bwMode="auto">
          <a:xfrm>
            <a:off x="2685323" y="1893549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Line 26"/>
          <p:cNvSpPr>
            <a:spLocks noChangeShapeType="1"/>
          </p:cNvSpPr>
          <p:nvPr/>
        </p:nvSpPr>
        <p:spPr bwMode="auto">
          <a:xfrm>
            <a:off x="2685323" y="1969749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Line 27"/>
          <p:cNvSpPr>
            <a:spLocks noChangeShapeType="1"/>
          </p:cNvSpPr>
          <p:nvPr/>
        </p:nvSpPr>
        <p:spPr bwMode="auto">
          <a:xfrm>
            <a:off x="2685323" y="2045949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AutoShape 29"/>
          <p:cNvSpPr>
            <a:spLocks noChangeArrowheads="1"/>
          </p:cNvSpPr>
          <p:nvPr/>
        </p:nvSpPr>
        <p:spPr bwMode="auto">
          <a:xfrm>
            <a:off x="3447323" y="1588749"/>
            <a:ext cx="2209800" cy="533400"/>
          </a:xfrm>
          <a:prstGeom prst="cloudCallout">
            <a:avLst>
              <a:gd name="adj1" fmla="val 42097"/>
              <a:gd name="adj2" fmla="val 22023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 anchorCtr="1"/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IND-CCA</a:t>
            </a:r>
            <a:r>
              <a:rPr lang="en-GB" b="1" dirty="0"/>
              <a:t>-attack</a:t>
            </a:r>
            <a:endParaRPr lang="en-US" b="1" dirty="0"/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>
            <a:off x="2709275" y="3610658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>
            <a:off x="2709275" y="3686858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2709275" y="3763058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>
            <a:off x="2709275" y="3839258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2709275" y="3915458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>
            <a:off x="2709275" y="3991658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Line 27"/>
          <p:cNvSpPr>
            <a:spLocks noChangeShapeType="1"/>
          </p:cNvSpPr>
          <p:nvPr/>
        </p:nvSpPr>
        <p:spPr bwMode="auto">
          <a:xfrm>
            <a:off x="2709275" y="4067858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>
            <a:off x="2709275" y="4144058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AutoShape 29"/>
          <p:cNvSpPr>
            <a:spLocks noChangeArrowheads="1"/>
          </p:cNvSpPr>
          <p:nvPr/>
        </p:nvSpPr>
        <p:spPr bwMode="auto">
          <a:xfrm>
            <a:off x="3471275" y="3610658"/>
            <a:ext cx="2209800" cy="533400"/>
          </a:xfrm>
          <a:prstGeom prst="cloudCallout">
            <a:avLst>
              <a:gd name="adj1" fmla="val 42097"/>
              <a:gd name="adj2" fmla="val 22023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 anchorCtr="1"/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IND-CCA</a:t>
            </a:r>
            <a:r>
              <a:rPr lang="en-GB" b="1" dirty="0"/>
              <a:t>-attack</a:t>
            </a:r>
            <a:endParaRPr lang="en-US" b="1" dirty="0"/>
          </a:p>
        </p:txBody>
      </p:sp>
      <p:sp>
        <p:nvSpPr>
          <p:cNvPr id="31" name="Line 28"/>
          <p:cNvSpPr>
            <a:spLocks noChangeShapeType="1"/>
          </p:cNvSpPr>
          <p:nvPr/>
        </p:nvSpPr>
        <p:spPr bwMode="auto">
          <a:xfrm>
            <a:off x="2685323" y="2122149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24634" y="4392612"/>
                <a:ext cx="8671715" cy="2231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 adversary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cannot “produce himself” a valid ciphertext.</a:t>
                </a:r>
              </a:p>
              <a:p>
                <a:endParaRPr lang="en-US" sz="1100" b="1" dirty="0">
                  <a:solidFill>
                    <a:srgbClr val="7030A0"/>
                  </a:solidFill>
                </a:endParaRPr>
              </a:p>
              <a:p>
                <a:r>
                  <a:rPr lang="en-US" sz="2000" dirty="0"/>
                  <a:t>The only decryption queries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Decrypt</a:t>
                </a:r>
                <a:r>
                  <a:rPr lang="en-US" sz="20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 on which he doesn’t get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are such that he received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from the oracle before.</a:t>
                </a:r>
              </a:p>
              <a:p>
                <a:endParaRPr lang="en-US" sz="1200" dirty="0"/>
              </a:p>
              <a:p>
                <a:r>
                  <a:rPr lang="en-US" sz="2000" dirty="0"/>
                  <a:t>But he already knows the decryptions of such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s.</a:t>
                </a:r>
              </a:p>
              <a:p>
                <a:endParaRPr lang="en-US" sz="1600" dirty="0"/>
              </a:p>
              <a:p>
                <a:r>
                  <a:rPr lang="en-US" sz="2000" b="1" dirty="0"/>
                  <a:t>So</a:t>
                </a:r>
                <a:r>
                  <a:rPr lang="en-US" sz="2000" dirty="0"/>
                  <a:t>: the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IND-CCA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attack does not help him!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34" y="4392612"/>
                <a:ext cx="8671715" cy="2231380"/>
              </a:xfrm>
              <a:prstGeom prst="rect">
                <a:avLst/>
              </a:prstGeom>
              <a:blipFill>
                <a:blip r:embed="rId5"/>
                <a:stretch>
                  <a:fillRect l="-774" t="-1639" b="-3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1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IND-CCA security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Definition of the </a:t>
            </a:r>
            <a:r>
              <a:rPr lang="en-US" b="1" dirty="0"/>
              <a:t>IND-CCA security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Constructions of </a:t>
            </a:r>
            <a:r>
              <a:rPr lang="en-US" b="1" dirty="0"/>
              <a:t>IND-CCA-secure </a:t>
            </a:r>
            <a:r>
              <a:rPr lang="en-US" dirty="0"/>
              <a:t>symmetric encryption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Constructions of </a:t>
            </a:r>
            <a:r>
              <a:rPr lang="en-US" b="1" dirty="0"/>
              <a:t>IND-CCA-secure </a:t>
            </a:r>
            <a:r>
              <a:rPr lang="en-US" b="1" dirty="0">
                <a:solidFill>
                  <a:srgbClr val="7030A0"/>
                </a:solidFill>
              </a:rPr>
              <a:t>RSA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encryption schemes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957288" y="4448557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15594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1821867"/>
            <a:ext cx="9144000" cy="2362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274320" rIns="274320" anchor="ctr"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800" b="1" dirty="0" err="1"/>
              <a:t>Bleichenbacher</a:t>
            </a:r>
            <a:r>
              <a:rPr lang="en-US" sz="2800" dirty="0"/>
              <a:t> [1998] showed a “practical” chosen ciphertext attack on encoding proposed for the PKCS #1 v.2 standard.</a:t>
            </a:r>
          </a:p>
          <a:p>
            <a:pPr>
              <a:lnSpc>
                <a:spcPct val="80000"/>
              </a:lnSpc>
              <a:buFontTx/>
              <a:buNone/>
            </a:pPr>
            <a:endParaRPr lang="en-GB" sz="2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GB" dirty="0"/>
              <a:t>[see also: </a:t>
            </a:r>
            <a:r>
              <a:rPr lang="en-US" dirty="0" err="1">
                <a:solidFill>
                  <a:srgbClr val="000000"/>
                </a:solidFill>
              </a:rPr>
              <a:t>Bleichenbacher</a:t>
            </a:r>
            <a:r>
              <a:rPr lang="en-US" dirty="0">
                <a:solidFill>
                  <a:srgbClr val="000000"/>
                </a:solidFill>
              </a:rPr>
              <a:t>, D., </a:t>
            </a:r>
            <a:r>
              <a:rPr lang="en-US" dirty="0" err="1">
                <a:solidFill>
                  <a:srgbClr val="000000"/>
                </a:solidFill>
              </a:rPr>
              <a:t>Kaliski</a:t>
            </a:r>
            <a:r>
              <a:rPr lang="en-US" dirty="0">
                <a:solidFill>
                  <a:srgbClr val="000000"/>
                </a:solidFill>
              </a:rPr>
              <a:t> B., Staddon J., "Recent results on PKCS #1: RSA encryption standard", </a:t>
            </a:r>
            <a:r>
              <a:rPr lang="en-US" i="1" dirty="0">
                <a:solidFill>
                  <a:srgbClr val="000000"/>
                </a:solidFill>
              </a:rPr>
              <a:t>RSA Laboratories' bulletin #7,</a:t>
            </a:r>
            <a:r>
              <a:rPr lang="en-US" dirty="0"/>
              <a:t> </a:t>
            </a:r>
            <a:r>
              <a:rPr lang="en-GB" dirty="0">
                <a:hlinkClick r:id="rId3"/>
              </a:rPr>
              <a:t>ftp://ftp.rsasecurity.com/pub/pdfs/bulletn7.pdf</a:t>
            </a:r>
            <a:r>
              <a:rPr lang="en-GB" dirty="0"/>
              <a:t> ]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PKCS #1 v.2 is not IND-CCA-</a:t>
            </a:r>
            <a:r>
              <a:rPr lang="en-US" dirty="0" err="1"/>
              <a:t>secre</a:t>
            </a:r>
            <a:endParaRPr 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4633709"/>
            <a:ext cx="8229600" cy="1784856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GB" sz="2400" dirty="0"/>
              <a:t>Why is </a:t>
            </a:r>
            <a:r>
              <a:rPr lang="en-GB" sz="2400" dirty="0" err="1"/>
              <a:t>Blaichenbacher’s</a:t>
            </a:r>
            <a:r>
              <a:rPr lang="en-GB" sz="2400" dirty="0"/>
              <a:t> attack practical?</a:t>
            </a:r>
          </a:p>
          <a:p>
            <a:pPr marL="0" indent="0">
              <a:lnSpc>
                <a:spcPct val="80000"/>
              </a:lnSpc>
              <a:buFontTx/>
              <a:buNone/>
            </a:pPr>
            <a:endParaRPr lang="en-GB" sz="2400" dirty="0"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en-GB" sz="2400" dirty="0"/>
              <a:t>Because it assumes that the adversary can get only one bit of information about the plaintext...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501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3600"/>
              <a:t>Bleichenbacher’s attack – the scenario</a:t>
            </a:r>
          </a:p>
        </p:txBody>
      </p:sp>
      <p:pic>
        <p:nvPicPr>
          <p:cNvPr id="11268" name="Picture 4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" y="2525713"/>
            <a:ext cx="2209800" cy="1527175"/>
          </a:xfrm>
          <a:prstGeom prst="rect">
            <a:avLst/>
          </a:prstGeom>
          <a:noFill/>
        </p:spPr>
      </p:pic>
      <p:pic>
        <p:nvPicPr>
          <p:cNvPr id="11269" name="Picture 5" descr="MCj0435242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19900" y="2220913"/>
            <a:ext cx="1627188" cy="321945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270" name="Rectangle 6"/>
              <p:cNvSpPr>
                <a:spLocks noChangeArrowheads="1"/>
              </p:cNvSpPr>
              <p:nvPr/>
            </p:nvSpPr>
            <p:spPr bwMode="auto">
              <a:xfrm>
                <a:off x="7048500" y="1306513"/>
                <a:ext cx="1396536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70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8500" y="1306513"/>
                <a:ext cx="1396536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71" name="Line 7"/>
          <p:cNvSpPr>
            <a:spLocks noChangeShapeType="1"/>
          </p:cNvSpPr>
          <p:nvPr/>
        </p:nvSpPr>
        <p:spPr bwMode="auto">
          <a:xfrm>
            <a:off x="3200400" y="23622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72" name="Rectangle 8"/>
              <p:cNvSpPr>
                <a:spLocks noChangeArrowheads="1"/>
              </p:cNvSpPr>
              <p:nvPr/>
            </p:nvSpPr>
            <p:spPr bwMode="auto">
              <a:xfrm>
                <a:off x="4343400" y="2209800"/>
                <a:ext cx="3984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72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3400" y="2209800"/>
                <a:ext cx="398463" cy="36988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73" name="AutoShape 9"/>
          <p:cNvCxnSpPr>
            <a:cxnSpLocks noChangeShapeType="1"/>
            <a:stCxn id="11270" idx="2"/>
          </p:cNvCxnSpPr>
          <p:nvPr/>
        </p:nvCxnSpPr>
        <p:spPr bwMode="auto">
          <a:xfrm flipH="1">
            <a:off x="7634288" y="1675845"/>
            <a:ext cx="112480" cy="5450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74" name="Text Box 10"/>
              <p:cNvSpPr txBox="1">
                <a:spLocks noChangeArrowheads="1"/>
              </p:cNvSpPr>
              <p:nvPr/>
            </p:nvSpPr>
            <p:spPr bwMode="auto">
              <a:xfrm>
                <a:off x="6324600" y="2286000"/>
                <a:ext cx="2514600" cy="161210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GB" sz="2000" dirty="0">
                    <a:cs typeface="Arial" charset="0"/>
                  </a:rPr>
                  <a:t>computes</a:t>
                </a:r>
                <a:endParaRPr lang="en-US" sz="2000" dirty="0">
                  <a:cs typeface="Arial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𝒙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sSubSupPr>
                        <m:e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𝒄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charset="0"/>
                            </a:rPr>
                            <m:t>𝒅</m:t>
                          </m:r>
                        </m:sup>
                      </m:sSubSup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 </m:t>
                      </m:r>
                      <m:r>
                        <a:rPr lang="en-US" sz="20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𝐦𝐨𝐝</m:t>
                      </m:r>
                      <m:r>
                        <a:rPr lang="en-US" sz="20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 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𝑵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  <a:cs typeface="Arial" charset="0"/>
                </a:endParaRPr>
              </a:p>
              <a:p>
                <a:r>
                  <a:rPr lang="en-GB" sz="2000" dirty="0">
                    <a:cs typeface="Arial" charset="0"/>
                  </a:rPr>
                  <a:t>and checks if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𝒙</m:t>
                    </m:r>
                    <m:r>
                      <a:rPr lang="en-GB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r>
                  <a:rPr lang="en-GB" sz="2000" dirty="0">
                    <a:cs typeface="Arial" charset="0"/>
                  </a:rPr>
                  <a:t>is a correct </a:t>
                </a:r>
                <a:r>
                  <a:rPr lang="en-US" b="1" dirty="0">
                    <a:solidFill>
                      <a:srgbClr val="0070C0"/>
                    </a:solidFill>
                  </a:rPr>
                  <a:t>PKCS #1 v2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b="1" dirty="0">
                    <a:solidFill>
                      <a:srgbClr val="0070C0"/>
                    </a:solidFill>
                  </a:rPr>
                  <a:t>encoding</a:t>
                </a:r>
              </a:p>
            </p:txBody>
          </p:sp>
        </mc:Choice>
        <mc:Fallback xmlns="">
          <p:sp>
            <p:nvSpPr>
              <p:cNvPr id="11274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2286000"/>
                <a:ext cx="2514600" cy="1612108"/>
              </a:xfrm>
              <a:prstGeom prst="rect">
                <a:avLst/>
              </a:prstGeom>
              <a:blipFill rotWithShape="0">
                <a:blip r:embed="rId7"/>
                <a:stretch>
                  <a:fillRect l="-2663" t="-1887" b="-5660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5" name="Rectangle 11"/>
              <p:cNvSpPr>
                <a:spLocks noChangeArrowheads="1"/>
              </p:cNvSpPr>
              <p:nvPr/>
            </p:nvSpPr>
            <p:spPr bwMode="auto">
              <a:xfrm>
                <a:off x="932267" y="1305474"/>
                <a:ext cx="1460890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75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2267" y="1305474"/>
                <a:ext cx="146089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76" name="AutoShape 12"/>
          <p:cNvCxnSpPr>
            <a:cxnSpLocks noChangeShapeType="1"/>
            <a:stCxn id="11275" idx="2"/>
          </p:cNvCxnSpPr>
          <p:nvPr/>
        </p:nvCxnSpPr>
        <p:spPr bwMode="auto">
          <a:xfrm flipH="1">
            <a:off x="1618068" y="1674806"/>
            <a:ext cx="44644" cy="8609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1278" name="Line 14"/>
          <p:cNvSpPr>
            <a:spLocks noChangeShapeType="1"/>
          </p:cNvSpPr>
          <p:nvPr/>
        </p:nvSpPr>
        <p:spPr bwMode="auto">
          <a:xfrm flipH="1">
            <a:off x="3200400" y="29718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4038600" y="2819400"/>
            <a:ext cx="11430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yes/no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 rot="5400000">
            <a:off x="4275932" y="3648868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b="1"/>
              <a:t>. . .</a:t>
            </a:r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85" name="Rectangle 21"/>
              <p:cNvSpPr>
                <a:spLocks noChangeArrowheads="1"/>
              </p:cNvSpPr>
              <p:nvPr/>
            </p:nvSpPr>
            <p:spPr bwMode="auto">
              <a:xfrm>
                <a:off x="228600" y="1752600"/>
                <a:ext cx="3984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85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1752600"/>
                <a:ext cx="398463" cy="36988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88" name="AutoShape 24"/>
          <p:cNvCxnSpPr>
            <a:cxnSpLocks noChangeShapeType="1"/>
            <a:stCxn id="11285" idx="2"/>
          </p:cNvCxnSpPr>
          <p:nvPr/>
        </p:nvCxnSpPr>
        <p:spPr bwMode="auto">
          <a:xfrm rot="16200000" flipH="1">
            <a:off x="-83343" y="2634456"/>
            <a:ext cx="1166812" cy="14287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90" name="Text Box 26"/>
              <p:cNvSpPr txBox="1">
                <a:spLocks noChangeArrowheads="1"/>
              </p:cNvSpPr>
              <p:nvPr/>
            </p:nvSpPr>
            <p:spPr bwMode="auto">
              <a:xfrm>
                <a:off x="457200" y="4172634"/>
                <a:ext cx="2295180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000" b="1" u="sng" dirty="0">
                    <a:solidFill>
                      <a:srgbClr val="0070C0"/>
                    </a:solidFill>
                  </a:rPr>
                  <a:t>Goal</a:t>
                </a:r>
                <a:r>
                  <a:rPr lang="en-GB" sz="2000" b="1" dirty="0"/>
                  <a:t>:</a:t>
                </a:r>
              </a:p>
              <a:p>
                <a:r>
                  <a:rPr lang="en-GB" sz="2000" dirty="0"/>
                  <a:t>compute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0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90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4172634"/>
                <a:ext cx="2295180" cy="707886"/>
              </a:xfrm>
              <a:prstGeom prst="rect">
                <a:avLst/>
              </a:prstGeom>
              <a:blipFill rotWithShape="0">
                <a:blip r:embed="rId10"/>
                <a:stretch>
                  <a:fillRect l="-2653" t="-4274" b="-1367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91" name="Text Box 27"/>
              <p:cNvSpPr txBox="1">
                <a:spLocks noChangeArrowheads="1"/>
              </p:cNvSpPr>
              <p:nvPr/>
            </p:nvSpPr>
            <p:spPr bwMode="auto">
              <a:xfrm>
                <a:off x="357158" y="5500702"/>
                <a:ext cx="8482042" cy="12003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GB" sz="2400" b="1" u="sng" dirty="0">
                    <a:solidFill>
                      <a:srgbClr val="0070C0"/>
                    </a:solidFill>
                  </a:rPr>
                  <a:t>Bleichenbacher [1998]:</a:t>
                </a:r>
              </a:p>
              <a:p>
                <a:r>
                  <a:rPr lang="en-GB" sz="2400" dirty="0"/>
                  <a:t>There exists a successful attack that requires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24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GB" sz="2400" dirty="0"/>
                  <a:t> questions for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𝟏𝟎𝟐𝟒</m:t>
                    </m:r>
                  </m:oMath>
                </a14:m>
                <a:r>
                  <a:rPr lang="en-GB" sz="2400" dirty="0"/>
                  <a:t>.</a:t>
                </a:r>
                <a:endParaRPr lang="en-US" sz="2400" baseline="30000" dirty="0"/>
              </a:p>
            </p:txBody>
          </p:sp>
        </mc:Choice>
        <mc:Fallback xmlns="">
          <p:sp>
            <p:nvSpPr>
              <p:cNvPr id="11291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58" y="5500702"/>
                <a:ext cx="8482042" cy="1200329"/>
              </a:xfrm>
              <a:prstGeom prst="rect">
                <a:avLst/>
              </a:prstGeom>
              <a:blipFill rotWithShape="0">
                <a:blip r:embed="rId11"/>
                <a:stretch>
                  <a:fillRect l="-1150" t="-4061" r="-935" b="-1066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92" name="Line 28"/>
          <p:cNvSpPr>
            <a:spLocks noChangeShapeType="1"/>
          </p:cNvSpPr>
          <p:nvPr/>
        </p:nvSpPr>
        <p:spPr bwMode="auto">
          <a:xfrm>
            <a:off x="3124200" y="44958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93" name="Rectangle 29"/>
              <p:cNvSpPr>
                <a:spLocks noChangeArrowheads="1"/>
              </p:cNvSpPr>
              <p:nvPr/>
            </p:nvSpPr>
            <p:spPr bwMode="auto">
              <a:xfrm>
                <a:off x="4267200" y="4343400"/>
                <a:ext cx="3984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93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200" y="4343400"/>
                <a:ext cx="398463" cy="36988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94" name="Line 30"/>
          <p:cNvSpPr>
            <a:spLocks noChangeShapeType="1"/>
          </p:cNvSpPr>
          <p:nvPr/>
        </p:nvSpPr>
        <p:spPr bwMode="auto">
          <a:xfrm flipH="1">
            <a:off x="3124200" y="50292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95" name="Rectangle 31"/>
          <p:cNvSpPr>
            <a:spLocks noChangeArrowheads="1"/>
          </p:cNvSpPr>
          <p:nvPr/>
        </p:nvSpPr>
        <p:spPr bwMode="auto">
          <a:xfrm>
            <a:off x="3962400" y="4876800"/>
            <a:ext cx="11430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yes/no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98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 animBg="1"/>
      <p:bldP spid="11272" grpId="0" animBg="1"/>
      <p:bldP spid="11274" grpId="0" animBg="1"/>
      <p:bldP spid="11278" grpId="0" animBg="1"/>
      <p:bldP spid="11277" grpId="0" animBg="1"/>
      <p:bldP spid="11283" grpId="0"/>
      <p:bldP spid="11292" grpId="0" animBg="1"/>
      <p:bldP spid="11293" grpId="0" animBg="1"/>
      <p:bldP spid="11294" grpId="0" animBg="1"/>
      <p:bldP spid="11295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7"/>
            <a:ext cx="8128273" cy="1195528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construct IND-CCA-secure encryption scheme from RSA?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371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Observation</a:t>
            </a:r>
            <a:r>
              <a:rPr lang="en-US" dirty="0"/>
              <a:t>: MACs don’t help (at least directly).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Because in the asymmetric case the parties don’t share a key for a MAC.</a:t>
            </a:r>
            <a:endParaRPr lang="pl-PL" dirty="0"/>
          </a:p>
        </p:txBody>
      </p:sp>
      <p:pic>
        <p:nvPicPr>
          <p:cNvPr id="4" name="Picture 4" descr="PL416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3462" y="5224067"/>
            <a:ext cx="1058863" cy="857250"/>
          </a:xfrm>
          <a:prstGeom prst="rect">
            <a:avLst/>
          </a:prstGeom>
          <a:noFill/>
        </p:spPr>
      </p:pic>
      <p:pic>
        <p:nvPicPr>
          <p:cNvPr id="5" name="Picture 5" descr="PL413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51434" y="4089399"/>
            <a:ext cx="900113" cy="927100"/>
          </a:xfrm>
          <a:prstGeom prst="rect">
            <a:avLst/>
          </a:prstGeom>
          <a:noFill/>
        </p:spPr>
      </p:pic>
      <p:pic>
        <p:nvPicPr>
          <p:cNvPr id="6" name="Picture 6" descr="PL414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3950" y="5668168"/>
            <a:ext cx="973138" cy="1011237"/>
          </a:xfrm>
          <a:prstGeom prst="rect">
            <a:avLst/>
          </a:prstGeom>
          <a:noFill/>
        </p:spPr>
      </p:pic>
      <p:pic>
        <p:nvPicPr>
          <p:cNvPr id="7" name="Picture 7" descr="PL412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67500" y="5196680"/>
            <a:ext cx="990600" cy="942975"/>
          </a:xfrm>
          <a:prstGeom prst="rect">
            <a:avLst/>
          </a:prstGeom>
          <a:noFill/>
        </p:spPr>
      </p:pic>
      <p:pic>
        <p:nvPicPr>
          <p:cNvPr id="8" name="Picture 8" descr="PL415a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09106" y="5711031"/>
            <a:ext cx="1041400" cy="96996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4"/>
              <p:cNvSpPr txBox="1">
                <a:spLocks noChangeArrowheads="1"/>
              </p:cNvSpPr>
              <p:nvPr/>
            </p:nvSpPr>
            <p:spPr bwMode="auto">
              <a:xfrm>
                <a:off x="4807781" y="4051072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7781" y="4051072"/>
                <a:ext cx="587020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Arrow 9"/>
          <p:cNvSpPr/>
          <p:nvPr/>
        </p:nvSpPr>
        <p:spPr>
          <a:xfrm rot="19850328">
            <a:off x="2409907" y="4763882"/>
            <a:ext cx="1200150" cy="32385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Right Arrow 10"/>
          <p:cNvSpPr/>
          <p:nvPr/>
        </p:nvSpPr>
        <p:spPr>
          <a:xfrm rot="14043145">
            <a:off x="4691894" y="5143307"/>
            <a:ext cx="700702" cy="320264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Right Arrow 11"/>
          <p:cNvSpPr/>
          <p:nvPr/>
        </p:nvSpPr>
        <p:spPr>
          <a:xfrm rot="18569506">
            <a:off x="3456506" y="5041175"/>
            <a:ext cx="736530" cy="365784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Right Arrow 12"/>
          <p:cNvSpPr/>
          <p:nvPr/>
        </p:nvSpPr>
        <p:spPr>
          <a:xfrm rot="12321950">
            <a:off x="5307014" y="4933751"/>
            <a:ext cx="1200150" cy="32385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030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12" grpId="0" animBg="1"/>
      <p:bldP spid="13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6832"/>
            <a:ext cx="7886700" cy="1325563"/>
          </a:xfrm>
        </p:spPr>
        <p:txBody>
          <a:bodyPr/>
          <a:lstStyle/>
          <a:p>
            <a:r>
              <a:rPr lang="en-US" dirty="0"/>
              <a:t>First</a:t>
            </a:r>
            <a:r>
              <a:rPr lang="pl-PL" dirty="0"/>
              <a:t> </a:t>
            </a:r>
            <a:r>
              <a:rPr lang="en-US" dirty="0"/>
              <a:t>attempt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00200"/>
                <a:ext cx="8382000" cy="154304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FontTx/>
                  <a:buNone/>
                </a:pPr>
                <a:r>
                  <a:rPr lang="pl-PL" sz="2800" b="1" u="sng" dirty="0">
                    <a:solidFill>
                      <a:srgbClr val="0070C0"/>
                    </a:solidFill>
                  </a:rPr>
                  <a:t>Idea</a:t>
                </a:r>
                <a:r>
                  <a:rPr lang="pl-PL" sz="2800" dirty="0"/>
                  <a:t>: take </a:t>
                </a:r>
                <a:r>
                  <a:rPr lang="en-US" sz="2800" dirty="0"/>
                  <a:t>a </a:t>
                </a:r>
                <a:r>
                  <a:rPr lang="pl-PL" sz="2800" b="1" dirty="0" err="1">
                    <a:solidFill>
                      <a:srgbClr val="0070C0"/>
                    </a:solidFill>
                  </a:rPr>
                  <a:t>symmetric-key</a:t>
                </a:r>
                <a:r>
                  <a:rPr lang="pl-PL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pl-PL" sz="2800" b="1" dirty="0" err="1">
                    <a:solidFill>
                      <a:srgbClr val="0070C0"/>
                    </a:solidFill>
                  </a:rPr>
                  <a:t>IND-CCA-secure</a:t>
                </a:r>
                <a:r>
                  <a:rPr lang="pl-PL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pl-PL" sz="2800" dirty="0"/>
                  <a:t>scheme </a:t>
                </a:r>
                <a14:m>
                  <m:oMath xmlns:m="http://schemas.openxmlformats.org/officeDocument/2006/math"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’,</m:t>
                    </m:r>
                    <m:r>
                      <a:rPr lang="pl-PL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pl-PL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l-PL" sz="2800" dirty="0"/>
                  <a:t>and </a:t>
                </a:r>
                <a:r>
                  <a:rPr lang="en-US" sz="2800" dirty="0"/>
                  <a:t>use</a:t>
                </a:r>
                <a:r>
                  <a:rPr lang="pl-PL" sz="2800" dirty="0"/>
                  <a:t> </a:t>
                </a:r>
                <a:r>
                  <a:rPr lang="en-US" sz="2800" dirty="0"/>
                  <a:t>it in the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KEM/DEM</a:t>
                </a:r>
                <a:r>
                  <a:rPr lang="en-US" sz="2800" dirty="0"/>
                  <a:t> method</a:t>
                </a:r>
                <a:r>
                  <a:rPr lang="pl-PL" sz="2800" dirty="0"/>
                  <a:t>.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pl-PL" sz="2800" dirty="0"/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382000" cy="1543048"/>
              </a:xfrm>
              <a:blipFill>
                <a:blip r:embed="rId3"/>
                <a:stretch>
                  <a:fillRect l="-1455" t="-7115" r="-2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95617" y="3929066"/>
                <a:ext cx="8078135" cy="2065887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pl-PL" sz="2800" b="1" dirty="0">
                    <a:solidFill>
                      <a:srgbClr val="7030A0"/>
                    </a:solidFill>
                  </a:rPr>
                  <a:t>public key: </a:t>
                </a:r>
                <a14:m>
                  <m:oMath xmlns:m="http://schemas.openxmlformats.org/officeDocument/2006/math"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pl-PL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</m:oMath>
                </a14:m>
                <a:r>
                  <a:rPr lang="en-US" sz="2800" dirty="0"/>
                  <a:t>                    </a:t>
                </a:r>
                <a:r>
                  <a:rPr lang="pl-PL" sz="2800" b="1" dirty="0">
                    <a:solidFill>
                      <a:srgbClr val="7030A0"/>
                    </a:solidFill>
                  </a:rPr>
                  <a:t>private key: </a:t>
                </a:r>
                <a14:m>
                  <m:oMath xmlns:m="http://schemas.openxmlformats.org/officeDocument/2006/math"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28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pl-PL" sz="2800" b="1" dirty="0">
                  <a:solidFill>
                    <a:srgbClr val="A50021"/>
                  </a:solidFill>
                </a:endParaRP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(</m:t>
                      </m:r>
                      <m:sSup>
                        <m:sSupPr>
                          <m:ctrlPr>
                            <a:rPr lang="pl-PL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pl-PL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p>
                      </m:sSup>
                      <m:r>
                        <a:rPr lang="pl-PL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’(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:endParaRPr lang="en-US" sz="2800" b="1" dirty="0">
                  <a:solidFill>
                    <a:srgbClr val="A50021"/>
                  </a:solidFill>
                </a:endParaRP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</m:t>
                      </m:r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</m:t>
                      </m:r>
                      <m:r>
                        <a:rPr lang="pl-PL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𝐜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’(</m:t>
                      </m:r>
                      <m:sSubSup>
                        <m:sSubSup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bSup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17" y="3929066"/>
                <a:ext cx="8078135" cy="2065887"/>
              </a:xfrm>
              <a:prstGeom prst="rect">
                <a:avLst/>
              </a:prstGeom>
              <a:blipFill rotWithShape="0">
                <a:blip r:embed="rId4"/>
                <a:stretch>
                  <a:fillRect l="-1199" t="-403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64" name="AutoShape 4"/>
              <p:cNvSpPr>
                <a:spLocks noChangeArrowheads="1"/>
              </p:cNvSpPr>
              <p:nvPr/>
            </p:nvSpPr>
            <p:spPr bwMode="auto">
              <a:xfrm>
                <a:off x="3208276" y="2850357"/>
                <a:ext cx="3254232" cy="457200"/>
              </a:xfrm>
              <a:prstGeom prst="wedgeRoundRectCallout">
                <a:avLst>
                  <a:gd name="adj1" fmla="val -5586"/>
                  <a:gd name="adj2" fmla="val 380586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400" b="1" dirty="0">
                    <a:solidFill>
                      <a:srgbClr val="A50021"/>
                    </a:solidFill>
                  </a:rPr>
                  <a:t> </a:t>
                </a:r>
                <a:r>
                  <a:rPr lang="en-US" sz="2400" b="1" dirty="0"/>
                  <a:t>is random 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964" name="AutoShap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8276" y="2850357"/>
                <a:ext cx="3254232" cy="457200"/>
              </a:xfrm>
              <a:prstGeom prst="wedgeRoundRectCallout">
                <a:avLst>
                  <a:gd name="adj1" fmla="val -5586"/>
                  <a:gd name="adj2" fmla="val 380586"/>
                  <a:gd name="adj3" fmla="val 16667"/>
                </a:avLst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371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40964" grpId="0" uiExpand="1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989" name="Rectangle 5"/>
              <p:cNvSpPr>
                <a:spLocks noChangeArrowheads="1"/>
              </p:cNvSpPr>
              <p:nvPr/>
            </p:nvSpPr>
            <p:spPr bwMode="auto">
              <a:xfrm>
                <a:off x="0" y="4433910"/>
                <a:ext cx="9144000" cy="2209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252000" anchor="ctr"/>
              <a:lstStyle/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US" sz="2800" b="1" u="sng" dirty="0">
                    <a:solidFill>
                      <a:srgbClr val="0070C0"/>
                    </a:solidFill>
                  </a:rPr>
                  <a:t>But is it secure?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It may be the case that </a:t>
                </a:r>
                <a:br>
                  <a:rPr lang="en-US" sz="2400" dirty="0"/>
                </a:br>
                <a:endParaRPr lang="en-US" sz="2400" dirty="0"/>
              </a:p>
              <a:p>
                <a:pPr>
                  <a:lnSpc>
                    <a:spcPct val="80000"/>
                  </a:lnSpc>
                  <a:buFont typeface="Arial" pitchFamily="34" charset="0"/>
                  <a:buChar char="•"/>
                </a:pPr>
                <a:r>
                  <a:rPr lang="en-US" sz="2400" b="1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RSA</a:t>
                </a:r>
                <a:r>
                  <a:rPr lang="en-US" sz="2400" dirty="0"/>
                  <a:t> is hard to invert, but</a:t>
                </a:r>
              </a:p>
              <a:p>
                <a:pPr>
                  <a:lnSpc>
                    <a:spcPct val="80000"/>
                  </a:lnSpc>
                  <a:buFont typeface="Arial" pitchFamily="34" charset="0"/>
                  <a:buChar char="•"/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𝟏𝟐𝟖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first bits are easy to compute...</a:t>
                </a:r>
              </a:p>
            </p:txBody>
          </p:sp>
        </mc:Choice>
        <mc:Fallback xmlns="">
          <p:sp>
            <p:nvSpPr>
              <p:cNvPr id="4198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433910"/>
                <a:ext cx="9144000" cy="22098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88" name="Rectangle 4"/>
              <p:cNvSpPr>
                <a:spLocks noChangeArrowheads="1"/>
              </p:cNvSpPr>
              <p:nvPr/>
            </p:nvSpPr>
            <p:spPr bwMode="auto">
              <a:xfrm>
                <a:off x="0" y="1066800"/>
                <a:ext cx="91440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(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p>
                      </m:sSup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988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066800"/>
                <a:ext cx="9144000" cy="6858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904990"/>
                <a:ext cx="8305800" cy="157163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normally much larger than the length of a key for symmetric encryption.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Typically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𝟏𝟎𝟐𝟒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length of the symmetric key is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First idea: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truncate</a:t>
                </a:r>
                <a:r>
                  <a:rPr lang="en-US" sz="2400" dirty="0"/>
                  <a:t>.</a:t>
                </a:r>
              </a:p>
              <a:p>
                <a:pPr>
                  <a:lnSpc>
                    <a:spcPct val="80000"/>
                  </a:lnSpc>
                  <a:buNone/>
                </a:pPr>
                <a:endParaRPr lang="en-US" sz="24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419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904990"/>
                <a:ext cx="8305800" cy="1571636"/>
              </a:xfrm>
              <a:blipFill rotWithShape="0">
                <a:blip r:embed="rId5"/>
                <a:stretch>
                  <a:fillRect l="-1175" b="-5852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44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012" name="Rectangle 4"/>
              <p:cNvSpPr>
                <a:spLocks noChangeArrowheads="1"/>
              </p:cNvSpPr>
              <p:nvPr/>
            </p:nvSpPr>
            <p:spPr bwMode="auto">
              <a:xfrm>
                <a:off x="28049" y="1553919"/>
                <a:ext cx="9144000" cy="277686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365760" rIns="365760" anchor="ctr"/>
              <a:lstStyle/>
              <a:p>
                <a:pPr>
                  <a:lnSpc>
                    <a:spcPct val="80000"/>
                  </a:lnSpc>
                  <a:spcAft>
                    <a:spcPts val="600"/>
                  </a:spcAft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400" dirty="0"/>
                  <a:t> – length of the symmetric key</a:t>
                </a:r>
              </a:p>
              <a:p>
                <a:pPr>
                  <a:lnSpc>
                    <a:spcPct val="80000"/>
                  </a:lnSpc>
                  <a:spcAft>
                    <a:spcPts val="600"/>
                  </a:spcAft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→ {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}</m:t>
                    </m:r>
                    <m:r>
                      <a:rPr lang="en-US" sz="24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𝒕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– a hash function</a:t>
                </a:r>
              </a:p>
              <a:p>
                <a:pPr>
                  <a:lnSpc>
                    <a:spcPct val="80000"/>
                  </a:lnSpc>
                  <a:spcAft>
                    <a:spcPts val="600"/>
                  </a:spcAft>
                  <a:buFontTx/>
                  <a:buNone/>
                </a:pPr>
                <a:endParaRPr lang="en-US" sz="2400" dirty="0"/>
              </a:p>
              <a:p>
                <a:pPr algn="ctr">
                  <a:lnSpc>
                    <a:spcPct val="80000"/>
                  </a:lnSpc>
                  <a:spcAft>
                    <a:spcPts val="600"/>
                  </a:spcAft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pl-PL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(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p>
                      </m:sSup>
                      <m:r>
                        <a:rPr lang="pl-PL" sz="24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sz="24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>
                  <a:lnSpc>
                    <a:spcPct val="80000"/>
                  </a:lnSpc>
                  <a:spcAft>
                    <a:spcPts val="600"/>
                  </a:spcAft>
                  <a:buFontTx/>
                  <a:buNone/>
                </a:pPr>
                <a:endParaRPr lang="en-US" sz="2400" b="1" dirty="0">
                  <a:solidFill>
                    <a:srgbClr val="A50021"/>
                  </a:solidFill>
                </a:endParaRPr>
              </a:p>
              <a:p>
                <a:pPr algn="ctr">
                  <a:lnSpc>
                    <a:spcPct val="80000"/>
                  </a:lnSpc>
                  <a:spcAft>
                    <a:spcPts val="600"/>
                  </a:spcAft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pl-PL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𝐞𝐜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  <m:d>
                            <m:dPr>
                              <m:ctrlPr>
                                <a:rPr lang="pl-PL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l-PL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l-PL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pl-PL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  <m:sup>
                                  <m:r>
                                    <a:rPr lang="pl-PL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sup>
                              </m:sSubSup>
                              <m:r>
                                <a:rPr lang="en-US" sz="2400" b="1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𝐦𝐨𝐝</m:t>
                              </m:r>
                              <m:r>
                                <a:rPr lang="en-US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</m:d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400" b="1" i="1" baseline="-25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01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49" y="1553919"/>
                <a:ext cx="9144000" cy="27768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5369" y="90245"/>
            <a:ext cx="8549360" cy="1325563"/>
          </a:xfrm>
        </p:spPr>
        <p:txBody>
          <a:bodyPr>
            <a:normAutofit/>
          </a:bodyPr>
          <a:lstStyle/>
          <a:p>
            <a:r>
              <a:rPr lang="en-US" dirty="0"/>
              <a:t>Idea: instead of truncating – hash!</a:t>
            </a:r>
          </a:p>
        </p:txBody>
      </p:sp>
      <p:sp>
        <p:nvSpPr>
          <p:cNvPr id="2" name="Rectangle 1"/>
          <p:cNvSpPr/>
          <p:nvPr/>
        </p:nvSpPr>
        <p:spPr>
          <a:xfrm>
            <a:off x="269271" y="4744578"/>
            <a:ext cx="839228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But can we prove anything about it?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  <a:p>
            <a:pPr algn="r">
              <a:lnSpc>
                <a:spcPct val="80000"/>
              </a:lnSpc>
              <a:buFontTx/>
              <a:buNone/>
            </a:pPr>
            <a:r>
              <a:rPr lang="en-US" sz="2400" dirty="0"/>
              <a:t>depends...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284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uiExpand="1" build="p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0" y="5598595"/>
            <a:ext cx="9144000" cy="5715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274320" rIns="274320" anchor="ctr"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Remember the </a:t>
            </a:r>
            <a:r>
              <a:rPr lang="en-US" sz="2400" b="1" dirty="0"/>
              <a:t>Random Oracle Model</a:t>
            </a:r>
            <a:r>
              <a:rPr lang="en-US" sz="24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37" name="Rectangle 5"/>
              <p:cNvSpPr>
                <a:spLocks noChangeArrowheads="1"/>
              </p:cNvSpPr>
              <p:nvPr/>
            </p:nvSpPr>
            <p:spPr bwMode="auto">
              <a:xfrm>
                <a:off x="0" y="3155832"/>
                <a:ext cx="9144000" cy="914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lIns="274320" rIns="274320" anchor="ctr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400" dirty="0"/>
                  <a:t>We have to assume that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b="1" dirty="0">
                    <a:solidFill>
                      <a:srgbClr val="A50021"/>
                    </a:solidFill>
                  </a:rPr>
                  <a:t> </a:t>
                </a:r>
                <a:r>
                  <a:rPr lang="en-US" sz="2400" dirty="0"/>
                  <a:t>“outputs </a:t>
                </a:r>
                <a:r>
                  <a:rPr lang="en-US" sz="2400" b="1" dirty="0"/>
                  <a:t>random values </a:t>
                </a:r>
                <a:r>
                  <a:rPr lang="en-US" sz="2400" dirty="0"/>
                  <a:t>on different inputs”.</a:t>
                </a:r>
              </a:p>
            </p:txBody>
          </p:sp>
        </mc:Choice>
        <mc:Fallback xmlns="">
          <p:sp>
            <p:nvSpPr>
              <p:cNvPr id="44037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3155832"/>
                <a:ext cx="9144000" cy="9144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38" name="Rectangle 6"/>
              <p:cNvSpPr>
                <a:spLocks noChangeArrowheads="1"/>
              </p:cNvSpPr>
              <p:nvPr/>
            </p:nvSpPr>
            <p:spPr bwMode="auto">
              <a:xfrm>
                <a:off x="0" y="4529613"/>
                <a:ext cx="91440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lIns="274320" rIns="274320" anchor="ctr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400" dirty="0"/>
                  <a:t>This can be formalized by modeling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as </a:t>
                </a:r>
                <a:r>
                  <a:rPr lang="en-US" sz="2400" b="1" dirty="0"/>
                  <a:t>random oracle.</a:t>
                </a:r>
              </a:p>
            </p:txBody>
          </p:sp>
        </mc:Choice>
        <mc:Fallback xmlns="">
          <p:sp>
            <p:nvSpPr>
              <p:cNvPr id="4403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529613"/>
                <a:ext cx="9144000" cy="6096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36" name="Rectangle 4"/>
              <p:cNvSpPr>
                <a:spLocks noChangeArrowheads="1"/>
              </p:cNvSpPr>
              <p:nvPr/>
            </p:nvSpPr>
            <p:spPr bwMode="auto">
              <a:xfrm>
                <a:off x="0" y="1782051"/>
                <a:ext cx="9144000" cy="914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lIns="274320" rIns="274320" anchor="ctr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400" dirty="0"/>
                  <a:t>If we just assume that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is collision-resistant we cannot prove anything...</a:t>
                </a:r>
              </a:p>
            </p:txBody>
          </p:sp>
        </mc:Choice>
        <mc:Fallback xmlns="">
          <p:sp>
            <p:nvSpPr>
              <p:cNvPr id="44036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782051"/>
                <a:ext cx="9144000" cy="9144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34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185475" y="226797"/>
                <a:ext cx="7886700" cy="1325563"/>
              </a:xfrm>
            </p:spPr>
            <p:txBody>
              <a:bodyPr/>
              <a:lstStyle/>
              <a:p>
                <a:r>
                  <a:rPr lang="en-US" sz="4000" dirty="0"/>
                  <a:t>Which properties should </a:t>
                </a:r>
                <a14:m>
                  <m:oMath xmlns:m="http://schemas.openxmlformats.org/officeDocument/2006/math"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4000" dirty="0"/>
                  <a:t> have?</a:t>
                </a:r>
              </a:p>
            </p:txBody>
          </p:sp>
        </mc:Choice>
        <mc:Fallback xmlns="">
          <p:sp>
            <p:nvSpPr>
              <p:cNvPr id="4403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5475" y="226797"/>
                <a:ext cx="7886700" cy="1325563"/>
              </a:xfrm>
              <a:blipFill rotWithShape="0">
                <a:blip r:embed="rId6"/>
                <a:stretch>
                  <a:fillRect l="-270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71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9" grpId="0" animBg="1"/>
      <p:bldP spid="44037" grpId="0" animBg="1"/>
      <p:bldP spid="44038" grpId="0" animBg="1"/>
      <p:bldP spid="44036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>
            <a:normAutofit/>
          </a:bodyPr>
          <a:lstStyle/>
          <a:p>
            <a:r>
              <a:rPr lang="en-US" dirty="0"/>
              <a:t>Random oracle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596" y="1857364"/>
                <a:ext cx="8576530" cy="571504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/>
                  <a:t>hash functions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random oracles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596" y="1857364"/>
                <a:ext cx="8576530" cy="571504"/>
              </a:xfrm>
              <a:blipFill>
                <a:blip r:embed="rId3"/>
                <a:stretch>
                  <a:fillRect l="-1421" t="-19355" b="-13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4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00364" y="2928934"/>
            <a:ext cx="2143140" cy="2374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934038" y="4865728"/>
                <a:ext cx="2367123" cy="40011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it-IT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pl-PL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→ {</m:t>
                      </m:r>
                      <m:r>
                        <a:rPr lang="it-IT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it-IT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it-IT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it-IT" sz="20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𝑳</m:t>
                      </m:r>
                    </m:oMath>
                  </m:oMathPara>
                </a14:m>
                <a:endParaRPr lang="it-IT" sz="20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038" y="4865728"/>
                <a:ext cx="2367123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ular Callout 9"/>
          <p:cNvSpPr/>
          <p:nvPr/>
        </p:nvSpPr>
        <p:spPr>
          <a:xfrm>
            <a:off x="5666735" y="4572696"/>
            <a:ext cx="2786082" cy="714380"/>
          </a:xfrm>
          <a:prstGeom prst="wedgeRectCallout">
            <a:avLst>
              <a:gd name="adj1" fmla="val -67719"/>
              <a:gd name="adj2" fmla="val 1999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 completely random function</a:t>
            </a:r>
          </a:p>
        </p:txBody>
      </p:sp>
      <p:grpSp>
        <p:nvGrpSpPr>
          <p:cNvPr id="4" name="Group 10"/>
          <p:cNvGrpSpPr/>
          <p:nvPr/>
        </p:nvGrpSpPr>
        <p:grpSpPr>
          <a:xfrm>
            <a:off x="1357290" y="3524809"/>
            <a:ext cx="1500198" cy="400110"/>
            <a:chOff x="714348" y="4514829"/>
            <a:chExt cx="1500198" cy="400110"/>
          </a:xfrm>
        </p:grpSpPr>
        <p:cxnSp>
          <p:nvCxnSpPr>
            <p:cNvPr id="17" name="Straight Arrow Connector 16"/>
            <p:cNvCxnSpPr/>
            <p:nvPr/>
          </p:nvCxnSpPr>
          <p:spPr>
            <a:xfrm flipV="1">
              <a:off x="714348" y="4714884"/>
              <a:ext cx="1500198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1298053" y="4514829"/>
                  <a:ext cx="357727" cy="400110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8053" y="4514829"/>
                  <a:ext cx="357727" cy="40011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11"/>
          <p:cNvGrpSpPr/>
          <p:nvPr/>
        </p:nvGrpSpPr>
        <p:grpSpPr>
          <a:xfrm>
            <a:off x="1360998" y="4095713"/>
            <a:ext cx="1428760" cy="400110"/>
            <a:chOff x="714348" y="5094314"/>
            <a:chExt cx="1428760" cy="400110"/>
          </a:xfrm>
        </p:grpSpPr>
        <p:cxnSp>
          <p:nvCxnSpPr>
            <p:cNvPr id="16" name="Straight Arrow Connector 15"/>
            <p:cNvCxnSpPr/>
            <p:nvPr/>
          </p:nvCxnSpPr>
          <p:spPr>
            <a:xfrm rot="10800000">
              <a:off x="714348" y="5286388"/>
              <a:ext cx="142876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099785" y="5094314"/>
                  <a:ext cx="801822" cy="400110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785" y="5094314"/>
                  <a:ext cx="801822" cy="40011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8529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Security proof – the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0" y="1214422"/>
                <a:ext cx="9144000" cy="387798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– a hash function  </a:t>
                </a:r>
                <a14:m>
                  <m:oMath xmlns:m="http://schemas.openxmlformats.org/officeDocument/2006/math"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((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:= (</m:t>
                    </m:r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p>
                    </m:sSup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), 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14422"/>
                <a:ext cx="9144000" cy="3877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0" y="2166858"/>
            <a:ext cx="9144000" cy="39517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216000">
            <a:sp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dirty="0"/>
              <a:t>Why is this scheme secure in the </a:t>
            </a:r>
            <a:r>
              <a:rPr lang="en-US" sz="2400" b="1" dirty="0">
                <a:solidFill>
                  <a:srgbClr val="0070C0"/>
                </a:solidFill>
              </a:rPr>
              <a:t>random oracle model</a:t>
            </a:r>
            <a:r>
              <a:rPr lang="en-US" sz="24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0" y="2809800"/>
                <a:ext cx="9144000" cy="69063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lIns="216000">
                <a:sp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Because, as long as the adversary did not query the oracle 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400" dirty="0"/>
                  <a:t>, the value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A50021"/>
                    </a:solidFill>
                  </a:rPr>
                  <a:t> </a:t>
                </a:r>
                <a:r>
                  <a:rPr lang="en-US" sz="2400" dirty="0"/>
                  <a:t>is completely random.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09800"/>
                <a:ext cx="9144000" cy="69063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3738494"/>
                <a:ext cx="9144000" cy="69063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216000">
                <a:sp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To learn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the adversary would need to compute it from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pl-PL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400" dirty="0"/>
                  <a:t>, so he would need to invert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RSA</a:t>
                </a:r>
                <a:r>
                  <a:rPr lang="en-US" sz="2400" dirty="0"/>
                  <a:t>.</a:t>
                </a:r>
                <a:endParaRPr lang="pl-PL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38494"/>
                <a:ext cx="9144000" cy="69063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0" y="4667188"/>
                <a:ext cx="9144000" cy="69063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216000">
                <a:sp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pl-PL" sz="2400" dirty="0"/>
                  <a:t>So (with a very high probability) from the point of view of the adversary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l-PL" sz="2400" b="1" dirty="0">
                    <a:solidFill>
                      <a:srgbClr val="A50021"/>
                    </a:solidFill>
                  </a:rPr>
                  <a:t> </a:t>
                </a:r>
                <a:r>
                  <a:rPr lang="pl-PL" sz="2400" dirty="0"/>
                  <a:t>is random.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67188"/>
                <a:ext cx="9144000" cy="69063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0" y="5643578"/>
                <a:ext cx="9144000" cy="69063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216000">
                <a:sp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Therefore,</a:t>
                </a:r>
                <a:r>
                  <a:rPr lang="pl-PL" sz="2400" dirty="0"/>
                  <a:t> the </a:t>
                </a:r>
                <a:r>
                  <a:rPr lang="pl-PL" sz="2400" b="1" dirty="0"/>
                  <a:t>IND-CCA</a:t>
                </a:r>
                <a:r>
                  <a:rPr lang="en-US" sz="2400" b="1" dirty="0"/>
                  <a:t> </a:t>
                </a:r>
                <a:r>
                  <a:rPr lang="pl-PL" sz="2400" b="1" dirty="0" err="1"/>
                  <a:t>security</a:t>
                </a:r>
                <a:r>
                  <a:rPr lang="pl-PL" sz="2400" b="1" dirty="0"/>
                  <a:t> </a:t>
                </a:r>
                <a:r>
                  <a:rPr lang="pl-PL" sz="2400" dirty="0"/>
                  <a:t>of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l-PL" sz="2400" dirty="0"/>
                  <a:t>follows from the </a:t>
                </a:r>
                <a:r>
                  <a:rPr lang="pl-PL" sz="2400" b="1" dirty="0"/>
                  <a:t>IND-CCA</a:t>
                </a:r>
                <a:r>
                  <a:rPr lang="en-US" sz="2400" b="1" dirty="0"/>
                  <a:t> </a:t>
                </a:r>
                <a:r>
                  <a:rPr lang="pl-PL" sz="2400" b="1" dirty="0" err="1"/>
                  <a:t>security</a:t>
                </a:r>
                <a:r>
                  <a:rPr lang="pl-PL" sz="2400" b="1" dirty="0"/>
                  <a:t> </a:t>
                </a:r>
                <a:r>
                  <a:rPr lang="pl-PL" sz="2400" dirty="0"/>
                  <a:t>of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’,</m:t>
                    </m:r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pl-PL" sz="2400" dirty="0"/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643578"/>
                <a:ext cx="9144000" cy="6906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998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drawback </a:t>
            </a:r>
            <a:r>
              <a:rPr lang="pl-PL" dirty="0"/>
              <a:t>of </a:t>
            </a:r>
            <a:r>
              <a:rPr lang="en-US" dirty="0"/>
              <a:t>this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5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 (</m:t>
                      </m:r>
                      <m:sSup>
                        <m:sSup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p>
                      </m:sSup>
                      <m:r>
                        <a:rPr lang="pl-PL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8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pl-PL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sz="28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pl-PL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pl-PL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pl-PL" sz="2800" dirty="0"/>
              </a:p>
              <a:p>
                <a:pPr marL="0" indent="0">
                  <a:lnSpc>
                    <a:spcPct val="80000"/>
                  </a:lnSpc>
                  <a:buFontTx/>
                  <a:buNone/>
                </a:pPr>
                <a:r>
                  <a:rPr lang="pl-PL" sz="2800" dirty="0"/>
                  <a:t>The ciphertext is longer than </a:t>
                </a:r>
                <a14:m>
                  <m:oMath xmlns:m="http://schemas.openxmlformats.org/officeDocument/2006/math"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it-IT" sz="2800" dirty="0"/>
                  <a:t> </a:t>
                </a:r>
                <a:r>
                  <a:rPr lang="en-US" sz="2800" dirty="0"/>
                  <a:t>even</a:t>
                </a:r>
                <a:r>
                  <a:rPr lang="it-IT" sz="2800" dirty="0"/>
                  <a:t> </a:t>
                </a:r>
                <a:r>
                  <a:rPr lang="en-US" sz="2800" dirty="0"/>
                  <a:t>if</a:t>
                </a:r>
                <a:r>
                  <a:rPr lang="pl-PL" sz="2800" dirty="0"/>
                  <a:t> the message is short.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pl-PL" sz="28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pl-PL" sz="2800" dirty="0"/>
                  <a:t>Therefore in practice another method is used</a:t>
                </a:r>
                <a:r>
                  <a:rPr lang="en-US" sz="2800" dirty="0"/>
                  <a:t>:</a:t>
                </a:r>
                <a:endParaRPr lang="pl-PL" sz="28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pl-PL" sz="2800" dirty="0"/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US" sz="2800" b="1" dirty="0"/>
                  <a:t>Optimal Asymmetric Encryption Padding</a:t>
                </a:r>
                <a:r>
                  <a:rPr lang="pl-PL" sz="2800" b="1" dirty="0"/>
                  <a:t> (OAEP)</a:t>
                </a:r>
                <a:r>
                  <a:rPr lang="pl-PL" sz="2800" dirty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491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3"/>
                <a:stretch>
                  <a:fillRect l="-1546" t="-7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83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Optimal Asymmetric Encryption Padding</a:t>
            </a:r>
            <a:r>
              <a:rPr lang="pl-PL" sz="4000"/>
              <a:t> (OAEP) – the history</a:t>
            </a:r>
            <a:endParaRPr lang="en-US" sz="400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pl-PL" sz="2400" b="1" dirty="0"/>
              <a:t>Introduced in</a:t>
            </a:r>
            <a:r>
              <a:rPr lang="pl-PL" sz="2400" dirty="0"/>
              <a:t>:</a:t>
            </a:r>
            <a:br>
              <a:rPr lang="pl-PL" sz="2400" dirty="0"/>
            </a:br>
            <a:r>
              <a:rPr lang="pl-PL" sz="2400" b="1" dirty="0">
                <a:solidFill>
                  <a:srgbClr val="00B050"/>
                </a:solidFill>
              </a:rPr>
              <a:t>[</a:t>
            </a:r>
            <a:r>
              <a:rPr lang="en-US" sz="2400" b="1" dirty="0">
                <a:solidFill>
                  <a:srgbClr val="00B050"/>
                </a:solidFill>
              </a:rPr>
              <a:t>M. </a:t>
            </a:r>
            <a:r>
              <a:rPr lang="en-US" sz="2400" b="1" dirty="0" err="1">
                <a:solidFill>
                  <a:srgbClr val="00B050"/>
                </a:solidFill>
              </a:rPr>
              <a:t>Bellare</a:t>
            </a:r>
            <a:r>
              <a:rPr lang="en-US" sz="2400" b="1" dirty="0">
                <a:solidFill>
                  <a:srgbClr val="00B050"/>
                </a:solidFill>
              </a:rPr>
              <a:t>, P. </a:t>
            </a:r>
            <a:r>
              <a:rPr lang="en-US" sz="2400" b="1" dirty="0" err="1">
                <a:solidFill>
                  <a:srgbClr val="00B050"/>
                </a:solidFill>
              </a:rPr>
              <a:t>Rogaway</a:t>
            </a:r>
            <a:r>
              <a:rPr lang="en-US" sz="2400" b="1" dirty="0">
                <a:solidFill>
                  <a:srgbClr val="00B050"/>
                </a:solidFill>
              </a:rPr>
              <a:t>. </a:t>
            </a:r>
            <a:r>
              <a:rPr lang="en-US" sz="2400" b="1" i="1" dirty="0">
                <a:solidFill>
                  <a:srgbClr val="00B050"/>
                </a:solidFill>
              </a:rPr>
              <a:t>Optimal Asymmetric Encryption -- How to encrypt with RSA.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Eurocrypt</a:t>
            </a:r>
            <a:r>
              <a:rPr lang="en-US" sz="2400" b="1" dirty="0">
                <a:solidFill>
                  <a:srgbClr val="00B050"/>
                </a:solidFill>
              </a:rPr>
              <a:t> '94</a:t>
            </a:r>
            <a:r>
              <a:rPr lang="pl-PL" sz="2400" b="1" dirty="0">
                <a:solidFill>
                  <a:srgbClr val="00B050"/>
                </a:solidFill>
              </a:rPr>
              <a:t>]</a:t>
            </a:r>
            <a:br>
              <a:rPr lang="pl-PL" sz="2400" b="1" dirty="0">
                <a:solidFill>
                  <a:srgbClr val="00B050"/>
                </a:solidFill>
              </a:rPr>
            </a:br>
            <a:endParaRPr lang="pl-PL" sz="2400" b="1" dirty="0">
              <a:solidFill>
                <a:srgbClr val="00B050"/>
              </a:solidFill>
            </a:endParaRPr>
          </a:p>
          <a:p>
            <a:pPr>
              <a:lnSpc>
                <a:spcPct val="80000"/>
              </a:lnSpc>
            </a:pPr>
            <a:r>
              <a:rPr lang="pl-PL" sz="2400" b="1" dirty="0"/>
              <a:t>An error in the security proof was spoted in</a:t>
            </a:r>
            <a:br>
              <a:rPr lang="pl-PL" sz="2400" dirty="0"/>
            </a:br>
            <a:r>
              <a:rPr lang="pl-PL" sz="2400" b="1" dirty="0">
                <a:solidFill>
                  <a:srgbClr val="00B050"/>
                </a:solidFill>
              </a:rPr>
              <a:t>[V. Shup. </a:t>
            </a:r>
            <a:r>
              <a:rPr lang="en-US" sz="2400" b="1" i="1" dirty="0">
                <a:solidFill>
                  <a:srgbClr val="00B050"/>
                </a:solidFill>
              </a:rPr>
              <a:t>OAEP Reconsidered</a:t>
            </a:r>
            <a:r>
              <a:rPr lang="pl-PL" sz="2400" b="1" i="1" dirty="0">
                <a:solidFill>
                  <a:srgbClr val="00B050"/>
                </a:solidFill>
              </a:rPr>
              <a:t>. </a:t>
            </a:r>
            <a:r>
              <a:rPr lang="pl-PL" sz="2400" b="1" dirty="0">
                <a:solidFill>
                  <a:srgbClr val="00B050"/>
                </a:solidFill>
              </a:rPr>
              <a:t>Crypto ’01]</a:t>
            </a:r>
            <a:br>
              <a:rPr lang="pl-PL" sz="2400" b="1" dirty="0">
                <a:solidFill>
                  <a:srgbClr val="00B050"/>
                </a:solidFill>
              </a:rPr>
            </a:br>
            <a:endParaRPr lang="pl-PL" sz="2400" b="1" dirty="0">
              <a:solidFill>
                <a:srgbClr val="00B050"/>
              </a:solidFill>
            </a:endParaRPr>
          </a:p>
          <a:p>
            <a:pPr>
              <a:lnSpc>
                <a:spcPct val="80000"/>
              </a:lnSpc>
            </a:pPr>
            <a:r>
              <a:rPr lang="pl-PL" sz="2400" b="1" dirty="0"/>
              <a:t>This error was repa</a:t>
            </a:r>
            <a:r>
              <a:rPr lang="en-US" sz="2400" b="1" dirty="0" err="1"/>
              <a:t>i</a:t>
            </a:r>
            <a:r>
              <a:rPr lang="pl-PL" sz="2400" b="1" dirty="0"/>
              <a:t>red in</a:t>
            </a:r>
            <a:br>
              <a:rPr lang="pl-PL" sz="2400" b="1" dirty="0"/>
            </a:br>
            <a:r>
              <a:rPr lang="pl-PL" sz="2400" b="1" dirty="0">
                <a:solidFill>
                  <a:srgbClr val="00B050"/>
                </a:solidFill>
              </a:rPr>
              <a:t>[E.</a:t>
            </a:r>
            <a:r>
              <a:rPr lang="en-US" sz="2400" b="1" dirty="0">
                <a:solidFill>
                  <a:srgbClr val="00B050"/>
                </a:solidFill>
              </a:rPr>
              <a:t> Fujisaki, T</a:t>
            </a:r>
            <a:r>
              <a:rPr lang="pl-PL" sz="2400" b="1" dirty="0">
                <a:solidFill>
                  <a:srgbClr val="00B050"/>
                </a:solidFill>
              </a:rPr>
              <a:t>.</a:t>
            </a:r>
            <a:r>
              <a:rPr lang="en-US" sz="2400" b="1" dirty="0">
                <a:solidFill>
                  <a:srgbClr val="00B050"/>
                </a:solidFill>
              </a:rPr>
              <a:t> Okamoto, D</a:t>
            </a:r>
            <a:r>
              <a:rPr lang="pl-PL" sz="2400" b="1" dirty="0">
                <a:solidFill>
                  <a:srgbClr val="00B050"/>
                </a:solidFill>
              </a:rPr>
              <a:t>.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Pointcheval</a:t>
            </a:r>
            <a:r>
              <a:rPr lang="en-US" sz="2400" b="1" dirty="0">
                <a:solidFill>
                  <a:srgbClr val="00B050"/>
                </a:solidFill>
              </a:rPr>
              <a:t>, and J</a:t>
            </a:r>
            <a:r>
              <a:rPr lang="pl-PL" sz="2400" b="1" dirty="0">
                <a:solidFill>
                  <a:srgbClr val="00B050"/>
                </a:solidFill>
              </a:rPr>
              <a:t>.</a:t>
            </a:r>
            <a:r>
              <a:rPr lang="en-US" sz="2400" b="1" dirty="0">
                <a:solidFill>
                  <a:srgbClr val="00B050"/>
                </a:solidFill>
              </a:rPr>
              <a:t> Stern. </a:t>
            </a:r>
            <a:r>
              <a:rPr lang="en-US" sz="2400" b="1" i="1" dirty="0">
                <a:solidFill>
                  <a:srgbClr val="00B050"/>
                </a:solidFill>
              </a:rPr>
              <a:t>RSA-OAEP is secure under the RSA assumption</a:t>
            </a:r>
            <a:r>
              <a:rPr lang="en-US" sz="2400" b="1" dirty="0">
                <a:solidFill>
                  <a:srgbClr val="00B050"/>
                </a:solidFill>
              </a:rPr>
              <a:t>. </a:t>
            </a:r>
            <a:r>
              <a:rPr lang="pl-PL" sz="2400" b="1" dirty="0">
                <a:solidFill>
                  <a:srgbClr val="00B050"/>
                </a:solidFill>
              </a:rPr>
              <a:t>Crypto ’01]</a:t>
            </a:r>
            <a:endParaRPr lang="en-US" sz="2400" b="1" dirty="0">
              <a:solidFill>
                <a:srgbClr val="00B050"/>
              </a:solidFill>
            </a:endParaRPr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It is now a part of a </a:t>
            </a:r>
            <a:r>
              <a:rPr lang="en-US" sz="2400" b="1" dirty="0">
                <a:solidFill>
                  <a:srgbClr val="0070C0"/>
                </a:solidFill>
              </a:rPr>
              <a:t>PKCS#1 v. 2.0 </a:t>
            </a:r>
            <a:r>
              <a:rPr lang="en-US" sz="2400" dirty="0"/>
              <a:t>standard.</a:t>
            </a:r>
          </a:p>
        </p:txBody>
      </p:sp>
    </p:spTree>
    <p:extLst>
      <p:ext uri="{BB962C8B-B14F-4D97-AF65-F5344CB8AC3E}">
        <p14:creationId xmlns:p14="http://schemas.microsoft.com/office/powerpoint/2010/main" val="408079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712" y="-76200"/>
            <a:ext cx="2850138" cy="1143000"/>
          </a:xfrm>
        </p:spPr>
        <p:txBody>
          <a:bodyPr/>
          <a:lstStyle/>
          <a:p>
            <a:r>
              <a:rPr lang="pl-PL" sz="3600" dirty="0"/>
              <a:t>OAEP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0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45764" y="1776948"/>
                <a:ext cx="1989600" cy="45720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𝐎𝐀𝐄𝐏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:=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2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5764" y="1776948"/>
                <a:ext cx="1989600" cy="457201"/>
              </a:xfrm>
              <a:blipFill rotWithShape="0">
                <a:blip r:embed="rId5"/>
                <a:stretch>
                  <a:fillRect l="-612" t="-2667" b="-5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04" name="Rectangle 4"/>
              <p:cNvSpPr>
                <a:spLocks noChangeArrowheads="1"/>
              </p:cNvSpPr>
              <p:nvPr/>
            </p:nvSpPr>
            <p:spPr bwMode="auto">
              <a:xfrm>
                <a:off x="856822" y="2913949"/>
                <a:ext cx="18288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20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6822" y="2913949"/>
                <a:ext cx="1828800" cy="5334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05" name="Rectangle 5"/>
              <p:cNvSpPr>
                <a:spLocks noChangeArrowheads="1"/>
              </p:cNvSpPr>
              <p:nvPr/>
            </p:nvSpPr>
            <p:spPr bwMode="auto">
              <a:xfrm>
                <a:off x="2761822" y="2913949"/>
                <a:ext cx="18288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205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1822" y="2913949"/>
                <a:ext cx="1828800" cy="5334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06" name="Rectangle 6"/>
              <p:cNvSpPr>
                <a:spLocks noChangeArrowheads="1"/>
              </p:cNvSpPr>
              <p:nvPr/>
            </p:nvSpPr>
            <p:spPr bwMode="auto">
              <a:xfrm>
                <a:off x="4666822" y="2913949"/>
                <a:ext cx="37338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000" b="1" dirty="0"/>
                  <a:t>random</a:t>
                </a:r>
                <a:r>
                  <a:rPr lang="pl-PL" sz="2000" b="1" dirty="0">
                    <a:solidFill>
                      <a:srgbClr val="A5002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20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6822" y="2913949"/>
                <a:ext cx="3733800" cy="5334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07" name="AutoShape 7"/>
          <p:cNvSpPr>
            <a:spLocks/>
          </p:cNvSpPr>
          <p:nvPr/>
        </p:nvSpPr>
        <p:spPr bwMode="auto">
          <a:xfrm rot="16200000">
            <a:off x="2418922" y="1961449"/>
            <a:ext cx="533400" cy="3810000"/>
          </a:xfrm>
          <a:prstGeom prst="leftBrace">
            <a:avLst>
              <a:gd name="adj1" fmla="val 5952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1209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57022" y="4437949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1210" name="AutoShape 10"/>
          <p:cNvCxnSpPr>
            <a:cxnSpLocks noChangeShapeType="1"/>
            <a:stCxn id="51207" idx="1"/>
          </p:cNvCxnSpPr>
          <p:nvPr/>
        </p:nvCxnSpPr>
        <p:spPr bwMode="auto">
          <a:xfrm>
            <a:off x="2685622" y="4133149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1211" name="Line 11"/>
          <p:cNvSpPr>
            <a:spLocks noChangeShapeType="1"/>
          </p:cNvSpPr>
          <p:nvPr/>
        </p:nvSpPr>
        <p:spPr bwMode="auto">
          <a:xfrm>
            <a:off x="6571822" y="3447349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12" name="Rectangle 12"/>
              <p:cNvSpPr>
                <a:spLocks noChangeArrowheads="1"/>
              </p:cNvSpPr>
              <p:nvPr/>
            </p:nvSpPr>
            <p:spPr bwMode="auto">
              <a:xfrm>
                <a:off x="4362022" y="4361749"/>
                <a:ext cx="6096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212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2022" y="4361749"/>
                <a:ext cx="609600" cy="6096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213" name="AutoShape 13"/>
          <p:cNvCxnSpPr>
            <a:cxnSpLocks noChangeShapeType="1"/>
            <a:stCxn id="51211" idx="1"/>
            <a:endCxn id="51212" idx="3"/>
          </p:cNvCxnSpPr>
          <p:nvPr/>
        </p:nvCxnSpPr>
        <p:spPr bwMode="auto">
          <a:xfrm flipH="1">
            <a:off x="4971622" y="4666549"/>
            <a:ext cx="1600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1214" name="AutoShape 14"/>
          <p:cNvCxnSpPr>
            <a:cxnSpLocks noChangeShapeType="1"/>
            <a:stCxn id="51212" idx="1"/>
          </p:cNvCxnSpPr>
          <p:nvPr/>
        </p:nvCxnSpPr>
        <p:spPr bwMode="auto">
          <a:xfrm flipH="1">
            <a:off x="2914222" y="4666549"/>
            <a:ext cx="1447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1216" name="AutoShape 16"/>
          <p:cNvCxnSpPr>
            <a:cxnSpLocks noChangeShapeType="1"/>
          </p:cNvCxnSpPr>
          <p:nvPr/>
        </p:nvCxnSpPr>
        <p:spPr bwMode="auto">
          <a:xfrm>
            <a:off x="2685622" y="4895149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217" name="Rectangle 17"/>
              <p:cNvSpPr>
                <a:spLocks noChangeArrowheads="1"/>
              </p:cNvSpPr>
              <p:nvPr/>
            </p:nvSpPr>
            <p:spPr bwMode="auto">
              <a:xfrm>
                <a:off x="4362022" y="5276149"/>
                <a:ext cx="6096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217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2022" y="5276149"/>
                <a:ext cx="609600" cy="60960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218" name="AutoShape 18"/>
          <p:cNvCxnSpPr>
            <a:cxnSpLocks noChangeShapeType="1"/>
            <a:endCxn id="51217" idx="1"/>
          </p:cNvCxnSpPr>
          <p:nvPr/>
        </p:nvCxnSpPr>
        <p:spPr bwMode="auto">
          <a:xfrm>
            <a:off x="2685622" y="5580949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pic>
        <p:nvPicPr>
          <p:cNvPr id="51219" name="Picture 19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43222" y="5352349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1220" name="AutoShape 20"/>
          <p:cNvCxnSpPr>
            <a:cxnSpLocks noChangeShapeType="1"/>
            <a:stCxn id="51217" idx="3"/>
          </p:cNvCxnSpPr>
          <p:nvPr/>
        </p:nvCxnSpPr>
        <p:spPr bwMode="auto">
          <a:xfrm>
            <a:off x="4971622" y="5580949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1221" name="AutoShape 21"/>
          <p:cNvCxnSpPr>
            <a:cxnSpLocks noChangeShapeType="1"/>
          </p:cNvCxnSpPr>
          <p:nvPr/>
        </p:nvCxnSpPr>
        <p:spPr bwMode="auto">
          <a:xfrm>
            <a:off x="6571822" y="4437949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222" name="Rectangle 22"/>
              <p:cNvSpPr>
                <a:spLocks noChangeArrowheads="1"/>
              </p:cNvSpPr>
              <p:nvPr/>
            </p:nvSpPr>
            <p:spPr bwMode="auto">
              <a:xfrm>
                <a:off x="780622" y="6102350"/>
                <a:ext cx="38100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222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0622" y="6102350"/>
                <a:ext cx="3810000" cy="53340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23" name="Rectangle 23"/>
              <p:cNvSpPr>
                <a:spLocks noChangeArrowheads="1"/>
              </p:cNvSpPr>
              <p:nvPr/>
            </p:nvSpPr>
            <p:spPr bwMode="auto">
              <a:xfrm>
                <a:off x="4666822" y="6102350"/>
                <a:ext cx="38100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223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6822" y="6102350"/>
                <a:ext cx="3810000" cy="53340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224" name="AutoShape 24"/>
          <p:cNvCxnSpPr>
            <a:cxnSpLocks noChangeShapeType="1"/>
          </p:cNvCxnSpPr>
          <p:nvPr/>
        </p:nvCxnSpPr>
        <p:spPr bwMode="auto">
          <a:xfrm>
            <a:off x="2685622" y="5809549"/>
            <a:ext cx="0" cy="29280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1225" name="AutoShape 25"/>
          <p:cNvCxnSpPr>
            <a:cxnSpLocks noChangeShapeType="1"/>
            <a:endCxn id="51223" idx="0"/>
          </p:cNvCxnSpPr>
          <p:nvPr/>
        </p:nvCxnSpPr>
        <p:spPr bwMode="auto">
          <a:xfrm>
            <a:off x="6571822" y="5809549"/>
            <a:ext cx="0" cy="29280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233" name="Text Box 33"/>
              <p:cNvSpPr txBox="1">
                <a:spLocks noChangeArrowheads="1"/>
              </p:cNvSpPr>
              <p:nvPr/>
            </p:nvSpPr>
            <p:spPr bwMode="auto">
              <a:xfrm>
                <a:off x="3544650" y="2472521"/>
                <a:ext cx="487569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233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4650" y="2472521"/>
                <a:ext cx="487569" cy="369332"/>
              </a:xfrm>
              <a:prstGeom prst="rect">
                <a:avLst/>
              </a:prstGeom>
              <a:blipFill rotWithShape="0">
                <a:blip r:embed="rId14"/>
                <a:stretch>
                  <a:fillRect b="-1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34" name="Line 34"/>
          <p:cNvSpPr>
            <a:spLocks noChangeShapeType="1"/>
          </p:cNvSpPr>
          <p:nvPr/>
        </p:nvSpPr>
        <p:spPr bwMode="auto">
          <a:xfrm>
            <a:off x="2761822" y="2609149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235" name="Line 35"/>
          <p:cNvSpPr>
            <a:spLocks noChangeShapeType="1"/>
          </p:cNvSpPr>
          <p:nvPr/>
        </p:nvSpPr>
        <p:spPr bwMode="auto">
          <a:xfrm flipH="1" flipV="1">
            <a:off x="2761822" y="2685349"/>
            <a:ext cx="78282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236" name="Line 36"/>
          <p:cNvSpPr>
            <a:spLocks noChangeShapeType="1"/>
          </p:cNvSpPr>
          <p:nvPr/>
        </p:nvSpPr>
        <p:spPr bwMode="auto">
          <a:xfrm>
            <a:off x="4590622" y="2609149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237" name="Line 37"/>
          <p:cNvSpPr>
            <a:spLocks noChangeShapeType="1"/>
          </p:cNvSpPr>
          <p:nvPr/>
        </p:nvSpPr>
        <p:spPr bwMode="auto">
          <a:xfrm flipV="1">
            <a:off x="3981022" y="2685349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42" name="Text Box 42"/>
              <p:cNvSpPr txBox="1">
                <a:spLocks noChangeArrowheads="1"/>
              </p:cNvSpPr>
              <p:nvPr/>
            </p:nvSpPr>
            <p:spPr bwMode="auto">
              <a:xfrm>
                <a:off x="1618037" y="2485221"/>
                <a:ext cx="35618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242" name="Text 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8037" y="2485221"/>
                <a:ext cx="356187" cy="36933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43" name="Line 43"/>
          <p:cNvSpPr>
            <a:spLocks noChangeShapeType="1"/>
          </p:cNvSpPr>
          <p:nvPr/>
        </p:nvSpPr>
        <p:spPr bwMode="auto">
          <a:xfrm>
            <a:off x="856822" y="2609149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244" name="Line 44"/>
          <p:cNvSpPr>
            <a:spLocks noChangeShapeType="1"/>
          </p:cNvSpPr>
          <p:nvPr/>
        </p:nvSpPr>
        <p:spPr bwMode="auto">
          <a:xfrm flipH="1" flipV="1">
            <a:off x="856822" y="2685349"/>
            <a:ext cx="76748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245" name="Line 45"/>
          <p:cNvSpPr>
            <a:spLocks noChangeShapeType="1"/>
          </p:cNvSpPr>
          <p:nvPr/>
        </p:nvSpPr>
        <p:spPr bwMode="auto">
          <a:xfrm>
            <a:off x="2685622" y="2609149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246" name="Line 46"/>
          <p:cNvSpPr>
            <a:spLocks noChangeShapeType="1"/>
          </p:cNvSpPr>
          <p:nvPr/>
        </p:nvSpPr>
        <p:spPr bwMode="auto">
          <a:xfrm flipV="1">
            <a:off x="1978995" y="2685349"/>
            <a:ext cx="70662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51" name="Text Box 51"/>
              <p:cNvSpPr txBox="1">
                <a:spLocks noChangeArrowheads="1"/>
              </p:cNvSpPr>
              <p:nvPr/>
            </p:nvSpPr>
            <p:spPr bwMode="auto">
              <a:xfrm>
                <a:off x="6267022" y="2485221"/>
                <a:ext cx="487569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251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7022" y="2485221"/>
                <a:ext cx="487569" cy="369332"/>
              </a:xfrm>
              <a:prstGeom prst="rect">
                <a:avLst/>
              </a:prstGeom>
              <a:blipFill rotWithShape="0">
                <a:blip r:embed="rId16"/>
                <a:stretch>
                  <a:fillRect b="-1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52" name="Line 52"/>
          <p:cNvSpPr>
            <a:spLocks noChangeShapeType="1"/>
          </p:cNvSpPr>
          <p:nvPr/>
        </p:nvSpPr>
        <p:spPr bwMode="auto">
          <a:xfrm>
            <a:off x="4666822" y="2609149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253" name="Line 53"/>
          <p:cNvSpPr>
            <a:spLocks noChangeShapeType="1"/>
          </p:cNvSpPr>
          <p:nvPr/>
        </p:nvSpPr>
        <p:spPr bwMode="auto">
          <a:xfrm flipH="1" flipV="1">
            <a:off x="4666822" y="2685349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254" name="Line 54"/>
          <p:cNvSpPr>
            <a:spLocks noChangeShapeType="1"/>
          </p:cNvSpPr>
          <p:nvPr/>
        </p:nvSpPr>
        <p:spPr bwMode="auto">
          <a:xfrm>
            <a:off x="8400622" y="2609149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255" name="Line 55"/>
          <p:cNvSpPr>
            <a:spLocks noChangeShapeType="1"/>
          </p:cNvSpPr>
          <p:nvPr/>
        </p:nvSpPr>
        <p:spPr bwMode="auto">
          <a:xfrm flipV="1">
            <a:off x="6724222" y="2685349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295209" y="221424"/>
                <a:ext cx="5556250" cy="215912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14:m>
                  <m:oMath xmlns:m="http://schemas.openxmlformats.org/officeDocument/2006/math"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1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– RSA modulus</a:t>
                </a:r>
                <a:endParaRPr lang="en-US" sz="21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ℓ,</m:t>
                    </m:r>
                    <m:sSub>
                      <m:sSubPr>
                        <m:ctrlP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1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1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– parameters such that</a:t>
                </a:r>
              </a:p>
              <a:p>
                <a14:m>
                  <m:oMath xmlns:m="http://schemas.openxmlformats.org/officeDocument/2006/math"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ℓ+</m:t>
                    </m:r>
                    <m:sSub>
                      <m:sSubPr>
                        <m:ctrlP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≤⌊</m:t>
                    </m:r>
                    <m:r>
                      <a:rPr lang="en-US" sz="21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𝐥𝐨</m:t>
                    </m:r>
                    <m:sSub>
                      <m:sSubPr>
                        <m:ctrlP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  <m:sub>
                        <m:r>
                          <a:rPr lang="en-US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lang="en-US" sz="21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US" sz="21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hash functions:</a:t>
                </a:r>
                <a:endParaRPr lang="pl-PL" sz="21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pl-PL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pl-PL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p>
                    </m:sSup>
                    <m:r>
                      <a:rPr lang="pl-PL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pl-PL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pl-PL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ℓ+</m:t>
                        </m:r>
                        <m:sSub>
                          <m:sSubPr>
                            <m:ctrlP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p>
                    </m:sSup>
                    <m:r>
                      <a:rPr lang="pl-PL" sz="21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pl-PL" sz="21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1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pl-PL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pl-PL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pl-PL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ℓ+</m:t>
                        </m:r>
                        <m:sSub>
                          <m:sSubPr>
                            <m:ctrlP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p>
                    </m:sSup>
                    <m:r>
                      <a:rPr lang="pl-PL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pl-PL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pl-PL" sz="21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p>
                    </m:sSup>
                  </m:oMath>
                </a14:m>
                <a:endParaRPr lang="pl-PL" sz="2100" dirty="0"/>
              </a:p>
              <a:p>
                <a:endParaRPr lang="en-US" sz="2100" dirty="0"/>
              </a:p>
              <a:p>
                <a:endParaRPr lang="pl-PL" sz="21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209" y="221424"/>
                <a:ext cx="5556250" cy="2159125"/>
              </a:xfrm>
              <a:prstGeom prst="rect">
                <a:avLst/>
              </a:prstGeom>
              <a:blipFill rotWithShape="0">
                <a:blip r:embed="rId17"/>
                <a:stretch>
                  <a:fillRect l="-870" t="-54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30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animBg="1"/>
      <p:bldP spid="51205" grpId="0" animBg="1"/>
      <p:bldP spid="51206" grpId="0" animBg="1"/>
      <p:bldP spid="51207" grpId="0" animBg="1"/>
      <p:bldP spid="51211" grpId="0" animBg="1"/>
      <p:bldP spid="51212" grpId="0" animBg="1"/>
      <p:bldP spid="51217" grpId="0" animBg="1"/>
      <p:bldP spid="51222" grpId="0" animBg="1"/>
      <p:bldP spid="51223" grpId="0" animBg="1"/>
      <p:bldP spid="51233" grpId="0"/>
      <p:bldP spid="51234" grpId="0" animBg="1"/>
      <p:bldP spid="51235" grpId="0" animBg="1"/>
      <p:bldP spid="51236" grpId="0" animBg="1"/>
      <p:bldP spid="51237" grpId="0" animBg="1"/>
      <p:bldP spid="51242" grpId="0"/>
      <p:bldP spid="51243" grpId="0" animBg="1"/>
      <p:bldP spid="51244" grpId="0" animBg="1"/>
      <p:bldP spid="51245" grpId="0" animBg="1"/>
      <p:bldP spid="51246" grpId="0" animBg="1"/>
      <p:bldP spid="51251" grpId="0"/>
      <p:bldP spid="51252" grpId="0" animBg="1"/>
      <p:bldP spid="51253" grpId="0" animBg="1"/>
      <p:bldP spid="51254" grpId="0" animBg="1"/>
      <p:bldP spid="51255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pl-PL"/>
              <a:t>How to invert?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228" name="Rectangle 4"/>
              <p:cNvSpPr>
                <a:spLocks noChangeArrowheads="1"/>
              </p:cNvSpPr>
              <p:nvPr/>
            </p:nvSpPr>
            <p:spPr bwMode="auto">
              <a:xfrm>
                <a:off x="914400" y="2133600"/>
                <a:ext cx="18288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228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2133600"/>
                <a:ext cx="1828800" cy="5334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229" name="Rectangle 5"/>
              <p:cNvSpPr>
                <a:spLocks noChangeArrowheads="1"/>
              </p:cNvSpPr>
              <p:nvPr/>
            </p:nvSpPr>
            <p:spPr bwMode="auto">
              <a:xfrm>
                <a:off x="2819400" y="2133600"/>
                <a:ext cx="18288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22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9400" y="2133600"/>
                <a:ext cx="1828800" cy="5334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231" name="AutoShape 7"/>
          <p:cNvSpPr>
            <a:spLocks/>
          </p:cNvSpPr>
          <p:nvPr/>
        </p:nvSpPr>
        <p:spPr bwMode="auto">
          <a:xfrm rot="16200000">
            <a:off x="2476500" y="1181100"/>
            <a:ext cx="533400" cy="3810000"/>
          </a:xfrm>
          <a:prstGeom prst="leftBrace">
            <a:avLst>
              <a:gd name="adj1" fmla="val 5952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2232" name="Picture 8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14600" y="36576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2233" name="AutoShape 9"/>
          <p:cNvCxnSpPr>
            <a:cxnSpLocks noChangeShapeType="1"/>
            <a:stCxn id="52231" idx="1"/>
          </p:cNvCxnSpPr>
          <p:nvPr/>
        </p:nvCxnSpPr>
        <p:spPr bwMode="auto">
          <a:xfrm>
            <a:off x="2743200" y="3352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235" name="Rectangle 11"/>
              <p:cNvSpPr>
                <a:spLocks noChangeArrowheads="1"/>
              </p:cNvSpPr>
              <p:nvPr/>
            </p:nvSpPr>
            <p:spPr bwMode="auto">
              <a:xfrm>
                <a:off x="4419600" y="3581400"/>
                <a:ext cx="6096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235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9600" y="3581400"/>
                <a:ext cx="609600" cy="6096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236" name="AutoShape 12"/>
          <p:cNvCxnSpPr>
            <a:cxnSpLocks noChangeShapeType="1"/>
            <a:endCxn id="52235" idx="3"/>
          </p:cNvCxnSpPr>
          <p:nvPr/>
        </p:nvCxnSpPr>
        <p:spPr bwMode="auto">
          <a:xfrm flipH="1">
            <a:off x="5029200" y="3886200"/>
            <a:ext cx="1600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37" name="AutoShape 13"/>
          <p:cNvCxnSpPr>
            <a:cxnSpLocks noChangeShapeType="1"/>
            <a:stCxn id="52235" idx="1"/>
          </p:cNvCxnSpPr>
          <p:nvPr/>
        </p:nvCxnSpPr>
        <p:spPr bwMode="auto">
          <a:xfrm flipH="1">
            <a:off x="2971800" y="3886200"/>
            <a:ext cx="1447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38" name="AutoShape 14"/>
          <p:cNvCxnSpPr>
            <a:cxnSpLocks noChangeShapeType="1"/>
          </p:cNvCxnSpPr>
          <p:nvPr/>
        </p:nvCxnSpPr>
        <p:spPr bwMode="auto">
          <a:xfrm>
            <a:off x="2743200" y="41148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239" name="Rectangle 15"/>
              <p:cNvSpPr>
                <a:spLocks noChangeArrowheads="1"/>
              </p:cNvSpPr>
              <p:nvPr/>
            </p:nvSpPr>
            <p:spPr bwMode="auto">
              <a:xfrm>
                <a:off x="4419600" y="4495800"/>
                <a:ext cx="6096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239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9600" y="4495800"/>
                <a:ext cx="609600" cy="60960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240" name="AutoShape 16"/>
          <p:cNvCxnSpPr>
            <a:cxnSpLocks noChangeShapeType="1"/>
            <a:endCxn id="52239" idx="1"/>
          </p:cNvCxnSpPr>
          <p:nvPr/>
        </p:nvCxnSpPr>
        <p:spPr bwMode="auto">
          <a:xfrm>
            <a:off x="2743200" y="4800600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pic>
        <p:nvPicPr>
          <p:cNvPr id="52241" name="Picture 1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00800" y="45720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2242" name="AutoShape 18"/>
          <p:cNvCxnSpPr>
            <a:cxnSpLocks noChangeShapeType="1"/>
            <a:stCxn id="52239" idx="3"/>
          </p:cNvCxnSpPr>
          <p:nvPr/>
        </p:nvCxnSpPr>
        <p:spPr bwMode="auto">
          <a:xfrm>
            <a:off x="5029200" y="4800600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43" name="AutoShape 19"/>
          <p:cNvCxnSpPr>
            <a:cxnSpLocks noChangeShapeType="1"/>
          </p:cNvCxnSpPr>
          <p:nvPr/>
        </p:nvCxnSpPr>
        <p:spPr bwMode="auto">
          <a:xfrm>
            <a:off x="6629400" y="38862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244" name="Rectangle 20"/>
              <p:cNvSpPr>
                <a:spLocks noChangeArrowheads="1"/>
              </p:cNvSpPr>
              <p:nvPr/>
            </p:nvSpPr>
            <p:spPr bwMode="auto">
              <a:xfrm>
                <a:off x="838200" y="5715000"/>
                <a:ext cx="38100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244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5715000"/>
                <a:ext cx="3810000" cy="5334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245" name="Rectangle 21"/>
              <p:cNvSpPr>
                <a:spLocks noChangeArrowheads="1"/>
              </p:cNvSpPr>
              <p:nvPr/>
            </p:nvSpPr>
            <p:spPr bwMode="auto">
              <a:xfrm>
                <a:off x="4724400" y="5715000"/>
                <a:ext cx="38100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245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5715000"/>
                <a:ext cx="3810000" cy="53340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246" name="AutoShape 22"/>
          <p:cNvCxnSpPr>
            <a:cxnSpLocks noChangeShapeType="1"/>
          </p:cNvCxnSpPr>
          <p:nvPr/>
        </p:nvCxnSpPr>
        <p:spPr bwMode="auto">
          <a:xfrm>
            <a:off x="2743200" y="4800600"/>
            <a:ext cx="1588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52247" name="AutoShape 23"/>
          <p:cNvCxnSpPr>
            <a:cxnSpLocks noChangeShapeType="1"/>
          </p:cNvCxnSpPr>
          <p:nvPr/>
        </p:nvCxnSpPr>
        <p:spPr bwMode="auto">
          <a:xfrm>
            <a:off x="6629400" y="50292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263" name="AutoShape 39"/>
              <p:cNvSpPr>
                <a:spLocks noChangeArrowheads="1"/>
              </p:cNvSpPr>
              <p:nvPr/>
            </p:nvSpPr>
            <p:spPr bwMode="auto">
              <a:xfrm>
                <a:off x="4953000" y="1524001"/>
                <a:ext cx="3581400" cy="1676399"/>
              </a:xfrm>
              <a:prstGeom prst="leftArrowCallout">
                <a:avLst>
                  <a:gd name="adj1" fmla="val 27273"/>
                  <a:gd name="adj2" fmla="val 26136"/>
                  <a:gd name="adj3" fmla="val 25000"/>
                  <a:gd name="adj4" fmla="val 81644"/>
                </a:avLst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anchor="t"/>
              <a:lstStyle/>
              <a:p>
                <a:r>
                  <a:rPr lang="en-US" sz="2400" dirty="0"/>
                  <a:t>If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sz="2400" dirty="0">
                    <a:solidFill>
                      <a:schemeClr val="tx1"/>
                    </a:solidFill>
                  </a:rPr>
                  <a:t>then output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otherwise</a:t>
                </a:r>
              </a:p>
              <a:p>
                <a:pPr lvl="1"/>
                <a:r>
                  <a:rPr lang="en-US" sz="2400" dirty="0">
                    <a:solidFill>
                      <a:schemeClr val="tx1"/>
                    </a:solidFill>
                  </a:rPr>
                  <a:t>output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en-US" sz="2400" dirty="0"/>
                  <a:t>.</a:t>
                </a: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263" name="AutoShap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0" y="1524001"/>
                <a:ext cx="3581400" cy="1676399"/>
              </a:xfrm>
              <a:prstGeom prst="leftArrowCallout">
                <a:avLst>
                  <a:gd name="adj1" fmla="val 27273"/>
                  <a:gd name="adj2" fmla="val 26136"/>
                  <a:gd name="adj3" fmla="val 25000"/>
                  <a:gd name="adj4" fmla="val 81644"/>
                </a:avLst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897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animBg="1"/>
      <p:bldP spid="52229" grpId="0" animBg="1"/>
      <p:bldP spid="52231" grpId="0" animBg="1"/>
      <p:bldP spid="52235" grpId="0" animBg="1"/>
      <p:bldP spid="52239" grpId="0" animBg="1"/>
      <p:bldP spid="52244" grpId="0" animBg="1"/>
      <p:bldP spid="52245" grpId="0" animBg="1"/>
      <p:bldP spid="52263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7350" y="193677"/>
            <a:ext cx="8506663" cy="975620"/>
          </a:xfrm>
        </p:spPr>
        <p:txBody>
          <a:bodyPr/>
          <a:lstStyle/>
          <a:p>
            <a:r>
              <a:rPr lang="pl-PL" dirty="0"/>
              <a:t>RSA-OAEP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2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85750" y="1301749"/>
                <a:ext cx="8229600" cy="1515429"/>
              </a:xfrm>
            </p:spPr>
            <p:txBody>
              <a:bodyPr anchor="ctr">
                <a:noAutofit/>
              </a:bodyPr>
              <a:lstStyle/>
              <a:p>
                <a:pPr>
                  <a:buFontTx/>
                  <a:buNone/>
                </a:pPr>
                <a:r>
                  <a:rPr lang="en-US" dirty="0"/>
                  <a:t>key pair like in the </a:t>
                </a:r>
                <a:r>
                  <a:rPr lang="en-US" b="1" dirty="0">
                    <a:solidFill>
                      <a:srgbClr val="0070C0"/>
                    </a:solidFill>
                  </a:rPr>
                  <a:t>handbook RSA</a:t>
                </a:r>
                <a:r>
                  <a:rPr lang="en-US" dirty="0"/>
                  <a:t>:</a:t>
                </a:r>
              </a:p>
              <a:p>
                <a:pPr lvl="1">
                  <a:buFontTx/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private</a:t>
                </a:r>
                <a:r>
                  <a:rPr lang="pl-PL" b="1" dirty="0">
                    <a:solidFill>
                      <a:srgbClr val="7030A0"/>
                    </a:solidFill>
                  </a:rPr>
                  <a:t> key</a:t>
                </a:r>
                <a:r>
                  <a:rPr lang="pl-PL" dirty="0"/>
                  <a:t>: </a:t>
                </a:r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  <a:p>
                <a:pPr lvl="1">
                  <a:buFontTx/>
                  <a:buNone/>
                </a:pPr>
                <a:r>
                  <a:rPr lang="pl-PL" b="1" dirty="0">
                    <a:solidFill>
                      <a:srgbClr val="7030A0"/>
                    </a:solidFill>
                  </a:rPr>
                  <a:t>public key</a:t>
                </a:r>
                <a:r>
                  <a:rPr lang="pl-PL" dirty="0"/>
                  <a:t>: </a:t>
                </a:r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b="1" dirty="0">
                  <a:solidFill>
                    <a:srgbClr val="A50021"/>
                  </a:solidFill>
                </a:endParaRPr>
              </a:p>
            </p:txBody>
          </p:sp>
        </mc:Choice>
        <mc:Fallback xmlns="">
          <p:sp>
            <p:nvSpPr>
              <p:cNvPr id="532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85750" y="1301749"/>
                <a:ext cx="8229600" cy="1515429"/>
              </a:xfrm>
              <a:blipFill rotWithShape="0">
                <a:blip r:embed="rId3"/>
                <a:stretch>
                  <a:fillRect l="-1556" b="-40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0800" y="3054350"/>
                <a:ext cx="9093200" cy="296545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274320" anchor="ctr">
                <a:noAutofit/>
              </a:bodyPr>
              <a:lstStyle/>
              <a:p>
                <a:pPr algn="ctr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d>
                        <m:dPr>
                          <m:ctrlPr>
                            <a:rPr lang="pl-PL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pl-PL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l-PL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d>
                          <m:r>
                            <a:rPr lang="pl-PL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𝐎𝐀𝐄𝐏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r>
                        <a:rPr lang="pl-PL" sz="28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  <a:p>
                <a:pPr algn="ctr">
                  <a:buFontTx/>
                  <a:buNone/>
                </a:pPr>
                <a:endParaRPr lang="pl-PL" sz="2800" b="1" dirty="0">
                  <a:solidFill>
                    <a:srgbClr val="A50021"/>
                  </a:solidFill>
                </a:endParaRPr>
              </a:p>
              <a:p>
                <a:pPr marL="2686050" indent="-2686050">
                  <a:buFontTx/>
                  <a:buNone/>
                </a:pPr>
                <a14:m>
                  <m:oMath xmlns:m="http://schemas.openxmlformats.org/officeDocument/2006/math">
                    <m:r>
                      <a:rPr lang="pl-PL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d>
                      <m:dPr>
                        <m:ctrlPr>
                          <a:rPr lang="pl-PL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pl-PL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  <m:r>
                              <a:rPr lang="pl-PL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</m:d>
                        <m:r>
                          <a:rPr lang="pl-PL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sz="2800" b="1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8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</a:br>
                <a:r>
                  <a:rPr 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if</a:t>
                </a:r>
                <a:r>
                  <a:rPr lang="en-US" sz="28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ℓ+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then output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⊥</m:t>
                    </m:r>
                  </m:oMath>
                </a14:m>
                <a:br>
                  <a:rPr lang="en-US" sz="28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</a:br>
                <a:r>
                  <a:rPr 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otherwise output</a:t>
                </a:r>
                <a:r>
                  <a:rPr lang="en-US" sz="28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𝐎𝐀𝐄</m:t>
                    </m:r>
                    <m:sSup>
                      <m:sSupPr>
                        <m:ctrlP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" y="3054350"/>
                <a:ext cx="9093200" cy="29654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39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1476"/>
            <a:ext cx="7886700" cy="1325563"/>
          </a:xfrm>
        </p:spPr>
        <p:txBody>
          <a:bodyPr/>
          <a:lstStyle/>
          <a:p>
            <a:r>
              <a:rPr lang="en-US" dirty="0"/>
              <a:t>Security of RSA-OAEP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14554"/>
                <a:ext cx="8229600" cy="3071833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None/>
                </a:pPr>
                <a:r>
                  <a:rPr lang="en-US" dirty="0"/>
                  <a:t>Security of </a:t>
                </a:r>
                <a:r>
                  <a:rPr lang="en-US" b="1" dirty="0">
                    <a:solidFill>
                      <a:srgbClr val="0070C0"/>
                    </a:solidFill>
                  </a:rPr>
                  <a:t>RSA-OAEP</a:t>
                </a:r>
                <a:r>
                  <a:rPr lang="en-US" dirty="0"/>
                  <a:t> can be proven </a:t>
                </a:r>
              </a:p>
              <a:p>
                <a:r>
                  <a:rPr lang="en-US" dirty="0"/>
                  <a:t>if one models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as random oracles</a:t>
                </a:r>
              </a:p>
              <a:p>
                <a:r>
                  <a:rPr lang="en-US" dirty="0"/>
                  <a:t>assuming the </a:t>
                </a:r>
                <a:r>
                  <a:rPr lang="en-US" b="1" dirty="0">
                    <a:solidFill>
                      <a:srgbClr val="0070C0"/>
                    </a:solidFill>
                  </a:rPr>
                  <a:t>RSA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b="1" dirty="0">
                    <a:solidFill>
                      <a:srgbClr val="0070C0"/>
                    </a:solidFill>
                  </a:rPr>
                  <a:t>assumption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holds.</a:t>
                </a:r>
              </a:p>
              <a:p>
                <a:endParaRPr lang="en-US" dirty="0"/>
              </a:p>
              <a:p>
                <a:pPr>
                  <a:buNone/>
                </a:pPr>
                <a:r>
                  <a:rPr lang="en-US" dirty="0"/>
                  <a:t>We do not present the proof here.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We just mention some </a:t>
                </a:r>
                <a:r>
                  <a:rPr lang="en-US" b="1" dirty="0">
                    <a:solidFill>
                      <a:srgbClr val="7030A0"/>
                    </a:solidFill>
                  </a:rPr>
                  <a:t>nice properties</a:t>
                </a:r>
                <a:r>
                  <a:rPr lang="en-US" dirty="0"/>
                  <a:t> of this encoding.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14554"/>
                <a:ext cx="8229600" cy="3071833"/>
              </a:xfrm>
              <a:blipFill rotWithShape="0">
                <a:blip r:embed="rId3"/>
                <a:stretch>
                  <a:fillRect l="-1333" t="-55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98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Nice properties of OAEP</a:t>
            </a:r>
            <a:br>
              <a:rPr lang="en-US" dirty="0"/>
            </a:br>
            <a:r>
              <a:rPr lang="en-US" sz="3600" dirty="0"/>
              <a:t>(for the right choice of parameters)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78100" y="1825624"/>
                <a:ext cx="6273800" cy="4721225"/>
              </a:xfrm>
            </p:spPr>
            <p:txBody>
              <a:bodyPr>
                <a:normAutofit/>
              </a:bodyPr>
              <a:lstStyle/>
              <a:p>
                <a:r>
                  <a:rPr lang="en-US" sz="3100" dirty="0"/>
                  <a:t>it is </a:t>
                </a:r>
                <a:r>
                  <a:rPr lang="en-US" sz="3100" b="1" dirty="0">
                    <a:solidFill>
                      <a:srgbClr val="0070C0"/>
                    </a:solidFill>
                  </a:rPr>
                  <a:t>invertible</a:t>
                </a:r>
              </a:p>
              <a:p>
                <a:r>
                  <a:rPr lang="en-US" sz="3100" dirty="0"/>
                  <a:t>but </a:t>
                </a:r>
                <a:r>
                  <a:rPr lang="en-US" sz="3100" b="1" dirty="0">
                    <a:solidFill>
                      <a:srgbClr val="00B050"/>
                    </a:solidFill>
                  </a:rPr>
                  <a:t>to invert you need to know </a:t>
                </a:r>
                <a14:m>
                  <m:oMath xmlns:m="http://schemas.openxmlformats.org/officeDocument/2006/math">
                    <m:r>
                      <a:rPr lang="en-US" sz="3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3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3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3100" b="1" dirty="0">
                    <a:solidFill>
                      <a:srgbClr val="00B050"/>
                    </a:solidFill>
                  </a:rPr>
                  <a:t>completely</a:t>
                </a:r>
              </a:p>
              <a:p>
                <a:r>
                  <a:rPr lang="en-US" sz="3100" dirty="0"/>
                  <a:t>for every message </a:t>
                </a:r>
                <a14:m>
                  <m:oMath xmlns:m="http://schemas.openxmlformats.org/officeDocument/2006/math">
                    <m:r>
                      <a:rPr lang="en-US" sz="3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3100" dirty="0"/>
                  <a:t> the encoding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1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𝐎𝐀𝐄𝐏</m:t>
                      </m:r>
                      <m:r>
                        <a:rPr lang="en-US" sz="31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1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31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100" b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sz="3100" dirty="0"/>
                  <a:t>	is uniformly </a:t>
                </a:r>
                <a:r>
                  <a:rPr lang="en-US" sz="3100" b="1" dirty="0">
                    <a:solidFill>
                      <a:srgbClr val="7030A0"/>
                    </a:solidFill>
                  </a:rPr>
                  <a:t>random</a:t>
                </a:r>
                <a:br>
                  <a:rPr lang="en-US" sz="3100" b="1" dirty="0">
                    <a:solidFill>
                      <a:srgbClr val="7030A0"/>
                    </a:solidFill>
                  </a:rPr>
                </a:br>
                <a:endParaRPr lang="en-US" sz="1800" b="1" dirty="0">
                  <a:solidFill>
                    <a:srgbClr val="7030A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3100" dirty="0"/>
                  <a:t>It is hard to produce a valid </a:t>
                </a:r>
                <a14:m>
                  <m:oMath xmlns:m="http://schemas.openxmlformats.org/officeDocument/2006/math">
                    <m:r>
                      <a:rPr lang="en-US" sz="31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1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31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1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31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1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100" dirty="0"/>
                  <a:t>“without knowing </a:t>
                </a:r>
                <a14:m>
                  <m:oMath xmlns:m="http://schemas.openxmlformats.org/officeDocument/2006/math">
                    <m:r>
                      <a:rPr lang="en-US" sz="31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3100" dirty="0"/>
                  <a:t> first”</a:t>
                </a:r>
              </a:p>
              <a:p>
                <a:pPr>
                  <a:buNone/>
                </a:pPr>
                <a:endParaRPr lang="en-US" sz="3100" dirty="0"/>
              </a:p>
              <a:p>
                <a:endParaRPr lang="en-US" sz="31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8100" y="1825624"/>
                <a:ext cx="6273800" cy="4721225"/>
              </a:xfrm>
              <a:blipFill rotWithShape="0">
                <a:blip r:embed="rId3"/>
                <a:stretch>
                  <a:fillRect l="-2138" t="-2710" r="-68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/>
          <p:cNvSpPr/>
          <p:nvPr/>
        </p:nvSpPr>
        <p:spPr>
          <a:xfrm rot="10800000">
            <a:off x="2032000" y="5151436"/>
            <a:ext cx="641349" cy="906463"/>
          </a:xfrm>
          <a:prstGeom prst="rightBrace">
            <a:avLst>
              <a:gd name="adj1" fmla="val 23889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Right Brace 4"/>
          <p:cNvSpPr/>
          <p:nvPr/>
        </p:nvSpPr>
        <p:spPr>
          <a:xfrm rot="10800000">
            <a:off x="1981198" y="2393950"/>
            <a:ext cx="692151" cy="2690019"/>
          </a:xfrm>
          <a:prstGeom prst="rightBrace">
            <a:avLst>
              <a:gd name="adj1" fmla="val 23889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TextBox 5"/>
          <p:cNvSpPr txBox="1"/>
          <p:nvPr/>
        </p:nvSpPr>
        <p:spPr>
          <a:xfrm>
            <a:off x="234950" y="3181350"/>
            <a:ext cx="15938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good for the </a:t>
            </a:r>
            <a:r>
              <a:rPr lang="en-US" sz="2400" b="1" dirty="0">
                <a:solidFill>
                  <a:srgbClr val="FF0000"/>
                </a:solidFill>
              </a:rPr>
              <a:t>IND-CPA security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976634"/>
            <a:ext cx="1371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good for the </a:t>
            </a:r>
            <a:r>
              <a:rPr lang="en-US" sz="2400" b="1" dirty="0">
                <a:solidFill>
                  <a:srgbClr val="FF0000"/>
                </a:solidFill>
              </a:rPr>
              <a:t>IND-CCA security</a:t>
            </a:r>
            <a:endParaRPr lang="pl-PL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94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34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461874" y="396906"/>
                <a:ext cx="8372651" cy="1011222"/>
              </a:xfrm>
            </p:spPr>
            <p:txBody>
              <a:bodyPr>
                <a:noAutofit/>
              </a:bodyPr>
              <a:lstStyle/>
              <a:p>
                <a:r>
                  <a:rPr lang="en-US" sz="3600" b="1" dirty="0"/>
                  <a:t>OAEP</a:t>
                </a:r>
                <a:r>
                  <a:rPr lang="en-US" sz="3600" dirty="0"/>
                  <a:t> is hard to invert if you don’t know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3600" dirty="0"/>
                  <a:t> and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sz="3600" dirty="0"/>
                  <a:t> completely.</a:t>
                </a:r>
              </a:p>
            </p:txBody>
          </p:sp>
        </mc:Choice>
        <mc:Fallback xmlns="">
          <p:sp>
            <p:nvSpPr>
              <p:cNvPr id="5734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61874" y="396906"/>
                <a:ext cx="8372651" cy="1011222"/>
              </a:xfrm>
              <a:blipFill rotWithShape="0">
                <a:blip r:embed="rId3"/>
                <a:stretch>
                  <a:fillRect l="-2258" t="-18072" b="-2650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61874" y="2489885"/>
                <a:ext cx="8116976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b="1" dirty="0">
                    <a:solidFill>
                      <a:srgbClr val="0070C0"/>
                    </a:solidFill>
                  </a:rPr>
                  <a:t>Actually</a:t>
                </a:r>
                <a:r>
                  <a:rPr lang="en-US" sz="3200" dirty="0"/>
                  <a:t>:</a:t>
                </a:r>
                <a:br>
                  <a:rPr lang="en-US" sz="3200" dirty="0"/>
                </a:b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is completely hidden in such a case.</a:t>
                </a:r>
              </a:p>
              <a:p>
                <a:endParaRPr lang="en-US" sz="3200" dirty="0"/>
              </a:p>
              <a:p>
                <a:pPr algn="r"/>
                <a:r>
                  <a:rPr lang="en-US" sz="3200" dirty="0"/>
                  <a:t>(assuming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3200" dirty="0"/>
                  <a:t> are random oracles)</a:t>
                </a:r>
              </a:p>
              <a:p>
                <a:endParaRPr lang="pl-PL" sz="32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74" y="2489885"/>
                <a:ext cx="8116976" cy="2554545"/>
              </a:xfrm>
              <a:prstGeom prst="rect">
                <a:avLst/>
              </a:prstGeom>
              <a:blipFill rotWithShape="0">
                <a:blip r:embed="rId4"/>
                <a:stretch>
                  <a:fillRect l="-1953" t="-3103" r="-18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566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528920" y="342877"/>
            <a:ext cx="7886700" cy="828706"/>
          </a:xfrm>
        </p:spPr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928662" y="2357430"/>
            <a:ext cx="18288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000" b="1" i="1">
                <a:solidFill>
                  <a:srgbClr val="FF0000"/>
                </a:solidFill>
              </a:rPr>
              <a:t>m</a:t>
            </a:r>
            <a:endParaRPr lang="en-US" sz="2000" b="1" i="1">
              <a:solidFill>
                <a:srgbClr val="FF0000"/>
              </a:solidFill>
            </a:endParaRPr>
          </a:p>
        </p:txBody>
      </p:sp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2819400" y="2362200"/>
            <a:ext cx="18288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000" b="1" i="1">
                <a:solidFill>
                  <a:srgbClr val="FF0000"/>
                </a:solidFill>
              </a:rPr>
              <a:t>Z</a:t>
            </a:r>
            <a:endParaRPr lang="en-US" sz="2000" b="1" i="1">
              <a:solidFill>
                <a:srgbClr val="FF0000"/>
              </a:solidFill>
            </a:endParaRPr>
          </a:p>
        </p:txBody>
      </p:sp>
      <p:sp>
        <p:nvSpPr>
          <p:cNvPr id="58374" name="AutoShape 6"/>
          <p:cNvSpPr>
            <a:spLocks/>
          </p:cNvSpPr>
          <p:nvPr/>
        </p:nvSpPr>
        <p:spPr bwMode="auto">
          <a:xfrm rot="16200000">
            <a:off x="2476500" y="1409700"/>
            <a:ext cx="533400" cy="3810000"/>
          </a:xfrm>
          <a:prstGeom prst="leftBrace">
            <a:avLst>
              <a:gd name="adj1" fmla="val 5952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 i="1">
              <a:solidFill>
                <a:srgbClr val="FF0000"/>
              </a:solidFill>
            </a:endParaRPr>
          </a:p>
        </p:txBody>
      </p:sp>
      <p:pic>
        <p:nvPicPr>
          <p:cNvPr id="58375" name="Picture 7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14600" y="3886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8376" name="AutoShape 8"/>
          <p:cNvCxnSpPr>
            <a:cxnSpLocks noChangeShapeType="1"/>
            <a:stCxn id="58374" idx="1"/>
          </p:cNvCxnSpPr>
          <p:nvPr/>
        </p:nvCxnSpPr>
        <p:spPr bwMode="auto">
          <a:xfrm>
            <a:off x="2743200" y="35814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4419600" y="38100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400" b="1" i="1">
                <a:solidFill>
                  <a:srgbClr val="FF0000"/>
                </a:solidFill>
              </a:rPr>
              <a:t>G</a:t>
            </a:r>
            <a:endParaRPr lang="en-US" sz="2400" b="1" i="1">
              <a:solidFill>
                <a:srgbClr val="FF0000"/>
              </a:solidFill>
            </a:endParaRPr>
          </a:p>
        </p:txBody>
      </p:sp>
      <p:cxnSp>
        <p:nvCxnSpPr>
          <p:cNvPr id="58378" name="AutoShape 10"/>
          <p:cNvCxnSpPr>
            <a:cxnSpLocks noChangeShapeType="1"/>
            <a:endCxn id="58377" idx="3"/>
          </p:cNvCxnSpPr>
          <p:nvPr/>
        </p:nvCxnSpPr>
        <p:spPr bwMode="auto">
          <a:xfrm flipH="1">
            <a:off x="5029200" y="4114800"/>
            <a:ext cx="1600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8379" name="AutoShape 11"/>
          <p:cNvCxnSpPr>
            <a:cxnSpLocks noChangeShapeType="1"/>
            <a:stCxn id="58377" idx="1"/>
          </p:cNvCxnSpPr>
          <p:nvPr/>
        </p:nvCxnSpPr>
        <p:spPr bwMode="auto">
          <a:xfrm flipH="1">
            <a:off x="2971800" y="4114800"/>
            <a:ext cx="1447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8380" name="AutoShape 12"/>
          <p:cNvCxnSpPr>
            <a:cxnSpLocks noChangeShapeType="1"/>
          </p:cNvCxnSpPr>
          <p:nvPr/>
        </p:nvCxnSpPr>
        <p:spPr bwMode="auto">
          <a:xfrm>
            <a:off x="2743200" y="4343400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p:sp>
        <p:nvSpPr>
          <p:cNvPr id="58381" name="Rectangle 13"/>
          <p:cNvSpPr>
            <a:spLocks noChangeArrowheads="1"/>
          </p:cNvSpPr>
          <p:nvPr/>
        </p:nvSpPr>
        <p:spPr bwMode="auto">
          <a:xfrm>
            <a:off x="4419600" y="47244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400" b="1" i="1">
                <a:solidFill>
                  <a:srgbClr val="FF0000"/>
                </a:solidFill>
              </a:rPr>
              <a:t>H</a:t>
            </a:r>
            <a:endParaRPr lang="en-US" sz="2400" b="1" i="1">
              <a:solidFill>
                <a:srgbClr val="FF0000"/>
              </a:solidFill>
            </a:endParaRPr>
          </a:p>
        </p:txBody>
      </p:sp>
      <p:cxnSp>
        <p:nvCxnSpPr>
          <p:cNvPr id="58382" name="AutoShape 14"/>
          <p:cNvCxnSpPr>
            <a:cxnSpLocks noChangeShapeType="1"/>
            <a:endCxn id="58381" idx="1"/>
          </p:cNvCxnSpPr>
          <p:nvPr/>
        </p:nvCxnSpPr>
        <p:spPr bwMode="auto">
          <a:xfrm>
            <a:off x="2743200" y="5029200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pic>
        <p:nvPicPr>
          <p:cNvPr id="58383" name="Picture 1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00800" y="48006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8384" name="AutoShape 16"/>
          <p:cNvCxnSpPr>
            <a:cxnSpLocks noChangeShapeType="1"/>
            <a:stCxn id="58381" idx="3"/>
          </p:cNvCxnSpPr>
          <p:nvPr/>
        </p:nvCxnSpPr>
        <p:spPr bwMode="auto">
          <a:xfrm>
            <a:off x="5029200" y="5029200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8385" name="AutoShape 17"/>
          <p:cNvCxnSpPr>
            <a:cxnSpLocks noChangeShapeType="1"/>
          </p:cNvCxnSpPr>
          <p:nvPr/>
        </p:nvCxnSpPr>
        <p:spPr bwMode="auto">
          <a:xfrm>
            <a:off x="6629400" y="41148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58386" name="Rectangle 18"/>
          <p:cNvSpPr>
            <a:spLocks noChangeArrowheads="1"/>
          </p:cNvSpPr>
          <p:nvPr/>
        </p:nvSpPr>
        <p:spPr bwMode="auto">
          <a:xfrm>
            <a:off x="838200" y="5943600"/>
            <a:ext cx="38100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000" b="1" i="1">
                <a:solidFill>
                  <a:srgbClr val="FF0000"/>
                </a:solidFill>
              </a:rPr>
              <a:t>X</a:t>
            </a:r>
            <a:endParaRPr lang="en-US" sz="2000" b="1" i="1">
              <a:solidFill>
                <a:srgbClr val="FF0000"/>
              </a:solidFill>
            </a:endParaRPr>
          </a:p>
        </p:txBody>
      </p:sp>
      <p:sp>
        <p:nvSpPr>
          <p:cNvPr id="58387" name="Rectangle 19"/>
          <p:cNvSpPr>
            <a:spLocks noChangeArrowheads="1"/>
          </p:cNvSpPr>
          <p:nvPr/>
        </p:nvSpPr>
        <p:spPr bwMode="auto">
          <a:xfrm>
            <a:off x="4724400" y="5943600"/>
            <a:ext cx="38100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000" b="1" i="1">
                <a:solidFill>
                  <a:srgbClr val="FF0000"/>
                </a:solidFill>
              </a:rPr>
              <a:t>Y</a:t>
            </a:r>
            <a:endParaRPr lang="en-US" sz="2000" b="1" i="1">
              <a:solidFill>
                <a:srgbClr val="FF0000"/>
              </a:solidFill>
            </a:endParaRPr>
          </a:p>
        </p:txBody>
      </p:sp>
      <p:cxnSp>
        <p:nvCxnSpPr>
          <p:cNvPr id="58388" name="AutoShape 20"/>
          <p:cNvCxnSpPr>
            <a:cxnSpLocks noChangeShapeType="1"/>
          </p:cNvCxnSpPr>
          <p:nvPr/>
        </p:nvCxnSpPr>
        <p:spPr bwMode="auto">
          <a:xfrm>
            <a:off x="2743200" y="5257800"/>
            <a:ext cx="1588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58389" name="AutoShape 21"/>
          <p:cNvCxnSpPr>
            <a:cxnSpLocks noChangeShapeType="1"/>
          </p:cNvCxnSpPr>
          <p:nvPr/>
        </p:nvCxnSpPr>
        <p:spPr bwMode="auto">
          <a:xfrm>
            <a:off x="6629400" y="52578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560670" y="1395718"/>
            <a:ext cx="31658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/>
              <a:t>Look at the picture:</a:t>
            </a:r>
          </a:p>
        </p:txBody>
      </p:sp>
    </p:spTree>
    <p:extLst>
      <p:ext uri="{BB962C8B-B14F-4D97-AF65-F5344CB8AC3E}">
        <p14:creationId xmlns:p14="http://schemas.microsoft.com/office/powerpoint/2010/main" val="42412371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33400" y="342900"/>
                <a:ext cx="8229600" cy="1143000"/>
              </a:xfrm>
            </p:spPr>
            <p:txBody>
              <a:bodyPr>
                <a:noAutofit/>
              </a:bodyPr>
              <a:lstStyle/>
              <a:p>
                <a:r>
                  <a:rPr lang="en-US" sz="3200" dirty="0"/>
                  <a:t>The encoding</a:t>
                </a:r>
                <a14:m>
                  <m:oMath xmlns:m="http://schemas.openxmlformats.org/officeDocument/2006/math">
                    <m:r>
                      <a:rPr lang="en-US" sz="32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𝐎𝐀𝐄𝐏</m:t>
                    </m:r>
                    <m:d>
                      <m:dPr>
                        <m:ctrlP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en-US" sz="3200" dirty="0"/>
                  <a:t> is uniformly 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random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33400" y="342900"/>
                <a:ext cx="8229600" cy="1143000"/>
              </a:xfrm>
              <a:blipFill rotWithShape="0">
                <a:blip r:embed="rId5"/>
                <a:stretch>
                  <a:fillRect l="-1926" r="-81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"/>
              <p:cNvSpPr>
                <a:spLocks noChangeArrowheads="1"/>
              </p:cNvSpPr>
              <p:nvPr/>
            </p:nvSpPr>
            <p:spPr bwMode="auto">
              <a:xfrm>
                <a:off x="914400" y="2133600"/>
                <a:ext cx="18288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2133600"/>
                <a:ext cx="1828800" cy="5334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/>
              <p:cNvSpPr>
                <a:spLocks noChangeArrowheads="1"/>
              </p:cNvSpPr>
              <p:nvPr/>
            </p:nvSpPr>
            <p:spPr bwMode="auto">
              <a:xfrm>
                <a:off x="2819400" y="2133600"/>
                <a:ext cx="18288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9400" y="2133600"/>
                <a:ext cx="1828800" cy="5334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4724400" y="2133600"/>
                <a:ext cx="37338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000" b="1" dirty="0"/>
                  <a:t>random</a:t>
                </a:r>
                <a:r>
                  <a:rPr lang="pl-PL" sz="2000" b="1" dirty="0">
                    <a:solidFill>
                      <a:srgbClr val="A5002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2133600"/>
                <a:ext cx="3733800" cy="5334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7"/>
          <p:cNvSpPr>
            <a:spLocks/>
          </p:cNvSpPr>
          <p:nvPr/>
        </p:nvSpPr>
        <p:spPr bwMode="auto">
          <a:xfrm rot="16200000">
            <a:off x="2476500" y="1181100"/>
            <a:ext cx="533400" cy="3810000"/>
          </a:xfrm>
          <a:prstGeom prst="leftBrace">
            <a:avLst>
              <a:gd name="adj1" fmla="val 5952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14600" y="36576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AutoShape 10"/>
          <p:cNvCxnSpPr>
            <a:cxnSpLocks noChangeShapeType="1"/>
            <a:stCxn id="7" idx="1"/>
          </p:cNvCxnSpPr>
          <p:nvPr/>
        </p:nvCxnSpPr>
        <p:spPr bwMode="auto">
          <a:xfrm>
            <a:off x="2743200" y="3352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6629400" y="26670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4419600" y="35814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400" b="1" i="1" dirty="0">
                <a:solidFill>
                  <a:srgbClr val="FF0000"/>
                </a:solidFill>
              </a:rPr>
              <a:t>G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cxnSp>
        <p:nvCxnSpPr>
          <p:cNvPr id="12" name="AutoShape 13"/>
          <p:cNvCxnSpPr>
            <a:cxnSpLocks noChangeShapeType="1"/>
            <a:stCxn id="10" idx="1"/>
            <a:endCxn id="11" idx="3"/>
          </p:cNvCxnSpPr>
          <p:nvPr/>
        </p:nvCxnSpPr>
        <p:spPr bwMode="auto">
          <a:xfrm flipH="1">
            <a:off x="5029200" y="3886200"/>
            <a:ext cx="1600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" name="AutoShape 14"/>
          <p:cNvCxnSpPr>
            <a:cxnSpLocks noChangeShapeType="1"/>
            <a:stCxn id="11" idx="1"/>
          </p:cNvCxnSpPr>
          <p:nvPr/>
        </p:nvCxnSpPr>
        <p:spPr bwMode="auto">
          <a:xfrm flipH="1">
            <a:off x="2971800" y="3886200"/>
            <a:ext cx="1447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" name="AutoShape 16"/>
          <p:cNvCxnSpPr>
            <a:cxnSpLocks noChangeShapeType="1"/>
          </p:cNvCxnSpPr>
          <p:nvPr/>
        </p:nvCxnSpPr>
        <p:spPr bwMode="auto">
          <a:xfrm>
            <a:off x="2743200" y="4114800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4419600" y="4495800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400" b="1" i="1">
                <a:solidFill>
                  <a:srgbClr val="FF0000"/>
                </a:solidFill>
              </a:rPr>
              <a:t>H</a:t>
            </a:r>
            <a:endParaRPr lang="en-US" sz="2400" b="1" i="1">
              <a:solidFill>
                <a:srgbClr val="FF0000"/>
              </a:solidFill>
            </a:endParaRPr>
          </a:p>
        </p:txBody>
      </p:sp>
      <p:cxnSp>
        <p:nvCxnSpPr>
          <p:cNvPr id="16" name="AutoShape 18"/>
          <p:cNvCxnSpPr>
            <a:cxnSpLocks noChangeShapeType="1"/>
            <a:endCxn id="15" idx="1"/>
          </p:cNvCxnSpPr>
          <p:nvPr/>
        </p:nvCxnSpPr>
        <p:spPr bwMode="auto">
          <a:xfrm>
            <a:off x="2743200" y="4800600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pic>
        <p:nvPicPr>
          <p:cNvPr id="17" name="Picture 19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00800" y="45720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AutoShape 20"/>
          <p:cNvCxnSpPr>
            <a:cxnSpLocks noChangeShapeType="1"/>
            <a:stCxn id="15" idx="3"/>
          </p:cNvCxnSpPr>
          <p:nvPr/>
        </p:nvCxnSpPr>
        <p:spPr bwMode="auto">
          <a:xfrm>
            <a:off x="5029200" y="4800600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" name="AutoShape 21"/>
          <p:cNvCxnSpPr>
            <a:cxnSpLocks noChangeShapeType="1"/>
          </p:cNvCxnSpPr>
          <p:nvPr/>
        </p:nvCxnSpPr>
        <p:spPr bwMode="auto">
          <a:xfrm>
            <a:off x="6629400" y="3657600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0" name="Rectangle 22"/>
          <p:cNvSpPr>
            <a:spLocks noChangeArrowheads="1"/>
          </p:cNvSpPr>
          <p:nvPr/>
        </p:nvSpPr>
        <p:spPr bwMode="auto">
          <a:xfrm>
            <a:off x="838200" y="5715000"/>
            <a:ext cx="38100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000" b="1" i="1">
                <a:solidFill>
                  <a:srgbClr val="FF0000"/>
                </a:solidFill>
              </a:rPr>
              <a:t>X</a:t>
            </a:r>
            <a:endParaRPr lang="en-US" sz="2000" b="1" i="1">
              <a:solidFill>
                <a:srgbClr val="FF0000"/>
              </a:solidFill>
            </a:endParaRPr>
          </a:p>
        </p:txBody>
      </p:sp>
      <p:sp>
        <p:nvSpPr>
          <p:cNvPr id="21" name="Rectangle 23"/>
          <p:cNvSpPr>
            <a:spLocks noChangeArrowheads="1"/>
          </p:cNvSpPr>
          <p:nvPr/>
        </p:nvSpPr>
        <p:spPr bwMode="auto">
          <a:xfrm>
            <a:off x="4724400" y="5715000"/>
            <a:ext cx="38100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000" b="1" i="1">
                <a:solidFill>
                  <a:srgbClr val="FF0000"/>
                </a:solidFill>
              </a:rPr>
              <a:t>Y</a:t>
            </a:r>
            <a:endParaRPr lang="en-US" sz="2000" b="1" i="1">
              <a:solidFill>
                <a:srgbClr val="FF0000"/>
              </a:solidFill>
            </a:endParaRPr>
          </a:p>
        </p:txBody>
      </p:sp>
      <p:cxnSp>
        <p:nvCxnSpPr>
          <p:cNvPr id="22" name="AutoShape 24"/>
          <p:cNvCxnSpPr>
            <a:cxnSpLocks noChangeShapeType="1"/>
          </p:cNvCxnSpPr>
          <p:nvPr/>
        </p:nvCxnSpPr>
        <p:spPr bwMode="auto">
          <a:xfrm>
            <a:off x="2743200" y="50292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3" name="AutoShape 25"/>
          <p:cNvCxnSpPr>
            <a:cxnSpLocks noChangeShapeType="1"/>
          </p:cNvCxnSpPr>
          <p:nvPr/>
        </p:nvCxnSpPr>
        <p:spPr bwMode="auto">
          <a:xfrm>
            <a:off x="6629400" y="50292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3" name="TextBox 2"/>
          <p:cNvSpPr txBox="1"/>
          <p:nvPr/>
        </p:nvSpPr>
        <p:spPr>
          <a:xfrm>
            <a:off x="533400" y="1326802"/>
            <a:ext cx="3476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Again look at the picture: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146469110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these two properties useful for </a:t>
            </a:r>
            <a:r>
              <a:rPr lang="en-US" b="1" dirty="0">
                <a:solidFill>
                  <a:srgbClr val="FF0000"/>
                </a:solidFill>
              </a:rPr>
              <a:t>IND-CPA security</a:t>
            </a:r>
            <a:r>
              <a:rPr lang="en-US" dirty="0"/>
              <a:t>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adversary obtains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			</a:t>
                </a:r>
                <a:r>
                  <a:rPr lang="en-US" dirty="0"/>
                  <a:t>where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𝐎𝐀𝐄𝐏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In order to get </a:t>
                </a:r>
                <a:r>
                  <a:rPr lang="en-US" b="1" dirty="0">
                    <a:solidFill>
                      <a:srgbClr val="0070C0"/>
                    </a:solidFill>
                  </a:rPr>
                  <a:t>any information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needs to compute the </a:t>
                </a:r>
                <a:r>
                  <a:rPr lang="en-US" b="1" dirty="0">
                    <a:solidFill>
                      <a:srgbClr val="7030A0"/>
                    </a:solidFill>
                  </a:rPr>
                  <a:t>entire value of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uniformly random.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Hardness of this problem is equivalent to the</a:t>
                </a:r>
                <a:r>
                  <a:rPr lang="en-US" b="1" dirty="0">
                    <a:solidFill>
                      <a:srgbClr val="FF0000"/>
                    </a:solidFill>
                  </a:rPr>
                  <a:t> RSA assumption.</a:t>
                </a:r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519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920010" y="2064879"/>
            <a:ext cx="18288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000" b="1" i="1">
                <a:solidFill>
                  <a:srgbClr val="FF0000"/>
                </a:solidFill>
              </a:rPr>
              <a:t>m</a:t>
            </a:r>
            <a:endParaRPr lang="en-US" sz="2000" b="1" i="1">
              <a:solidFill>
                <a:srgbClr val="FF0000"/>
              </a:solidFill>
            </a:endParaRP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2825010" y="2064879"/>
            <a:ext cx="18288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000" b="1" i="1">
                <a:solidFill>
                  <a:srgbClr val="FF0000"/>
                </a:solidFill>
              </a:rPr>
              <a:t>Z</a:t>
            </a:r>
            <a:endParaRPr lang="en-US" sz="2000" b="1" i="1">
              <a:solidFill>
                <a:srgbClr val="FF0000"/>
              </a:solidFill>
            </a:endParaRPr>
          </a:p>
        </p:txBody>
      </p:sp>
      <p:sp>
        <p:nvSpPr>
          <p:cNvPr id="62469" name="AutoShape 5"/>
          <p:cNvSpPr>
            <a:spLocks/>
          </p:cNvSpPr>
          <p:nvPr/>
        </p:nvSpPr>
        <p:spPr bwMode="auto">
          <a:xfrm rot="16200000">
            <a:off x="2482110" y="1112379"/>
            <a:ext cx="533400" cy="3810000"/>
          </a:xfrm>
          <a:prstGeom prst="leftBrace">
            <a:avLst>
              <a:gd name="adj1" fmla="val 5952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62470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20210" y="3588879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2471" name="AutoShape 7"/>
          <p:cNvCxnSpPr>
            <a:cxnSpLocks noChangeShapeType="1"/>
            <a:stCxn id="62469" idx="1"/>
          </p:cNvCxnSpPr>
          <p:nvPr/>
        </p:nvCxnSpPr>
        <p:spPr bwMode="auto">
          <a:xfrm>
            <a:off x="2748810" y="3284079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p:sp>
        <p:nvSpPr>
          <p:cNvPr id="62472" name="Rectangle 8"/>
          <p:cNvSpPr>
            <a:spLocks noChangeArrowheads="1"/>
          </p:cNvSpPr>
          <p:nvPr/>
        </p:nvSpPr>
        <p:spPr bwMode="auto">
          <a:xfrm>
            <a:off x="4425210" y="3512679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400" b="1" i="1">
                <a:solidFill>
                  <a:srgbClr val="FF0000"/>
                </a:solidFill>
              </a:rPr>
              <a:t>G</a:t>
            </a:r>
            <a:endParaRPr lang="en-US" sz="2400" b="1" i="1">
              <a:solidFill>
                <a:srgbClr val="FF0000"/>
              </a:solidFill>
            </a:endParaRPr>
          </a:p>
        </p:txBody>
      </p:sp>
      <p:cxnSp>
        <p:nvCxnSpPr>
          <p:cNvPr id="62473" name="AutoShape 9"/>
          <p:cNvCxnSpPr>
            <a:cxnSpLocks noChangeShapeType="1"/>
            <a:endCxn id="62472" idx="3"/>
          </p:cNvCxnSpPr>
          <p:nvPr/>
        </p:nvCxnSpPr>
        <p:spPr bwMode="auto">
          <a:xfrm flipH="1">
            <a:off x="5034810" y="3817479"/>
            <a:ext cx="1600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62474" name="AutoShape 10"/>
          <p:cNvCxnSpPr>
            <a:cxnSpLocks noChangeShapeType="1"/>
            <a:stCxn id="62472" idx="1"/>
          </p:cNvCxnSpPr>
          <p:nvPr/>
        </p:nvCxnSpPr>
        <p:spPr bwMode="auto">
          <a:xfrm flipH="1">
            <a:off x="2977410" y="3817479"/>
            <a:ext cx="1447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62475" name="AutoShape 11"/>
          <p:cNvCxnSpPr>
            <a:cxnSpLocks noChangeShapeType="1"/>
          </p:cNvCxnSpPr>
          <p:nvPr/>
        </p:nvCxnSpPr>
        <p:spPr bwMode="auto">
          <a:xfrm>
            <a:off x="2748810" y="4046079"/>
            <a:ext cx="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p:sp>
        <p:nvSpPr>
          <p:cNvPr id="62476" name="Rectangle 12"/>
          <p:cNvSpPr>
            <a:spLocks noChangeArrowheads="1"/>
          </p:cNvSpPr>
          <p:nvPr/>
        </p:nvSpPr>
        <p:spPr bwMode="auto">
          <a:xfrm>
            <a:off x="4425210" y="4427079"/>
            <a:ext cx="609600" cy="609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400" b="1" i="1">
                <a:solidFill>
                  <a:srgbClr val="FF0000"/>
                </a:solidFill>
              </a:rPr>
              <a:t>H</a:t>
            </a:r>
            <a:endParaRPr lang="en-US" sz="2400" b="1" i="1">
              <a:solidFill>
                <a:srgbClr val="FF0000"/>
              </a:solidFill>
            </a:endParaRPr>
          </a:p>
        </p:txBody>
      </p:sp>
      <p:cxnSp>
        <p:nvCxnSpPr>
          <p:cNvPr id="62477" name="AutoShape 13"/>
          <p:cNvCxnSpPr>
            <a:cxnSpLocks noChangeShapeType="1"/>
            <a:endCxn id="62476" idx="1"/>
          </p:cNvCxnSpPr>
          <p:nvPr/>
        </p:nvCxnSpPr>
        <p:spPr bwMode="auto">
          <a:xfrm>
            <a:off x="2748810" y="4731879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pic>
        <p:nvPicPr>
          <p:cNvPr id="62478" name="Picture 14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06410" y="4503279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2479" name="AutoShape 15"/>
          <p:cNvCxnSpPr>
            <a:cxnSpLocks noChangeShapeType="1"/>
            <a:stCxn id="62476" idx="3"/>
          </p:cNvCxnSpPr>
          <p:nvPr/>
        </p:nvCxnSpPr>
        <p:spPr bwMode="auto">
          <a:xfrm>
            <a:off x="5034810" y="4731879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62480" name="AutoShape 16"/>
          <p:cNvCxnSpPr>
            <a:cxnSpLocks noChangeShapeType="1"/>
          </p:cNvCxnSpPr>
          <p:nvPr/>
        </p:nvCxnSpPr>
        <p:spPr bwMode="auto">
          <a:xfrm>
            <a:off x="6635010" y="3817479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62481" name="Rectangle 17"/>
          <p:cNvSpPr>
            <a:spLocks noChangeArrowheads="1"/>
          </p:cNvSpPr>
          <p:nvPr/>
        </p:nvSpPr>
        <p:spPr bwMode="auto">
          <a:xfrm>
            <a:off x="843810" y="5646279"/>
            <a:ext cx="38100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000" b="1" i="1">
                <a:solidFill>
                  <a:srgbClr val="FF0000"/>
                </a:solidFill>
              </a:rPr>
              <a:t>X</a:t>
            </a:r>
            <a:endParaRPr lang="en-US" sz="2000" b="1" i="1">
              <a:solidFill>
                <a:srgbClr val="FF0000"/>
              </a:solidFill>
            </a:endParaRPr>
          </a:p>
        </p:txBody>
      </p:sp>
      <p:sp>
        <p:nvSpPr>
          <p:cNvPr id="62482" name="Rectangle 18"/>
          <p:cNvSpPr>
            <a:spLocks noChangeArrowheads="1"/>
          </p:cNvSpPr>
          <p:nvPr/>
        </p:nvSpPr>
        <p:spPr bwMode="auto">
          <a:xfrm>
            <a:off x="4730010" y="5646279"/>
            <a:ext cx="38100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000" b="1" i="1">
                <a:solidFill>
                  <a:srgbClr val="FF0000"/>
                </a:solidFill>
              </a:rPr>
              <a:t>Y</a:t>
            </a:r>
            <a:endParaRPr lang="en-US" sz="2000" b="1" i="1">
              <a:solidFill>
                <a:srgbClr val="FF0000"/>
              </a:solidFill>
            </a:endParaRPr>
          </a:p>
        </p:txBody>
      </p:sp>
      <p:cxnSp>
        <p:nvCxnSpPr>
          <p:cNvPr id="62483" name="AutoShape 19"/>
          <p:cNvCxnSpPr>
            <a:cxnSpLocks noChangeShapeType="1"/>
          </p:cNvCxnSpPr>
          <p:nvPr/>
        </p:nvCxnSpPr>
        <p:spPr bwMode="auto">
          <a:xfrm>
            <a:off x="2748810" y="4960479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62484" name="AutoShape 20"/>
          <p:cNvCxnSpPr>
            <a:cxnSpLocks noChangeShapeType="1"/>
          </p:cNvCxnSpPr>
          <p:nvPr/>
        </p:nvCxnSpPr>
        <p:spPr bwMode="auto">
          <a:xfrm>
            <a:off x="6635010" y="4960479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486" name="AutoShape 22"/>
              <p:cNvSpPr>
                <a:spLocks noChangeArrowheads="1"/>
              </p:cNvSpPr>
              <p:nvPr/>
            </p:nvSpPr>
            <p:spPr bwMode="auto">
              <a:xfrm>
                <a:off x="4958610" y="1912479"/>
                <a:ext cx="3352800" cy="838200"/>
              </a:xfrm>
              <a:prstGeom prst="leftArrow">
                <a:avLst>
                  <a:gd name="adj1" fmla="val 50000"/>
                  <a:gd name="adj2" fmla="val 100000"/>
                </a:avLst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dirty="0"/>
                  <a:t>requirement:</a:t>
                </a:r>
                <a:r>
                  <a:rPr lang="pl-PL" dirty="0"/>
                  <a:t> </a:t>
                </a:r>
                <a14:m>
                  <m:oMath xmlns:m="http://schemas.openxmlformats.org/officeDocument/2006/math"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pl-P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486" name="AutoShap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8610" y="1912479"/>
                <a:ext cx="3352800" cy="838200"/>
              </a:xfrm>
              <a:prstGeom prst="leftArrow">
                <a:avLst>
                  <a:gd name="adj1" fmla="val 50000"/>
                  <a:gd name="adj2" fmla="val 100000"/>
                </a:avLst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"/>
              <p:cNvSpPr txBox="1">
                <a:spLocks noChangeArrowheads="1"/>
              </p:cNvSpPr>
              <p:nvPr/>
            </p:nvSpPr>
            <p:spPr>
              <a:xfrm>
                <a:off x="179514" y="428604"/>
                <a:ext cx="8469158" cy="92869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lt"/>
                    <a:ea typeface="+mj-ea"/>
                    <a:cs typeface="+mj-cs"/>
                  </a:rPr>
                  <a:t>It is hard to produce a valid </a:t>
                </a:r>
                <a14:m>
                  <m:oMath xmlns:m="http://schemas.openxmlformats.org/officeDocument/2006/math">
                    <m:r>
                      <a:rPr kumimoji="0" lang="en-US" sz="3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(</m:t>
                    </m:r>
                    <m:r>
                      <a:rPr kumimoji="0" lang="en-US" sz="3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𝑿</m:t>
                    </m:r>
                    <m:r>
                      <a:rPr kumimoji="0" lang="en-US" sz="3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,</m:t>
                    </m:r>
                    <m:r>
                      <a:rPr kumimoji="0" lang="en-US" sz="3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𝒀</m:t>
                    </m:r>
                    <m:r>
                      <a:rPr kumimoji="0" lang="en-US" sz="3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)</m:t>
                    </m:r>
                    <m:r>
                      <a:rPr kumimoji="0" lang="en-US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 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lt"/>
                    <a:ea typeface="+mj-ea"/>
                    <a:cs typeface="+mj-cs"/>
                  </a:rPr>
                  <a:t>“without</a:t>
                </a:r>
                <a:r>
                  <a:rPr kumimoji="0" lang="en-US" sz="3200" b="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lt"/>
                    <a:ea typeface="+mj-ea"/>
                    <a:cs typeface="+mj-cs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lt"/>
                    <a:ea typeface="+mj-ea"/>
                    <a:cs typeface="+mj-cs"/>
                  </a:rPr>
                  <a:t>knowing </a:t>
                </a:r>
                <a14:m>
                  <m:oMath xmlns:m="http://schemas.openxmlformats.org/officeDocument/2006/math">
                    <m:r>
                      <a:rPr kumimoji="0" lang="en-US" sz="3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𝒎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lt"/>
                    <a:ea typeface="+mj-ea"/>
                    <a:cs typeface="+mj-cs"/>
                  </a:rPr>
                  <a:t> first”</a:t>
                </a:r>
              </a:p>
            </p:txBody>
          </p:sp>
        </mc:Choice>
        <mc:Fallback xmlns="">
          <p:sp>
            <p:nvSpPr>
              <p:cNvPr id="24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4" y="428604"/>
                <a:ext cx="8469158" cy="928694"/>
              </a:xfrm>
              <a:prstGeom prst="rect">
                <a:avLst/>
              </a:prstGeom>
              <a:blipFill rotWithShape="0">
                <a:blip r:embed="rId7"/>
                <a:stretch>
                  <a:fillRect t="-15686" b="-2875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FA690920-4553-4487-9668-02EAEA430D12}"/>
                  </a:ext>
                </a:extLst>
              </p14:cNvPr>
              <p14:cNvContentPartPr/>
              <p14:nvPr/>
            </p14:nvContentPartPr>
            <p14:xfrm>
              <a:off x="6148080" y="603360"/>
              <a:ext cx="360" cy="36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FA690920-4553-4487-9668-02EAEA430D1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38720" y="5940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324980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6370" y="2503486"/>
            <a:ext cx="8501122" cy="175578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0" indent="-228600" algn="ctr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prstClr val="black"/>
                </a:solidFill>
                <a:latin typeface="Cambria" panose="02040503050406030204" pitchFamily="18" charset="0"/>
              </a:rPr>
              <a:t>Informally: </a:t>
            </a:r>
          </a:p>
          <a:p>
            <a:pPr marL="228600" lvl="0"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prstClr val="black"/>
                </a:solidFill>
                <a:latin typeface="Cambria" panose="02040503050406030204" pitchFamily="18" charset="0"/>
              </a:rPr>
              <a:t>Eve can produce valid </a:t>
            </a:r>
            <a:r>
              <a:rPr lang="en-US" sz="2800" dirty="0" err="1">
                <a:solidFill>
                  <a:prstClr val="black"/>
                </a:solidFill>
                <a:latin typeface="Cambria" panose="02040503050406030204" pitchFamily="18" charset="0"/>
              </a:rPr>
              <a:t>ciphertexts</a:t>
            </a:r>
            <a:r>
              <a:rPr lang="en-US" sz="2800" dirty="0">
                <a:solidFill>
                  <a:prstClr val="black"/>
                </a:solidFill>
                <a:latin typeface="Cambria" panose="02040503050406030204" pitchFamily="18" charset="0"/>
              </a:rPr>
              <a:t> only of those messages that she knows...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last property is useful for IND-CCA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542925"/>
          </a:xfrm>
        </p:spPr>
        <p:txBody>
          <a:bodyPr/>
          <a:lstStyle/>
          <a:p>
            <a:pPr>
              <a:buNone/>
            </a:pPr>
            <a:r>
              <a:rPr lang="en-US" dirty="0"/>
              <a:t>Why?</a:t>
            </a:r>
          </a:p>
          <a:p>
            <a:pPr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8631" y="4689470"/>
                <a:ext cx="8089900" cy="1919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The only way to produce a valid ciphertext is to do the following: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choose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compute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≔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𝐎𝐀𝐄𝐏</m:t>
                            </m:r>
                            <m:d>
                              <m:dPr>
                                <m:ctrlP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p>
                    </m:sSup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31" y="4689470"/>
                <a:ext cx="8089900" cy="1919693"/>
              </a:xfrm>
              <a:prstGeom prst="rect">
                <a:avLst/>
              </a:prstGeom>
              <a:blipFill rotWithShape="0">
                <a:blip r:embed="rId3"/>
                <a:stretch>
                  <a:fillRect l="-1583" t="-3175" b="-603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39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3686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“handbook RSA” this is not the case since every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a valid ciphertext.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Also in the </a:t>
                </a:r>
                <a:r>
                  <a:rPr lang="en-US" b="1" dirty="0">
                    <a:solidFill>
                      <a:srgbClr val="0070C0"/>
                    </a:solidFill>
                  </a:rPr>
                  <a:t>PKCS #1: RSA Encryption Standard Version 1.5</a:t>
                </a:r>
                <a:r>
                  <a:rPr lang="en-US" dirty="0"/>
                  <a:t> standard the probability of producing a valid ciphertext is noticeable.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368675"/>
              </a:xfrm>
              <a:blipFill rotWithShape="0">
                <a:blip r:embed="rId2"/>
                <a:stretch>
                  <a:fillRect l="-1546" t="-3074" r="-123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187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0"/>
            <a:ext cx="7886700" cy="1325563"/>
          </a:xfrm>
        </p:spPr>
        <p:txBody>
          <a:bodyPr/>
          <a:lstStyle/>
          <a:p>
            <a:r>
              <a:rPr lang="en-US" dirty="0"/>
              <a:t>An interesting attack on OAEP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2450" y="1101725"/>
                <a:ext cx="7886700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pl-PL" dirty="0">
                    <a:solidFill>
                      <a:srgbClr val="00B050"/>
                    </a:solidFill>
                  </a:rPr>
                  <a:t>J</a:t>
                </a:r>
                <a:r>
                  <a:rPr lang="en-US" dirty="0">
                    <a:solidFill>
                      <a:srgbClr val="00B050"/>
                    </a:solidFill>
                  </a:rPr>
                  <a:t>. </a:t>
                </a:r>
                <a:r>
                  <a:rPr lang="pl-PL" dirty="0" err="1">
                    <a:solidFill>
                      <a:srgbClr val="00B050"/>
                    </a:solidFill>
                  </a:rPr>
                  <a:t>Manger</a:t>
                </a:r>
                <a:r>
                  <a:rPr lang="pl-PL" dirty="0">
                    <a:solidFill>
                      <a:srgbClr val="00B050"/>
                    </a:solidFill>
                  </a:rPr>
                  <a:t>: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pl-PL" b="1" dirty="0">
                    <a:solidFill>
                      <a:srgbClr val="00B050"/>
                    </a:solidFill>
                  </a:rPr>
                  <a:t>A </a:t>
                </a:r>
                <a:r>
                  <a:rPr lang="en-US" b="1" dirty="0">
                    <a:solidFill>
                      <a:srgbClr val="00B050"/>
                    </a:solidFill>
                  </a:rPr>
                  <a:t>Chosen Ciphertext Attack on RSA Optimal Asymmetric Encryption Padding (OAEP) as Standardized </a:t>
                </a:r>
                <a:r>
                  <a:rPr lang="pl-PL" b="1" dirty="0">
                    <a:solidFill>
                      <a:srgbClr val="00B050"/>
                    </a:solidFill>
                  </a:rPr>
                  <a:t>in PKCS #1 v2.0.</a:t>
                </a:r>
                <a:r>
                  <a:rPr lang="pl-PL" dirty="0">
                    <a:solidFill>
                      <a:srgbClr val="00B050"/>
                    </a:solidFill>
                  </a:rPr>
                  <a:t> CRYPTO 2001</a:t>
                </a:r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Based on the following fact:</a:t>
                </a:r>
              </a:p>
              <a:p>
                <a:pPr marL="0" indent="0">
                  <a:buNone/>
                </a:pPr>
                <a:r>
                  <a:rPr lang="en-US" dirty="0"/>
                  <a:t>the decryption algorithm outputs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in two cases: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“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ℓ+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”,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or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The attack exploits the fact that in the </a:t>
                </a:r>
                <a:r>
                  <a:rPr lang="pl-PL" b="1" dirty="0">
                    <a:solidFill>
                      <a:srgbClr val="0070C0"/>
                    </a:solidFill>
                  </a:rPr>
                  <a:t>PKCS #1 v2.0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standard the </a:t>
                </a:r>
                <a:r>
                  <a:rPr lang="en-US" b="1" dirty="0">
                    <a:solidFill>
                      <a:srgbClr val="7030A0"/>
                    </a:solidFill>
                  </a:rPr>
                  <a:t>error messages in these two cases were different </a:t>
                </a:r>
                <a:r>
                  <a:rPr lang="en-US" dirty="0"/>
                  <a:t>and (1) was checked before (2).</a:t>
                </a:r>
              </a:p>
              <a:p>
                <a:endParaRPr lang="pl-PL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450" y="1101725"/>
                <a:ext cx="7886700" cy="4351338"/>
              </a:xfrm>
              <a:blipFill>
                <a:blip r:embed="rId2"/>
                <a:stretch>
                  <a:fillRect l="-1392" t="-2381" b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889000" y="5645150"/>
            <a:ext cx="7620000" cy="7239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u="sng" dirty="0"/>
              <a:t>Moral</a:t>
            </a:r>
            <a:r>
              <a:rPr lang="en-US" sz="2800" dirty="0"/>
              <a:t>: implementation details matter!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287369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IND-CCA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28688" y="5002010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91935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ElGamal</a:t>
            </a:r>
            <a:r>
              <a:rPr lang="en-US" dirty="0"/>
              <a:t> vs. RSA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04337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/>
                  <a:t>In practice </a:t>
                </a:r>
                <a:r>
                  <a:rPr lang="en-US" b="1" dirty="0">
                    <a:solidFill>
                      <a:srgbClr val="0070C0"/>
                    </a:solidFill>
                  </a:rPr>
                  <a:t>RSA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and </a:t>
                </a:r>
                <a:r>
                  <a:rPr lang="en-US" b="1" dirty="0" err="1">
                    <a:solidFill>
                      <a:srgbClr val="0070C0"/>
                    </a:solidFill>
                  </a:rPr>
                  <a:t>ElGamal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(in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) have similar security for equivalent key lengths.</a:t>
                </a:r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RSA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is slightly more efficient</a:t>
                </a:r>
              </a:p>
              <a:p>
                <a:r>
                  <a:rPr lang="en-US" b="1" dirty="0" err="1">
                    <a:solidFill>
                      <a:srgbClr val="0070C0"/>
                    </a:solidFill>
                  </a:rPr>
                  <a:t>ElGamal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has a </a:t>
                </a:r>
                <a:r>
                  <a:rPr lang="en-US" dirty="0" err="1"/>
                  <a:t>ciphertext</a:t>
                </a:r>
                <a:r>
                  <a:rPr lang="en-US" dirty="0"/>
                  <a:t> twice as long as the plaintext</a:t>
                </a:r>
              </a:p>
              <a:p>
                <a:r>
                  <a:rPr lang="en-US" dirty="0"/>
                  <a:t>But </a:t>
                </a:r>
                <a:r>
                  <a:rPr lang="en-US" b="1" dirty="0" err="1">
                    <a:solidFill>
                      <a:srgbClr val="0070C0"/>
                    </a:solidFill>
                  </a:rPr>
                  <a:t>ElGamal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can be generalized to other groups (e.g., the </a:t>
                </a:r>
                <a:r>
                  <a:rPr lang="en-US" b="1" dirty="0">
                    <a:solidFill>
                      <a:srgbClr val="FF0000"/>
                    </a:solidFill>
                  </a:rPr>
                  <a:t>elliptic curves</a:t>
                </a:r>
                <a:r>
                  <a:rPr lang="en-US" dirty="0"/>
                  <a:t>) where it is much more efficient!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043378"/>
              </a:xfrm>
              <a:blipFill>
                <a:blip r:embed="rId3"/>
                <a:stretch>
                  <a:fillRect l="-1481" t="-271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95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888" y="215970"/>
            <a:ext cx="7886700" cy="854074"/>
          </a:xfrm>
        </p:spPr>
        <p:txBody>
          <a:bodyPr/>
          <a:lstStyle/>
          <a:p>
            <a:r>
              <a:rPr lang="en-US" dirty="0"/>
              <a:t>NIST recommendations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524888" y="1198577"/>
              <a:ext cx="8346736" cy="478186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756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977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866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8668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897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bits of security</a:t>
                          </a:r>
                          <a:endParaRPr lang="pl-PL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RSA modulus length</a:t>
                          </a:r>
                          <a:endParaRPr lang="pl-PL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discrete</a:t>
                          </a:r>
                          <a:r>
                            <a:rPr lang="en-US" sz="1900" baseline="0" dirty="0">
                              <a:solidFill>
                                <a:schemeClr val="tx1"/>
                              </a:solidFill>
                            </a:rPr>
                            <a:t> log </a:t>
                          </a:r>
                        </a:p>
                        <a:p>
                          <a:pPr algn="ctr"/>
                          <a:r>
                            <a:rPr lang="en-US" sz="1900" baseline="0" dirty="0">
                              <a:solidFill>
                                <a:schemeClr val="tx1"/>
                              </a:solidFill>
                            </a:rPr>
                            <a:t>in order </a:t>
                          </a:r>
                          <a14:m>
                            <m:oMath xmlns:m="http://schemas.openxmlformats.org/officeDocument/2006/math">
                              <m:r>
                                <a:rPr lang="en-US" sz="19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900" baseline="0" dirty="0">
                              <a:solidFill>
                                <a:schemeClr val="tx1"/>
                              </a:solidFill>
                            </a:rPr>
                            <a:t>subgroups of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9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sz="19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  <m:sup>
                                  <m:r>
                                    <a:rPr lang="en-US" sz="1900" b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oMath>
                          </a14:m>
                          <a:endParaRPr lang="pl-PL" sz="1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</a:rPr>
                            <a:t>discrete log in</a:t>
                          </a:r>
                          <a:r>
                            <a:rPr lang="en-US" sz="1900" baseline="0" dirty="0">
                              <a:solidFill>
                                <a:schemeClr val="tx1"/>
                              </a:solidFill>
                            </a:rPr>
                            <a:t> elliptic curves of order:</a:t>
                          </a:r>
                          <a:endParaRPr lang="pl-PL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22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𝟖𝟎</m:t>
                                </m:r>
                              </m:oMath>
                            </m:oMathPara>
                          </a14:m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1024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𝟏𝟎𝟐𝟒</m:t>
                                </m:r>
                              </m:oMath>
                            </m:oMathPara>
                          </a14:m>
                          <a:endParaRPr lang="en-US" sz="19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</m:d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𝟏𝟔𝟎</m:t>
                                </m:r>
                              </m:oMath>
                            </m:oMathPara>
                          </a14:m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160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12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112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2048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𝟐𝟎𝟒𝟖</m:t>
                                </m:r>
                              </m:oMath>
                            </m:oMathPara>
                          </a14:m>
                          <a:endParaRPr lang="en-US" sz="19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</m:d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𝟐𝟐𝟒</m:t>
                                </m:r>
                              </m:oMath>
                            </m:oMathPara>
                          </a14:m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224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12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128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3072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𝟑𝟎𝟕𝟐</m:t>
                                </m:r>
                              </m:oMath>
                            </m:oMathPara>
                          </a14:m>
                          <a:endParaRPr lang="en-US" sz="19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</m:d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𝟐𝟓𝟔</m:t>
                                </m:r>
                              </m:oMath>
                            </m:oMathPara>
                          </a14:m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256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012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192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7680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𝟕𝟔𝟖𝟎</m:t>
                                </m:r>
                              </m:oMath>
                            </m:oMathPara>
                          </a14:m>
                          <a:endParaRPr lang="en-US" sz="19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</m:d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𝟑𝟖𝟒</m:t>
                                </m:r>
                              </m:oMath>
                            </m:oMathPara>
                          </a14:m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384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012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256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15360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𝟏𝟓𝟑𝟔𝟎</m:t>
                                </m:r>
                              </m:oMath>
                            </m:oMathPara>
                          </a14:m>
                          <a:endParaRPr lang="en-US" sz="19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</m:d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9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𝟓𝟏𝟐</m:t>
                                </m:r>
                              </m:oMath>
                            </m:oMathPara>
                          </a14:m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>
                              <a:solidFill>
                                <a:srgbClr val="FF0000"/>
                              </a:solidFill>
                            </a:rPr>
                            <a:t>512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6707295"/>
                  </p:ext>
                </p:extLst>
              </p:nvPr>
            </p:nvGraphicFramePr>
            <p:xfrm>
              <a:off x="524888" y="1198577"/>
              <a:ext cx="8346736" cy="478186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75639"/>
                    <a:gridCol w="2097729"/>
                    <a:gridCol w="2086684"/>
                    <a:gridCol w="2086684"/>
                  </a:tblGrid>
                  <a:tr h="1275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 smtClean="0">
                              <a:solidFill>
                                <a:schemeClr val="tx1"/>
                              </a:solidFill>
                            </a:rPr>
                            <a:t>bits of security</a:t>
                          </a:r>
                          <a:endParaRPr lang="pl-PL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 smtClean="0">
                              <a:solidFill>
                                <a:schemeClr val="tx1"/>
                              </a:solidFill>
                            </a:rPr>
                            <a:t>RSA modulus length</a:t>
                          </a:r>
                          <a:endParaRPr lang="pl-PL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000" t="-1905" r="-100875" b="-27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 smtClean="0">
                              <a:solidFill>
                                <a:schemeClr val="tx1"/>
                              </a:solidFill>
                            </a:rPr>
                            <a:t>discrete log in</a:t>
                          </a:r>
                          <a:r>
                            <a:rPr lang="en-US" sz="1900" baseline="0" dirty="0" smtClean="0">
                              <a:solidFill>
                                <a:schemeClr val="tx1"/>
                              </a:solidFill>
                            </a:rPr>
                            <a:t> elliptic curves of order:</a:t>
                          </a:r>
                          <a:endParaRPr lang="pl-PL" sz="1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701229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93" t="-186087" r="-302933" b="-4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1024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000" t="-186087" r="-100875" b="-4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160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7012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112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2048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000" t="-286087" r="-100875" b="-3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224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7012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128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3072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000" t="-386087" r="-100875" b="-2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256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7012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192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7680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000" t="-481897" r="-100875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384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7012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256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15360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000" t="-586957" r="-100875" b="-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 smtClean="0">
                              <a:solidFill>
                                <a:srgbClr val="FF0000"/>
                              </a:solidFill>
                            </a:rPr>
                            <a:t>512</a:t>
                          </a:r>
                          <a:endParaRPr lang="pl-PL" sz="19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409151" y="6108971"/>
            <a:ext cx="8696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[</a:t>
            </a:r>
            <a:r>
              <a:rPr lang="pl-PL" b="1" dirty="0">
                <a:solidFill>
                  <a:srgbClr val="00B050"/>
                </a:solidFill>
              </a:rPr>
              <a:t>NIST Special </a:t>
            </a:r>
            <a:r>
              <a:rPr lang="en-US" b="1" dirty="0">
                <a:solidFill>
                  <a:srgbClr val="00B050"/>
                </a:solidFill>
              </a:rPr>
              <a:t>Publication 800-57 Part 1 Revision 4 Recommendation for Key </a:t>
            </a:r>
            <a:r>
              <a:rPr lang="pl-PL" b="1" dirty="0">
                <a:solidFill>
                  <a:srgbClr val="00B050"/>
                </a:solidFill>
              </a:rPr>
              <a:t>Management</a:t>
            </a:r>
            <a:r>
              <a:rPr lang="en-US" b="1" dirty="0">
                <a:solidFill>
                  <a:srgbClr val="00B050"/>
                </a:solidFill>
              </a:rPr>
              <a:t>]</a:t>
            </a:r>
            <a:endParaRPr lang="pl-PL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312771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02999"/>
            <a:ext cx="7886700" cy="1325563"/>
          </a:xfrm>
        </p:spPr>
        <p:txBody>
          <a:bodyPr/>
          <a:lstStyle/>
          <a:p>
            <a:r>
              <a:rPr lang="en-US" dirty="0"/>
              <a:t>Quantum attacks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63498"/>
            <a:ext cx="5538686" cy="34727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All the schemes presented so far can be broken by quantum computers using Shor’s algorithm.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00B050"/>
                </a:solidFill>
              </a:rPr>
              <a:t>[Peter W. Shor "Polynomial-Time Algorithms for Prime Factorization and Discrete Logarithms on a Quantum Computer“ 1995]</a:t>
            </a:r>
          </a:p>
          <a:p>
            <a:pPr marL="457200" lvl="1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457200" lvl="1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2050" name="Picture 2" descr="http://math.mit.edu/~shor/pic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287" y="1752094"/>
            <a:ext cx="1809412" cy="2714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556410" y="4267201"/>
            <a:ext cx="1887166" cy="7198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Peter Shor 1959— </a:t>
            </a:r>
            <a:endParaRPr lang="pl-PL" dirty="0"/>
          </a:p>
        </p:txBody>
      </p:sp>
      <p:sp>
        <p:nvSpPr>
          <p:cNvPr id="5" name="TextBox 4"/>
          <p:cNvSpPr txBox="1"/>
          <p:nvPr/>
        </p:nvSpPr>
        <p:spPr>
          <a:xfrm>
            <a:off x="628650" y="5136205"/>
            <a:ext cx="8353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There exists public-key encryption schemes that are believed to be secure against quantum computers (see </a:t>
            </a:r>
            <a:r>
              <a:rPr lang="en-US" sz="2400" b="1" dirty="0"/>
              <a:t>post-quantum cryptography</a:t>
            </a:r>
            <a:r>
              <a:rPr lang="en-US" sz="2400" dirty="0"/>
              <a:t>)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374673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282" y="1228241"/>
            <a:ext cx="7342322" cy="478027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Problems with the “handbook RSA”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the IND-CPA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RSA encryption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Rabin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ElGamal</a:t>
            </a:r>
            <a:r>
              <a:rPr lang="pl-PL" dirty="0"/>
              <a:t> </a:t>
            </a:r>
            <a:r>
              <a:rPr lang="en-US" dirty="0"/>
              <a:t>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Homomorphic encryption and </a:t>
            </a:r>
            <a:r>
              <a:rPr lang="en-US" dirty="0" err="1"/>
              <a:t>Paillier</a:t>
            </a:r>
            <a:r>
              <a:rPr lang="en-US" dirty="0"/>
              <a:t> cryptosystem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KEM/DEM paradigm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IND-CCA security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Definition of the </a:t>
            </a:r>
            <a:r>
              <a:rPr lang="en-US" b="1" dirty="0"/>
              <a:t>IND-CCA security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Constructions of </a:t>
            </a:r>
            <a:r>
              <a:rPr lang="en-US" b="1" dirty="0"/>
              <a:t>IND-CCA-secure </a:t>
            </a:r>
            <a:r>
              <a:rPr lang="en-US" dirty="0"/>
              <a:t>symmetric encryption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Constructions of </a:t>
            </a:r>
            <a:r>
              <a:rPr lang="en-US" b="1" dirty="0"/>
              <a:t>IND-CCA-secure </a:t>
            </a:r>
            <a:r>
              <a:rPr lang="en-US" b="1" dirty="0">
                <a:solidFill>
                  <a:srgbClr val="7030A0"/>
                </a:solidFill>
              </a:rPr>
              <a:t>RSA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encryption schemes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Practical considerations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Theoretical overview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16657" y="5158421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370976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8480"/>
            <a:ext cx="7886700" cy="1325563"/>
          </a:xfrm>
        </p:spPr>
        <p:txBody>
          <a:bodyPr/>
          <a:lstStyle/>
          <a:p>
            <a:r>
              <a:rPr lang="en-US" dirty="0"/>
              <a:t>A natural question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81914"/>
            <a:ext cx="7886700" cy="28631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Is public-key encryption a member of </a:t>
            </a:r>
            <a:r>
              <a:rPr lang="en-US" b="1" dirty="0" err="1">
                <a:solidFill>
                  <a:srgbClr val="FF0000"/>
                </a:solidFill>
              </a:rPr>
              <a:t>Minicrypt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Answer</a:t>
            </a:r>
            <a:r>
              <a:rPr lang="en-US" dirty="0"/>
              <a:t>: </a:t>
            </a:r>
            <a:r>
              <a:rPr lang="en-US" b="1" dirty="0">
                <a:solidFill>
                  <a:srgbClr val="FF0000"/>
                </a:solidFill>
              </a:rPr>
              <a:t>NO</a:t>
            </a:r>
            <a:r>
              <a:rPr lang="en-US" dirty="0"/>
              <a:t> (as far as we know).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More precisely</a:t>
            </a:r>
            <a:r>
              <a:rPr lang="en-US" dirty="0"/>
              <a:t>: nobody knows how to construct </a:t>
            </a:r>
            <a:r>
              <a:rPr lang="en-US" b="1" dirty="0"/>
              <a:t>PKE</a:t>
            </a:r>
            <a:r>
              <a:rPr lang="en-US" dirty="0"/>
              <a:t> from </a:t>
            </a:r>
            <a:r>
              <a:rPr lang="en-US" b="1" dirty="0"/>
              <a:t>one-way functions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However, the following implication is known:</a:t>
            </a: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4" name="TextBox 3"/>
          <p:cNvSpPr txBox="1"/>
          <p:nvPr/>
        </p:nvSpPr>
        <p:spPr>
          <a:xfrm>
            <a:off x="769142" y="4598501"/>
            <a:ext cx="247894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public-key encryption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55487" y="4598501"/>
            <a:ext cx="309867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trap-door permutations exist</a:t>
            </a:r>
          </a:p>
        </p:txBody>
      </p:sp>
      <p:sp>
        <p:nvSpPr>
          <p:cNvPr id="6" name="Down Arrow 5"/>
          <p:cNvSpPr/>
          <p:nvPr/>
        </p:nvSpPr>
        <p:spPr>
          <a:xfrm rot="16200000" flipV="1">
            <a:off x="4009858" y="3989150"/>
            <a:ext cx="642942" cy="1868421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8650" y="5689384"/>
            <a:ext cx="7291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is proven using the </a:t>
            </a:r>
            <a:r>
              <a:rPr lang="en-US" sz="2800" b="1" dirty="0">
                <a:solidFill>
                  <a:srgbClr val="00B050"/>
                </a:solidFill>
              </a:rPr>
              <a:t>hardcore predicates</a:t>
            </a:r>
            <a:r>
              <a:rPr lang="en-US" sz="2800" dirty="0"/>
              <a:t>.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274791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3046"/>
            <a:ext cx="7886700" cy="1325563"/>
          </a:xfrm>
        </p:spPr>
        <p:txBody>
          <a:bodyPr/>
          <a:lstStyle/>
          <a:p>
            <a:r>
              <a:rPr lang="en-US" dirty="0"/>
              <a:t>Hard-core predicates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58609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Hard-core </a:t>
                </a:r>
                <a:r>
                  <a:rPr lang="en-US" b="1" dirty="0">
                    <a:solidFill>
                      <a:srgbClr val="7030A0"/>
                    </a:solidFill>
                  </a:rPr>
                  <a:t>predicates</a:t>
                </a:r>
                <a:r>
                  <a:rPr lang="en-US" b="1" dirty="0"/>
                  <a:t> </a:t>
                </a:r>
                <a:r>
                  <a:rPr lang="en-US" dirty="0"/>
                  <a:t>are a generalization of hard-core </a:t>
                </a:r>
                <a:r>
                  <a:rPr lang="en-US" b="1" dirty="0">
                    <a:solidFill>
                      <a:srgbClr val="FF0000"/>
                    </a:solidFill>
                  </a:rPr>
                  <a:t>bits</a:t>
                </a:r>
                <a:r>
                  <a:rPr lang="en-US" dirty="0"/>
                  <a:t>. </a:t>
                </a:r>
              </a:p>
              <a:p>
                <a:pPr algn="ctr"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Definition (informal)</a:t>
                </a:r>
                <a:br>
                  <a:rPr lang="en-US" b="1" u="sng" dirty="0">
                    <a:solidFill>
                      <a:srgbClr val="0070C0"/>
                    </a:solidFill>
                  </a:rPr>
                </a:br>
                <a:endParaRPr lang="en-US" b="1" u="sng" dirty="0">
                  <a:solidFill>
                    <a:srgbClr val="0070C0"/>
                  </a:solidFill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:{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 {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} </m:t>
                    </m:r>
                  </m:oMath>
                </a14:m>
                <a:r>
                  <a:rPr lang="en-US" dirty="0">
                    <a:sym typeface="Symbol"/>
                  </a:rPr>
                  <a:t>is a hard core predicate for a trap-door permutation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𝒇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: </m:t>
                    </m:r>
                    <m:d>
                      <m:dPr>
                        <m:begChr m:val="{"/>
                        <m:endChr m:val="}"/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→ {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}</m:t>
                    </m:r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dirty="0">
                    <a:sym typeface="Symbol"/>
                  </a:rPr>
                  <a:t>if it is hard to guess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dirty="0"/>
                  <a:t>from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br>
                  <a:rPr lang="en-US" b="1" dirty="0">
                    <a:solidFill>
                      <a:srgbClr val="C00000"/>
                    </a:solidFill>
                  </a:rPr>
                </a:br>
                <a:r>
                  <a:rPr lang="en-US" dirty="0">
                    <a:sym typeface="Symbol"/>
                  </a:rPr>
                  <a:t>(with probability significantly better than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/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𝟐</m:t>
                    </m:r>
                  </m:oMath>
                </a14:m>
                <a:r>
                  <a:rPr lang="en-US" dirty="0">
                    <a:sym typeface="Symbol"/>
                  </a:rPr>
                  <a:t>).</a:t>
                </a:r>
              </a:p>
              <a:p>
                <a:pPr algn="ctr">
                  <a:buNone/>
                </a:pPr>
                <a:endParaRPr lang="en-US" b="1" dirty="0">
                  <a:solidFill>
                    <a:srgbClr val="C00000"/>
                  </a:solidFill>
                  <a:sym typeface="Symbol"/>
                </a:endParaRP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58609"/>
                <a:ext cx="7886700" cy="4351338"/>
              </a:xfrm>
              <a:blipFill rotWithShape="0">
                <a:blip r:embed="rId3"/>
                <a:stretch>
                  <a:fillRect l="-1546" t="-2525" r="-208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26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99794"/>
          </a:xfrm>
        </p:spPr>
        <p:txBody>
          <a:bodyPr/>
          <a:lstStyle/>
          <a:p>
            <a:r>
              <a:rPr lang="en-US" dirty="0"/>
              <a:t>A fact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7625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Does every trap-door permutation have a hard-core predicate?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b="1" u="sng" dirty="0"/>
                  <a:t>Almost: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Suppose that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trap-door permutation.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 can be used to build a trap-door permutation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that has a hard-core predicate.</a:t>
                </a: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7625"/>
                <a:ext cx="7886700" cy="4351338"/>
              </a:xfrm>
              <a:blipFill rotWithShape="0">
                <a:blip r:embed="rId3"/>
                <a:stretch>
                  <a:fillRect l="-1546" t="-2381" b="-294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819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to encrypt with such an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 l="-3091" r="-13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/>
                  <a:t>Encryption for messages of length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:</a:t>
                </a:r>
              </a:p>
              <a:p>
                <a:pPr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public key</a:t>
                </a:r>
                <a:r>
                  <a:rPr lang="en-US" dirty="0"/>
                  <a:t>: description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private key</a:t>
                </a:r>
                <a:r>
                  <a:rPr lang="en-US" dirty="0"/>
                  <a:t>: trapdoor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>
                  <a:buNone/>
                </a:pPr>
                <a:endParaRPr lang="en-US" b="1" dirty="0">
                  <a:solidFill>
                    <a:srgbClr val="C00000"/>
                  </a:solidFill>
                </a:endParaRP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  <a:p>
                <a:pPr algn="r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b="1" dirty="0">
                    <a:sym typeface="Symbol"/>
                  </a:rPr>
                  <a:t> </a:t>
                </a:r>
                <a:r>
                  <a:rPr lang="en-US" dirty="0">
                    <a:sym typeface="Symbol"/>
                  </a:rPr>
                  <a:t>is random.</a:t>
                </a:r>
              </a:p>
              <a:p>
                <a:pPr>
                  <a:buNone/>
                </a:pPr>
                <a:endParaRPr lang="en-US" b="1" dirty="0">
                  <a:sym typeface="Symbol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𝐃𝐞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𝐜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𝒕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𝒚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𝝅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𝒈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𝟏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𝒚</m:t>
                              </m:r>
                            </m:e>
                          </m:d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⊕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𝒃</m:t>
                      </m:r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′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546" t="-2381" r="-162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262758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/>
          <p:cNvSpPr/>
          <p:nvPr/>
        </p:nvSpPr>
        <p:spPr>
          <a:xfrm>
            <a:off x="-857288" y="2357430"/>
            <a:ext cx="11144328" cy="6929486"/>
          </a:xfrm>
          <a:prstGeom prst="cloud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loud 7"/>
          <p:cNvSpPr/>
          <p:nvPr/>
        </p:nvSpPr>
        <p:spPr>
          <a:xfrm>
            <a:off x="1428728" y="5572140"/>
            <a:ext cx="6643734" cy="2286040"/>
          </a:xfrm>
          <a:prstGeom prst="cloud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514" y="311957"/>
            <a:ext cx="8229600" cy="1285860"/>
          </a:xfrm>
        </p:spPr>
        <p:txBody>
          <a:bodyPr>
            <a:normAutofit/>
          </a:bodyPr>
          <a:lstStyle/>
          <a:p>
            <a:r>
              <a:rPr lang="en-US" dirty="0"/>
              <a:t>The general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5786" y="3929066"/>
            <a:ext cx="228601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public-key encryption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2132" y="3929066"/>
            <a:ext cx="285752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trap-door permutations exist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4810" y="5786454"/>
            <a:ext cx="193168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b="1" dirty="0"/>
              <a:t>one way functions</a:t>
            </a:r>
            <a:br>
              <a:rPr lang="en-US" b="1" dirty="0"/>
            </a:br>
            <a:r>
              <a:rPr lang="en-US" b="1" dirty="0"/>
              <a:t>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0298" y="6072206"/>
            <a:ext cx="1098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minicrypt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 rot="19404386">
            <a:off x="2783341" y="4815603"/>
            <a:ext cx="642942" cy="922517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 rot="5400000">
            <a:off x="3904937" y="3806498"/>
            <a:ext cx="642942" cy="1451957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Arrow 15"/>
          <p:cNvSpPr/>
          <p:nvPr/>
        </p:nvSpPr>
        <p:spPr>
          <a:xfrm rot="3223535">
            <a:off x="1730130" y="4865597"/>
            <a:ext cx="1123810" cy="71438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9454" y="3071810"/>
            <a:ext cx="13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cryptomania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3" name="Down Arrow 22"/>
          <p:cNvSpPr/>
          <p:nvPr/>
        </p:nvSpPr>
        <p:spPr>
          <a:xfrm rot="16200000">
            <a:off x="3904937" y="3238807"/>
            <a:ext cx="642942" cy="1451957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8" grpId="0" animBg="1"/>
      <p:bldP spid="4" grpId="0" animBg="1"/>
      <p:bldP spid="5" grpId="0" animBg="1"/>
      <p:bldP spid="7" grpId="0" animBg="1"/>
      <p:bldP spid="10" grpId="0" animBg="1"/>
      <p:bldP spid="12" grpId="0" animBg="1"/>
      <p:bldP spid="16" grpId="0" animBg="1"/>
      <p:bldP spid="22" grpId="0"/>
      <p:bldP spid="23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5429250"/>
            <a:ext cx="84296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Arial"/>
              </a:rPr>
              <a:t>©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20</a:t>
            </a:r>
            <a:r>
              <a:rPr lang="pl-PL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25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 by Stefan Dziembowski. Permission to make digital or hard copies of part or all of this material is currently granted without fee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provided that copies are made only for personal or classroom use, are not distributed for profit or commercial advantage, and that new copies bear this notice and the full citation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192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\end{document}&#10;"/>
  <p:tag name="EXTERNALNAME" val="txp_fig"/>
  <p:tag name="BLEND" val="False"/>
  <p:tag name="TRANSPARENT" val="Tru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\end{document}&#10;"/>
  <p:tag name="EXTERNALNAME" val="txp_fig"/>
  <p:tag name="BLEND" val="False"/>
  <p:tag name="TRANSPARENT" val="Tru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\end{document}&#10;"/>
  <p:tag name="EXTERNALNAME" val="txp_fig"/>
  <p:tag name="BLEND" val="False"/>
  <p:tag name="TRANSPARENT" val="Tru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\end{document}&#10;"/>
  <p:tag name="EXTERNALNAME" val="txp_fig"/>
  <p:tag name="BLEND" val="False"/>
  <p:tag name="TRANSPARENT" val="Tru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\end{document}&#10;"/>
  <p:tag name="EXTERNALNAME" val="txp_fig"/>
  <p:tag name="BLEND" val="False"/>
  <p:tag name="TRANSPARENT" val="Tru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\end{document}&#10;"/>
  <p:tag name="EXTERNALNAME" val="txp_fig"/>
  <p:tag name="BLEND" val="False"/>
  <p:tag name="TRANSPARENT" val="Tru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\end{document}&#10;"/>
  <p:tag name="EXTERNALNAME" val="txp_fig"/>
  <p:tag name="BLEND" val="False"/>
  <p:tag name="TRANSPARENT" val="Tru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\end{document}&#10;"/>
  <p:tag name="EXTERNALNAME" val="txp_fig"/>
  <p:tag name="BLEND" val="False"/>
  <p:tag name="TRANSPARENT" val="Tru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\end{document}&#10;"/>
  <p:tag name="EXTERNALNAME" val="txp_fig"/>
  <p:tag name="BLEND" val="False"/>
  <p:tag name="TRANSPARENT" val="Tru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oplus$&#10;\end{document}&#10;"/>
  <p:tag name="EXTERNALNAME" val="txp_fig"/>
  <p:tag name="BLEND" val="False"/>
  <p:tag name="TRANSPARENT" val="Tru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110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10157</TotalTime>
  <Words>10877</Words>
  <Application>Microsoft Macintosh PowerPoint</Application>
  <PresentationFormat>On-screen Show (4:3)</PresentationFormat>
  <Paragraphs>2292</Paragraphs>
  <Slides>196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196</vt:i4>
      </vt:variant>
    </vt:vector>
  </HeadingPairs>
  <TitlesOfParts>
    <vt:vector size="206" baseType="lpstr">
      <vt:lpstr>ＭＳ Ｐゴシック</vt:lpstr>
      <vt:lpstr>Arial</vt:lpstr>
      <vt:lpstr>Calibri</vt:lpstr>
      <vt:lpstr>Cambria</vt:lpstr>
      <vt:lpstr>Cambria Math</vt:lpstr>
      <vt:lpstr>Courier New</vt:lpstr>
      <vt:lpstr>Lucida Calligraphy</vt:lpstr>
      <vt:lpstr>Symbol</vt:lpstr>
      <vt:lpstr>Wingdings 2</vt:lpstr>
      <vt:lpstr>Office Theme</vt:lpstr>
      <vt:lpstr>PowerPoint Presentation</vt:lpstr>
      <vt:lpstr>Plan</vt:lpstr>
      <vt:lpstr>“Handbook RSA” encryption</vt:lpstr>
      <vt:lpstr>Issues with the “handbook RSA”</vt:lpstr>
      <vt:lpstr>Algebraic properties of RSA</vt:lpstr>
      <vt:lpstr>Jacobi Symbol (from the Chapter 6)</vt:lpstr>
      <vt:lpstr>Fact: the RSA function “preserves” the Jacobi symbol </vt:lpstr>
      <vt:lpstr>Actually, something even stronger holds:</vt:lpstr>
      <vt:lpstr>Example Z_35^∗</vt:lpstr>
      <vt:lpstr>How to prove it?</vt:lpstr>
      <vt:lpstr>Fact</vt:lpstr>
      <vt:lpstr>Conclusion</vt:lpstr>
      <vt:lpstr>Plan for the next slides</vt:lpstr>
      <vt:lpstr>Plan</vt:lpstr>
      <vt:lpstr>A mathematical view</vt:lpstr>
      <vt:lpstr>Pictorially</vt:lpstr>
      <vt:lpstr>Correctness</vt:lpstr>
      <vt:lpstr>The security definition</vt:lpstr>
      <vt:lpstr>IND-CPA in the symmetric settings</vt:lpstr>
      <vt:lpstr>IND-CPA in the asymmetric settings</vt:lpstr>
      <vt:lpstr>The game after simplifications</vt:lpstr>
      <vt:lpstr>IND-CPA security</vt:lpstr>
      <vt:lpstr>Is the “handbook RSA” IND-CPA-secure?</vt:lpstr>
      <vt:lpstr>Plan</vt:lpstr>
      <vt:lpstr>IND-CPA-secure encryption from the RSA assumption</vt:lpstr>
      <vt:lpstr>RSA hardcore bit</vt:lpstr>
      <vt:lpstr>Notation</vt:lpstr>
      <vt:lpstr>Outline of the construction</vt:lpstr>
      <vt:lpstr>Fact (informally)</vt:lpstr>
      <vt:lpstr>“LSB game”:</vt:lpstr>
      <vt:lpstr>Theorem</vt:lpstr>
      <vt:lpstr>Proof strategy</vt:lpstr>
      <vt:lpstr>Outline of the construction</vt:lpstr>
      <vt:lpstr>Observation</vt:lpstr>
      <vt:lpstr>The method</vt:lpstr>
      <vt:lpstr>Observation</vt:lpstr>
      <vt:lpstr>PowerPoint Presentation</vt:lpstr>
      <vt:lpstr>PowerPoint Presentation</vt:lpstr>
      <vt:lpstr>So we can use bisection</vt:lpstr>
      <vt:lpstr>Why is it interesting?</vt:lpstr>
      <vt:lpstr>Lemma</vt:lpstr>
      <vt:lpstr>How to extend it to longer messages?</vt:lpstr>
      <vt:lpstr>Conclusion</vt:lpstr>
      <vt:lpstr>Plan</vt:lpstr>
      <vt:lpstr>Encoding (also called: “padding”)</vt:lpstr>
      <vt:lpstr>How is it done in real-life?</vt:lpstr>
      <vt:lpstr>How to encrypt?</vt:lpstr>
      <vt:lpstr>How to decrypt?</vt:lpstr>
      <vt:lpstr>Example</vt:lpstr>
      <vt:lpstr>Security of the PKCS #1: RSA Encryption Standard Version 1.5 – security</vt:lpstr>
      <vt:lpstr>Plan</vt:lpstr>
      <vt:lpstr>The situation</vt:lpstr>
      <vt:lpstr>Rabin encryption</vt:lpstr>
      <vt:lpstr>On previous lectures we proven the following</vt:lpstr>
      <vt:lpstr>In other words</vt:lpstr>
      <vt:lpstr>A fact about squaring modulo N=pq?</vt:lpstr>
      <vt:lpstr>Example for N=15</vt:lpstr>
      <vt:lpstr>How to base encryption on this?</vt:lpstr>
      <vt:lpstr>How to do it? </vt:lpstr>
      <vt:lpstr>Another approach</vt:lpstr>
      <vt:lpstr>How does it look?</vt:lpstr>
      <vt:lpstr>Rabin restricted to QRN is a permutation</vt:lpstr>
      <vt:lpstr>Proof that RabinN(x) = x2 mod N restricted to QRN is a permutation</vt:lpstr>
      <vt:lpstr>Proof</vt:lpstr>
      <vt:lpstr>How to encrypt a one-bit message b?</vt:lpstr>
      <vt:lpstr>Moral</vt:lpstr>
      <vt:lpstr>Plan</vt:lpstr>
      <vt:lpstr>Remember the exponentiation modulo a prime?</vt:lpstr>
      <vt:lpstr>Discrete log</vt:lpstr>
      <vt:lpstr>How to construct PKE based on the hardness of discrete log?</vt:lpstr>
      <vt:lpstr>Plan</vt:lpstr>
      <vt:lpstr>Key exchange</vt:lpstr>
      <vt:lpstr>The Diffie-Hellman Key exchange</vt:lpstr>
      <vt:lpstr>Security of the Diffie-Hellman key exchange</vt:lpstr>
      <vt:lpstr>Is it secure?</vt:lpstr>
      <vt:lpstr>Example for 〖G=Z〗_p^∗</vt:lpstr>
      <vt:lpstr>Suppose 〖G=Z〗_p^∗</vt:lpstr>
      <vt:lpstr>Solution (see Chapter 6)</vt:lpstr>
      <vt:lpstr>The DH Key exchange over QR group</vt:lpstr>
      <vt:lpstr>But is the partial information leakage really a problem?</vt:lpstr>
      <vt:lpstr>PowerPoint Presentation</vt:lpstr>
      <vt:lpstr>How to formalize it?</vt:lpstr>
      <vt:lpstr>How to make G dependent on 1^n?</vt:lpstr>
      <vt:lpstr>Group generating algorithm GenG</vt:lpstr>
      <vt:lpstr>Example of GenG</vt:lpstr>
      <vt:lpstr>How does the protocol look now?</vt:lpstr>
      <vt:lpstr>Formally</vt:lpstr>
      <vt:lpstr>Examples</vt:lpstr>
      <vt:lpstr>How does DDH compare to the discrete log assumption</vt:lpstr>
      <vt:lpstr>A problem</vt:lpstr>
      <vt:lpstr>Man in the middle attack</vt:lpstr>
      <vt:lpstr>Plan</vt:lpstr>
      <vt:lpstr>ElGamal encryption</vt:lpstr>
      <vt:lpstr>First observation</vt:lpstr>
      <vt:lpstr>How does it look now?</vt:lpstr>
      <vt:lpstr>The last two messages can be sent together</vt:lpstr>
      <vt:lpstr>ElGamal encryption</vt:lpstr>
      <vt:lpstr>ElGamal encryption</vt:lpstr>
      <vt:lpstr>Correctness</vt:lpstr>
      <vt:lpstr>ElGamal – implementation issues</vt:lpstr>
      <vt:lpstr>Remember this picture (from previous lectures)?</vt:lpstr>
      <vt:lpstr>The mapping</vt:lpstr>
      <vt:lpstr>Plan</vt:lpstr>
      <vt:lpstr>ElGamal has an interesting property</vt:lpstr>
      <vt:lpstr>Why?</vt:lpstr>
      <vt:lpstr>Homomorphism – good or bad?</vt:lpstr>
      <vt:lpstr>Example: outsourcing computation</vt:lpstr>
      <vt:lpstr>This can be generalized!</vt:lpstr>
      <vt:lpstr>Fully homomorphic encryption (FHE) </vt:lpstr>
      <vt:lpstr>A natural (but much simpler) question</vt:lpstr>
      <vt:lpstr>Paillier cryptosystem works over Z_(N^2)^∗, where N is an RSA modulus</vt:lpstr>
      <vt:lpstr>Moreover</vt:lpstr>
      <vt:lpstr>Another fact</vt:lpstr>
      <vt:lpstr>A consequence of this fact</vt:lpstr>
      <vt:lpstr>Structure of Z_(N^2)^∗</vt:lpstr>
      <vt:lpstr>Multiplication in Z_(N^2)^∗</vt:lpstr>
      <vt:lpstr>Nth residues in Z_(N^2)^∗</vt:lpstr>
      <vt:lpstr>A form of every Nth residue</vt:lpstr>
      <vt:lpstr>A proof that every element (0,c) is an Nth residue</vt:lpstr>
      <vt:lpstr>The Nth residues pictorially</vt:lpstr>
      <vt:lpstr>Also</vt:lpstr>
      <vt:lpstr>Corollary</vt:lpstr>
      <vt:lpstr>Decisional composite residuosity (DCR) assumption </vt:lpstr>
      <vt:lpstr>How to encrypt?</vt:lpstr>
      <vt:lpstr>Pictorially</vt:lpstr>
      <vt:lpstr>Two questions</vt:lpstr>
      <vt:lpstr>Security follows from the DCR assumption </vt:lpstr>
      <vt:lpstr>How to decrypt?</vt:lpstr>
      <vt:lpstr>Observation</vt:lpstr>
      <vt:lpstr>Continued: </vt:lpstr>
      <vt:lpstr>Paillier encryption</vt:lpstr>
      <vt:lpstr>Why is this additively homomorphic?</vt:lpstr>
      <vt:lpstr>Plan</vt:lpstr>
      <vt:lpstr>How to encrypt longer messages?</vt:lpstr>
      <vt:lpstr>Encrypting block-by-block</vt:lpstr>
      <vt:lpstr>A problem with this solution</vt:lpstr>
      <vt:lpstr>Ingrediens</vt:lpstr>
      <vt:lpstr>KEM:</vt:lpstr>
      <vt:lpstr>How to encrypt?</vt:lpstr>
      <vt:lpstr>How to decrypt?</vt:lpstr>
      <vt:lpstr>One method to implement KEM</vt:lpstr>
      <vt:lpstr>Pictorially: </vt:lpstr>
      <vt:lpstr>Consequences of these approaches</vt:lpstr>
      <vt:lpstr>Plan</vt:lpstr>
      <vt:lpstr>Chosen-ciphertext attacks – motivation </vt:lpstr>
      <vt:lpstr>Another scenario</vt:lpstr>
      <vt:lpstr>A more advanced example</vt:lpstr>
      <vt:lpstr>Note</vt:lpstr>
      <vt:lpstr>Decryption oracle</vt:lpstr>
      <vt:lpstr>Decryption/encryption oracle</vt:lpstr>
      <vt:lpstr>IND-CCA security– the game in the symmetric case</vt:lpstr>
      <vt:lpstr>IND-CCA security– the game in the asymmetric case</vt:lpstr>
      <vt:lpstr>IND-CCA security</vt:lpstr>
      <vt:lpstr>Easy to see</vt:lpstr>
      <vt:lpstr>IND-CPA security does not imply the IND-CCA security</vt:lpstr>
      <vt:lpstr>How to construct IND-CCA-secure schemes?</vt:lpstr>
      <vt:lpstr>Plan</vt:lpstr>
      <vt:lpstr>Symmetric case</vt:lpstr>
      <vt:lpstr>The method from previous lectures</vt:lpstr>
      <vt:lpstr>Why is this secure?</vt:lpstr>
      <vt:lpstr>Plan</vt:lpstr>
      <vt:lpstr>PKCS #1 v.2 is not IND-CCA-secre</vt:lpstr>
      <vt:lpstr>Bleichenbacher’s attack – the scenario</vt:lpstr>
      <vt:lpstr>How to construct IND-CCA-secure encryption scheme from RSA?</vt:lpstr>
      <vt:lpstr>First attempt</vt:lpstr>
      <vt:lpstr>Problem</vt:lpstr>
      <vt:lpstr>Idea: instead of truncating – hash!</vt:lpstr>
      <vt:lpstr>Which properties should H have?</vt:lpstr>
      <vt:lpstr>Random oracle model</vt:lpstr>
      <vt:lpstr>Security proof – the intuition</vt:lpstr>
      <vt:lpstr>A drawback of this method</vt:lpstr>
      <vt:lpstr>Optimal Asymmetric Encryption Padding (OAEP) – the history</vt:lpstr>
      <vt:lpstr>OAEP</vt:lpstr>
      <vt:lpstr>How to invert?</vt:lpstr>
      <vt:lpstr>RSA-OAEP</vt:lpstr>
      <vt:lpstr>Security of RSA-OAEP</vt:lpstr>
      <vt:lpstr>Nice properties of OAEP (for the right choice of parameters)</vt:lpstr>
      <vt:lpstr>OAEP is hard to invert if you don’t know X and Y completely.</vt:lpstr>
      <vt:lpstr>Why?</vt:lpstr>
      <vt:lpstr>The encoding OAEP(m) is uniformly random</vt:lpstr>
      <vt:lpstr>Why are these two properties useful for IND-CPA security?</vt:lpstr>
      <vt:lpstr>PowerPoint Presentation</vt:lpstr>
      <vt:lpstr>This last property is useful for IND-CCA security</vt:lpstr>
      <vt:lpstr>Note</vt:lpstr>
      <vt:lpstr>An interesting attack on OAEP</vt:lpstr>
      <vt:lpstr>Plan</vt:lpstr>
      <vt:lpstr>ElGamal vs. RSA</vt:lpstr>
      <vt:lpstr>NIST recommendations</vt:lpstr>
      <vt:lpstr>Quantum attacks</vt:lpstr>
      <vt:lpstr>Plan</vt:lpstr>
      <vt:lpstr>A natural question</vt:lpstr>
      <vt:lpstr>Hard-core predicates</vt:lpstr>
      <vt:lpstr>A fact</vt:lpstr>
      <vt:lpstr>How to encrypt with such an g?</vt:lpstr>
      <vt:lpstr>The general picture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Dziembowski</dc:creator>
  <cp:lastModifiedBy>Stefan Dziembowski</cp:lastModifiedBy>
  <cp:revision>903</cp:revision>
  <cp:lastPrinted>2025-11-24T15:26:13Z</cp:lastPrinted>
  <dcterms:created xsi:type="dcterms:W3CDTF">2015-07-03T16:44:25Z</dcterms:created>
  <dcterms:modified xsi:type="dcterms:W3CDTF">2025-12-08T13:46:09Z</dcterms:modified>
</cp:coreProperties>
</file>