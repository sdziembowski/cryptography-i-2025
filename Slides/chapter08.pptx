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1.xml" ContentType="application/inkml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ink/ink2.xml" ContentType="application/inkml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ink/ink3.xml" ContentType="application/inkml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ink/ink4.xml" ContentType="application/inkml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1"/>
  </p:notesMasterIdLst>
  <p:handoutMasterIdLst>
    <p:handoutMasterId r:id="rId92"/>
  </p:handoutMasterIdLst>
  <p:sldIdLst>
    <p:sldId id="469" r:id="rId2"/>
    <p:sldId id="470" r:id="rId3"/>
    <p:sldId id="471" r:id="rId4"/>
    <p:sldId id="541" r:id="rId5"/>
    <p:sldId id="534" r:id="rId6"/>
    <p:sldId id="480" r:id="rId7"/>
    <p:sldId id="481" r:id="rId8"/>
    <p:sldId id="482" r:id="rId9"/>
    <p:sldId id="483" r:id="rId10"/>
    <p:sldId id="484" r:id="rId11"/>
    <p:sldId id="485" r:id="rId12"/>
    <p:sldId id="486" r:id="rId13"/>
    <p:sldId id="561" r:id="rId14"/>
    <p:sldId id="488" r:id="rId15"/>
    <p:sldId id="490" r:id="rId16"/>
    <p:sldId id="491" r:id="rId17"/>
    <p:sldId id="492" r:id="rId18"/>
    <p:sldId id="493" r:id="rId19"/>
    <p:sldId id="494" r:id="rId20"/>
    <p:sldId id="495" r:id="rId21"/>
    <p:sldId id="586" r:id="rId22"/>
    <p:sldId id="587" r:id="rId23"/>
    <p:sldId id="588" r:id="rId24"/>
    <p:sldId id="589" r:id="rId25"/>
    <p:sldId id="502" r:id="rId26"/>
    <p:sldId id="542" r:id="rId27"/>
    <p:sldId id="543" r:id="rId28"/>
    <p:sldId id="503" r:id="rId29"/>
    <p:sldId id="504" r:id="rId30"/>
    <p:sldId id="505" r:id="rId31"/>
    <p:sldId id="506" r:id="rId32"/>
    <p:sldId id="508" r:id="rId33"/>
    <p:sldId id="563" r:id="rId34"/>
    <p:sldId id="544" r:id="rId35"/>
    <p:sldId id="545" r:id="rId36"/>
    <p:sldId id="546" r:id="rId37"/>
    <p:sldId id="552" r:id="rId38"/>
    <p:sldId id="547" r:id="rId39"/>
    <p:sldId id="548" r:id="rId40"/>
    <p:sldId id="549" r:id="rId41"/>
    <p:sldId id="550" r:id="rId42"/>
    <p:sldId id="551" r:id="rId43"/>
    <p:sldId id="553" r:id="rId44"/>
    <p:sldId id="554" r:id="rId45"/>
    <p:sldId id="555" r:id="rId46"/>
    <p:sldId id="556" r:id="rId47"/>
    <p:sldId id="557" r:id="rId48"/>
    <p:sldId id="558" r:id="rId49"/>
    <p:sldId id="583" r:id="rId50"/>
    <p:sldId id="559" r:id="rId51"/>
    <p:sldId id="565" r:id="rId52"/>
    <p:sldId id="560" r:id="rId53"/>
    <p:sldId id="569" r:id="rId54"/>
    <p:sldId id="570" r:id="rId55"/>
    <p:sldId id="579" r:id="rId56"/>
    <p:sldId id="572" r:id="rId57"/>
    <p:sldId id="581" r:id="rId58"/>
    <p:sldId id="582" r:id="rId59"/>
    <p:sldId id="584" r:id="rId60"/>
    <p:sldId id="573" r:id="rId61"/>
    <p:sldId id="566" r:id="rId62"/>
    <p:sldId id="580" r:id="rId63"/>
    <p:sldId id="568" r:id="rId64"/>
    <p:sldId id="567" r:id="rId65"/>
    <p:sldId id="510" r:id="rId66"/>
    <p:sldId id="511" r:id="rId67"/>
    <p:sldId id="512" r:id="rId68"/>
    <p:sldId id="513" r:id="rId69"/>
    <p:sldId id="514" r:id="rId70"/>
    <p:sldId id="515" r:id="rId71"/>
    <p:sldId id="516" r:id="rId72"/>
    <p:sldId id="517" r:id="rId73"/>
    <p:sldId id="518" r:id="rId74"/>
    <p:sldId id="519" r:id="rId75"/>
    <p:sldId id="520" r:id="rId76"/>
    <p:sldId id="521" r:id="rId77"/>
    <p:sldId id="522" r:id="rId78"/>
    <p:sldId id="523" r:id="rId79"/>
    <p:sldId id="524" r:id="rId80"/>
    <p:sldId id="525" r:id="rId81"/>
    <p:sldId id="526" r:id="rId82"/>
    <p:sldId id="527" r:id="rId83"/>
    <p:sldId id="528" r:id="rId84"/>
    <p:sldId id="529" r:id="rId85"/>
    <p:sldId id="530" r:id="rId86"/>
    <p:sldId id="531" r:id="rId87"/>
    <p:sldId id="532" r:id="rId88"/>
    <p:sldId id="533" r:id="rId89"/>
    <p:sldId id="332" r:id="rId90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 Dziembowski" initials="SD" lastIdx="1" clrIdx="0">
    <p:extLst>
      <p:ext uri="{19B8F6BF-5375-455C-9EA6-DF929625EA0E}">
        <p15:presenceInfo xmlns:p15="http://schemas.microsoft.com/office/powerpoint/2012/main" userId="Stefan Dziembowsk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2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0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7334"/>
          </a:xfrm>
          <a:prstGeom prst="rect">
            <a:avLst/>
          </a:prstGeom>
        </p:spPr>
        <p:txBody>
          <a:bodyPr vert="horz" lIns="88192" tIns="44096" rIns="88192" bIns="44096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751" y="0"/>
            <a:ext cx="2945405" cy="497334"/>
          </a:xfrm>
          <a:prstGeom prst="rect">
            <a:avLst/>
          </a:prstGeom>
        </p:spPr>
        <p:txBody>
          <a:bodyPr vert="horz" lIns="88192" tIns="44096" rIns="88192" bIns="44096" rtlCol="0"/>
          <a:lstStyle>
            <a:lvl1pPr algn="r">
              <a:defRPr sz="1200"/>
            </a:lvl1pPr>
          </a:lstStyle>
          <a:p>
            <a:fld id="{CB412FE4-3145-4EF6-B42A-FBC5BC8CBB71}" type="datetimeFigureOut">
              <a:rPr lang="pl-PL" smtClean="0"/>
              <a:t>12.01.2026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9305"/>
            <a:ext cx="2945406" cy="497334"/>
          </a:xfrm>
          <a:prstGeom prst="rect">
            <a:avLst/>
          </a:prstGeom>
        </p:spPr>
        <p:txBody>
          <a:bodyPr vert="horz" lIns="88192" tIns="44096" rIns="88192" bIns="44096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751" y="9429305"/>
            <a:ext cx="2945405" cy="497334"/>
          </a:xfrm>
          <a:prstGeom prst="rect">
            <a:avLst/>
          </a:prstGeom>
        </p:spPr>
        <p:txBody>
          <a:bodyPr vert="horz" lIns="88192" tIns="44096" rIns="88192" bIns="44096" rtlCol="0" anchor="b"/>
          <a:lstStyle>
            <a:lvl1pPr algn="r">
              <a:defRPr sz="1200"/>
            </a:lvl1pPr>
          </a:lstStyle>
          <a:p>
            <a:fld id="{4F5195C7-A3A9-49A7-828D-175002B257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4911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13T14:23:52.73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4402 17304 5410 0,'0'0'39'0,"0"0"135"0,0 0 28 0,0 0-119 0,0 0-83 16,0 0-181-16,0 0-156 16,0 0-115-16,0 0 118 0,0 0 305 15,-3-18 29-15,3 18 128 0,0 0 11 16,0 0-28-16,0 0-111 0,0 0 0 15,0 0-241-15,3 0-586 0,0 4-1241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13T14:30:34.96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15856 15919 393 0,'0'0'528'15,"0"0"-528"-15,0 0-50 0,0 0-196 16,0 0-302-16,0 0 471 0</inkml:trace>
  <inkml:trace contextRef="#ctx0" brushRef="#br0" timeOffset="14309.42">12504 3964 94 0,'0'0'0'16,"50"-8"-94"-16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13T14:35:51.87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18200 2014 194 0,'0'0'957'16,"0"0"-77"-16,0 0-496 0,0 0-384 15,0 0-1096-15</inkml:trace>
  <inkml:trace contextRef="#ctx0" brushRef="#br0" timeOffset="59319.16">13125 3047 210 0,'0'0'0'16,"0"0"-5"-16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13T14:43:35.67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1305 10313 111 0,'0'0'116'0,"0"0"-100"15,43-70-5-15,-21 51-11 0,-7 3-5 16,-5 8-12-16,2 2-82 16,1 3-1-16,-7 3 67 0,0 3 33 15,-3 11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5557" tIns="47779" rIns="95557" bIns="47779" rtlCol="0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5557" tIns="47779" rIns="95557" bIns="47779" rtlCol="0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9A9543F3-0831-4635-AD48-8E4410E9648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7" tIns="47779" rIns="95557" bIns="477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5557" tIns="47779" rIns="95557" bIns="4777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5557" tIns="47779" rIns="95557" bIns="47779" rtlCol="0" anchor="b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5557" tIns="47779" rIns="95557" bIns="47779" rtlCol="0" anchor="b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8BBDC37B-729A-4393-B484-407F8F0BFA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3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45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63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47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22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00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22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6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00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60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2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55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FF8A8-8E85-4C0F-8D39-C63C1B46926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39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24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0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01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33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3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80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3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97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FF8A8-8E85-4C0F-8D39-C63C1B46926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47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84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763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522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69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FF8A8-8E85-4C0F-8D39-C63C1B46926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25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65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776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DC37B-729A-4393-B484-407F8F0BFACB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3098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DC37B-729A-4393-B484-407F8F0BFACB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198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548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231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53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285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652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908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049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382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698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762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886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743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295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795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975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520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612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447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59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113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37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365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444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104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1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300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latin typeface="Cambria" panose="020405030504060302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2CE963-E336-4791-BEE1-7AA5286EE6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E30FABD3-5AFF-4669-BE74-12D79B49C211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rypto.edu.pl/Dziembowsk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3" Type="http://schemas.openxmlformats.org/officeDocument/2006/relationships/image" Target="../media/image2.wmf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2.png"/><Relationship Id="rId4" Type="http://schemas.openxmlformats.org/officeDocument/2006/relationships/image" Target="../media/image3.wmf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3.wmf"/><Relationship Id="rId1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2.wmf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1.png"/><Relationship Id="rId3" Type="http://schemas.openxmlformats.org/officeDocument/2006/relationships/image" Target="../media/image4.wmf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82.png"/><Relationship Id="rId5" Type="http://schemas.openxmlformats.org/officeDocument/2006/relationships/image" Target="../media/image65.png"/><Relationship Id="rId10" Type="http://schemas.openxmlformats.org/officeDocument/2006/relationships/image" Target="../media/image8.png"/><Relationship Id="rId4" Type="http://schemas.openxmlformats.org/officeDocument/2006/relationships/image" Target="../media/image5.wmf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.png"/><Relationship Id="rId4" Type="http://schemas.openxmlformats.org/officeDocument/2006/relationships/image" Target="../media/image8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4.wmf"/><Relationship Id="rId3" Type="http://schemas.openxmlformats.org/officeDocument/2006/relationships/image" Target="../media/image5.wmf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38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Relationship Id="rId1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28.jpe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28.jpe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28.jpe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31.png"/><Relationship Id="rId5" Type="http://schemas.openxmlformats.org/officeDocument/2006/relationships/image" Target="../media/image117.png"/><Relationship Id="rId10" Type="http://schemas.openxmlformats.org/officeDocument/2006/relationships/image" Target="../media/image130.png"/><Relationship Id="rId4" Type="http://schemas.openxmlformats.org/officeDocument/2006/relationships/image" Target="../media/image108.png"/><Relationship Id="rId9" Type="http://schemas.openxmlformats.org/officeDocument/2006/relationships/image" Target="../media/image12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72.png"/><Relationship Id="rId7" Type="http://schemas.openxmlformats.org/officeDocument/2006/relationships/image" Target="../media/image13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1351.png"/><Relationship Id="rId7" Type="http://schemas.openxmlformats.org/officeDocument/2006/relationships/image" Target="../media/image1391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1.png"/><Relationship Id="rId5" Type="http://schemas.openxmlformats.org/officeDocument/2006/relationships/image" Target="../media/image1371.png"/><Relationship Id="rId4" Type="http://schemas.openxmlformats.org/officeDocument/2006/relationships/image" Target="../media/image13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1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28.jpeg"/><Relationship Id="rId4" Type="http://schemas.openxmlformats.org/officeDocument/2006/relationships/image" Target="../media/image1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28.jpeg"/><Relationship Id="rId7" Type="http://schemas.openxmlformats.org/officeDocument/2006/relationships/image" Target="../media/image156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160.png"/><Relationship Id="rId5" Type="http://schemas.openxmlformats.org/officeDocument/2006/relationships/image" Target="../media/image360.png"/><Relationship Id="rId10" Type="http://schemas.openxmlformats.org/officeDocument/2006/relationships/image" Target="../media/image159.png"/><Relationship Id="rId4" Type="http://schemas.openxmlformats.org/officeDocument/2006/relationships/image" Target="../media/image300.png"/><Relationship Id="rId9" Type="http://schemas.openxmlformats.org/officeDocument/2006/relationships/image" Target="../media/image15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61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3.wmf"/><Relationship Id="rId10" Type="http://schemas.openxmlformats.org/officeDocument/2006/relationships/image" Target="../media/image166.png"/><Relationship Id="rId4" Type="http://schemas.openxmlformats.org/officeDocument/2006/relationships/image" Target="../media/image28.jpeg"/><Relationship Id="rId9" Type="http://schemas.openxmlformats.org/officeDocument/2006/relationships/image" Target="../media/image16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37.png"/><Relationship Id="rId3" Type="http://schemas.openxmlformats.org/officeDocument/2006/relationships/image" Target="../media/image3.wmf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0" Type="http://schemas.openxmlformats.org/officeDocument/2006/relationships/image" Target="../media/image176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14" Type="http://schemas.openxmlformats.org/officeDocument/2006/relationships/image" Target="../media/image1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3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190.png"/><Relationship Id="rId4" Type="http://schemas.openxmlformats.org/officeDocument/2006/relationships/image" Target="../media/image7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hyperlink" Target="https://portal.msrc.microsoft.com/en-US/security-guidance/advisory/CVE-2020-0601" TargetMode="External"/><Relationship Id="rId4" Type="http://schemas.openxmlformats.org/officeDocument/2006/relationships/image" Target="../media/image18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0.png"/><Relationship Id="rId3" Type="http://schemas.openxmlformats.org/officeDocument/2006/relationships/image" Target="../media/image1270.png"/><Relationship Id="rId7" Type="http://schemas.openxmlformats.org/officeDocument/2006/relationships/image" Target="../media/image13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0.png"/><Relationship Id="rId5" Type="http://schemas.openxmlformats.org/officeDocument/2006/relationships/image" Target="../media/image90.png"/><Relationship Id="rId10" Type="http://schemas.openxmlformats.org/officeDocument/2006/relationships/image" Target="../media/image1531.png"/><Relationship Id="rId4" Type="http://schemas.openxmlformats.org/officeDocument/2006/relationships/image" Target="../media/image1280.png"/><Relationship Id="rId9" Type="http://schemas.openxmlformats.org/officeDocument/2006/relationships/image" Target="../media/image133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7" Type="http://schemas.openxmlformats.org/officeDocument/2006/relationships/image" Target="../media/image13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0.png"/><Relationship Id="rId5" Type="http://schemas.openxmlformats.org/officeDocument/2006/relationships/image" Target="../media/image1370.png"/><Relationship Id="rId4" Type="http://schemas.openxmlformats.org/officeDocument/2006/relationships/image" Target="../media/image136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0.png"/><Relationship Id="rId3" Type="http://schemas.openxmlformats.org/officeDocument/2006/relationships/image" Target="../media/image197.png"/><Relationship Id="rId7" Type="http://schemas.openxmlformats.org/officeDocument/2006/relationships/image" Target="../media/image14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9" Type="http://schemas.openxmlformats.org/officeDocument/2006/relationships/image" Target="../media/image147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0.png"/><Relationship Id="rId7" Type="http://schemas.openxmlformats.org/officeDocument/2006/relationships/image" Target="../media/image15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0.png"/><Relationship Id="rId5" Type="http://schemas.openxmlformats.org/officeDocument/2006/relationships/image" Target="../media/image1500.png"/><Relationship Id="rId4" Type="http://schemas.openxmlformats.org/officeDocument/2006/relationships/image" Target="../media/image149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0.png"/><Relationship Id="rId3" Type="http://schemas.openxmlformats.org/officeDocument/2006/relationships/image" Target="../media/image5.wmf"/><Relationship Id="rId7" Type="http://schemas.openxmlformats.org/officeDocument/2006/relationships/image" Target="../media/image15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0.png"/><Relationship Id="rId5" Type="http://schemas.openxmlformats.org/officeDocument/2006/relationships/image" Target="../media/image1540.png"/><Relationship Id="rId4" Type="http://schemas.openxmlformats.org/officeDocument/2006/relationships/image" Target="../media/image1530.png"/><Relationship Id="rId9" Type="http://schemas.openxmlformats.org/officeDocument/2006/relationships/image" Target="../media/image158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0.png"/><Relationship Id="rId5" Type="http://schemas.openxmlformats.org/officeDocument/2006/relationships/image" Target="../media/image1610.png"/><Relationship Id="rId4" Type="http://schemas.openxmlformats.org/officeDocument/2006/relationships/image" Target="../media/image160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0.png"/><Relationship Id="rId13" Type="http://schemas.openxmlformats.org/officeDocument/2006/relationships/image" Target="../media/image1730.png"/><Relationship Id="rId3" Type="http://schemas.openxmlformats.org/officeDocument/2006/relationships/image" Target="../media/image1630.png"/><Relationship Id="rId7" Type="http://schemas.openxmlformats.org/officeDocument/2006/relationships/image" Target="../media/image1670.png"/><Relationship Id="rId12" Type="http://schemas.openxmlformats.org/officeDocument/2006/relationships/image" Target="../media/image17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0.png"/><Relationship Id="rId11" Type="http://schemas.openxmlformats.org/officeDocument/2006/relationships/image" Target="../media/image1710.png"/><Relationship Id="rId5" Type="http://schemas.openxmlformats.org/officeDocument/2006/relationships/image" Target="../media/image1650.png"/><Relationship Id="rId10" Type="http://schemas.openxmlformats.org/officeDocument/2006/relationships/image" Target="../media/image1700.png"/><Relationship Id="rId4" Type="http://schemas.openxmlformats.org/officeDocument/2006/relationships/image" Target="../media/image1640.png"/><Relationship Id="rId9" Type="http://schemas.openxmlformats.org/officeDocument/2006/relationships/image" Target="../media/image1690.png"/><Relationship Id="rId14" Type="http://schemas.openxmlformats.org/officeDocument/2006/relationships/image" Target="../media/image174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0.png"/><Relationship Id="rId13" Type="http://schemas.openxmlformats.org/officeDocument/2006/relationships/image" Target="../media/image187.png"/><Relationship Id="rId18" Type="http://schemas.openxmlformats.org/officeDocument/2006/relationships/image" Target="../media/image196.png"/><Relationship Id="rId3" Type="http://schemas.openxmlformats.org/officeDocument/2006/relationships/image" Target="../media/image1750.png"/><Relationship Id="rId7" Type="http://schemas.openxmlformats.org/officeDocument/2006/relationships/image" Target="../media/image1790.png"/><Relationship Id="rId12" Type="http://schemas.openxmlformats.org/officeDocument/2006/relationships/image" Target="../media/image185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194.png"/><Relationship Id="rId20" Type="http://schemas.openxmlformats.org/officeDocument/2006/relationships/image" Target="../media/image1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0.png"/><Relationship Id="rId11" Type="http://schemas.openxmlformats.org/officeDocument/2006/relationships/image" Target="../media/image184.png"/><Relationship Id="rId5" Type="http://schemas.openxmlformats.org/officeDocument/2006/relationships/image" Target="../media/image1770.png"/><Relationship Id="rId15" Type="http://schemas.openxmlformats.org/officeDocument/2006/relationships/image" Target="../media/image193.png"/><Relationship Id="rId10" Type="http://schemas.openxmlformats.org/officeDocument/2006/relationships/image" Target="../media/image152.png"/><Relationship Id="rId19" Type="http://schemas.openxmlformats.org/officeDocument/2006/relationships/image" Target="../media/image200.png"/><Relationship Id="rId4" Type="http://schemas.openxmlformats.org/officeDocument/2006/relationships/image" Target="../media/image1760.png"/><Relationship Id="rId9" Type="http://schemas.openxmlformats.org/officeDocument/2006/relationships/image" Target="../media/image1810.png"/><Relationship Id="rId14" Type="http://schemas.openxmlformats.org/officeDocument/2006/relationships/image" Target="../media/image19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7" Type="http://schemas.openxmlformats.org/officeDocument/2006/relationships/image" Target="../media/image192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204.pn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1980.png"/><Relationship Id="rId10" Type="http://schemas.openxmlformats.org/officeDocument/2006/relationships/image" Target="../media/image210.png"/><Relationship Id="rId4" Type="http://schemas.openxmlformats.org/officeDocument/2006/relationships/image" Target="../media/image205.png"/><Relationship Id="rId9" Type="http://schemas.openxmlformats.org/officeDocument/2006/relationships/image" Target="../media/image20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3" Type="http://schemas.openxmlformats.org/officeDocument/2006/relationships/image" Target="../media/image2050.png"/><Relationship Id="rId7" Type="http://schemas.openxmlformats.org/officeDocument/2006/relationships/image" Target="../media/image209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80.png"/><Relationship Id="rId5" Type="http://schemas.openxmlformats.org/officeDocument/2006/relationships/image" Target="../media/image2070.png"/><Relationship Id="rId4" Type="http://schemas.openxmlformats.org/officeDocument/2006/relationships/image" Target="../media/image206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21.png"/><Relationship Id="rId18" Type="http://schemas.openxmlformats.org/officeDocument/2006/relationships/image" Target="../media/image226.png"/><Relationship Id="rId26" Type="http://schemas.openxmlformats.org/officeDocument/2006/relationships/image" Target="../media/image233.png"/><Relationship Id="rId3" Type="http://schemas.openxmlformats.org/officeDocument/2006/relationships/image" Target="../media/image186.png"/><Relationship Id="rId21" Type="http://schemas.openxmlformats.org/officeDocument/2006/relationships/image" Target="../media/image229.png"/><Relationship Id="rId7" Type="http://schemas.openxmlformats.org/officeDocument/2006/relationships/image" Target="../media/image212.png"/><Relationship Id="rId12" Type="http://schemas.openxmlformats.org/officeDocument/2006/relationships/image" Target="../media/image220.png"/><Relationship Id="rId17" Type="http://schemas.openxmlformats.org/officeDocument/2006/relationships/image" Target="../media/image225.png"/><Relationship Id="rId25" Type="http://schemas.openxmlformats.org/officeDocument/2006/relationships/image" Target="../media/image2270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224.png"/><Relationship Id="rId20" Type="http://schemas.openxmlformats.org/officeDocument/2006/relationships/image" Target="../media/image228.png"/><Relationship Id="rId29" Type="http://schemas.openxmlformats.org/officeDocument/2006/relationships/image" Target="../media/image2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1.png"/><Relationship Id="rId11" Type="http://schemas.openxmlformats.org/officeDocument/2006/relationships/image" Target="../media/image216.png"/><Relationship Id="rId24" Type="http://schemas.openxmlformats.org/officeDocument/2006/relationships/image" Target="../media/image232.png"/><Relationship Id="rId5" Type="http://schemas.openxmlformats.org/officeDocument/2006/relationships/image" Target="../media/image189.png"/><Relationship Id="rId15" Type="http://schemas.openxmlformats.org/officeDocument/2006/relationships/image" Target="../media/image223.png"/><Relationship Id="rId23" Type="http://schemas.openxmlformats.org/officeDocument/2006/relationships/image" Target="../media/image231.png"/><Relationship Id="rId28" Type="http://schemas.openxmlformats.org/officeDocument/2006/relationships/image" Target="../media/image235.png"/><Relationship Id="rId10" Type="http://schemas.openxmlformats.org/officeDocument/2006/relationships/image" Target="../media/image215.png"/><Relationship Id="rId19" Type="http://schemas.openxmlformats.org/officeDocument/2006/relationships/image" Target="../media/image227.png"/><Relationship Id="rId31" Type="http://schemas.openxmlformats.org/officeDocument/2006/relationships/image" Target="../media/image1940.png"/><Relationship Id="rId4" Type="http://schemas.openxmlformats.org/officeDocument/2006/relationships/image" Target="../media/image188.png"/><Relationship Id="rId9" Type="http://schemas.openxmlformats.org/officeDocument/2006/relationships/image" Target="../media/image214.png"/><Relationship Id="rId14" Type="http://schemas.openxmlformats.org/officeDocument/2006/relationships/image" Target="../media/image222.png"/><Relationship Id="rId22" Type="http://schemas.openxmlformats.org/officeDocument/2006/relationships/image" Target="../media/image230.png"/><Relationship Id="rId27" Type="http://schemas.openxmlformats.org/officeDocument/2006/relationships/image" Target="../media/image234.png"/><Relationship Id="rId30" Type="http://schemas.openxmlformats.org/officeDocument/2006/relationships/customXml" Target="../ink/ink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44.png"/><Relationship Id="rId3" Type="http://schemas.openxmlformats.org/officeDocument/2006/relationships/image" Target="../media/image217.png"/><Relationship Id="rId7" Type="http://schemas.openxmlformats.org/officeDocument/2006/relationships/image" Target="../media/image241.png"/><Relationship Id="rId12" Type="http://schemas.openxmlformats.org/officeDocument/2006/relationships/image" Target="../media/image2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0.png"/><Relationship Id="rId11" Type="http://schemas.openxmlformats.org/officeDocument/2006/relationships/image" Target="../media/image245.png"/><Relationship Id="rId5" Type="http://schemas.openxmlformats.org/officeDocument/2006/relationships/image" Target="../media/image219.png"/><Relationship Id="rId10" Type="http://schemas.openxmlformats.org/officeDocument/2006/relationships/image" Target="../media/image239.png"/><Relationship Id="rId4" Type="http://schemas.openxmlformats.org/officeDocument/2006/relationships/image" Target="../media/image218.png"/><Relationship Id="rId9" Type="http://schemas.openxmlformats.org/officeDocument/2006/relationships/image" Target="../media/image238.png"/><Relationship Id="rId14" Type="http://schemas.openxmlformats.org/officeDocument/2006/relationships/image" Target="../media/image24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8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40.wmf"/><Relationship Id="rId7" Type="http://schemas.openxmlformats.org/officeDocument/2006/relationships/image" Target="../media/image2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3.wmf"/><Relationship Id="rId4" Type="http://schemas.openxmlformats.org/officeDocument/2006/relationships/image" Target="../media/image25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254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35685" y="451022"/>
            <a:ext cx="8216362" cy="2088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pl-PL" sz="4600" b="1" dirty="0"/>
              <a:t>Chapter 8	</a:t>
            </a:r>
            <a:br>
              <a:rPr lang="en-US" sz="4600" b="1" dirty="0"/>
            </a:br>
            <a:br>
              <a:rPr lang="pl-PL" sz="1000" dirty="0"/>
            </a:br>
            <a:r>
              <a:rPr lang="en-US" sz="4600" b="1" dirty="0">
                <a:solidFill>
                  <a:srgbClr val="0070C0"/>
                </a:solidFill>
              </a:rPr>
              <a:t>Signature Schemes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45881" y="3045847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Stefan</a:t>
            </a:r>
            <a:r>
              <a:rPr lang="en-US" sz="30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  <a:hlinkClick r:id="rId2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b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2600" b="1" dirty="0">
                <a:solidFill>
                  <a:schemeClr val="tx1"/>
                </a:solidFill>
                <a:latin typeface="Cambria" panose="02040503050406030204" pitchFamily="18" charset="0"/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822360" y="4864120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5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340768"/>
            <a:ext cx="6929486" cy="4680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definition of secure 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Signatures based on RSA, “hash-and-sign”, “full-domain-hash”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based on discrete log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identification schemes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/>
              <a:t>Schnorr</a:t>
            </a:r>
            <a:r>
              <a:rPr lang="en-US" dirty="0"/>
              <a:t> signatures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DSA signatures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Theoretical constructions</a:t>
            </a:r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23780" y="134076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Signature schemes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838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/>
              <a:t>digital signature schemes</a:t>
            </a:r>
            <a:endParaRPr lang="en-US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 rot="5400000">
            <a:off x="4323556" y="2686844"/>
            <a:ext cx="74136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8000">
                <a:cs typeface="Arial" pitchFamily="34" charset="0"/>
              </a:rPr>
              <a:t>≈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533400" y="40386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GB" sz="3200" b="1" dirty="0">
                <a:solidFill>
                  <a:srgbClr val="0070C0"/>
                </a:solidFill>
              </a:rPr>
              <a:t>MAC</a:t>
            </a:r>
            <a:r>
              <a:rPr lang="en-GB" sz="3200" dirty="0"/>
              <a:t>s in the public-key setting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1180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72613" y="-31095"/>
            <a:ext cx="7772400" cy="1143000"/>
          </a:xfrm>
        </p:spPr>
        <p:txBody>
          <a:bodyPr/>
          <a:lstStyle/>
          <a:p>
            <a:r>
              <a:rPr lang="en-US" dirty="0"/>
              <a:t>Message Authentication Codes</a:t>
            </a:r>
          </a:p>
        </p:txBody>
      </p:sp>
      <p:pic>
        <p:nvPicPr>
          <p:cNvPr id="81923" name="Picture 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9904" y="3083765"/>
            <a:ext cx="1401763" cy="1457325"/>
          </a:xfrm>
          <a:prstGeom prst="rect">
            <a:avLst/>
          </a:prstGeom>
          <a:noFill/>
        </p:spPr>
      </p:pic>
      <p:pic>
        <p:nvPicPr>
          <p:cNvPr id="81924" name="Picture 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6256" y="3029175"/>
            <a:ext cx="1368425" cy="1438275"/>
          </a:xfrm>
          <a:prstGeom prst="rect">
            <a:avLst/>
          </a:prstGeom>
          <a:noFill/>
        </p:spPr>
      </p:pic>
      <p:sp>
        <p:nvSpPr>
          <p:cNvPr id="81925" name="Line 5"/>
          <p:cNvSpPr>
            <a:spLocks noChangeShapeType="1"/>
          </p:cNvSpPr>
          <p:nvPr/>
        </p:nvSpPr>
        <p:spPr bwMode="auto">
          <a:xfrm>
            <a:off x="2344681" y="3665668"/>
            <a:ext cx="2775223" cy="46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6" name="Text Box 6"/>
              <p:cNvSpPr txBox="1">
                <a:spLocks noChangeArrowheads="1"/>
              </p:cNvSpPr>
              <p:nvPr/>
            </p:nvSpPr>
            <p:spPr bwMode="auto">
              <a:xfrm>
                <a:off x="1204856" y="4019775"/>
                <a:ext cx="80182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𝐀𝐥𝐢𝐜𝐞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2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4856" y="4019775"/>
                <a:ext cx="801823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5759913" y="4072222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8" name="Text Box 8"/>
              <p:cNvSpPr txBox="1">
                <a:spLocks noChangeArrowheads="1"/>
              </p:cNvSpPr>
              <p:nvPr/>
            </p:nvSpPr>
            <p:spPr bwMode="auto">
              <a:xfrm>
                <a:off x="2655917" y="3434363"/>
                <a:ext cx="2152751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2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5917" y="3434363"/>
                <a:ext cx="2152751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2535" b="-1617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1" name="Text Box 11"/>
              <p:cNvSpPr txBox="1">
                <a:spLocks noChangeArrowheads="1"/>
              </p:cNvSpPr>
              <p:nvPr/>
            </p:nvSpPr>
            <p:spPr bwMode="auto">
              <a:xfrm>
                <a:off x="1433456" y="4934175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3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3456" y="4934175"/>
                <a:ext cx="377026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2" name="Text Box 12"/>
              <p:cNvSpPr txBox="1">
                <a:spLocks noChangeArrowheads="1"/>
              </p:cNvSpPr>
              <p:nvPr/>
            </p:nvSpPr>
            <p:spPr bwMode="auto">
              <a:xfrm>
                <a:off x="5687687" y="4910422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3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7687" y="4910422"/>
                <a:ext cx="377026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3" name="Text Box 13"/>
              <p:cNvSpPr txBox="1">
                <a:spLocks noChangeArrowheads="1"/>
              </p:cNvSpPr>
              <p:nvPr/>
            </p:nvSpPr>
            <p:spPr bwMode="auto">
              <a:xfrm>
                <a:off x="214256" y="3562575"/>
                <a:ext cx="450764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3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56" y="3562575"/>
                <a:ext cx="450764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34" name="Line 14"/>
          <p:cNvSpPr>
            <a:spLocks noChangeShapeType="1"/>
          </p:cNvSpPr>
          <p:nvPr/>
        </p:nvSpPr>
        <p:spPr bwMode="auto">
          <a:xfrm flipV="1">
            <a:off x="665020" y="3781312"/>
            <a:ext cx="31123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35" name="Line 15"/>
          <p:cNvSpPr>
            <a:spLocks noChangeShapeType="1"/>
          </p:cNvSpPr>
          <p:nvPr/>
        </p:nvSpPr>
        <p:spPr bwMode="auto">
          <a:xfrm flipV="1">
            <a:off x="1585856" y="4476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36" name="Line 16"/>
          <p:cNvSpPr>
            <a:spLocks noChangeShapeType="1"/>
          </p:cNvSpPr>
          <p:nvPr/>
        </p:nvSpPr>
        <p:spPr bwMode="auto">
          <a:xfrm flipV="1">
            <a:off x="5889737" y="452942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37" name="Text Box 17"/>
              <p:cNvSpPr txBox="1">
                <a:spLocks noChangeArrowheads="1"/>
              </p:cNvSpPr>
              <p:nvPr/>
            </p:nvSpPr>
            <p:spPr bwMode="auto">
              <a:xfrm>
                <a:off x="5970494" y="3310222"/>
                <a:ext cx="2969110" cy="707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checks</a:t>
                </a:r>
                <a:r>
                  <a:rPr lang="pl-PL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if</a:t>
                </a:r>
                <a:br>
                  <a:rPr lang="pl-PL" sz="2000" b="1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{</m:t>
                      </m:r>
                      <m:r>
                        <a:rPr lang="pl-PL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𝐲𝐞𝐬</m:t>
                      </m:r>
                      <m:r>
                        <a:rPr lang="pl-PL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pl-PL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𝐧𝐨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</m:oMath>
                  </m:oMathPara>
                </a14:m>
                <a:endParaRPr lang="ru-RU" sz="20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193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0494" y="3310222"/>
                <a:ext cx="2969110" cy="707886"/>
              </a:xfrm>
              <a:prstGeom prst="rect">
                <a:avLst/>
              </a:prstGeom>
              <a:blipFill rotWithShape="0">
                <a:blip r:embed="rId12"/>
                <a:stretch>
                  <a:fillRect t="-3390" b="-932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26"/>
              <p:cNvSpPr txBox="1">
                <a:spLocks noChangeArrowheads="1"/>
              </p:cNvSpPr>
              <p:nvPr/>
            </p:nvSpPr>
            <p:spPr bwMode="auto">
              <a:xfrm>
                <a:off x="2658948" y="5375220"/>
                <a:ext cx="2328907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it-IT" b="1" dirty="0">
                    <a:solidFill>
                      <a:srgbClr val="993300"/>
                    </a:solidFill>
                  </a:rPr>
                  <a:t> </a:t>
                </a:r>
                <a:r>
                  <a:rPr lang="en-US" dirty="0"/>
                  <a:t>is chosen randomly </a:t>
                </a:r>
                <a:br>
                  <a:rPr lang="en-US" dirty="0"/>
                </a:br>
                <a:r>
                  <a:rPr lang="en-US" dirty="0"/>
                  <a:t>from some set </a:t>
                </a:r>
                <a:r>
                  <a:rPr lang="it-IT" b="1" dirty="0">
                    <a:solidFill>
                      <a:srgbClr val="FF0000"/>
                    </a:solidFill>
                    <a:latin typeface="Lucida Calligraphy"/>
                  </a:rPr>
                  <a:t>K</a:t>
                </a:r>
                <a:r>
                  <a:rPr lang="pl-PL" b="1" i="1" dirty="0"/>
                  <a:t> </a:t>
                </a:r>
                <a:endParaRPr lang="en-US" b="1" baseline="30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21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8948" y="5375220"/>
                <a:ext cx="2328907" cy="646331"/>
              </a:xfrm>
              <a:prstGeom prst="rect">
                <a:avLst/>
              </a:prstGeom>
              <a:blipFill rotWithShape="0">
                <a:blip r:embed="rId13"/>
                <a:stretch>
                  <a:fillRect t="-5556" r="-1563" b="-1388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AutoShape 28"/>
          <p:cNvCxnSpPr>
            <a:cxnSpLocks noChangeShapeType="1"/>
            <a:stCxn id="21" idx="1"/>
            <a:endCxn id="81931" idx="2"/>
          </p:cNvCxnSpPr>
          <p:nvPr/>
        </p:nvCxnSpPr>
        <p:spPr bwMode="auto">
          <a:xfrm rot="10800000">
            <a:off x="1621970" y="5303508"/>
            <a:ext cx="1036979" cy="39487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3" name="AutoShape 29"/>
          <p:cNvCxnSpPr>
            <a:cxnSpLocks noChangeShapeType="1"/>
            <a:stCxn id="21" idx="3"/>
            <a:endCxn id="81932" idx="2"/>
          </p:cNvCxnSpPr>
          <p:nvPr/>
        </p:nvCxnSpPr>
        <p:spPr bwMode="auto">
          <a:xfrm flipV="1">
            <a:off x="4987855" y="5279754"/>
            <a:ext cx="888345" cy="41863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9371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animBg="1"/>
      <p:bldP spid="81926" grpId="0" animBg="1"/>
      <p:bldP spid="81927" grpId="0" animBg="1"/>
      <p:bldP spid="81928" grpId="0" animBg="1"/>
      <p:bldP spid="81931" grpId="0" animBg="1"/>
      <p:bldP spid="81932" grpId="0" animBg="1"/>
      <p:bldP spid="81933" grpId="0" animBg="1"/>
      <p:bldP spid="81934" grpId="0" animBg="1"/>
      <p:bldP spid="81935" grpId="0" animBg="1"/>
      <p:bldP spid="81936" grpId="0" animBg="1"/>
      <p:bldP spid="81937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pl-PL" dirty="0" err="1"/>
              <a:t>Signatures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14282" y="1571612"/>
                <a:ext cx="435771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used for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computing a tag</a:t>
                </a:r>
                <a:r>
                  <a:rPr lang="en-US" sz="2400" dirty="0"/>
                  <a:t>,</a:t>
                </a:r>
              </a:p>
              <a:p>
                <a:pPr marL="457200" indent="-4572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used for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verifying correctness of the tag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1571612"/>
                <a:ext cx="4357718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1818" t="-3113" b="-81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9156" y="4146234"/>
            <a:ext cx="1047779" cy="47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4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13378" y="3643314"/>
            <a:ext cx="1401762" cy="1457325"/>
          </a:xfrm>
          <a:prstGeom prst="rect">
            <a:avLst/>
          </a:prstGeom>
          <a:noFill/>
        </p:spPr>
      </p:pic>
      <p:pic>
        <p:nvPicPr>
          <p:cNvPr id="17" name="Picture 5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36935" y="3641410"/>
            <a:ext cx="1368425" cy="1438275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365535" y="4632010"/>
            <a:ext cx="922499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Alice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5751518" y="4695836"/>
            <a:ext cx="860123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0"/>
              <p:cNvSpPr txBox="1">
                <a:spLocks noChangeArrowheads="1"/>
              </p:cNvSpPr>
              <p:nvPr/>
            </p:nvSpPr>
            <p:spPr bwMode="auto">
              <a:xfrm>
                <a:off x="1358905" y="5450911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905" y="5450911"/>
                <a:ext cx="37702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5713433" y="5534036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3433" y="5534036"/>
                <a:ext cx="37702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13"/>
          <p:cNvSpPr>
            <a:spLocks noChangeShapeType="1"/>
          </p:cNvSpPr>
          <p:nvPr/>
        </p:nvSpPr>
        <p:spPr bwMode="auto">
          <a:xfrm flipV="1">
            <a:off x="1511305" y="499371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 flipV="1">
            <a:off x="5901946" y="5072073"/>
            <a:ext cx="0" cy="4572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522541" y="3924536"/>
                <a:ext cx="450764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541" y="3924536"/>
                <a:ext cx="4507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V="1">
            <a:off x="2505360" y="4143379"/>
            <a:ext cx="2808018" cy="2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9"/>
              <p:cNvSpPr txBox="1">
                <a:spLocks noChangeArrowheads="1"/>
              </p:cNvSpPr>
              <p:nvPr/>
            </p:nvSpPr>
            <p:spPr bwMode="auto">
              <a:xfrm>
                <a:off x="2818380" y="3966326"/>
                <a:ext cx="2234906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8380" y="3966326"/>
                <a:ext cx="2234906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6675422" y="4143379"/>
            <a:ext cx="22894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9"/>
              <p:cNvSpPr txBox="1">
                <a:spLocks noChangeArrowheads="1"/>
              </p:cNvSpPr>
              <p:nvPr/>
            </p:nvSpPr>
            <p:spPr bwMode="auto">
              <a:xfrm>
                <a:off x="7056759" y="3932865"/>
                <a:ext cx="1593706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6759" y="3932865"/>
                <a:ext cx="1593706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Multiply 28"/>
          <p:cNvSpPr/>
          <p:nvPr/>
        </p:nvSpPr>
        <p:spPr>
          <a:xfrm>
            <a:off x="1154509" y="5135511"/>
            <a:ext cx="785818" cy="1000132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y 29"/>
          <p:cNvSpPr/>
          <p:nvPr/>
        </p:nvSpPr>
        <p:spPr>
          <a:xfrm>
            <a:off x="5549291" y="5222311"/>
            <a:ext cx="785818" cy="1000132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Multiply 30"/>
          <p:cNvSpPr/>
          <p:nvPr/>
        </p:nvSpPr>
        <p:spPr>
          <a:xfrm>
            <a:off x="2818380" y="3703316"/>
            <a:ext cx="2214578" cy="928694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2518048" y="4856126"/>
            <a:ext cx="2847577" cy="44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9"/>
              <p:cNvSpPr txBox="1">
                <a:spLocks noChangeArrowheads="1"/>
              </p:cNvSpPr>
              <p:nvPr/>
            </p:nvSpPr>
            <p:spPr bwMode="auto">
              <a:xfrm>
                <a:off x="2702949" y="4618484"/>
                <a:ext cx="241284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2949" y="4618484"/>
                <a:ext cx="2412840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6715140" y="4897507"/>
            <a:ext cx="2249687" cy="195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9"/>
              <p:cNvSpPr txBox="1">
                <a:spLocks noChangeArrowheads="1"/>
              </p:cNvSpPr>
              <p:nvPr/>
            </p:nvSpPr>
            <p:spPr bwMode="auto">
              <a:xfrm>
                <a:off x="6991594" y="4696391"/>
                <a:ext cx="173637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1594" y="4696391"/>
                <a:ext cx="1736373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Multiply 35"/>
          <p:cNvSpPr/>
          <p:nvPr/>
        </p:nvSpPr>
        <p:spPr>
          <a:xfrm>
            <a:off x="6715140" y="3641410"/>
            <a:ext cx="2214578" cy="928694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6224998" y="5529274"/>
                <a:ext cx="519694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4998" y="5529274"/>
                <a:ext cx="519694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290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6377398" y="507207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10"/>
              <p:cNvSpPr txBox="1">
                <a:spLocks noChangeArrowheads="1"/>
              </p:cNvSpPr>
              <p:nvPr/>
            </p:nvSpPr>
            <p:spPr bwMode="auto">
              <a:xfrm>
                <a:off x="1897949" y="5450911"/>
                <a:ext cx="49244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7949" y="5450911"/>
                <a:ext cx="492443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ine 13"/>
          <p:cNvSpPr>
            <a:spLocks noChangeShapeType="1"/>
          </p:cNvSpPr>
          <p:nvPr/>
        </p:nvSpPr>
        <p:spPr bwMode="auto">
          <a:xfrm flipV="1">
            <a:off x="2139853" y="4972099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AutoShape 4"/>
          <p:cNvSpPr>
            <a:spLocks noChangeArrowheads="1"/>
          </p:cNvSpPr>
          <p:nvPr/>
        </p:nvSpPr>
        <p:spPr bwMode="auto">
          <a:xfrm>
            <a:off x="5383305" y="1071566"/>
            <a:ext cx="3028952" cy="1976438"/>
          </a:xfrm>
          <a:prstGeom prst="wedgeRectCallout">
            <a:avLst>
              <a:gd name="adj1" fmla="val -95636"/>
              <a:gd name="adj2" fmla="val 51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US" sz="2400" dirty="0"/>
              <a:t>this will be called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b="1" dirty="0"/>
              <a:t>signatures</a:t>
            </a:r>
            <a:r>
              <a:rPr lang="en-US" sz="2400" dirty="0"/>
              <a:t>”</a:t>
            </a:r>
          </a:p>
          <a:p>
            <a:endParaRPr lang="en-US" sz="2400" dirty="0"/>
          </a:p>
          <a:p>
            <a:pPr algn="r"/>
            <a:r>
              <a:rPr lang="en-US" sz="2400" b="1" dirty="0">
                <a:solidFill>
                  <a:srgbClr val="FF0000"/>
                </a:solidFill>
              </a:rPr>
              <a:t>Sign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– the signing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26"/>
              <p:cNvSpPr txBox="1">
                <a:spLocks noChangeArrowheads="1"/>
              </p:cNvSpPr>
              <p:nvPr/>
            </p:nvSpPr>
            <p:spPr bwMode="auto">
              <a:xfrm>
                <a:off x="3089939" y="6037777"/>
                <a:ext cx="2293365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e>
                      </m:d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l-PL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𝐆𝐞𝐧</m:t>
                      </m:r>
                      <m:d>
                        <m:dPr>
                          <m:ctrlPr>
                            <a:rPr lang="pl-PL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9939" y="6037777"/>
                <a:ext cx="2293365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AutoShape 28"/>
          <p:cNvCxnSpPr>
            <a:cxnSpLocks noChangeShapeType="1"/>
            <a:stCxn id="44" idx="1"/>
            <a:endCxn id="39" idx="2"/>
          </p:cNvCxnSpPr>
          <p:nvPr/>
        </p:nvCxnSpPr>
        <p:spPr bwMode="auto">
          <a:xfrm rot="10800000">
            <a:off x="2144171" y="5820243"/>
            <a:ext cx="945768" cy="4022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" name="AutoShape 29"/>
          <p:cNvCxnSpPr>
            <a:cxnSpLocks noChangeShapeType="1"/>
            <a:stCxn id="44" idx="3"/>
            <a:endCxn id="37" idx="2"/>
          </p:cNvCxnSpPr>
          <p:nvPr/>
        </p:nvCxnSpPr>
        <p:spPr bwMode="auto">
          <a:xfrm flipV="1">
            <a:off x="5383304" y="5898606"/>
            <a:ext cx="1101541" cy="3238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5859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title"/>
          </p:nvPr>
        </p:nvSpPr>
        <p:spPr>
          <a:xfrm>
            <a:off x="304800" y="249522"/>
            <a:ext cx="7772400" cy="857250"/>
          </a:xfrm>
        </p:spPr>
        <p:txBody>
          <a:bodyPr/>
          <a:lstStyle/>
          <a:p>
            <a:r>
              <a:rPr lang="en-US" sz="4000" dirty="0"/>
              <a:t>Digital Signature Schemes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1274747"/>
                <a:ext cx="9144000" cy="83099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52000">
                <a:sp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rgbClr val="0033CC"/>
                    </a:solidFill>
                  </a:rPr>
                  <a:t> 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digital signature scheme </a:t>
                </a:r>
                <a:r>
                  <a:rPr lang="en-US" sz="2400" dirty="0"/>
                  <a:t>is a </a:t>
                </a:r>
                <a:r>
                  <a:rPr lang="en-US" sz="2400" dirty="0" err="1"/>
                  <a:t>tuple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of poly-time algorithms, such that: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74747"/>
                <a:ext cx="9144000" cy="8309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0" y="2406640"/>
                <a:ext cx="9144000" cy="275152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252000">
                <a:spAutoFit/>
              </a:bodyPr>
              <a:lstStyle/>
              <a:p>
                <a:pPr marL="514350" indent="-514350">
                  <a:lnSpc>
                    <a:spcPct val="90000"/>
                  </a:lnSpc>
                  <a:buFont typeface="Arial" pitchFamily="34" charset="0"/>
                  <a:buChar char="•"/>
                </a:pPr>
                <a:r>
                  <a:rPr lang="en-US" sz="2400" dirty="0"/>
                  <a:t>the</a:t>
                </a:r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key-generation</a:t>
                </a:r>
                <a:r>
                  <a:rPr lang="en-US" sz="24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/>
                  <a:t>algorithm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Gen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takes as input a security parameter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and outputs a </a:t>
                </a:r>
                <a:r>
                  <a:rPr lang="pl-PL" sz="2400" dirty="0"/>
                  <a:t>pair</a:t>
                </a:r>
                <a:r>
                  <a:rPr lang="en-US" sz="2400" dirty="0">
                    <a:solidFill>
                      <a:srgbClr val="A5002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</a:t>
                </a:r>
                <a:br>
                  <a:rPr lang="pl-PL" sz="2400" b="1" dirty="0"/>
                </a:br>
                <a:endParaRPr lang="en-US" sz="2400" b="1" dirty="0"/>
              </a:p>
              <a:p>
                <a:pPr marL="514350" indent="-514350">
                  <a:lnSpc>
                    <a:spcPct val="90000"/>
                  </a:lnSpc>
                  <a:buFont typeface="Arial" pitchFamily="34" charset="0"/>
                  <a:buChar char="•"/>
                </a:pPr>
                <a:r>
                  <a:rPr lang="en-US" sz="2400" dirty="0"/>
                  <a:t>the</a:t>
                </a:r>
                <a:r>
                  <a:rPr lang="en-US" sz="2400" dirty="0">
                    <a:solidFill>
                      <a:srgbClr val="0033CC"/>
                    </a:solidFill>
                  </a:rPr>
                  <a:t> 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signing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algorithm </a:t>
                </a:r>
                <a:r>
                  <a:rPr lang="pl-PL" sz="2400" b="1" dirty="0">
                    <a:solidFill>
                      <a:srgbClr val="FF0000"/>
                    </a:solidFill>
                  </a:rPr>
                  <a:t>Sign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takes as input a key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a message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𝟎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and outputs a </a:t>
                </a:r>
                <a:r>
                  <a:rPr lang="pl-PL" sz="2400" dirty="0">
                    <a:cs typeface="Arial" pitchFamily="34" charset="0"/>
                  </a:rPr>
                  <a:t>signature</a:t>
                </a:r>
                <a:r>
                  <a:rPr lang="en-US" sz="2400" dirty="0">
                    <a:solidFill>
                      <a:srgbClr val="A50021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</m:oMath>
                </a14:m>
                <a:r>
                  <a:rPr lang="en-US" sz="2400" b="1" dirty="0">
                    <a:cs typeface="Arial" pitchFamily="34" charset="0"/>
                  </a:rPr>
                  <a:t>,</a:t>
                </a:r>
                <a:br>
                  <a:rPr lang="pl-PL" sz="2400" b="1" dirty="0">
                    <a:cs typeface="Arial" pitchFamily="34" charset="0"/>
                  </a:rPr>
                </a:br>
                <a:endParaRPr lang="en-US" sz="2400" b="1" dirty="0">
                  <a:cs typeface="Arial" pitchFamily="34" charset="0"/>
                </a:endParaRPr>
              </a:p>
              <a:p>
                <a:pPr marL="514350" indent="-514350">
                  <a:lnSpc>
                    <a:spcPct val="90000"/>
                  </a:lnSpc>
                  <a:buFont typeface="Arial" pitchFamily="34" charset="0"/>
                  <a:buChar char="•"/>
                </a:pPr>
                <a:r>
                  <a:rPr lang="en-US" sz="2400" dirty="0">
                    <a:cs typeface="Arial" pitchFamily="34" charset="0"/>
                  </a:rPr>
                  <a:t>the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verification</a:t>
                </a:r>
                <a:r>
                  <a:rPr lang="en-US" sz="2400" dirty="0">
                    <a:solidFill>
                      <a:srgbClr val="0070C0"/>
                    </a:solidFill>
                    <a:cs typeface="Arial" pitchFamily="34" charset="0"/>
                  </a:rPr>
                  <a:t> </a:t>
                </a:r>
                <a:r>
                  <a:rPr lang="en-US" sz="2400" dirty="0">
                    <a:cs typeface="Arial" pitchFamily="34" charset="0"/>
                  </a:rPr>
                  <a:t>algorithm </a:t>
                </a:r>
                <a:r>
                  <a:rPr lang="en-US" sz="2400" b="1" dirty="0" err="1">
                    <a:solidFill>
                      <a:srgbClr val="FF0000"/>
                    </a:solidFill>
                    <a:cs typeface="Arial" pitchFamily="34" charset="0"/>
                  </a:rPr>
                  <a:t>Vrfy</a:t>
                </a:r>
                <a:r>
                  <a:rPr lang="en-US" sz="2400" b="1" dirty="0">
                    <a:solidFill>
                      <a:srgbClr val="FF0000"/>
                    </a:solidFill>
                    <a:cs typeface="Arial" pitchFamily="34" charset="0"/>
                  </a:rPr>
                  <a:t> </a:t>
                </a:r>
                <a:r>
                  <a:rPr lang="en-US" sz="2400" dirty="0">
                    <a:cs typeface="Arial" pitchFamily="34" charset="0"/>
                  </a:rPr>
                  <a:t>takes as input a key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𝒑𝒌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, a message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 and a </a:t>
                </a:r>
                <a:r>
                  <a:rPr lang="pl-PL" sz="2400" dirty="0">
                    <a:cs typeface="Arial" pitchFamily="34" charset="0"/>
                  </a:rPr>
                  <a:t>signature</a:t>
                </a:r>
                <a:r>
                  <a:rPr lang="en-US" sz="240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, and outputs a bit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∈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{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𝐲𝐞𝐬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𝐧𝐨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</m:oMath>
                </a14:m>
                <a:r>
                  <a:rPr lang="pl-PL" sz="2400" dirty="0">
                    <a:solidFill>
                      <a:schemeClr val="tx1"/>
                    </a:solidFill>
                    <a:cs typeface="Arial" pitchFamily="34" charset="0"/>
                  </a:rPr>
                  <a:t>.</a:t>
                </a:r>
                <a:endParaRPr lang="en-US" sz="24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6640"/>
                <a:ext cx="9144000" cy="275152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0" y="5494112"/>
                <a:ext cx="9144000" cy="75713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25200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𝐕𝐫𝐟𝐲</m:t>
                    </m:r>
                    <m:r>
                      <a:rPr lang="pl-PL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𝒑𝒌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 = 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𝐲𝐞𝐬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then we say that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</m:oMath>
                </a14:m>
                <a:r>
                  <a:rPr lang="en-US" sz="2400" b="1" dirty="0">
                    <a:cs typeface="Arial" pitchFamily="34" charset="0"/>
                  </a:rPr>
                  <a:t> </a:t>
                </a:r>
                <a:r>
                  <a:rPr lang="en-US" sz="2400" dirty="0">
                    <a:cs typeface="Arial" pitchFamily="34" charset="0"/>
                  </a:rPr>
                  <a:t>is a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valid </a:t>
                </a:r>
                <a:r>
                  <a:rPr lang="pl-PL" sz="2400" b="1" dirty="0">
                    <a:solidFill>
                      <a:srgbClr val="0070C0"/>
                    </a:solidFill>
                    <a:cs typeface="Arial" pitchFamily="34" charset="0"/>
                  </a:rPr>
                  <a:t>signature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 on the message</a:t>
                </a:r>
                <a:r>
                  <a:rPr lang="en-US" sz="2400" b="1" dirty="0">
                    <a:solidFill>
                      <a:srgbClr val="00206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</m:oMath>
                </a14:m>
                <a:r>
                  <a:rPr lang="en-US" sz="2400" b="1" dirty="0"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94112"/>
                <a:ext cx="9144000" cy="7571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58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Correctness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8596" y="2000241"/>
                <a:ext cx="8229600" cy="2050046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>
                  <a:buFontTx/>
                  <a:buNone/>
                </a:pPr>
                <a:r>
                  <a:rPr lang="en-US" dirty="0">
                    <a:cs typeface="Arial" pitchFamily="34" charset="0"/>
                  </a:rPr>
                  <a:t> </a:t>
                </a:r>
                <a:r>
                  <a:rPr lang="pl-PL" dirty="0">
                    <a:cs typeface="Arial" pitchFamily="34" charset="0"/>
                  </a:rPr>
                  <a:t>We require that it always holds that:</a:t>
                </a:r>
                <a:br>
                  <a:rPr lang="pl-PL" dirty="0">
                    <a:cs typeface="Arial" pitchFamily="34" charset="0"/>
                  </a:rPr>
                </a:br>
                <a:endParaRPr lang="en-US" dirty="0">
                  <a:cs typeface="Arial" pitchFamily="34" charset="0"/>
                </a:endParaRPr>
              </a:p>
              <a:p>
                <a:pPr algn="ctr"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𝑷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𝐕𝐫𝐟𝐲</m:t>
                    </m:r>
                    <m:r>
                      <a:rPr lang="pl-PL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𝒑𝒌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pl-PL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𝐒𝐢𝐠𝐧</m:t>
                    </m:r>
                    <m:r>
                      <a:rPr lang="pl-PL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𝒔𝒌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))≠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𝒚𝒆𝒔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r>
                  <a:rPr lang="en-US" sz="4000" b="1" dirty="0">
                    <a:solidFill>
                      <a:srgbClr val="A50021"/>
                    </a:solidFill>
                    <a:cs typeface="Arial" pitchFamily="34" charset="0"/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  <a:cs typeface="Arial" pitchFamily="34" charset="0"/>
                  </a:rPr>
                  <a:t>is negligible</a:t>
                </a:r>
                <a:r>
                  <a:rPr lang="pl-PL" b="1" dirty="0">
                    <a:solidFill>
                      <a:srgbClr val="FF0000"/>
                    </a:solidFill>
                    <a:cs typeface="Arial" pitchFamily="34" charset="0"/>
                  </a:rPr>
                  <a:t> in </a:t>
                </a:r>
                <a:r>
                  <a:rPr lang="pl-PL" b="1" i="1" dirty="0">
                    <a:solidFill>
                      <a:srgbClr val="FF0000"/>
                    </a:solidFill>
                    <a:cs typeface="Arial" pitchFamily="34" charset="0"/>
                  </a:rPr>
                  <a:t>n</a:t>
                </a:r>
                <a:r>
                  <a:rPr lang="en-US" b="1" dirty="0">
                    <a:solidFill>
                      <a:srgbClr val="FF0000"/>
                    </a:solidFill>
                    <a:cs typeface="Arial" pitchFamily="34" charset="0"/>
                  </a:rPr>
                  <a:t> </a:t>
                </a:r>
              </a:p>
              <a:p>
                <a:pPr>
                  <a:buFontTx/>
                  <a:buNone/>
                </a:pPr>
                <a:endParaRPr lang="en-US" b="1" dirty="0">
                  <a:solidFill>
                    <a:srgbClr val="A50021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596" y="2000241"/>
                <a:ext cx="8229600" cy="2050046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2935361" y="5746312"/>
            <a:ext cx="55799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800" dirty="0">
                <a:cs typeface="Arial" pitchFamily="34" charset="0"/>
              </a:rPr>
              <a:t>What remains is to define </a:t>
            </a:r>
            <a:r>
              <a:rPr lang="en-US" sz="2800" b="1" dirty="0">
                <a:solidFill>
                  <a:srgbClr val="0070C0"/>
                </a:solidFill>
                <a:cs typeface="Arial" pitchFamily="34" charset="0"/>
              </a:rPr>
              <a:t>security</a:t>
            </a:r>
            <a:r>
              <a:rPr lang="en-US" sz="2800" dirty="0">
                <a:cs typeface="Arial" pitchFamily="34" charset="0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057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Rectangle 2"/>
              <p:cNvSpPr>
                <a:spLocks noChangeArrowheads="1"/>
              </p:cNvSpPr>
              <p:nvPr/>
            </p:nvSpPr>
            <p:spPr bwMode="auto">
              <a:xfrm>
                <a:off x="0" y="4114800"/>
                <a:ext cx="9144000" cy="2743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365760" rIns="182880" anchor="ctr"/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Good tradition: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be as pessimistic as possible!</a:t>
                </a:r>
                <a:endParaRPr lang="pl-PL" sz="2400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:r>
                  <a:rPr lang="en-US" sz="2400" b="1" dirty="0"/>
                  <a:t> Therefore we assume that</a:t>
                </a:r>
                <a:r>
                  <a:rPr lang="pl-PL" sz="2400" b="1" dirty="0"/>
                  <a:t>:</a:t>
                </a:r>
                <a:endParaRPr lang="en-US" sz="2400" b="1" dirty="0"/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:endParaRPr lang="en-US" sz="2400" b="1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The adversary is allowed to chose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400" b="1" baseline="-25000" dirty="0" err="1">
                    <a:solidFill>
                      <a:srgbClr val="993300"/>
                    </a:solidFill>
                  </a:rPr>
                  <a:t>.</a:t>
                </a:r>
                <a:endParaRPr lang="en-US" sz="2400" b="1" baseline="-25000" dirty="0">
                  <a:solidFill>
                    <a:srgbClr val="9933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400" b="1" baseline="-25000" dirty="0">
                  <a:solidFill>
                    <a:srgbClr val="9933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goal of the adversary </a:t>
                </a:r>
                <a:r>
                  <a:rPr lang="en-US" sz="2400" dirty="0"/>
                  <a:t>is to produce a valid </a:t>
                </a:r>
                <a:r>
                  <a:rPr lang="pl-PL" sz="2400" dirty="0" err="1"/>
                  <a:t>signature</a:t>
                </a:r>
                <a:r>
                  <a:rPr lang="en-US" sz="2400" dirty="0"/>
                  <a:t> on some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’∉</m:t>
                    </m:r>
                    <m:r>
                      <a:rPr lang="pl-PL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{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l-PL" sz="2400" dirty="0"/>
                  <a:t>.</a:t>
                </a:r>
                <a:endParaRPr lang="en-US" sz="2400" dirty="0"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843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114800"/>
                <a:ext cx="9144000" cy="2743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218783" y="0"/>
            <a:ext cx="8315617" cy="1143000"/>
          </a:xfrm>
        </p:spPr>
        <p:txBody>
          <a:bodyPr/>
          <a:lstStyle/>
          <a:p>
            <a:r>
              <a:rPr lang="en-US" dirty="0"/>
              <a:t>How to define security?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6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219201"/>
                <a:ext cx="8305800" cy="2791818"/>
              </a:xfrm>
            </p:spPr>
            <p:txBody>
              <a:bodyPr>
                <a:normAutofit fontScale="92500" lnSpcReduction="20000"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We have to assume that the adversary can see some pairs</a:t>
                </a:r>
                <a:endParaRPr lang="pl-PL" sz="2400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 </a:t>
                </a:r>
              </a:p>
              <a:p>
                <a:pPr marL="609600" indent="-609600" algn="ctr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it-IT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),…, (</m:t>
                      </m:r>
                      <m:r>
                        <a:rPr lang="it-IT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it-IT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b="1" dirty="0">
                  <a:solidFill>
                    <a:srgbClr val="FF00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it-IT" sz="2400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pl-PL" sz="2400" b="1" dirty="0"/>
                  <a:t>As in the case of MACs, w</a:t>
                </a:r>
                <a:r>
                  <a:rPr lang="en-US" sz="2400" b="1" dirty="0"/>
                  <a:t>e need to specify:</a:t>
                </a:r>
                <a:br>
                  <a:rPr lang="en-US" sz="2400" b="1" dirty="0"/>
                </a:br>
                <a:endParaRPr lang="en-US" sz="2400" b="1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how the messages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are chosen,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400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400" dirty="0"/>
                  <a:t>what is the goal of the adversary.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400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18436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19201"/>
                <a:ext cx="8305800" cy="2791818"/>
              </a:xfrm>
              <a:blipFill rotWithShape="0">
                <a:blip r:embed="rId4"/>
                <a:stretch>
                  <a:fillRect l="-954" t="-5895" b="-262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8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714356"/>
            <a:ext cx="2002325" cy="1837853"/>
          </a:xfrm>
          <a:prstGeom prst="rect">
            <a:avLst/>
          </a:prstGeom>
          <a:noFill/>
        </p:spPr>
      </p:pic>
      <p:pic>
        <p:nvPicPr>
          <p:cNvPr id="19459" name="Picture 3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609600"/>
            <a:ext cx="1676400" cy="11588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461" name="Text Box 5"/>
              <p:cNvSpPr txBox="1">
                <a:spLocks noChangeArrowheads="1"/>
              </p:cNvSpPr>
              <p:nvPr/>
            </p:nvSpPr>
            <p:spPr bwMode="auto">
              <a:xfrm>
                <a:off x="3276600" y="457200"/>
                <a:ext cx="2079625" cy="64452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ea typeface="ＭＳ Ｐゴシック" pitchFamily="34" charset="-128"/>
                  </a:rPr>
                  <a:t>security parameter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US" b="1" i="1" baseline="30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6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457200"/>
                <a:ext cx="2079625" cy="644525"/>
              </a:xfrm>
              <a:prstGeom prst="rect">
                <a:avLst/>
              </a:prstGeom>
              <a:blipFill rotWithShape="0">
                <a:blip r:embed="rId5"/>
                <a:stretch>
                  <a:fillRect l="-2339" t="-5607" r="-1754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2" name="Line 6"/>
          <p:cNvSpPr>
            <a:spLocks noChangeShapeType="1"/>
          </p:cNvSpPr>
          <p:nvPr/>
        </p:nvSpPr>
        <p:spPr bwMode="auto">
          <a:xfrm flipH="1">
            <a:off x="1752600" y="7620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5334000" y="838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4" name="Text Box 8"/>
              <p:cNvSpPr txBox="1">
                <a:spLocks noChangeArrowheads="1"/>
              </p:cNvSpPr>
              <p:nvPr/>
            </p:nvSpPr>
            <p:spPr bwMode="auto">
              <a:xfrm>
                <a:off x="5877684" y="438491"/>
                <a:ext cx="3027431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/>
                <a:r>
                  <a:rPr lang="en-US" dirty="0">
                    <a:ea typeface="ＭＳ Ｐゴシック" pitchFamily="34" charset="-128"/>
                  </a:rPr>
                  <a:t>selects</a:t>
                </a:r>
                <a:r>
                  <a:rPr lang="pl-PL" dirty="0">
                    <a:ea typeface="ＭＳ Ｐゴシック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pl-PL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←</m:t>
                    </m:r>
                    <m:r>
                      <a:rPr lang="pl-PL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𝐆𝐞𝐧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𝟏</m:t>
                    </m:r>
                    <m:r>
                      <a:rPr lang="pl-PL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𝒏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6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7684" y="438491"/>
                <a:ext cx="3027431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606" t="-11290" b="-20968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7391400" y="21336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l-PL">
                <a:ea typeface="ＭＳ Ｐゴシック" pitchFamily="34" charset="-128"/>
              </a:rPr>
              <a:t>oracle</a:t>
            </a:r>
            <a:endParaRPr lang="en-US">
              <a:ea typeface="ＭＳ Ｐゴシック" pitchFamily="34" charset="-128"/>
            </a:endParaRPr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4648200" y="1981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7" name="Text Box 11"/>
              <p:cNvSpPr txBox="1">
                <a:spLocks noChangeArrowheads="1"/>
              </p:cNvSpPr>
              <p:nvPr/>
            </p:nvSpPr>
            <p:spPr bwMode="auto">
              <a:xfrm>
                <a:off x="4191000" y="1752600"/>
                <a:ext cx="5334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6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1752600"/>
                <a:ext cx="5334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4648200" y="3668713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9" name="Text Box 13"/>
              <p:cNvSpPr txBox="1">
                <a:spLocks noChangeArrowheads="1"/>
              </p:cNvSpPr>
              <p:nvPr/>
            </p:nvSpPr>
            <p:spPr bwMode="auto">
              <a:xfrm>
                <a:off x="4191000" y="3516313"/>
                <a:ext cx="457200" cy="36988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𝒕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6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516313"/>
                <a:ext cx="457200" cy="369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0" name="Text Box 14"/>
              <p:cNvSpPr txBox="1">
                <a:spLocks noChangeArrowheads="1"/>
              </p:cNvSpPr>
              <p:nvPr/>
            </p:nvSpPr>
            <p:spPr bwMode="auto">
              <a:xfrm rot="5400000">
                <a:off x="4241549" y="2827599"/>
                <a:ext cx="54213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. . .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70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4241549" y="2827599"/>
                <a:ext cx="542136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73" name="Line 17"/>
          <p:cNvSpPr>
            <a:spLocks noChangeShapeType="1"/>
          </p:cNvSpPr>
          <p:nvPr/>
        </p:nvSpPr>
        <p:spPr bwMode="auto">
          <a:xfrm flipH="1">
            <a:off x="2743200" y="23622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 flipH="1">
            <a:off x="2743200" y="4191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5" name="Line 19"/>
          <p:cNvSpPr>
            <a:spLocks noChangeShapeType="1"/>
          </p:cNvSpPr>
          <p:nvPr/>
        </p:nvSpPr>
        <p:spPr bwMode="auto">
          <a:xfrm>
            <a:off x="2743200" y="1981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6" name="Line 20"/>
          <p:cNvSpPr>
            <a:spLocks noChangeShapeType="1"/>
          </p:cNvSpPr>
          <p:nvPr/>
        </p:nvSpPr>
        <p:spPr bwMode="auto">
          <a:xfrm>
            <a:off x="2743200" y="3668713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914400" y="48768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endParaRPr lang="en-US" sz="2400"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79" name="Text Box 23"/>
              <p:cNvSpPr txBox="1">
                <a:spLocks noChangeArrowheads="1"/>
              </p:cNvSpPr>
              <p:nvPr/>
            </p:nvSpPr>
            <p:spPr bwMode="auto">
              <a:xfrm>
                <a:off x="0" y="4724400"/>
                <a:ext cx="9144000" cy="197207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 eaLnBrk="0" hangingPunct="0"/>
                <a:r>
                  <a:rPr lang="en-US" sz="2400" dirty="0">
                    <a:ea typeface="ＭＳ Ｐゴシック" pitchFamily="34" charset="-128"/>
                  </a:rPr>
                  <a:t>We say that the adversary </a:t>
                </a:r>
                <a:r>
                  <a:rPr lang="en-US" sz="2400" b="1" dirty="0">
                    <a:solidFill>
                      <a:srgbClr val="0070C0"/>
                    </a:solidFill>
                    <a:ea typeface="ＭＳ Ｐゴシック" pitchFamily="34" charset="-128"/>
                  </a:rPr>
                  <a:t>breaks the signature scheme </a:t>
                </a:r>
                <a:r>
                  <a:rPr lang="en-US" sz="2400" dirty="0">
                    <a:ea typeface="ＭＳ Ｐゴシック" pitchFamily="34" charset="-128"/>
                  </a:rPr>
                  <a:t>if at the end she outputs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’, </m:t>
                    </m:r>
                    <m:r>
                      <a:rPr lang="el-GR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’)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</m:oMath>
                </a14:m>
                <a:r>
                  <a:rPr lang="en-US" sz="2400" dirty="0">
                    <a:ea typeface="ＭＳ Ｐゴシック" pitchFamily="34" charset="-128"/>
                  </a:rPr>
                  <a:t>such that</a:t>
                </a:r>
                <a:br>
                  <a:rPr lang="en-US" sz="2400" dirty="0">
                    <a:ea typeface="ＭＳ Ｐゴシック" pitchFamily="34" charset="-128"/>
                  </a:rPr>
                </a:br>
                <a:endParaRPr lang="en-US" sz="2400" dirty="0">
                  <a:ea typeface="ＭＳ Ｐゴシック" pitchFamily="34" charset="-128"/>
                </a:endParaRPr>
              </a:p>
              <a:p>
                <a:pPr marL="457200" indent="-457200" eaLnBrk="0" hangingPunct="0">
                  <a:buFontTx/>
                  <a:buAutoNum type="arabicPeriod"/>
                </a:pPr>
                <a:r>
                  <a:rPr lang="en-US" sz="2400" dirty="0">
                    <a:ea typeface="ＭＳ Ｐゴシック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𝐕𝐫𝐟</m:t>
                    </m:r>
                    <m:sSub>
                      <m:sSubPr>
                        <m:ctrlP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𝐲</m:t>
                        </m:r>
                      </m:e>
                      <m:sub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𝒑𝒌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’, </m:t>
                    </m:r>
                    <m:r>
                      <a:rPr lang="el-GR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’) = </m:t>
                    </m:r>
                    <m:r>
                      <a:rPr lang="en-US" sz="24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𝐲𝐞𝐬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marL="457200" indent="-457200" eaLnBrk="0" hangingPunct="0">
                  <a:buFontTx/>
                  <a:buAutoNum type="arabicPeriod"/>
                </a:pPr>
                <a:r>
                  <a:rPr lang="en-US" sz="2400" dirty="0">
                    <a:ea typeface="ＭＳ Ｐゴシック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’∉</m:t>
                    </m:r>
                    <m:r>
                      <a:rPr lang="pl-PL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{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pl-PL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l-PL" sz="2400" dirty="0"/>
                  <a:t>.</a:t>
                </a:r>
                <a:endParaRPr lang="en-US" sz="24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79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724400"/>
                <a:ext cx="9144000" cy="19720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228600" y="1676400"/>
            <a:ext cx="1190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ea typeface="ＭＳ Ｐゴシック" pitchFamily="34" charset="-128"/>
              </a:rPr>
              <a:t>adversary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82" name="Text Box 26"/>
              <p:cNvSpPr txBox="1">
                <a:spLocks noChangeArrowheads="1"/>
              </p:cNvSpPr>
              <p:nvPr/>
            </p:nvSpPr>
            <p:spPr bwMode="auto">
              <a:xfrm>
                <a:off x="4191000" y="1219200"/>
                <a:ext cx="533400" cy="376238"/>
              </a:xfrm>
              <a:prstGeom prst="rect">
                <a:avLst/>
              </a:prstGeom>
              <a:solidFill>
                <a:srgbClr val="FFFFF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1219200"/>
                <a:ext cx="533400" cy="376238"/>
              </a:xfrm>
              <a:prstGeom prst="rect">
                <a:avLst/>
              </a:prstGeom>
              <a:blipFill rotWithShape="0">
                <a:blip r:embed="rId11"/>
                <a:stretch>
                  <a:fillRect l="-1124" b="-109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83" name="Line 27"/>
          <p:cNvSpPr>
            <a:spLocks noChangeShapeType="1"/>
          </p:cNvSpPr>
          <p:nvPr/>
        </p:nvSpPr>
        <p:spPr bwMode="auto">
          <a:xfrm flipH="1">
            <a:off x="2743200" y="1371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84" name="Line 28"/>
          <p:cNvSpPr>
            <a:spLocks noChangeShapeType="1"/>
          </p:cNvSpPr>
          <p:nvPr/>
        </p:nvSpPr>
        <p:spPr bwMode="auto">
          <a:xfrm flipH="1">
            <a:off x="4724400" y="1371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71" name="Text Box 15"/>
              <p:cNvSpPr txBox="1">
                <a:spLocks noChangeArrowheads="1"/>
              </p:cNvSpPr>
              <p:nvPr/>
            </p:nvSpPr>
            <p:spPr bwMode="auto">
              <a:xfrm>
                <a:off x="3810000" y="2209800"/>
                <a:ext cx="1370888" cy="369332"/>
              </a:xfrm>
              <a:prstGeom prst="rect">
                <a:avLst/>
              </a:prstGeom>
              <a:solidFill>
                <a:srgbClr val="FFFFF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</m:t>
                      </m:r>
                      <m:r>
                        <a:rPr lang="en-US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𝐠</m:t>
                      </m:r>
                      <m:r>
                        <a:rPr lang="pl-PL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pl-PL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7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2209800"/>
                <a:ext cx="1370888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2903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2" name="Text Box 16"/>
              <p:cNvSpPr txBox="1">
                <a:spLocks noChangeArrowheads="1"/>
              </p:cNvSpPr>
              <p:nvPr/>
            </p:nvSpPr>
            <p:spPr bwMode="auto">
              <a:xfrm>
                <a:off x="3886200" y="3962400"/>
                <a:ext cx="1396473" cy="369332"/>
              </a:xfrm>
              <a:prstGeom prst="rect">
                <a:avLst/>
              </a:prstGeom>
              <a:solidFill>
                <a:srgbClr val="FFFFF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47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3962400"/>
                <a:ext cx="1396473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1111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44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" grpId="0" animBg="1"/>
      <p:bldP spid="19467" grpId="0" animBg="1"/>
      <p:bldP spid="19468" grpId="0" animBg="1"/>
      <p:bldP spid="19469" grpId="0" animBg="1"/>
      <p:bldP spid="19470" grpId="0"/>
      <p:bldP spid="19473" grpId="0" animBg="1"/>
      <p:bldP spid="19474" grpId="0" animBg="1"/>
      <p:bldP spid="19475" grpId="0" animBg="1"/>
      <p:bldP spid="19475" grpId="1" animBg="1"/>
      <p:bldP spid="19476" grpId="0" animBg="1"/>
      <p:bldP spid="19479" grpId="0" uiExpand="1" build="p" animBg="1"/>
      <p:bldP spid="19482" grpId="0" animBg="1"/>
      <p:bldP spid="19483" grpId="0" animBg="1"/>
      <p:bldP spid="19484" grpId="0" animBg="1"/>
      <p:bldP spid="19471" grpId="0" animBg="1"/>
      <p:bldP spid="1947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1981200"/>
            <a:ext cx="9144000" cy="419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The security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057400"/>
                <a:ext cx="8229600" cy="4525963"/>
              </a:xfrm>
            </p:spPr>
            <p:txBody>
              <a:bodyPr/>
              <a:lstStyle/>
              <a:p>
                <a:pPr>
                  <a:buFontTx/>
                  <a:buNone/>
                </a:pPr>
                <a:r>
                  <a:rPr lang="en-US" dirty="0"/>
                  <a:t>We say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pl-PL" b="1" dirty="0"/>
                  <a:t>existentially unforgeable under an adaptive chosen-message attack </a:t>
                </a:r>
                <a:r>
                  <a:rPr lang="en-US" dirty="0"/>
                  <a:t>if</a:t>
                </a:r>
              </a:p>
            </p:txBody>
          </p:sp>
        </mc:Choice>
        <mc:Fallback xmlns="">
          <p:sp>
            <p:nvSpPr>
              <p:cNvPr id="20484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057400"/>
                <a:ext cx="8229600" cy="4525963"/>
              </a:xfrm>
              <a:blipFill rotWithShape="0">
                <a:blip r:embed="rId3"/>
                <a:stretch>
                  <a:fillRect l="-1481" t="-2426" r="-170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5" name="Text Box 5"/>
              <p:cNvSpPr txBox="1">
                <a:spLocks noChangeArrowheads="1"/>
              </p:cNvSpPr>
              <p:nvPr/>
            </p:nvSpPr>
            <p:spPr bwMode="auto">
              <a:xfrm>
                <a:off x="1201615" y="3524081"/>
                <a:ext cx="1141658" cy="144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8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71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48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1615" y="3524081"/>
                <a:ext cx="1141658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6" name="Text Box 6"/>
              <p:cNvSpPr txBox="1">
                <a:spLocks noChangeArrowheads="1"/>
              </p:cNvSpPr>
              <p:nvPr/>
            </p:nvSpPr>
            <p:spPr bwMode="auto">
              <a:xfrm>
                <a:off x="591544" y="4876800"/>
                <a:ext cx="2361801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dirty="0">
                    <a:ea typeface="ＭＳ Ｐゴシック" pitchFamily="34" charset="-128"/>
                  </a:rPr>
                  <a:t>polynomial-time</a:t>
                </a:r>
                <a:br>
                  <a:rPr lang="en-US" sz="2400" dirty="0">
                    <a:ea typeface="ＭＳ Ｐゴシック" pitchFamily="34" charset="-128"/>
                  </a:rPr>
                </a:br>
                <a:r>
                  <a:rPr lang="en-US" sz="2400" dirty="0">
                    <a:ea typeface="ＭＳ Ｐゴシック" pitchFamily="34" charset="-128"/>
                  </a:rPr>
                  <a:t>adversary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𝑨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048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544" y="4876800"/>
                <a:ext cx="2361801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876" t="-5882" r="-3876" b="-1617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7" name="Text Box 7"/>
              <p:cNvSpPr txBox="1">
                <a:spLocks noChangeArrowheads="1"/>
              </p:cNvSpPr>
              <p:nvPr/>
            </p:nvSpPr>
            <p:spPr bwMode="auto">
              <a:xfrm>
                <a:off x="2895600" y="3987800"/>
                <a:ext cx="5491375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𝑷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𝑨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𝐛𝐫𝐞𝐚𝐤𝐬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𝐢𝐭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 </m:t>
                    </m:r>
                  </m:oMath>
                </a14:m>
                <a:r>
                  <a:rPr lang="en-US" sz="2800" dirty="0">
                    <a:ea typeface="ＭＳ Ｐゴシック" pitchFamily="34" charset="-128"/>
                  </a:rPr>
                  <a:t>is negligible (in</a:t>
                </a:r>
                <a:r>
                  <a:rPr lang="en-US" sz="2800" b="1" dirty="0">
                    <a:ea typeface="ＭＳ Ｐゴシック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𝒏</m:t>
                    </m:r>
                  </m:oMath>
                </a14:m>
                <a:r>
                  <a:rPr lang="en-US" sz="2800" dirty="0">
                    <a:ea typeface="ＭＳ Ｐゴシック" pitchFamily="34" charset="-128"/>
                  </a:rPr>
                  <a:t>)</a:t>
                </a:r>
              </a:p>
            </p:txBody>
          </p:sp>
        </mc:Choice>
        <mc:Fallback xmlns="">
          <p:sp>
            <p:nvSpPr>
              <p:cNvPr id="2048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600" y="3987800"/>
                <a:ext cx="5491375" cy="523220"/>
              </a:xfrm>
              <a:prstGeom prst="rect">
                <a:avLst/>
              </a:prstGeom>
              <a:blipFill rotWithShape="0">
                <a:blip r:embed="rId6"/>
                <a:stretch>
                  <a:fillRect t="-11628" b="-3139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9" name="AutoShape 9"/>
          <p:cNvSpPr>
            <a:spLocks noChangeArrowheads="1"/>
          </p:cNvSpPr>
          <p:nvPr/>
        </p:nvSpPr>
        <p:spPr bwMode="auto">
          <a:xfrm>
            <a:off x="230003" y="1143000"/>
            <a:ext cx="8685398" cy="533400"/>
          </a:xfrm>
          <a:prstGeom prst="wedgeRectCallout">
            <a:avLst>
              <a:gd name="adj1" fmla="val 16722"/>
              <a:gd name="adj2" fmla="val 147023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pl-PL" sz="2400" dirty="0"/>
              <a:t>sometimes we just say:</a:t>
            </a:r>
            <a:r>
              <a:rPr lang="it-IT" sz="2400" dirty="0"/>
              <a:t> </a:t>
            </a:r>
            <a:r>
              <a:rPr lang="en-US" sz="2400" b="1" dirty="0"/>
              <a:t>unforgeable</a:t>
            </a:r>
            <a:r>
              <a:rPr lang="it-IT" sz="2400" b="1" dirty="0"/>
              <a:t> </a:t>
            </a:r>
            <a:r>
              <a:rPr lang="it-IT" sz="2400" dirty="0"/>
              <a:t>(if the context is clear)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7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6" grpId="0"/>
      <p:bldP spid="20487" grpId="0"/>
      <p:bldP spid="2048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397639" y="6113589"/>
            <a:ext cx="8501122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We said</a:t>
            </a:r>
            <a:r>
              <a:rPr lang="en-US" sz="2400" dirty="0"/>
              <a:t>:  In general it’s not that simple.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325368" y="0"/>
            <a:ext cx="8695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How to construct signature schemes?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53716" y="1451442"/>
                <a:ext cx="5172252" cy="932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pl-PL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𝐄</m:t>
                            </m:r>
                            <m:r>
                              <a:rPr lang="en-US" sz="2400" b="1" i="1" baseline="-25000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𝒑𝒌</m:t>
                            </m:r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:</m:t>
                            </m:r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→ </m:t>
                            </m:r>
                            <m: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𝑿</m:t>
                            </m:r>
                          </m:e>
                        </m:d>
                      </m:e>
                      <m:sub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𝒑𝒌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 ∈ 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𝐤𝐞𝐲𝐬</m:t>
                        </m:r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dirty="0"/>
                  <a:t> - a family of trapdoor permutations indexed by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16" y="1451442"/>
                <a:ext cx="5172252" cy="932050"/>
              </a:xfrm>
              <a:prstGeom prst="rect">
                <a:avLst/>
              </a:prstGeom>
              <a:blipFill rotWithShape="0">
                <a:blip r:embed="rId3"/>
                <a:stretch>
                  <a:fillRect l="-1887" t="-1307" b="-1372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85720" y="1000108"/>
            <a:ext cx="2944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Remember this idea?</a:t>
            </a:r>
          </a:p>
        </p:txBody>
      </p:sp>
      <p:sp>
        <p:nvSpPr>
          <p:cNvPr id="15" name="Line 3"/>
          <p:cNvSpPr>
            <a:spLocks noChangeShapeType="1"/>
          </p:cNvSpPr>
          <p:nvPr/>
        </p:nvSpPr>
        <p:spPr bwMode="auto">
          <a:xfrm>
            <a:off x="2186791" y="4688605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57991" y="2936005"/>
            <a:ext cx="1690688" cy="23050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400" b="1" dirty="0">
                <a:solidFill>
                  <a:srgbClr val="FF0000"/>
                </a:solidFill>
                <a:ea typeface="ＭＳ Ｐゴシック" pitchFamily="34" charset="-128"/>
              </a:rPr>
              <a:t>signatures</a:t>
            </a:r>
            <a:endParaRPr lang="en-US" sz="2400" b="1" baseline="30000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7292191" y="2936005"/>
            <a:ext cx="1600200" cy="23050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400" b="1" dirty="0">
                <a:solidFill>
                  <a:srgbClr val="FF0000"/>
                </a:solidFill>
                <a:ea typeface="ＭＳ Ｐゴシック" pitchFamily="34" charset="-128"/>
              </a:rPr>
              <a:t>messages</a:t>
            </a:r>
            <a:endParaRPr lang="en-US" sz="2400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1" name="Line 6"/>
          <p:cNvSpPr>
            <a:spLocks noChangeShapeType="1"/>
          </p:cNvSpPr>
          <p:nvPr/>
        </p:nvSpPr>
        <p:spPr bwMode="auto">
          <a:xfrm flipH="1">
            <a:off x="2186791" y="3393205"/>
            <a:ext cx="495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2720191" y="3088405"/>
                <a:ext cx="3886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𝝈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≔</m:t>
                      </m:r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𝐃</m:t>
                      </m:r>
                      <m:r>
                        <a:rPr lang="en-GB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1" y="3088405"/>
                <a:ext cx="3886200" cy="609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3710791" y="4383805"/>
                <a:ext cx="2159000" cy="6270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𝐄</m:t>
                      </m:r>
                      <m:r>
                        <a:rPr lang="en-GB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𝒑𝒌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𝝈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23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0791" y="4383805"/>
                <a:ext cx="2159000" cy="6270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AutoShape 9"/>
              <p:cNvSpPr>
                <a:spLocks noChangeArrowheads="1"/>
              </p:cNvSpPr>
              <p:nvPr/>
            </p:nvSpPr>
            <p:spPr bwMode="auto">
              <a:xfrm>
                <a:off x="6268313" y="1861205"/>
                <a:ext cx="2590800" cy="838200"/>
              </a:xfrm>
              <a:prstGeom prst="wedgeRoundRectCallout">
                <a:avLst>
                  <a:gd name="adj1" fmla="val -91116"/>
                  <a:gd name="adj2" fmla="val 128407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US" sz="2000" dirty="0"/>
                  <a:t>one can compute it only if one knows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8313" y="1861205"/>
                <a:ext cx="2590800" cy="838200"/>
              </a:xfrm>
              <a:prstGeom prst="wedgeRoundRectCallout">
                <a:avLst>
                  <a:gd name="adj1" fmla="val -91116"/>
                  <a:gd name="adj2" fmla="val 128407"/>
                  <a:gd name="adj3" fmla="val 16667"/>
                </a:avLst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2262991" y="2478805"/>
            <a:ext cx="10021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signing: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247116" y="4115518"/>
            <a:ext cx="11854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verifying:</a:t>
            </a:r>
          </a:p>
        </p:txBody>
      </p:sp>
      <p:sp>
        <p:nvSpPr>
          <p:cNvPr id="28" name="Rectangular Callout 27"/>
          <p:cNvSpPr/>
          <p:nvPr/>
        </p:nvSpPr>
        <p:spPr>
          <a:xfrm>
            <a:off x="5680514" y="5287886"/>
            <a:ext cx="2918553" cy="515938"/>
          </a:xfrm>
          <a:prstGeom prst="wedgeRectCallout">
            <a:avLst>
              <a:gd name="adj1" fmla="val 20798"/>
              <a:gd name="adj2" fmla="val -1651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compare the result 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11624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4980581"/>
            <a:ext cx="91440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r>
              <a:rPr lang="en-US" sz="2800" dirty="0"/>
              <a:t>One can even construct a signature scheme </a:t>
            </a:r>
            <a:r>
              <a:rPr lang="en-US" sz="2800" b="1" dirty="0"/>
              <a:t>from any one-way function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(this is a theoretical construction)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3466865"/>
            <a:ext cx="9144000" cy="85128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r>
              <a:rPr lang="en-US" sz="2800" dirty="0"/>
              <a:t>There</a:t>
            </a:r>
            <a:r>
              <a:rPr lang="pl-PL" sz="2800" dirty="0"/>
              <a:t> </a:t>
            </a:r>
            <a:r>
              <a:rPr lang="it-IT" sz="2800" dirty="0"/>
              <a:t>exist </a:t>
            </a:r>
            <a:r>
              <a:rPr lang="en-US" sz="2800" b="1" dirty="0"/>
              <a:t>other ways </a:t>
            </a:r>
            <a:r>
              <a:rPr lang="en-US" sz="2800" dirty="0"/>
              <a:t>to create signature schemes</a:t>
            </a:r>
            <a:r>
              <a:rPr lang="pl-PL" sz="2800" dirty="0"/>
              <a:t>.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1621969"/>
            <a:ext cx="9144000" cy="609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r>
              <a:rPr lang="pl-PL" sz="2800" b="1" dirty="0">
                <a:solidFill>
                  <a:srgbClr val="FF0000"/>
                </a:solidFill>
              </a:rPr>
              <a:t>Not</a:t>
            </a:r>
            <a:r>
              <a:rPr lang="pl-PL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every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trapdoor permutation is OK</a:t>
            </a:r>
            <a:r>
              <a:rPr lang="pl-PL" sz="2800" dirty="0"/>
              <a:t>.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5720" y="67806"/>
            <a:ext cx="7886700" cy="1325563"/>
          </a:xfrm>
        </p:spPr>
        <p:txBody>
          <a:bodyPr/>
          <a:lstStyle/>
          <a:p>
            <a:r>
              <a:rPr lang="pl-PL" dirty="0"/>
              <a:t>In </a:t>
            </a:r>
            <a:r>
              <a:rPr lang="en-US" dirty="0"/>
              <a:t>general</a:t>
            </a:r>
            <a:r>
              <a:rPr lang="pl-PL" dirty="0"/>
              <a:t> </a:t>
            </a:r>
            <a:r>
              <a:rPr lang="en-US" dirty="0"/>
              <a:t>it’s not that simple</a:t>
            </a:r>
          </a:p>
        </p:txBody>
      </p:sp>
      <p:sp>
        <p:nvSpPr>
          <p:cNvPr id="3" name="Rectangular Callout 2"/>
          <p:cNvSpPr/>
          <p:nvPr/>
        </p:nvSpPr>
        <p:spPr>
          <a:xfrm>
            <a:off x="3786624" y="2628665"/>
            <a:ext cx="4184923" cy="612648"/>
          </a:xfrm>
          <a:prstGeom prst="wedgeRectCallout">
            <a:avLst>
              <a:gd name="adj1" fmla="val -36115"/>
              <a:gd name="adj2" fmla="val -12429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example</a:t>
            </a:r>
            <a:r>
              <a:rPr lang="en-US" sz="2400" dirty="0"/>
              <a:t>: the </a:t>
            </a:r>
            <a:r>
              <a:rPr lang="en-US" sz="2400" b="1" dirty="0">
                <a:solidFill>
                  <a:srgbClr val="7030A0"/>
                </a:solidFill>
              </a:rPr>
              <a:t>RSA </a:t>
            </a:r>
            <a:r>
              <a:rPr lang="en-US" sz="2400" dirty="0"/>
              <a:t>function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69818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nimBg="1"/>
      <p:bldP spid="21509" grpId="0" animBg="1"/>
      <p:bldP spid="21508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340768"/>
            <a:ext cx="6929486" cy="4680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definition of secure 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Signatures based on RSA, “hash-and-sign”, “full-domain-hash”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based on discrete log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identification schemes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/>
              <a:t>Schnorr</a:t>
            </a:r>
            <a:r>
              <a:rPr lang="en-US" dirty="0"/>
              <a:t> signatures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DSA signatures</a:t>
            </a:r>
          </a:p>
          <a:p>
            <a:pPr marL="457200" indent="-514350">
              <a:buFont typeface="+mj-lt"/>
              <a:buAutoNum type="arabicPeriod"/>
            </a:pPr>
            <a:r>
              <a:rPr lang="en-US"/>
              <a:t>Theoretical constructions</a:t>
            </a: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219801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91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8572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3600" dirty="0"/>
              <a:t>The “handbook RSA signatures”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54393" y="1599666"/>
                <a:ext cx="8353017" cy="360342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8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,</a:t>
                </a:r>
                <a:r>
                  <a:rPr lang="pl-PL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800" dirty="0"/>
                  <a:t>such that </a:t>
                </a:r>
                <a14:m>
                  <m:oMath xmlns:m="http://schemas.openxmlformats.org/officeDocument/2006/math"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pl-PL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800" dirty="0"/>
                  <a:t>and </a:t>
                </a:r>
                <a14:m>
                  <m:oMath xmlns:m="http://schemas.openxmlformats.org/officeDocument/2006/math"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l-PL" sz="2800" dirty="0"/>
                  <a:t> </a:t>
                </a:r>
                <a:r>
                  <a:rPr lang="en-US" sz="2800" dirty="0"/>
                  <a:t>are</a:t>
                </a:r>
                <a:r>
                  <a:rPr lang="pl-PL" sz="2800" dirty="0"/>
                  <a:t> </a:t>
                </a:r>
                <a:r>
                  <a:rPr lang="en-US" sz="2800" dirty="0"/>
                  <a:t>random</a:t>
                </a:r>
                <a:r>
                  <a:rPr lang="it-IT" sz="2800" dirty="0"/>
                  <a:t> </a:t>
                </a:r>
                <a:r>
                  <a:rPr lang="pl-PL" sz="2800" dirty="0"/>
                  <a:t>primes</a:t>
                </a:r>
                <a:r>
                  <a:rPr lang="it-IT" sz="2800" dirty="0"/>
                  <a:t>,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it-IT" sz="2800" dirty="0"/>
                  <a:t>and </a:t>
                </a:r>
                <a14:m>
                  <m:oMath xmlns:m="http://schemas.openxmlformats.org/officeDocument/2006/math"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it-IT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b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2800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– random such that</a:t>
                </a:r>
                <a:r>
                  <a:rPr lang="en-GB" sz="280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–</a:t>
                </a:r>
                <a:r>
                  <a:rPr lang="pl-PL" sz="2800" dirty="0"/>
                  <a:t> </a:t>
                </a:r>
                <a:r>
                  <a:rPr lang="en-GB" sz="2800" dirty="0"/>
                  <a:t>such that</a:t>
                </a:r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endParaRPr lang="en-US" sz="2800" dirty="0"/>
              </a:p>
              <a:p>
                <a:r>
                  <a:rPr lang="en-US" sz="2800" b="1" dirty="0">
                    <a:solidFill>
                      <a:srgbClr val="0070C0"/>
                    </a:solidFill>
                  </a:rPr>
                  <a:t>messages</a:t>
                </a:r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dirty="0"/>
                  <a:t>and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signatures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b="1" dirty="0"/>
                  <a:t>output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 yes </a:t>
                </a:r>
                <a:r>
                  <a:rPr lang="en-US" sz="2800" b="1" dirty="0" err="1"/>
                  <a:t>iff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pl-PL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3" y="1599666"/>
                <a:ext cx="8353017" cy="36034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40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7806" y="174611"/>
            <a:ext cx="9026194" cy="1325563"/>
          </a:xfrm>
        </p:spPr>
        <p:txBody>
          <a:bodyPr>
            <a:normAutofit/>
          </a:bodyPr>
          <a:lstStyle/>
          <a:p>
            <a:r>
              <a:rPr lang="pl-PL" sz="3600" dirty="0"/>
              <a:t>Problems with the </a:t>
            </a:r>
            <a:r>
              <a:rPr lang="en-US" sz="3600" dirty="0"/>
              <a:t>“handbook RSA” [1/2]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2134876"/>
                <a:ext cx="9144000" cy="3929335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>
                <a:noAutofit/>
              </a:bodyPr>
              <a:lstStyle/>
              <a:p>
                <a:pPr marL="0" indent="0"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The adversary can forge a signature on a “random” message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endParaRPr lang="en-US" dirty="0"/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Given the public 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990600" lvl="1" indent="-533400">
                  <a:lnSpc>
                    <a:spcPct val="90000"/>
                  </a:lnSpc>
                  <a:buFontTx/>
                  <a:buNone/>
                </a:pPr>
                <a:r>
                  <a:rPr lang="en-US" dirty="0"/>
                  <a:t>he just selects a random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←</m:t>
                    </m:r>
                    <m:sSub>
                      <m:sSubPr>
                        <m:ctrlP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𝒁</m:t>
                        </m:r>
                      </m:e>
                      <m:sub>
                        <m: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sub>
                    </m:sSub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computes </a:t>
                </a:r>
              </a:p>
              <a:p>
                <a:pPr marL="990600" lvl="1" indent="-533400" algn="ctr"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l-GR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𝒆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𝒎𝒐𝒅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</m:oMath>
                </a14:m>
                <a:r>
                  <a:rPr lang="pl-PL" b="1" dirty="0">
                    <a:solidFill>
                      <a:schemeClr val="tx1"/>
                    </a:solidFill>
                    <a:cs typeface="Arial" pitchFamily="34" charset="0"/>
                  </a:rPr>
                  <a:t>.</a:t>
                </a:r>
                <a:endParaRPr lang="en-US" b="1" dirty="0">
                  <a:solidFill>
                    <a:schemeClr val="tx1"/>
                  </a:solidFill>
                  <a:cs typeface="Arial" pitchFamily="34" charset="0"/>
                </a:endParaRPr>
              </a:p>
              <a:p>
                <a:pPr marL="990600" lvl="1" indent="-533400" algn="ctr">
                  <a:lnSpc>
                    <a:spcPct val="90000"/>
                  </a:lnSpc>
                  <a:buFontTx/>
                  <a:buNone/>
                </a:pPr>
                <a:endParaRPr lang="en-US" b="1" dirty="0">
                  <a:solidFill>
                    <a:srgbClr val="993300"/>
                  </a:solidFill>
                  <a:cs typeface="Arial" pitchFamily="34" charset="0"/>
                </a:endParaRP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r>
                  <a:rPr lang="en-US" dirty="0">
                    <a:cs typeface="Arial" pitchFamily="34" charset="0"/>
                  </a:rPr>
                  <a:t>Trivially,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</m:oMath>
                </a14:m>
                <a:r>
                  <a:rPr lang="en-US" b="1" dirty="0">
                    <a:solidFill>
                      <a:srgbClr val="993300"/>
                    </a:solidFill>
                    <a:cs typeface="Arial" pitchFamily="34" charset="0"/>
                  </a:rPr>
                  <a:t> </a:t>
                </a:r>
                <a:r>
                  <a:rPr lang="en-US" dirty="0">
                    <a:cs typeface="Arial" pitchFamily="34" charset="0"/>
                  </a:rPr>
                  <a:t>is a valid signature on</a:t>
                </a:r>
                <a:r>
                  <a:rPr lang="en-US" b="1" dirty="0">
                    <a:solidFill>
                      <a:srgbClr val="99330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</m:oMath>
                </a14:m>
                <a:r>
                  <a:rPr lang="en-US" b="1" dirty="0">
                    <a:solidFill>
                      <a:srgbClr val="993300"/>
                    </a:solidFill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66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2134876"/>
                <a:ext cx="9144000" cy="3929335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786050" y="1500174"/>
            <a:ext cx="3384260" cy="48013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dirty="0"/>
              <a:t>“no-message attack”:</a:t>
            </a:r>
          </a:p>
        </p:txBody>
      </p:sp>
    </p:spTree>
    <p:extLst>
      <p:ext uri="{BB962C8B-B14F-4D97-AF65-F5344CB8AC3E}">
        <p14:creationId xmlns:p14="http://schemas.microsoft.com/office/powerpoint/2010/main" val="357184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5" name="Picture 2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3898" y="2286000"/>
            <a:ext cx="1676400" cy="1158875"/>
          </a:xfrm>
          <a:prstGeom prst="rect">
            <a:avLst/>
          </a:prstGeom>
          <a:noFill/>
        </p:spPr>
      </p:pic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"/>
            <a:ext cx="8382000" cy="1143000"/>
          </a:xfrm>
        </p:spPr>
        <p:txBody>
          <a:bodyPr/>
          <a:lstStyle/>
          <a:p>
            <a:r>
              <a:rPr lang="en-US" sz="3200" dirty="0"/>
              <a:t>Problems</a:t>
            </a:r>
            <a:r>
              <a:rPr lang="pl-PL" sz="3200" dirty="0"/>
              <a:t> with the </a:t>
            </a:r>
            <a:r>
              <a:rPr lang="en-US" sz="3200" dirty="0"/>
              <a:t>“handbook RSA” </a:t>
            </a:r>
            <a:r>
              <a:rPr lang="pl-PL" sz="3200" dirty="0"/>
              <a:t>[2/2]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990600"/>
                <a:ext cx="8305800" cy="990600"/>
              </a:xfrm>
            </p:spPr>
            <p:txBody>
              <a:bodyPr>
                <a:normAutofit/>
              </a:bodyPr>
              <a:lstStyle/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r>
                  <a:rPr lang="en-US" dirty="0">
                    <a:cs typeface="Arial" pitchFamily="34" charset="0"/>
                  </a:rPr>
                  <a:t>How to forge a signature on an arbitrary message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</m:oMath>
                </a14:m>
                <a:r>
                  <a:rPr lang="en-US" dirty="0">
                    <a:cs typeface="Arial" pitchFamily="34" charset="0"/>
                  </a:rPr>
                  <a:t>? </a:t>
                </a: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r>
                  <a:rPr lang="en-US" dirty="0">
                    <a:cs typeface="Arial" pitchFamily="34" charset="0"/>
                  </a:rPr>
                  <a:t>Use the </a:t>
                </a:r>
                <a:r>
                  <a:rPr lang="en-US" dirty="0" err="1">
                    <a:cs typeface="Arial" pitchFamily="34" charset="0"/>
                  </a:rPr>
                  <a:t>homomorphic</a:t>
                </a:r>
                <a:r>
                  <a:rPr lang="en-US" dirty="0">
                    <a:cs typeface="Arial" pitchFamily="34" charset="0"/>
                  </a:rPr>
                  <a:t> properties of RSA.</a:t>
                </a: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endParaRPr lang="en-US" dirty="0">
                  <a:cs typeface="Arial" pitchFamily="34" charset="0"/>
                </a:endParaRP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endParaRPr lang="en-US" dirty="0"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0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990600"/>
                <a:ext cx="8305800" cy="990600"/>
              </a:xfrm>
              <a:blipFill rotWithShape="0">
                <a:blip r:embed="rId4"/>
                <a:stretch>
                  <a:fillRect l="-1542" t="-11111" r="-1101" b="-1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7598891" y="3581400"/>
            <a:ext cx="809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l-PL">
                <a:ea typeface="ＭＳ Ｐゴシック" pitchFamily="34" charset="-128"/>
              </a:rPr>
              <a:t>oracle</a:t>
            </a:r>
            <a:endParaRPr lang="en-US">
              <a:ea typeface="ＭＳ Ｐゴシック" pitchFamily="34" charset="-128"/>
            </a:endParaRPr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5084291" y="3429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1" name="Text Box 11"/>
              <p:cNvSpPr txBox="1">
                <a:spLocks noChangeArrowheads="1"/>
              </p:cNvSpPr>
              <p:nvPr/>
            </p:nvSpPr>
            <p:spPr bwMode="auto">
              <a:xfrm>
                <a:off x="4627091" y="3200400"/>
                <a:ext cx="5334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073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091" y="3200400"/>
                <a:ext cx="533400" cy="369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5160491" y="4359275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H="1">
            <a:off x="3179291" y="3810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>
            <a:off x="3255491" y="4881563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3179291" y="3429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3255491" y="43592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9" name="Text Box 19"/>
          <p:cNvSpPr txBox="1">
            <a:spLocks noChangeArrowheads="1"/>
          </p:cNvSpPr>
          <p:nvPr/>
        </p:nvSpPr>
        <p:spPr bwMode="auto">
          <a:xfrm>
            <a:off x="900098" y="3200400"/>
            <a:ext cx="11906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ea typeface="ＭＳ Ｐゴシック" pitchFamily="34" charset="-128"/>
              </a:rPr>
              <a:t>adversary</a:t>
            </a:r>
          </a:p>
        </p:txBody>
      </p:sp>
      <p:sp>
        <p:nvSpPr>
          <p:cNvPr id="30741" name="Line 21"/>
          <p:cNvSpPr>
            <a:spLocks noChangeShapeType="1"/>
          </p:cNvSpPr>
          <p:nvPr/>
        </p:nvSpPr>
        <p:spPr bwMode="auto">
          <a:xfrm flipH="1">
            <a:off x="3179291" y="28194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3" name="Text Box 23"/>
              <p:cNvSpPr txBox="1">
                <a:spLocks noChangeArrowheads="1"/>
              </p:cNvSpPr>
              <p:nvPr/>
            </p:nvSpPr>
            <p:spPr bwMode="auto">
              <a:xfrm>
                <a:off x="3484091" y="3657600"/>
                <a:ext cx="2869632" cy="392672"/>
              </a:xfrm>
              <a:prstGeom prst="rect">
                <a:avLst/>
              </a:prstGeom>
              <a:solidFill>
                <a:srgbClr val="FFFFF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</m:t>
                      </m:r>
                      <m:r>
                        <a:rPr lang="en-US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𝐠</m:t>
                      </m:r>
                      <m:r>
                        <a:rPr lang="pl-PL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pl-PL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pl-PL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= </m:t>
                      </m:r>
                      <m:sSubSup>
                        <m:sSub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𝒎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𝒅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  <m:r>
                        <a:rPr lang="en-US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𝐦𝐨𝐝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074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4091" y="3657600"/>
                <a:ext cx="2869632" cy="392672"/>
              </a:xfrm>
              <a:prstGeom prst="rect">
                <a:avLst/>
              </a:prstGeom>
              <a:blipFill rotWithShape="0">
                <a:blip r:embed="rId6"/>
                <a:stretch>
                  <a:fillRect b="-12121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4" name="Text Box 24"/>
              <p:cNvSpPr txBox="1">
                <a:spLocks noChangeArrowheads="1"/>
              </p:cNvSpPr>
              <p:nvPr/>
            </p:nvSpPr>
            <p:spPr bwMode="auto">
              <a:xfrm>
                <a:off x="3560291" y="4648200"/>
                <a:ext cx="2925736" cy="392672"/>
              </a:xfrm>
              <a:prstGeom prst="rect">
                <a:avLst/>
              </a:prstGeom>
              <a:solidFill>
                <a:srgbClr val="FFFFF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pl-PL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 = </m:t>
                      </m:r>
                      <m:sSubSup>
                        <m:sSub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𝒎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𝒅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  <m:r>
                        <a:rPr lang="en-US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𝐦𝐨𝐝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𝑵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0744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0291" y="4648200"/>
                <a:ext cx="2925736" cy="392672"/>
              </a:xfrm>
              <a:prstGeom prst="rect">
                <a:avLst/>
              </a:prstGeom>
              <a:blipFill rotWithShape="0">
                <a:blip r:embed="rId7"/>
                <a:stretch>
                  <a:fillRect b="-12121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0" name="Text Box 20"/>
              <p:cNvSpPr txBox="1">
                <a:spLocks noChangeArrowheads="1"/>
              </p:cNvSpPr>
              <p:nvPr/>
            </p:nvSpPr>
            <p:spPr bwMode="auto">
              <a:xfrm>
                <a:off x="4398491" y="2667000"/>
                <a:ext cx="914400" cy="376238"/>
              </a:xfrm>
              <a:prstGeom prst="rect">
                <a:avLst/>
              </a:prstGeom>
              <a:solidFill>
                <a:srgbClr val="FFFFF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0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8491" y="2667000"/>
                <a:ext cx="914400" cy="376238"/>
              </a:xfrm>
              <a:prstGeom prst="rect">
                <a:avLst/>
              </a:prstGeom>
              <a:blipFill rotWithShape="0">
                <a:blip r:embed="rId8"/>
                <a:stretch>
                  <a:fillRect b="-11111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6" name="Text Box 26"/>
              <p:cNvSpPr txBox="1">
                <a:spLocks noChangeArrowheads="1"/>
              </p:cNvSpPr>
              <p:nvPr/>
            </p:nvSpPr>
            <p:spPr bwMode="auto">
              <a:xfrm>
                <a:off x="152400" y="3657600"/>
                <a:ext cx="2899961" cy="1323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342900" indent="-342900"/>
                <a:r>
                  <a:rPr lang="en-US" sz="2000" dirty="0"/>
                  <a:t>chooses: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en-US" sz="2000" dirty="0"/>
                  <a:t> any</a:t>
                </a:r>
                <a:r>
                  <a:rPr lang="pl-PL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3074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3657600"/>
                <a:ext cx="2899961" cy="1323439"/>
              </a:xfrm>
              <a:prstGeom prst="rect">
                <a:avLst/>
              </a:prstGeom>
              <a:blipFill>
                <a:blip r:embed="rId9"/>
                <a:stretch>
                  <a:fillRect l="-2101" t="-230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33" name="Text Box 13"/>
              <p:cNvSpPr txBox="1">
                <a:spLocks noChangeArrowheads="1"/>
              </p:cNvSpPr>
              <p:nvPr/>
            </p:nvSpPr>
            <p:spPr bwMode="auto">
              <a:xfrm>
                <a:off x="4627091" y="4191000"/>
                <a:ext cx="6096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073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091" y="4191000"/>
                <a:ext cx="609600" cy="36988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8" name="Text Box 28"/>
              <p:cNvSpPr txBox="1">
                <a:spLocks noChangeArrowheads="1"/>
              </p:cNvSpPr>
              <p:nvPr/>
            </p:nvSpPr>
            <p:spPr bwMode="auto">
              <a:xfrm>
                <a:off x="212725" y="5065713"/>
                <a:ext cx="2606675" cy="17354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2100" dirty="0"/>
                  <a:t>computes (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100" dirty="0"/>
                  <a:t>):</a:t>
                </a:r>
                <a:br>
                  <a:rPr lang="en-US" sz="2100" dirty="0"/>
                </a:br>
                <a:endParaRPr lang="en-US" sz="2100" dirty="0"/>
              </a:p>
              <a:p>
                <a:pPr marL="3984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  <m:r>
                        <a:rPr lang="en-US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</m:oMath>
                  </m:oMathPara>
                </a14:m>
                <a:endParaRPr lang="en-US" sz="2100" b="1" baseline="30000" dirty="0">
                  <a:solidFill>
                    <a:srgbClr val="993300"/>
                  </a:solidFill>
                  <a:ea typeface="ＭＳ Ｐゴシック" pitchFamily="34" charset="-128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  (</m:t>
                      </m:r>
                      <m:r>
                        <a:rPr lang="en-US" sz="2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sz="21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𝟏</m:t>
                      </m:r>
                      <m:r>
                        <a:rPr lang="en-US" sz="21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· </m:t>
                      </m:r>
                      <m:r>
                        <a:rPr lang="en-US" sz="21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sz="21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𝟐</m:t>
                      </m:r>
                      <m:r>
                        <a:rPr lang="en-US" sz="21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  <m:r>
                        <a:rPr lang="en-US" sz="21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𝒅</m:t>
                      </m:r>
                    </m:oMath>
                  </m:oMathPara>
                </a14:m>
                <a:endParaRPr lang="en-US" sz="21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  </m:t>
                      </m:r>
                      <m:r>
                        <a:rPr lang="en-US" sz="21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sz="21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𝒅</m:t>
                      </m:r>
                    </m:oMath>
                  </m:oMathPara>
                </a14:m>
                <a:endParaRPr lang="en-US" sz="21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3074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725" y="5065713"/>
                <a:ext cx="2606675" cy="1735411"/>
              </a:xfrm>
              <a:prstGeom prst="rect">
                <a:avLst/>
              </a:prstGeom>
              <a:blipFill rotWithShape="0">
                <a:blip r:embed="rId11"/>
                <a:stretch>
                  <a:fillRect l="-2804" t="-21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9" name="AutoShape 29"/>
              <p:cNvSpPr>
                <a:spLocks noChangeArrowheads="1"/>
              </p:cNvSpPr>
              <p:nvPr/>
            </p:nvSpPr>
            <p:spPr bwMode="auto">
              <a:xfrm>
                <a:off x="4193693" y="5491163"/>
                <a:ext cx="4371996" cy="457200"/>
              </a:xfrm>
              <a:prstGeom prst="wedgeRectCallout">
                <a:avLst>
                  <a:gd name="adj1" fmla="val -99871"/>
                  <a:gd name="adj2" fmla="val 82837"/>
                </a:avLst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US" sz="2400" dirty="0"/>
                  <a:t>this is a valid signature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49" name="AutoShap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3693" y="5491163"/>
                <a:ext cx="4371996" cy="457200"/>
              </a:xfrm>
              <a:prstGeom prst="wedgeRectCallout">
                <a:avLst>
                  <a:gd name="adj1" fmla="val -99871"/>
                  <a:gd name="adj2" fmla="val 82837"/>
                </a:avLst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855955" y="1785926"/>
            <a:ext cx="2002325" cy="18378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418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0" grpId="0" animBg="1"/>
      <p:bldP spid="30731" grpId="0" animBg="1"/>
      <p:bldP spid="30732" grpId="0" animBg="1"/>
      <p:bldP spid="30735" grpId="0" animBg="1"/>
      <p:bldP spid="30736" grpId="0" animBg="1"/>
      <p:bldP spid="30737" grpId="0" animBg="1"/>
      <p:bldP spid="30738" grpId="0" animBg="1"/>
      <p:bldP spid="30743" grpId="0" animBg="1"/>
      <p:bldP spid="30744" grpId="0" animBg="1"/>
      <p:bldP spid="30746" grpId="0"/>
      <p:bldP spid="30733" grpId="0" animBg="1"/>
      <p:bldP spid="307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2286000"/>
            <a:ext cx="9144000" cy="1066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marL="398463">
              <a:buFontTx/>
              <a:buNone/>
            </a:pPr>
            <a:r>
              <a:rPr lang="en-US" sz="2800" dirty="0"/>
              <a:t>In many applications – probably not.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it a problem?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174" y="3461256"/>
            <a:ext cx="8229600" cy="2664907"/>
          </a:xfrm>
        </p:spPr>
        <p:txBody>
          <a:bodyPr/>
          <a:lstStyle/>
          <a:p>
            <a:pPr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But we would like to have schemes that are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>
                <a:solidFill>
                  <a:srgbClr val="0070C0"/>
                </a:solidFill>
              </a:rPr>
              <a:t> application-dependent</a:t>
            </a:r>
            <a:r>
              <a:rPr lang="en-US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17842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85720" y="1428736"/>
                <a:ext cx="8458200" cy="57150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Before </a:t>
                </a:r>
                <a:r>
                  <a:rPr lang="pl-PL" sz="2400" dirty="0"/>
                  <a:t>computing</a:t>
                </a:r>
                <a:r>
                  <a:rPr lang="en-US" sz="2400" dirty="0"/>
                  <a:t> the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RSA function </a:t>
                </a:r>
                <a:r>
                  <a:rPr lang="en-US" sz="2400" dirty="0"/>
                  <a:t>– apply some function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pl-PL" sz="2400" b="1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86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5720" y="1428736"/>
                <a:ext cx="8458200" cy="571504"/>
              </a:xfrm>
              <a:blipFill rotWithShape="0">
                <a:blip r:embed="rId3"/>
                <a:stretch>
                  <a:fillRect l="-1154" t="-2127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2229486"/>
                <a:ext cx="8353017" cy="371640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8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,</a:t>
                </a:r>
                <a:r>
                  <a:rPr lang="pl-PL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800" dirty="0"/>
                  <a:t>such that </a:t>
                </a:r>
                <a14:m>
                  <m:oMath xmlns:m="http://schemas.openxmlformats.org/officeDocument/2006/math"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pl-PL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800" dirty="0"/>
                  <a:t>and </a:t>
                </a:r>
                <a14:m>
                  <m:oMath xmlns:m="http://schemas.openxmlformats.org/officeDocument/2006/math">
                    <m:r>
                      <a:rPr lang="pl-PL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l-PL" sz="2800" dirty="0"/>
                  <a:t> </a:t>
                </a:r>
                <a:r>
                  <a:rPr lang="en-US" sz="2800" dirty="0"/>
                  <a:t>are</a:t>
                </a:r>
                <a:r>
                  <a:rPr lang="pl-PL" sz="2800" dirty="0"/>
                  <a:t> </a:t>
                </a:r>
                <a:r>
                  <a:rPr lang="en-US" sz="2800" dirty="0"/>
                  <a:t>random</a:t>
                </a:r>
                <a:r>
                  <a:rPr lang="it-IT" sz="2800" dirty="0"/>
                  <a:t> </a:t>
                </a:r>
                <a:r>
                  <a:rPr lang="pl-PL" sz="2800" dirty="0"/>
                  <a:t>primes</a:t>
                </a:r>
                <a:r>
                  <a:rPr lang="it-IT" sz="2800" dirty="0"/>
                  <a:t>,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it-IT" sz="2800" dirty="0"/>
                  <a:t>and </a:t>
                </a:r>
                <a14:m>
                  <m:oMath xmlns:m="http://schemas.openxmlformats.org/officeDocument/2006/math"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it-IT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it-IT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b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2800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– random such that</a:t>
                </a:r>
                <a:r>
                  <a:rPr lang="en-GB" sz="2800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–</a:t>
                </a:r>
                <a:r>
                  <a:rPr lang="pl-PL" sz="2800" dirty="0"/>
                  <a:t> </a:t>
                </a:r>
                <a:r>
                  <a:rPr lang="en-GB" sz="2800" dirty="0"/>
                  <a:t>such that</a:t>
                </a:r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endParaRPr lang="en-US" sz="2800" dirty="0"/>
              </a:p>
              <a:p>
                <a:r>
                  <a:rPr lang="en-US" sz="2800" b="1" dirty="0">
                    <a:solidFill>
                      <a:srgbClr val="0070C0"/>
                    </a:solidFill>
                  </a:rPr>
                  <a:t>messages</a:t>
                </a:r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dirty="0"/>
                  <a:t>and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signatures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rgbClr val="00B05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𝑯</m:t>
                            </m:r>
                            <m:d>
                              <m:dPr>
                                <m:ctrlP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b="1" dirty="0"/>
                  <a:t>output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 yes </a:t>
                </a:r>
                <a:r>
                  <a:rPr lang="en-US" sz="2800" b="1" dirty="0" err="1"/>
                  <a:t>iff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29486"/>
                <a:ext cx="8353017" cy="3716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09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8" name="Rectangle 4"/>
              <p:cNvSpPr>
                <a:spLocks noChangeArrowheads="1"/>
              </p:cNvSpPr>
              <p:nvPr/>
            </p:nvSpPr>
            <p:spPr bwMode="auto">
              <a:xfrm>
                <a:off x="0" y="3096619"/>
                <a:ext cx="9144000" cy="294982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274320" rIns="274320" anchor="ctr"/>
              <a:lstStyle/>
              <a:p>
                <a:pPr algn="ctr">
                  <a:buFontTx/>
                  <a:buNone/>
                </a:pPr>
                <a:r>
                  <a:rPr lang="en-US" sz="2800" dirty="0"/>
                  <a:t>(because if the adversary can find two messages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800" dirty="0"/>
                  <a:t> such that</a:t>
                </a:r>
              </a:p>
              <a:p>
                <a:pPr algn="ctr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>
                  <a:buFontTx/>
                  <a:buNone/>
                </a:pPr>
                <a:r>
                  <a:rPr lang="en-US" sz="2800" dirty="0"/>
                  <a:t>then he can forge a signature on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800" dirty="0"/>
                  <a:t> by asking the oracle for a signature on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174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096619"/>
                <a:ext cx="9144000" cy="29498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46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choose such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17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4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990503"/>
          </a:xfrm>
          <a:ln/>
        </p:spPr>
        <p:txBody>
          <a:bodyPr/>
          <a:lstStyle/>
          <a:p>
            <a:pPr>
              <a:buFontTx/>
              <a:buNone/>
            </a:pPr>
            <a:r>
              <a:rPr lang="en-US" dirty="0"/>
              <a:t>A minimal requirement:</a:t>
            </a:r>
          </a:p>
          <a:p>
            <a:pPr algn="ctr">
              <a:buFontTx/>
              <a:buNone/>
            </a:pPr>
            <a:r>
              <a:rPr lang="en-US" b="1" dirty="0">
                <a:solidFill>
                  <a:srgbClr val="0070C0"/>
                </a:solidFill>
              </a:rPr>
              <a:t>it should be collision-resistant.</a:t>
            </a:r>
          </a:p>
          <a:p>
            <a:pPr algn="ctr">
              <a:buFontTx/>
              <a:buNone/>
            </a:pP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85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772" name="Rectangle 4"/>
              <p:cNvSpPr>
                <a:spLocks noChangeArrowheads="1"/>
              </p:cNvSpPr>
              <p:nvPr/>
            </p:nvSpPr>
            <p:spPr bwMode="auto">
              <a:xfrm>
                <a:off x="0" y="2438400"/>
                <a:ext cx="9144000" cy="356236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74320" rIns="274320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dirty="0"/>
                  <a:t>Additional advantage: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dirty="0"/>
                  <a:t>We can sign </a:t>
                </a:r>
                <a:r>
                  <a:rPr lang="en-US" sz="2800" b="1" dirty="0"/>
                  <a:t>very long messages </a:t>
                </a:r>
                <a:r>
                  <a:rPr lang="en-US" sz="2800" dirty="0"/>
                  <a:t>keeping the modulus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small (it’s much more efficient!) – we will come back to it later.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dirty="0"/>
                  <a:t>It is called a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:r>
                  <a:rPr lang="en-US" sz="3600" b="1" dirty="0">
                    <a:solidFill>
                      <a:srgbClr val="0070C0"/>
                    </a:solidFill>
                  </a:rPr>
                  <a:t>hash-and-sign paradigm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3277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438400"/>
                <a:ext cx="9144000" cy="35623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30002" y="365126"/>
                <a:ext cx="8038516" cy="1325563"/>
              </a:xfrm>
            </p:spPr>
            <p:txBody>
              <a:bodyPr/>
              <a:lstStyle/>
              <a:p>
                <a:r>
                  <a:rPr lang="en-US" dirty="0"/>
                  <a:t>A typical choice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7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30002" y="365126"/>
                <a:ext cx="8038516" cy="1325563"/>
              </a:xfrm>
              <a:blipFill rotWithShape="0">
                <a:blip r:embed="rId4"/>
                <a:stretch>
                  <a:fillRect l="-31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4256" y="1690689"/>
                <a:ext cx="7886700" cy="50805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800" dirty="0"/>
                  <a:t>Usually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dirty="0"/>
                  <a:t> is one of the popular </a:t>
                </a:r>
                <a:r>
                  <a:rPr lang="en-US" sz="2800" b="1" dirty="0"/>
                  <a:t>hash functions</a:t>
                </a:r>
                <a:r>
                  <a:rPr lang="en-US" sz="2800" dirty="0"/>
                  <a:t>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27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4256" y="1690689"/>
                <a:ext cx="7886700" cy="508058"/>
              </a:xfrm>
              <a:blipFill rotWithShape="0">
                <a:blip r:embed="rId5"/>
                <a:stretch>
                  <a:fillRect l="-1624" t="-20238" b="-2619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54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5724"/>
            <a:ext cx="8229600" cy="895350"/>
          </a:xfrm>
        </p:spPr>
        <p:txBody>
          <a:bodyPr/>
          <a:lstStyle/>
          <a:p>
            <a:r>
              <a:rPr lang="en-US" dirty="0"/>
              <a:t>Hash-and-Sign [1/4]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069974"/>
                <a:ext cx="8610600" cy="762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400" dirty="0"/>
                  <a:t>1.</a:t>
                </a:r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–</a:t>
                </a:r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en-US" sz="2400" dirty="0"/>
                  <a:t>a signature scheme</a:t>
                </a:r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en-US" sz="2400" dirty="0"/>
                  <a:t>“for short messages”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400" b="1" dirty="0">
                  <a:solidFill>
                    <a:srgbClr val="A50021"/>
                  </a:solidFill>
                </a:endParaRPr>
              </a:p>
            </p:txBody>
          </p:sp>
        </mc:Choice>
        <mc:Fallback xmlns="">
          <p:sp>
            <p:nvSpPr>
              <p:cNvPr id="358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069974"/>
                <a:ext cx="8610600" cy="762000"/>
              </a:xfrm>
              <a:blipFill rotWithShape="0">
                <a:blip r:embed="rId3"/>
                <a:stretch>
                  <a:fillRect l="-1133" t="-112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4" name="Rectangle 4"/>
              <p:cNvSpPr>
                <a:spLocks noChangeArrowheads="1"/>
              </p:cNvSpPr>
              <p:nvPr/>
            </p:nvSpPr>
            <p:spPr bwMode="auto">
              <a:xfrm>
                <a:off x="1143000" y="3568700"/>
                <a:ext cx="15240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dirty="0"/>
                  <a:t> short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4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3568700"/>
                <a:ext cx="1524000" cy="457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6" name="Rectangle 6"/>
              <p:cNvSpPr>
                <a:spLocks noChangeArrowheads="1"/>
              </p:cNvSpPr>
              <p:nvPr/>
            </p:nvSpPr>
            <p:spPr bwMode="auto">
              <a:xfrm>
                <a:off x="889000" y="1752600"/>
                <a:ext cx="1847850" cy="38735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dirty="0"/>
                  <a:t> signature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𝝈</m:t>
                    </m:r>
                  </m:oMath>
                </a14:m>
                <a:endParaRPr lang="el-GR" sz="24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584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9000" y="1752600"/>
                <a:ext cx="1847850" cy="3873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7" name="AutoShape 7"/>
              <p:cNvSpPr>
                <a:spLocks noChangeArrowheads="1"/>
              </p:cNvSpPr>
              <p:nvPr/>
            </p:nvSpPr>
            <p:spPr bwMode="auto">
              <a:xfrm>
                <a:off x="457200" y="2197100"/>
                <a:ext cx="2895600" cy="1295400"/>
              </a:xfrm>
              <a:prstGeom prst="upArrow">
                <a:avLst>
                  <a:gd name="adj1" fmla="val 52574"/>
                  <a:gd name="adj2" fmla="val 53472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47" name="AutoShap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197100"/>
                <a:ext cx="2895600" cy="1295400"/>
              </a:xfrm>
              <a:prstGeom prst="upArrow">
                <a:avLst>
                  <a:gd name="adj1" fmla="val 52574"/>
                  <a:gd name="adj2" fmla="val 53472"/>
                </a:avLst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8" name="Rectangle 8"/>
              <p:cNvSpPr>
                <a:spLocks noChangeArrowheads="1"/>
              </p:cNvSpPr>
              <p:nvPr/>
            </p:nvSpPr>
            <p:spPr bwMode="auto">
              <a:xfrm>
                <a:off x="5245100" y="3584575"/>
                <a:ext cx="1524000" cy="4445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4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5100" y="3584575"/>
                <a:ext cx="1524000" cy="4445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9" name="Rectangle 9"/>
              <p:cNvSpPr>
                <a:spLocks noChangeArrowheads="1"/>
              </p:cNvSpPr>
              <p:nvPr/>
            </p:nvSpPr>
            <p:spPr bwMode="auto">
              <a:xfrm>
                <a:off x="6007100" y="1787525"/>
                <a:ext cx="1524000" cy="3683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𝐲𝐞𝐬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𝐧𝐨</m:t>
                      </m:r>
                    </m:oMath>
                  </m:oMathPara>
                </a14:m>
                <a:endParaRPr lang="el-GR" sz="24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584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07100" y="1787525"/>
                <a:ext cx="1524000" cy="3683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0" name="AutoShape 10"/>
              <p:cNvSpPr>
                <a:spLocks noChangeArrowheads="1"/>
              </p:cNvSpPr>
              <p:nvPr/>
            </p:nvSpPr>
            <p:spPr bwMode="auto">
              <a:xfrm>
                <a:off x="4559300" y="2232025"/>
                <a:ext cx="4343400" cy="1295400"/>
              </a:xfrm>
              <a:prstGeom prst="upArrow">
                <a:avLst>
                  <a:gd name="adj1" fmla="val 71194"/>
                  <a:gd name="adj2" fmla="val 54773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50" name="AutoShap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9300" y="2232025"/>
                <a:ext cx="4343400" cy="1295400"/>
              </a:xfrm>
              <a:prstGeom prst="upArrow">
                <a:avLst>
                  <a:gd name="adj1" fmla="val 71194"/>
                  <a:gd name="adj2" fmla="val 54773"/>
                </a:avLst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1" name="Rectangle 11"/>
              <p:cNvSpPr>
                <a:spLocks noChangeArrowheads="1"/>
              </p:cNvSpPr>
              <p:nvPr/>
            </p:nvSpPr>
            <p:spPr bwMode="auto">
              <a:xfrm>
                <a:off x="6807200" y="3571875"/>
                <a:ext cx="14478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5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7200" y="3571875"/>
                <a:ext cx="1447800" cy="4572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3" name="Rectangle 13"/>
              <p:cNvSpPr>
                <a:spLocks noChangeArrowheads="1"/>
              </p:cNvSpPr>
              <p:nvPr/>
            </p:nvSpPr>
            <p:spPr bwMode="auto">
              <a:xfrm>
                <a:off x="1676400" y="6019800"/>
                <a:ext cx="69342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53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6019800"/>
                <a:ext cx="6934200" cy="4572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4" name="Rectangle 14"/>
              <p:cNvSpPr>
                <a:spLocks noChangeArrowheads="1"/>
              </p:cNvSpPr>
              <p:nvPr/>
            </p:nvSpPr>
            <p:spPr bwMode="auto">
              <a:xfrm>
                <a:off x="228600" y="4267200"/>
                <a:ext cx="8610600" cy="762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sz="2400" dirty="0"/>
                  <a:t>2.</a:t>
                </a:r>
                <a:r>
                  <a:rPr lang="en-US" sz="2400" b="1" dirty="0">
                    <a:solidFill>
                      <a:srgbClr val="A50021"/>
                    </a:solidFill>
                  </a:rPr>
                  <a:t> </a:t>
                </a:r>
                <a:r>
                  <a:rPr lang="en-US" sz="2400" dirty="0"/>
                  <a:t>a hash function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54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4267200"/>
                <a:ext cx="8610600" cy="762000"/>
              </a:xfrm>
              <a:prstGeom prst="rect">
                <a:avLst/>
              </a:prstGeom>
              <a:blipFill rotWithShape="0">
                <a:blip r:embed="rId12"/>
                <a:stretch>
                  <a:fillRect l="-1133" t="-112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5" name="AutoShape 15"/>
              <p:cNvSpPr>
                <a:spLocks noChangeArrowheads="1"/>
              </p:cNvSpPr>
              <p:nvPr/>
            </p:nvSpPr>
            <p:spPr bwMode="auto">
              <a:xfrm rot="10800000">
                <a:off x="1676400" y="5029200"/>
                <a:ext cx="6934200" cy="914400"/>
              </a:xfrm>
              <a:custGeom>
                <a:avLst/>
                <a:gdLst>
                  <a:gd name="G0" fmla="+- 7961 0 0"/>
                  <a:gd name="G1" fmla="+- 21600 0 7961"/>
                  <a:gd name="G2" fmla="*/ 7961 1 2"/>
                  <a:gd name="G3" fmla="+- 21600 0 G2"/>
                  <a:gd name="G4" fmla="+/ 7961 21600 2"/>
                  <a:gd name="G5" fmla="+/ G1 0 2"/>
                  <a:gd name="G6" fmla="*/ 21600 21600 7961"/>
                  <a:gd name="G7" fmla="*/ G6 1 2"/>
                  <a:gd name="G8" fmla="+- 21600 0 G7"/>
                  <a:gd name="G9" fmla="*/ 21600 1 2"/>
                  <a:gd name="G10" fmla="+- 7961 0 G9"/>
                  <a:gd name="G11" fmla="?: G10 G8 0"/>
                  <a:gd name="G12" fmla="?: G10 G7 21600"/>
                  <a:gd name="T0" fmla="*/ 17619 w 21600"/>
                  <a:gd name="T1" fmla="*/ 10800 h 21600"/>
                  <a:gd name="T2" fmla="*/ 10800 w 21600"/>
                  <a:gd name="T3" fmla="*/ 21600 h 21600"/>
                  <a:gd name="T4" fmla="*/ 3981 w 21600"/>
                  <a:gd name="T5" fmla="*/ 10800 h 21600"/>
                  <a:gd name="T6" fmla="*/ 10800 w 21600"/>
                  <a:gd name="T7" fmla="*/ 0 h 21600"/>
                  <a:gd name="T8" fmla="*/ 5781 w 21600"/>
                  <a:gd name="T9" fmla="*/ 5781 h 21600"/>
                  <a:gd name="T10" fmla="*/ 15819 w 21600"/>
                  <a:gd name="T11" fmla="*/ 1581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7961" y="21600"/>
                    </a:lnTo>
                    <a:lnTo>
                      <a:pt x="136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10800000"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55" name="AutoShap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>
                <a:off x="1676400" y="5029200"/>
                <a:ext cx="6934200" cy="914400"/>
              </a:xfrm>
              <a:custGeom>
                <a:avLst/>
                <a:gdLst>
                  <a:gd name="G0" fmla="+- 7961 0 0"/>
                  <a:gd name="G1" fmla="+- 21600 0 7961"/>
                  <a:gd name="G2" fmla="*/ 7961 1 2"/>
                  <a:gd name="G3" fmla="+- 21600 0 G2"/>
                  <a:gd name="G4" fmla="+/ 7961 21600 2"/>
                  <a:gd name="G5" fmla="+/ G1 0 2"/>
                  <a:gd name="G6" fmla="*/ 21600 21600 7961"/>
                  <a:gd name="G7" fmla="*/ G6 1 2"/>
                  <a:gd name="G8" fmla="+- 21600 0 G7"/>
                  <a:gd name="G9" fmla="*/ 21600 1 2"/>
                  <a:gd name="G10" fmla="+- 7961 0 G9"/>
                  <a:gd name="G11" fmla="?: G10 G8 0"/>
                  <a:gd name="G12" fmla="?: G10 G7 21600"/>
                  <a:gd name="T0" fmla="*/ 17619 w 21600"/>
                  <a:gd name="T1" fmla="*/ 10800 h 21600"/>
                  <a:gd name="T2" fmla="*/ 10800 w 21600"/>
                  <a:gd name="T3" fmla="*/ 21600 h 21600"/>
                  <a:gd name="T4" fmla="*/ 3981 w 21600"/>
                  <a:gd name="T5" fmla="*/ 10800 h 21600"/>
                  <a:gd name="T6" fmla="*/ 10800 w 21600"/>
                  <a:gd name="T7" fmla="*/ 0 h 21600"/>
                  <a:gd name="T8" fmla="*/ 5781 w 21600"/>
                  <a:gd name="T9" fmla="*/ 5781 h 21600"/>
                  <a:gd name="T10" fmla="*/ 15819 w 21600"/>
                  <a:gd name="T11" fmla="*/ 1581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7961" y="21600"/>
                    </a:lnTo>
                    <a:lnTo>
                      <a:pt x="136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6" name="Rectangle 16"/>
              <p:cNvSpPr>
                <a:spLocks noChangeArrowheads="1"/>
              </p:cNvSpPr>
              <p:nvPr/>
            </p:nvSpPr>
            <p:spPr bwMode="auto">
              <a:xfrm>
                <a:off x="4267200" y="44958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856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4495800"/>
                <a:ext cx="1752600" cy="4572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57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844" grpId="0" animBg="1"/>
      <p:bldP spid="35846" grpId="0" animBg="1"/>
      <p:bldP spid="35847" grpId="0" animBg="1"/>
      <p:bldP spid="35848" grpId="0" animBg="1"/>
      <p:bldP spid="35849" grpId="0" animBg="1"/>
      <p:bldP spid="35850" grpId="0" animBg="1"/>
      <p:bldP spid="35851" grpId="0" animBg="1"/>
      <p:bldP spid="35853" grpId="0" animBg="1"/>
      <p:bldP spid="35854" grpId="0"/>
      <p:bldP spid="35855" grpId="0" animBg="1"/>
      <p:bldP spid="3585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noFill/>
          <a:ln/>
        </p:spPr>
        <p:txBody>
          <a:bodyPr/>
          <a:lstStyle/>
          <a:p>
            <a:r>
              <a:rPr lang="en-US" dirty="0"/>
              <a:t>Hash-and-Sign [2/4]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72" name="Rectangle 8"/>
              <p:cNvSpPr>
                <a:spLocks noChangeArrowheads="1"/>
              </p:cNvSpPr>
              <p:nvPr/>
            </p:nvSpPr>
            <p:spPr bwMode="auto">
              <a:xfrm>
                <a:off x="3162299" y="1752600"/>
                <a:ext cx="32004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 </a:t>
                </a:r>
                <a:r>
                  <a:rPr lang="en-US" sz="2200" dirty="0"/>
                  <a:t>signature </a:t>
                </a:r>
                <a14:m>
                  <m:oMath xmlns:m="http://schemas.openxmlformats.org/officeDocument/2006/math">
                    <m:r>
                      <a:rPr lang="en-US" sz="2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r>
                      <a:rPr lang="en-US" sz="22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2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l-GR" sz="22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687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2299" y="1752600"/>
                <a:ext cx="3200400" cy="5334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3" name="AutoShape 9"/>
              <p:cNvSpPr>
                <a:spLocks noChangeArrowheads="1"/>
              </p:cNvSpPr>
              <p:nvPr/>
            </p:nvSpPr>
            <p:spPr bwMode="auto">
              <a:xfrm>
                <a:off x="3314699" y="2362200"/>
                <a:ext cx="2895600" cy="1295400"/>
              </a:xfrm>
              <a:prstGeom prst="upArrow">
                <a:avLst>
                  <a:gd name="adj1" fmla="val 62935"/>
                  <a:gd name="adj2" fmla="val 53431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3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699" y="2362200"/>
                <a:ext cx="2895600" cy="1295400"/>
              </a:xfrm>
              <a:prstGeom prst="upArrow">
                <a:avLst>
                  <a:gd name="adj1" fmla="val 62935"/>
                  <a:gd name="adj2" fmla="val 53431"/>
                </a:avLst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4" name="Rectangle 10"/>
              <p:cNvSpPr>
                <a:spLocks noChangeArrowheads="1"/>
              </p:cNvSpPr>
              <p:nvPr/>
            </p:nvSpPr>
            <p:spPr bwMode="auto">
              <a:xfrm>
                <a:off x="1295400" y="5334000"/>
                <a:ext cx="6934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4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334000"/>
                <a:ext cx="69342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5" name="AutoShape 11"/>
              <p:cNvSpPr>
                <a:spLocks noChangeArrowheads="1"/>
              </p:cNvSpPr>
              <p:nvPr/>
            </p:nvSpPr>
            <p:spPr bwMode="auto">
              <a:xfrm rot="10800000">
                <a:off x="1295400" y="4343400"/>
                <a:ext cx="6934200" cy="914400"/>
              </a:xfrm>
              <a:custGeom>
                <a:avLst/>
                <a:gdLst>
                  <a:gd name="G0" fmla="+- 7961 0 0"/>
                  <a:gd name="G1" fmla="+- 21600 0 7961"/>
                  <a:gd name="G2" fmla="*/ 7961 1 2"/>
                  <a:gd name="G3" fmla="+- 21600 0 G2"/>
                  <a:gd name="G4" fmla="+/ 7961 21600 2"/>
                  <a:gd name="G5" fmla="+/ G1 0 2"/>
                  <a:gd name="G6" fmla="*/ 21600 21600 7961"/>
                  <a:gd name="G7" fmla="*/ G6 1 2"/>
                  <a:gd name="G8" fmla="+- 21600 0 G7"/>
                  <a:gd name="G9" fmla="*/ 21600 1 2"/>
                  <a:gd name="G10" fmla="+- 7961 0 G9"/>
                  <a:gd name="G11" fmla="?: G10 G8 0"/>
                  <a:gd name="G12" fmla="?: G10 G7 21600"/>
                  <a:gd name="T0" fmla="*/ 17619 w 21600"/>
                  <a:gd name="T1" fmla="*/ 10800 h 21600"/>
                  <a:gd name="T2" fmla="*/ 10800 w 21600"/>
                  <a:gd name="T3" fmla="*/ 21600 h 21600"/>
                  <a:gd name="T4" fmla="*/ 3981 w 21600"/>
                  <a:gd name="T5" fmla="*/ 10800 h 21600"/>
                  <a:gd name="T6" fmla="*/ 10800 w 21600"/>
                  <a:gd name="T7" fmla="*/ 0 h 21600"/>
                  <a:gd name="T8" fmla="*/ 5781 w 21600"/>
                  <a:gd name="T9" fmla="*/ 5781 h 21600"/>
                  <a:gd name="T10" fmla="*/ 15819 w 21600"/>
                  <a:gd name="T11" fmla="*/ 1581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7961" y="21600"/>
                    </a:lnTo>
                    <a:lnTo>
                      <a:pt x="136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10800000"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5" name="AutoShap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>
                <a:off x="1295400" y="4343400"/>
                <a:ext cx="6934200" cy="914400"/>
              </a:xfrm>
              <a:custGeom>
                <a:avLst/>
                <a:gdLst>
                  <a:gd name="G0" fmla="+- 7961 0 0"/>
                  <a:gd name="G1" fmla="+- 21600 0 7961"/>
                  <a:gd name="G2" fmla="*/ 7961 1 2"/>
                  <a:gd name="G3" fmla="+- 21600 0 G2"/>
                  <a:gd name="G4" fmla="+/ 7961 21600 2"/>
                  <a:gd name="G5" fmla="+/ G1 0 2"/>
                  <a:gd name="G6" fmla="*/ 21600 21600 7961"/>
                  <a:gd name="G7" fmla="*/ G6 1 2"/>
                  <a:gd name="G8" fmla="+- 21600 0 G7"/>
                  <a:gd name="G9" fmla="*/ 21600 1 2"/>
                  <a:gd name="G10" fmla="+- 7961 0 G9"/>
                  <a:gd name="G11" fmla="?: G10 G8 0"/>
                  <a:gd name="G12" fmla="?: G10 G7 21600"/>
                  <a:gd name="T0" fmla="*/ 17619 w 21600"/>
                  <a:gd name="T1" fmla="*/ 10800 h 21600"/>
                  <a:gd name="T2" fmla="*/ 10800 w 21600"/>
                  <a:gd name="T3" fmla="*/ 21600 h 21600"/>
                  <a:gd name="T4" fmla="*/ 3981 w 21600"/>
                  <a:gd name="T5" fmla="*/ 10800 h 21600"/>
                  <a:gd name="T6" fmla="*/ 10800 w 21600"/>
                  <a:gd name="T7" fmla="*/ 0 h 21600"/>
                  <a:gd name="T8" fmla="*/ 5781 w 21600"/>
                  <a:gd name="T9" fmla="*/ 5781 h 21600"/>
                  <a:gd name="T10" fmla="*/ 15819 w 21600"/>
                  <a:gd name="T11" fmla="*/ 1581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7961" y="21600"/>
                    </a:lnTo>
                    <a:lnTo>
                      <a:pt x="136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6" name="Rectangle 12"/>
              <p:cNvSpPr>
                <a:spLocks noChangeArrowheads="1"/>
              </p:cNvSpPr>
              <p:nvPr/>
            </p:nvSpPr>
            <p:spPr bwMode="auto">
              <a:xfrm>
                <a:off x="3886200" y="3733800"/>
                <a:ext cx="17526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87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3733800"/>
                <a:ext cx="1752600" cy="5334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77" name="Text Box 13"/>
              <p:cNvSpPr txBox="1">
                <a:spLocks noChangeArrowheads="1"/>
              </p:cNvSpPr>
              <p:nvPr/>
            </p:nvSpPr>
            <p:spPr bwMode="auto">
              <a:xfrm>
                <a:off x="533400" y="1143000"/>
                <a:ext cx="3044103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How to sign</a:t>
                </a:r>
                <a:r>
                  <a:rPr lang="pl-PL" sz="2000" dirty="0"/>
                  <a:t> a </a:t>
                </a:r>
                <a:r>
                  <a:rPr lang="en-US" sz="2000" dirty="0"/>
                  <a:t>message</a:t>
                </a:r>
                <a:r>
                  <a:rPr lang="pl-PL" sz="2000" dirty="0"/>
                  <a:t>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dirty="0"/>
                  <a:t>?</a:t>
                </a:r>
              </a:p>
            </p:txBody>
          </p:sp>
        </mc:Choice>
        <mc:Fallback xmlns="">
          <p:sp>
            <p:nvSpPr>
              <p:cNvPr id="368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143000"/>
                <a:ext cx="3044103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2204" t="-9231" r="-1603" b="-261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23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 animBg="1"/>
      <p:bldP spid="368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152400"/>
            <a:ext cx="8229600" cy="1143000"/>
          </a:xfrm>
        </p:spPr>
        <p:txBody>
          <a:bodyPr/>
          <a:lstStyle/>
          <a:p>
            <a:r>
              <a:rPr lang="en-US" dirty="0"/>
              <a:t>Hash-and-Sign [3/4]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04800" y="914400"/>
            <a:ext cx="1792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How to verify?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02" name="Rectangle 10"/>
              <p:cNvSpPr>
                <a:spLocks noChangeArrowheads="1"/>
              </p:cNvSpPr>
              <p:nvPr/>
            </p:nvSpPr>
            <p:spPr bwMode="auto">
              <a:xfrm>
                <a:off x="2667000" y="3657600"/>
                <a:ext cx="15240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80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3657600"/>
                <a:ext cx="1524000" cy="5334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3657600" y="1676400"/>
            <a:ext cx="1524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yes / no</a:t>
            </a:r>
            <a:endParaRPr lang="el-GR" sz="2400" b="1" dirty="0">
              <a:solidFill>
                <a:srgbClr val="FF0000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04" name="AutoShape 12"/>
              <p:cNvSpPr>
                <a:spLocks noChangeArrowheads="1"/>
              </p:cNvSpPr>
              <p:nvPr/>
            </p:nvSpPr>
            <p:spPr bwMode="auto">
              <a:xfrm>
                <a:off x="1981200" y="2286000"/>
                <a:ext cx="4724400" cy="1295400"/>
              </a:xfrm>
              <a:prstGeom prst="upArrow">
                <a:avLst>
                  <a:gd name="adj1" fmla="val 71194"/>
                  <a:gd name="adj2" fmla="val 54773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804" name="AutoShap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2286000"/>
                <a:ext cx="4724400" cy="1295400"/>
              </a:xfrm>
              <a:prstGeom prst="upArrow">
                <a:avLst>
                  <a:gd name="adj1" fmla="val 71194"/>
                  <a:gd name="adj2" fmla="val 54773"/>
                </a:avLst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06" name="Rectangle 14"/>
              <p:cNvSpPr>
                <a:spLocks noChangeArrowheads="1"/>
              </p:cNvSpPr>
              <p:nvPr/>
            </p:nvSpPr>
            <p:spPr bwMode="auto">
              <a:xfrm>
                <a:off x="1676400" y="5257800"/>
                <a:ext cx="6934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806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5257800"/>
                <a:ext cx="69342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07" name="AutoShape 15"/>
              <p:cNvSpPr>
                <a:spLocks noChangeArrowheads="1"/>
              </p:cNvSpPr>
              <p:nvPr/>
            </p:nvSpPr>
            <p:spPr bwMode="auto">
              <a:xfrm rot="10800000">
                <a:off x="1676400" y="4267200"/>
                <a:ext cx="6934200" cy="914400"/>
              </a:xfrm>
              <a:custGeom>
                <a:avLst/>
                <a:gdLst>
                  <a:gd name="G0" fmla="+- 7961 0 0"/>
                  <a:gd name="G1" fmla="+- 21600 0 7961"/>
                  <a:gd name="G2" fmla="*/ 7961 1 2"/>
                  <a:gd name="G3" fmla="+- 21600 0 G2"/>
                  <a:gd name="G4" fmla="+/ 7961 21600 2"/>
                  <a:gd name="G5" fmla="+/ G1 0 2"/>
                  <a:gd name="G6" fmla="*/ 21600 21600 7961"/>
                  <a:gd name="G7" fmla="*/ G6 1 2"/>
                  <a:gd name="G8" fmla="+- 21600 0 G7"/>
                  <a:gd name="G9" fmla="*/ 21600 1 2"/>
                  <a:gd name="G10" fmla="+- 7961 0 G9"/>
                  <a:gd name="G11" fmla="?: G10 G8 0"/>
                  <a:gd name="G12" fmla="?: G10 G7 21600"/>
                  <a:gd name="T0" fmla="*/ 17619 w 21600"/>
                  <a:gd name="T1" fmla="*/ 10800 h 21600"/>
                  <a:gd name="T2" fmla="*/ 10800 w 21600"/>
                  <a:gd name="T3" fmla="*/ 21600 h 21600"/>
                  <a:gd name="T4" fmla="*/ 3981 w 21600"/>
                  <a:gd name="T5" fmla="*/ 10800 h 21600"/>
                  <a:gd name="T6" fmla="*/ 10800 w 21600"/>
                  <a:gd name="T7" fmla="*/ 0 h 21600"/>
                  <a:gd name="T8" fmla="*/ 5781 w 21600"/>
                  <a:gd name="T9" fmla="*/ 5781 h 21600"/>
                  <a:gd name="T10" fmla="*/ 15819 w 21600"/>
                  <a:gd name="T11" fmla="*/ 1581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7961" y="21600"/>
                    </a:lnTo>
                    <a:lnTo>
                      <a:pt x="136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10800000"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807" name="AutoShap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>
                <a:off x="1676400" y="4267200"/>
                <a:ext cx="6934200" cy="914400"/>
              </a:xfrm>
              <a:custGeom>
                <a:avLst/>
                <a:gdLst>
                  <a:gd name="G0" fmla="+- 7961 0 0"/>
                  <a:gd name="G1" fmla="+- 21600 0 7961"/>
                  <a:gd name="G2" fmla="*/ 7961 1 2"/>
                  <a:gd name="G3" fmla="+- 21600 0 G2"/>
                  <a:gd name="G4" fmla="+/ 7961 21600 2"/>
                  <a:gd name="G5" fmla="+/ G1 0 2"/>
                  <a:gd name="G6" fmla="*/ 21600 21600 7961"/>
                  <a:gd name="G7" fmla="*/ G6 1 2"/>
                  <a:gd name="G8" fmla="+- 21600 0 G7"/>
                  <a:gd name="G9" fmla="*/ 21600 1 2"/>
                  <a:gd name="G10" fmla="+- 7961 0 G9"/>
                  <a:gd name="G11" fmla="?: G10 G8 0"/>
                  <a:gd name="G12" fmla="?: G10 G7 21600"/>
                  <a:gd name="T0" fmla="*/ 17619 w 21600"/>
                  <a:gd name="T1" fmla="*/ 10800 h 21600"/>
                  <a:gd name="T2" fmla="*/ 10800 w 21600"/>
                  <a:gd name="T3" fmla="*/ 21600 h 21600"/>
                  <a:gd name="T4" fmla="*/ 3981 w 21600"/>
                  <a:gd name="T5" fmla="*/ 10800 h 21600"/>
                  <a:gd name="T6" fmla="*/ 10800 w 21600"/>
                  <a:gd name="T7" fmla="*/ 0 h 21600"/>
                  <a:gd name="T8" fmla="*/ 5781 w 21600"/>
                  <a:gd name="T9" fmla="*/ 5781 h 21600"/>
                  <a:gd name="T10" fmla="*/ 15819 w 21600"/>
                  <a:gd name="T11" fmla="*/ 1581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7961" y="21600"/>
                    </a:lnTo>
                    <a:lnTo>
                      <a:pt x="136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08" name="Rectangle 16"/>
              <p:cNvSpPr>
                <a:spLocks noChangeArrowheads="1"/>
              </p:cNvSpPr>
              <p:nvPr/>
            </p:nvSpPr>
            <p:spPr bwMode="auto">
              <a:xfrm>
                <a:off x="4267200" y="3657600"/>
                <a:ext cx="17526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808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3657600"/>
                <a:ext cx="1752600" cy="5334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8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 animBg="1"/>
      <p:bldP spid="33803" grpId="0" animBg="1"/>
      <p:bldP spid="3380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892" name="Rectangle 4"/>
              <p:cNvSpPr>
                <a:spLocks noChangeArrowheads="1"/>
              </p:cNvSpPr>
              <p:nvPr/>
            </p:nvSpPr>
            <p:spPr bwMode="auto">
              <a:xfrm>
                <a:off x="32" y="4714884"/>
                <a:ext cx="9144000" cy="115251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457200" anchor="ctr"/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600" dirty="0"/>
                  <a:t>Then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becomes a part of the public key and the </a:t>
                </a:r>
                <a:r>
                  <a:rPr lang="en-US" sz="2600" dirty="0" err="1"/>
                  <a:t>pri</a:t>
                </a:r>
                <a:r>
                  <a:rPr lang="pl-PL" sz="2600" dirty="0"/>
                  <a:t>v</a:t>
                </a:r>
                <a:r>
                  <a:rPr lang="en-US" sz="2600" dirty="0"/>
                  <a:t>ate key.</a:t>
                </a:r>
              </a:p>
            </p:txBody>
          </p:sp>
        </mc:Choice>
        <mc:Fallback xmlns="">
          <p:sp>
            <p:nvSpPr>
              <p:cNvPr id="3789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" y="4714884"/>
                <a:ext cx="9144000" cy="11525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6"/>
            <a:ext cx="7886700" cy="1325563"/>
          </a:xfrm>
        </p:spPr>
        <p:txBody>
          <a:bodyPr/>
          <a:lstStyle/>
          <a:p>
            <a:r>
              <a:rPr lang="en-US" dirty="0"/>
              <a:t>Hash-and-Sign [4/4]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287655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800" dirty="0"/>
                  <a:t>It can be proven that this construction is secure, assuming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r>
                      <a:rPr lang="en-US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secure.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800" dirty="0"/>
              </a:p>
              <a:p>
                <a:pPr marL="0" indent="0">
                  <a:lnSpc>
                    <a:spcPct val="80000"/>
                  </a:lnSpc>
                  <a:buFontTx/>
                  <a:buNone/>
                </a:pPr>
                <a:r>
                  <a:rPr lang="en-US" sz="2800" dirty="0"/>
                  <a:t>For this we need to assume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dirty="0"/>
                  <a:t> is taken from a family of collision-resilient hash functions.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800" dirty="0"/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r>
                                <a:rPr lang="en-US" sz="4000" b="1" i="1" baseline="300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  <m:sub>
                          <m:r>
                            <a:rPr lang="en-US" sz="4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4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4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𝐤𝐞𝐲𝐬</m:t>
                          </m:r>
                        </m:sub>
                      </m:sSub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endParaRPr lang="en-US" sz="2800" b="1" baseline="-25000" dirty="0">
                  <a:solidFill>
                    <a:srgbClr val="9933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7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2876550"/>
              </a:xfrm>
              <a:blipFill>
                <a:blip r:embed="rId4"/>
                <a:stretch>
                  <a:fillRect l="-1698" t="-6608" b="-2643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6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2285992"/>
            <a:ext cx="91440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365760" anchor="ctr"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But at least the attacks described before “look infeasible”.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5720" y="152400"/>
            <a:ext cx="836108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Can anything be proven about the “hashed RSA” scheme?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5720" y="1550745"/>
            <a:ext cx="7886700" cy="575376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400" dirty="0"/>
              <a:t>In the plain model - not really.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67442" y="3501991"/>
                <a:ext cx="8540946" cy="24191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09600" indent="-609600">
                  <a:lnSpc>
                    <a:spcPct val="90000"/>
                  </a:lnSpc>
                  <a:buFontTx/>
                  <a:buAutoNum type="arabicPeriod"/>
                </a:pPr>
                <a:r>
                  <a:rPr lang="en-US" sz="2400" b="1" dirty="0"/>
                  <a:t>For the “no message attack”</a:t>
                </a:r>
                <a:r>
                  <a:rPr lang="en-US" sz="2400" dirty="0"/>
                  <a:t>: one would need to invert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.</a:t>
                </a:r>
                <a:br>
                  <a:rPr lang="pl-PL" sz="2400" dirty="0"/>
                </a:br>
                <a:endParaRPr lang="en-US" sz="2400" dirty="0"/>
              </a:p>
              <a:p>
                <a:pPr marL="609600" indent="-609600">
                  <a:lnSpc>
                    <a:spcPct val="90000"/>
                  </a:lnSpc>
                  <a:buFontTx/>
                  <a:buAutoNum type="arabicPeriod"/>
                </a:pPr>
                <a:r>
                  <a:rPr lang="en-US" sz="2400" b="1" dirty="0"/>
                  <a:t>The second (“homomorphic”) attack</a:t>
                </a:r>
                <a:r>
                  <a:rPr lang="pl-PL" sz="2400" dirty="0"/>
                  <a:t>:</a:t>
                </a:r>
                <a:br>
                  <a:rPr lang="pl-PL" sz="2400" dirty="0"/>
                </a:br>
                <a:r>
                  <a:rPr lang="en-US" sz="2400" dirty="0"/>
                  <a:t>Looks impossible because the adversary would need to find messages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dirty="0"/>
                  <a:t> such that</a:t>
                </a:r>
              </a:p>
              <a:p>
                <a:pPr>
                  <a:lnSpc>
                    <a:spcPct val="90000"/>
                  </a:lnSpc>
                </a:pPr>
                <a:endParaRPr lang="en-US" sz="2400" dirty="0"/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·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42" y="3501991"/>
                <a:ext cx="8540946" cy="2419124"/>
              </a:xfrm>
              <a:prstGeom prst="rect">
                <a:avLst/>
              </a:prstGeom>
              <a:blipFill rotWithShape="0">
                <a:blip r:embed="rId3"/>
                <a:stretch>
                  <a:fillRect l="-1071" t="-3526" r="-1642" b="-302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1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nimBg="1"/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6849583" y="3603814"/>
            <a:ext cx="1806362" cy="212661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493550" y="3948821"/>
                <a:ext cx="6286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550" y="3948821"/>
                <a:ext cx="628634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942" b="-526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096414" y="4755492"/>
                <a:ext cx="1312699" cy="451245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414" y="4755492"/>
                <a:ext cx="1312699" cy="451245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rapezoid 7"/>
          <p:cNvSpPr/>
          <p:nvPr/>
        </p:nvSpPr>
        <p:spPr>
          <a:xfrm rot="5400000">
            <a:off x="2901431" y="2407766"/>
            <a:ext cx="3341135" cy="5161031"/>
          </a:xfrm>
          <a:prstGeom prst="trapezoid">
            <a:avLst>
              <a:gd name="adj" fmla="val 4384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077" y="214210"/>
            <a:ext cx="7886700" cy="1325563"/>
          </a:xfrm>
        </p:spPr>
        <p:txBody>
          <a:bodyPr/>
          <a:lstStyle/>
          <a:p>
            <a:r>
              <a:rPr lang="en-US" dirty="0"/>
              <a:t>Why the security proof from the RSA assumption is impossible?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387077" y="3281742"/>
                <a:ext cx="3231254" cy="339394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messages</a:t>
                </a:r>
              </a:p>
              <a:p>
                <a:pPr algn="ctr"/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pl-PL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77" y="3281742"/>
                <a:ext cx="3231254" cy="339394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18799" y="4739463"/>
                <a:ext cx="2275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799" y="4739463"/>
                <a:ext cx="2275431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7077" y="1649557"/>
                <a:ext cx="81454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RSA assumption </a:t>
                </a:r>
                <a:r>
                  <a:rPr lang="en-US" sz="2400" dirty="0"/>
                  <a:t>holds for inputs chosen </a:t>
                </a:r>
                <a:r>
                  <a:rPr lang="en-US" sz="2400" b="1" dirty="0"/>
                  <a:t>uniformly at random</a:t>
                </a:r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dirty="0"/>
                  <a:t>But the output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is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not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“uniformly random”</a:t>
                </a:r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77" y="1649557"/>
                <a:ext cx="8145453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1122" t="-4061" b="-1066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42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6" grpId="0" animBg="1"/>
      <p:bldP spid="8" grpId="0" animBg="1"/>
      <p:bldP spid="4" grpId="0" animBg="1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0" y="245185"/>
            <a:ext cx="85344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Solution: </a:t>
            </a:r>
            <a:r>
              <a:rPr lang="en-US" sz="4000" b="1" dirty="0"/>
              <a:t>“Full Domain Hash” (FDH)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70748"/>
                <a:ext cx="8159750" cy="49085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provably secure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under the </a:t>
                </a:r>
                <a:r>
                  <a:rPr lang="en-US" b="1" dirty="0">
                    <a:solidFill>
                      <a:srgbClr val="7030A0"/>
                    </a:solidFill>
                  </a:rPr>
                  <a:t>RSA assumption</a:t>
                </a:r>
              </a:p>
              <a:p>
                <a:r>
                  <a:rPr lang="en-US" dirty="0"/>
                  <a:t>and modelling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 random oracle. </a:t>
                </a:r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Introduced in </a:t>
                </a:r>
              </a:p>
              <a:p>
                <a:pPr marL="457200" lvl="1" indent="0">
                  <a:buNone/>
                </a:pPr>
                <a:r>
                  <a:rPr lang="en-US" b="1" dirty="0" err="1">
                    <a:solidFill>
                      <a:srgbClr val="00B050"/>
                    </a:solidFill>
                  </a:rPr>
                  <a:t>Bellare</a:t>
                </a:r>
                <a:r>
                  <a:rPr lang="en-US" b="1" dirty="0">
                    <a:solidFill>
                      <a:srgbClr val="00B050"/>
                    </a:solidFill>
                  </a:rPr>
                  <a:t> and Rogaway. </a:t>
                </a:r>
                <a:r>
                  <a:rPr lang="en-US" b="1" i="1" dirty="0">
                    <a:solidFill>
                      <a:srgbClr val="00B050"/>
                    </a:solidFill>
                  </a:rPr>
                  <a:t>The exact security of digital signatures: How to sign with RSA and Rabin</a:t>
                </a:r>
                <a:r>
                  <a:rPr lang="en-US" b="1" dirty="0">
                    <a:solidFill>
                      <a:srgbClr val="00B050"/>
                    </a:solidFill>
                  </a:rPr>
                  <a:t>.  EUROCRYPT’96</a:t>
                </a:r>
              </a:p>
              <a:p>
                <a:pPr marL="457200" lvl="1" indent="0">
                  <a:buNone/>
                </a:pPr>
                <a:endParaRPr lang="en-US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Widely used in practice (for example in the </a:t>
                </a:r>
                <a:r>
                  <a:rPr lang="pl-PL" b="1" dirty="0">
                    <a:solidFill>
                      <a:srgbClr val="0070C0"/>
                    </a:solidFill>
                  </a:rPr>
                  <a:t>PKCS #1</a:t>
                </a:r>
                <a:r>
                  <a:rPr lang="en-US" b="1" dirty="0">
                    <a:solidFill>
                      <a:srgbClr val="0070C0"/>
                    </a:solidFill>
                  </a:rPr>
                  <a:t> standard</a:t>
                </a:r>
                <a:r>
                  <a:rPr lang="en-US" dirty="0"/>
                  <a:t>)</a:t>
                </a: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70748"/>
                <a:ext cx="8159750" cy="4908589"/>
              </a:xfrm>
              <a:blipFill rotWithShape="0">
                <a:blip r:embed="rId2"/>
                <a:stretch>
                  <a:fillRect l="-1494" t="-2236" r="-523" b="-248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42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29110"/>
            <a:ext cx="851535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Fact (security of the </a:t>
            </a:r>
            <a:r>
              <a:rPr lang="en-US" sz="3600" b="1" dirty="0"/>
              <a:t>Full Domain Hash</a:t>
            </a:r>
            <a:r>
              <a:rPr lang="en-US" sz="3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933619"/>
                <a:ext cx="8289058" cy="3945468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 anchorCtr="0"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be a hash function modeled as a </a:t>
                </a:r>
                <a:r>
                  <a:rPr lang="en-US" b="1" dirty="0"/>
                  <a:t>random oracle.</a:t>
                </a:r>
              </a:p>
              <a:p>
                <a:r>
                  <a:rPr lang="en-US" dirty="0"/>
                  <a:t>Suppose the </a:t>
                </a:r>
                <a:r>
                  <a:rPr lang="en-US" b="1" dirty="0">
                    <a:solidFill>
                      <a:srgbClr val="0070C0"/>
                    </a:solidFill>
                  </a:rPr>
                  <a:t>RSA assumption </a:t>
                </a:r>
                <a:r>
                  <a:rPr lang="en-US" dirty="0"/>
                  <a:t>holds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the “</a:t>
                </a:r>
                <a:r>
                  <a:rPr lang="en-US" b="1" dirty="0"/>
                  <a:t>hashed RSA</a:t>
                </a:r>
                <a:r>
                  <a:rPr lang="en-US" dirty="0"/>
                  <a:t>” is </a:t>
                </a:r>
                <a:r>
                  <a:rPr lang="pl-PL" b="1" dirty="0">
                    <a:solidFill>
                      <a:srgbClr val="7030A0"/>
                    </a:solidFill>
                  </a:rPr>
                  <a:t>existentially unforgeable </a:t>
                </a:r>
                <a:r>
                  <a:rPr lang="pl-PL" b="1" dirty="0" err="1">
                    <a:solidFill>
                      <a:srgbClr val="7030A0"/>
                    </a:solidFill>
                  </a:rPr>
                  <a:t>under</a:t>
                </a:r>
                <a:r>
                  <a:rPr lang="pl-PL" b="1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an adaptive chosen-message attack</a:t>
                </a:r>
                <a:r>
                  <a:rPr lang="en-US" dirty="0"/>
                  <a:t>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933619"/>
                <a:ext cx="8289058" cy="3945468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792008" y="1663700"/>
            <a:ext cx="3562233" cy="60341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Lemma</a:t>
            </a:r>
            <a:r>
              <a:rPr lang="en-US" sz="2800" dirty="0"/>
              <a:t> (informal)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70883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7392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Remember the Random Oracle Model?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2411404"/>
            <a:ext cx="2143140" cy="237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895462" y="4348198"/>
                <a:ext cx="2301399" cy="36933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462" y="4348198"/>
                <a:ext cx="2301399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ular Callout 5"/>
          <p:cNvSpPr/>
          <p:nvPr/>
        </p:nvSpPr>
        <p:spPr>
          <a:xfrm>
            <a:off x="5786446" y="4054478"/>
            <a:ext cx="2786082" cy="714380"/>
          </a:xfrm>
          <a:prstGeom prst="wedgeRectCallout">
            <a:avLst>
              <a:gd name="adj1" fmla="val -80222"/>
              <a:gd name="adj2" fmla="val 230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completely random function</a:t>
            </a:r>
          </a:p>
        </p:txBody>
      </p:sp>
      <p:grpSp>
        <p:nvGrpSpPr>
          <p:cNvPr id="7" name="Group 10"/>
          <p:cNvGrpSpPr/>
          <p:nvPr/>
        </p:nvGrpSpPr>
        <p:grpSpPr>
          <a:xfrm>
            <a:off x="1285852" y="3054346"/>
            <a:ext cx="1500198" cy="369332"/>
            <a:chOff x="714348" y="4572008"/>
            <a:chExt cx="1500198" cy="369332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714348" y="4714884"/>
              <a:ext cx="1500198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357290" y="4572008"/>
                  <a:ext cx="369012" cy="36933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290" y="4572008"/>
                  <a:ext cx="369012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11"/>
          <p:cNvGrpSpPr/>
          <p:nvPr/>
        </p:nvGrpSpPr>
        <p:grpSpPr>
          <a:xfrm>
            <a:off x="1285852" y="3625850"/>
            <a:ext cx="1428760" cy="369332"/>
            <a:chOff x="714348" y="5143512"/>
            <a:chExt cx="1428760" cy="369332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714348" y="5286388"/>
              <a:ext cx="142876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062024" y="5143512"/>
                  <a:ext cx="742511" cy="36933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24" y="5143512"/>
                  <a:ext cx="742511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4298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help?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98444" y="6130491"/>
                <a:ext cx="44805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here we require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is random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444" y="6130491"/>
                <a:ext cx="4480522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2177" t="-10667" r="-1497" b="-30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3567" y="1558828"/>
                <a:ext cx="8358246" cy="364708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latin typeface="Cambria" panose="02040503050406030204" pitchFamily="18" charset="0"/>
                  </a:rPr>
                  <a:t>RSA assumption</a:t>
                </a:r>
              </a:p>
              <a:p>
                <a:r>
                  <a:rPr lang="en-US" sz="2400" dirty="0">
                    <a:latin typeface="Cambria" panose="02040503050406030204" pitchFamily="18" charset="0"/>
                  </a:rPr>
                  <a:t>For any randomized polynomial time algorithm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we have:</a:t>
                </a:r>
              </a:p>
              <a:p>
                <a:endParaRPr lang="en-US" sz="2400" dirty="0">
                  <a:latin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p>
                          </m:sSup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  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:= 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d>
                            <m:d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8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sz="28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1" i="1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</m:d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b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</a:br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is negligible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</a:endParaRPr>
              </a:p>
              <a:p>
                <a:r>
                  <a:rPr lang="en-US" sz="2400" dirty="0">
                    <a:latin typeface="Cambria" panose="02040503050406030204" pitchFamily="18" charset="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 are random primes such that </a:t>
                </a:r>
                <a:br>
                  <a:rPr lang="en-US" sz="2400" dirty="0">
                    <a:latin typeface="Cambria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is 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it-IT" sz="2400" dirty="0">
                    <a:latin typeface="Cambria" panose="02040503050406030204" pitchFamily="18" charset="0"/>
                    <a:cs typeface="Arial"/>
                  </a:rPr>
                  <a:t>,</a:t>
                </a:r>
              </a:p>
              <a:p>
                <a:r>
                  <a:rPr lang="it-IT" sz="2400" dirty="0">
                    <a:latin typeface="Cambria" panose="02040503050406030204" pitchFamily="18" charset="0"/>
                    <a:cs typeface="Arial"/>
                  </a:rPr>
                  <a:t>and</a:t>
                </a:r>
                <a:r>
                  <a:rPr lang="it-IT" sz="2400" dirty="0">
                    <a:solidFill>
                      <a:srgbClr val="C00000"/>
                    </a:solidFill>
                    <a:latin typeface="Cambria" panose="02040503050406030204" pitchFamily="18" charset="0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𝒆</m:t>
                    </m:r>
                  </m:oMath>
                </a14:m>
                <a:r>
                  <a:rPr lang="it-IT" sz="2400" dirty="0">
                    <a:solidFill>
                      <a:srgbClr val="C00000"/>
                    </a:solidFill>
                    <a:latin typeface="Cambria" panose="02040503050406030204" pitchFamily="18" charset="0"/>
                    <a:cs typeface="Arial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  <a:cs typeface="Arial"/>
                  </a:rPr>
                  <a:t>is a random element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d>
                      </m:sub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>
                    <a:latin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67" y="1558828"/>
                <a:ext cx="8358246" cy="3647089"/>
              </a:xfrm>
              <a:prstGeom prst="rect">
                <a:avLst/>
              </a:prstGeom>
              <a:blipFill rotWithShape="0">
                <a:blip r:embed="rId4"/>
                <a:stretch>
                  <a:fillRect l="-870" t="-659" b="-4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/>
          <p:cNvSpPr/>
          <p:nvPr/>
        </p:nvSpPr>
        <p:spPr>
          <a:xfrm rot="8981916">
            <a:off x="3866092" y="4606032"/>
            <a:ext cx="642942" cy="1580002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55" y="348297"/>
            <a:ext cx="7989430" cy="1325563"/>
          </a:xfrm>
        </p:spPr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485" y="5889427"/>
            <a:ext cx="4257849" cy="682148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lang="en-US" sz="2400" dirty="0"/>
              <a:t>This helps a lot in the proof!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74455" y="1869559"/>
                <a:ext cx="8326370" cy="135421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/>
                  <a:t>If we just use a “normal hash function” then the distribution of </a:t>
                </a:r>
              </a:p>
              <a:p>
                <a:pPr algn="ctr"/>
                <a:endParaRPr lang="en-US" sz="5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),…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endParaRPr lang="en-US" sz="500" dirty="0"/>
              </a:p>
              <a:p>
                <a:r>
                  <a:rPr lang="en-US" sz="2400" dirty="0"/>
                  <a:t>(for any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400" dirty="0"/>
                  <a:t>) can be “arbitrary”.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55" y="1869559"/>
                <a:ext cx="8326370" cy="13542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4455" y="4050030"/>
                <a:ext cx="8326370" cy="135421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a random oracle then </a:t>
                </a:r>
              </a:p>
              <a:p>
                <a:endParaRPr lang="en-US" sz="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),… </m:t>
                      </m:r>
                    </m:oMath>
                  </m:oMathPara>
                </a14:m>
                <a:endParaRPr lang="en-US" sz="2400" dirty="0"/>
              </a:p>
              <a:p>
                <a:endParaRPr lang="en-US" sz="500" dirty="0"/>
              </a:p>
              <a:p>
                <a:r>
                  <a:rPr lang="en-US" sz="2400" dirty="0"/>
                  <a:t>are</a:t>
                </a:r>
                <a:r>
                  <a:rPr lang="en-US" sz="2400" b="1" dirty="0"/>
                  <a:t> </a:t>
                </a:r>
                <a:r>
                  <a:rPr lang="en-US" sz="2400" dirty="0"/>
                  <a:t>uniform and independent (for pairwise different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dirty="0"/>
                  <a:t>’s).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55" y="4050030"/>
                <a:ext cx="8326370" cy="135421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63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12750" y="206376"/>
            <a:ext cx="7886700" cy="1325563"/>
          </a:xfrm>
        </p:spPr>
        <p:txBody>
          <a:bodyPr/>
          <a:lstStyle/>
          <a:p>
            <a:r>
              <a:rPr lang="en-US" sz="4000" dirty="0"/>
              <a:t>Other popular signature schemes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3550" y="14700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Rabin</a:t>
                </a:r>
                <a:r>
                  <a:rPr lang="en-US" sz="2400" dirty="0"/>
                  <a:t> signatures (based on squaring mod</a:t>
                </a:r>
                <a:r>
                  <a:rPr lang="pl-PL" sz="2400" dirty="0"/>
                  <a:t>ulo</a:t>
                </a:r>
                <a:r>
                  <a:rPr lang="en-US" sz="2400" dirty="0"/>
                  <a:t>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N</a:t>
                </a:r>
                <a:r>
                  <a:rPr lang="pl-PL" sz="2400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=</a:t>
                </a:r>
                <a:r>
                  <a:rPr lang="pl-PL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i="1" dirty="0" err="1">
                    <a:solidFill>
                      <a:srgbClr val="FF0000"/>
                    </a:solidFill>
                  </a:rPr>
                  <a:t>pq</a:t>
                </a:r>
                <a:r>
                  <a:rPr lang="en-US" sz="2400" dirty="0"/>
                  <a:t>)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400" dirty="0"/>
              </a:p>
              <a:p>
                <a:pPr marL="0" indent="0">
                  <a:lnSpc>
                    <a:spcPct val="90000"/>
                  </a:lnSpc>
                  <a:buFontTx/>
                  <a:buNone/>
                </a:pPr>
                <a:r>
                  <a:rPr lang="en-US" sz="2400" dirty="0"/>
                  <a:t>Based on discrete log</a:t>
                </a:r>
                <a:r>
                  <a:rPr lang="pl-PL" sz="2400" dirty="0"/>
                  <a:t> (</a:t>
                </a:r>
                <a:r>
                  <a:rPr lang="en-US" sz="2400" dirty="0"/>
                  <a:t>usually: in subgroups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 or in elliptic curves groups):</a:t>
                </a:r>
                <a:br>
                  <a:rPr lang="en-US" sz="2400" dirty="0"/>
                </a:br>
                <a:endParaRPr lang="en-US" sz="2400" dirty="0"/>
              </a:p>
              <a:p>
                <a:pPr>
                  <a:lnSpc>
                    <a:spcPct val="90000"/>
                  </a:lnSpc>
                </a:pPr>
                <a:r>
                  <a:rPr lang="pl-PL" sz="2400" b="1" dirty="0"/>
                  <a:t>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ElGamal</a:t>
                </a:r>
                <a:r>
                  <a:rPr lang="en-US" sz="2400" dirty="0"/>
                  <a:t> signatures</a:t>
                </a:r>
              </a:p>
              <a:p>
                <a:pPr>
                  <a:lnSpc>
                    <a:spcPct val="90000"/>
                  </a:lnSpc>
                </a:pPr>
                <a:r>
                  <a:rPr lang="pl-PL" sz="2400" dirty="0"/>
                  <a:t> </a:t>
                </a:r>
                <a:r>
                  <a:rPr lang="en-US" sz="2400" dirty="0"/>
                  <a:t>Digital Signature Standard</a:t>
                </a:r>
                <a:br>
                  <a:rPr lang="en-US" sz="2400" dirty="0"/>
                </a:br>
                <a:r>
                  <a:rPr lang="en-US" sz="2400" dirty="0"/>
                  <a:t> (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DSS</a:t>
                </a:r>
                <a:r>
                  <a:rPr lang="en-US" sz="2400" dirty="0"/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pl-PL" sz="2400" b="1" dirty="0"/>
                  <a:t> </a:t>
                </a:r>
                <a:r>
                  <a:rPr lang="en-US" sz="2400" b="1" dirty="0" err="1">
                    <a:solidFill>
                      <a:srgbClr val="00B050"/>
                    </a:solidFill>
                  </a:rPr>
                  <a:t>Schnorr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signatures</a:t>
                </a:r>
              </a:p>
              <a:p>
                <a:pPr>
                  <a:lnSpc>
                    <a:spcPct val="9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90000"/>
                  </a:lnSpc>
                  <a:buNone/>
                </a:pPr>
                <a:endParaRPr lang="pl-PL" sz="2400" dirty="0"/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3550" y="1470025"/>
                <a:ext cx="7886700" cy="4351338"/>
              </a:xfrm>
              <a:blipFill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/>
          <p:cNvSpPr/>
          <p:nvPr/>
        </p:nvSpPr>
        <p:spPr>
          <a:xfrm>
            <a:off x="4298950" y="3359150"/>
            <a:ext cx="482600" cy="2025650"/>
          </a:xfrm>
          <a:prstGeom prst="rightBrace">
            <a:avLst>
              <a:gd name="adj1" fmla="val 40248"/>
              <a:gd name="adj2" fmla="val 50000"/>
            </a:avLst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Rectangle 2"/>
          <p:cNvSpPr/>
          <p:nvPr/>
        </p:nvSpPr>
        <p:spPr>
          <a:xfrm>
            <a:off x="4946650" y="3105150"/>
            <a:ext cx="3600450" cy="322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can be viewed as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identification schemes </a:t>
            </a:r>
            <a:r>
              <a:rPr lang="en-US" sz="2800" dirty="0"/>
              <a:t>transformed using </a:t>
            </a:r>
            <a:r>
              <a:rPr lang="en-US" sz="2800" b="1" dirty="0">
                <a:solidFill>
                  <a:srgbClr val="7030A0"/>
                </a:solidFill>
              </a:rPr>
              <a:t>Fiat-Shamir transform</a:t>
            </a:r>
            <a:r>
              <a:rPr lang="en-US" sz="2800" dirty="0"/>
              <a:t>.</a:t>
            </a:r>
          </a:p>
        </p:txBody>
      </p:sp>
      <p:sp>
        <p:nvSpPr>
          <p:cNvPr id="4" name="Rectangular Callout 3"/>
          <p:cNvSpPr/>
          <p:nvPr/>
        </p:nvSpPr>
        <p:spPr>
          <a:xfrm>
            <a:off x="1746250" y="5769833"/>
            <a:ext cx="2794000" cy="612648"/>
          </a:xfrm>
          <a:prstGeom prst="wedgeRectCallout">
            <a:avLst>
              <a:gd name="adj1" fmla="val 62576"/>
              <a:gd name="adj2" fmla="val -12717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</a:t>
            </a:r>
            <a:r>
              <a:rPr lang="pl-PL" sz="2400" dirty="0" err="1"/>
              <a:t>will</a:t>
            </a:r>
            <a:r>
              <a:rPr lang="pl-PL" sz="2400" dirty="0"/>
              <a:t> </a:t>
            </a:r>
            <a:r>
              <a:rPr lang="en-US" sz="2400" dirty="0"/>
              <a:t>explain it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81405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  <p:bldP spid="2" grpId="0" animBg="1"/>
      <p:bldP spid="3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340768"/>
            <a:ext cx="6929486" cy="4680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definition of secure 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Signatures based on RSA, “hash-and-sign”, “full-domain-hash”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based on discrete log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identification schemes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/>
              <a:t>Schnorr</a:t>
            </a:r>
            <a:r>
              <a:rPr lang="en-US" dirty="0"/>
              <a:t> signatures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DSA signatures</a:t>
            </a:r>
          </a:p>
          <a:p>
            <a:pPr marL="457200" indent="-514350">
              <a:buFont typeface="+mj-lt"/>
              <a:buAutoNum type="arabicPeriod"/>
            </a:pPr>
            <a:r>
              <a:rPr lang="en-US"/>
              <a:t>Theoretical constructions</a:t>
            </a: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65266" y="355056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61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ular Callout 45"/>
          <p:cNvSpPr/>
          <p:nvPr/>
        </p:nvSpPr>
        <p:spPr>
          <a:xfrm>
            <a:off x="819807" y="5365547"/>
            <a:ext cx="7571953" cy="1219200"/>
          </a:xfrm>
          <a:prstGeom prst="wedgeRectCallout">
            <a:avLst>
              <a:gd name="adj1" fmla="val 32851"/>
              <a:gd name="adj2" fmla="val -7762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08" y="139587"/>
            <a:ext cx="8107392" cy="1046214"/>
          </a:xfrm>
        </p:spPr>
        <p:txBody>
          <a:bodyPr/>
          <a:lstStyle/>
          <a:p>
            <a:r>
              <a:rPr lang="en-US" dirty="0"/>
              <a:t>Identification schemes</a:t>
            </a:r>
            <a:endParaRPr lang="pl-PL" dirty="0"/>
          </a:p>
        </p:txBody>
      </p:sp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8156" y="2863846"/>
            <a:ext cx="2000264" cy="20478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34736" y="2973685"/>
                <a:ext cx="719136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736" y="2973685"/>
                <a:ext cx="719136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693974" y="4221168"/>
                <a:ext cx="593432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974" y="4221168"/>
                <a:ext cx="593432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315756" y="2093177"/>
                <a:ext cx="366473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Everybody who knows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000" dirty="0"/>
                  <a:t> can verify the identity of the </a:t>
                </a:r>
                <a:r>
                  <a:rPr lang="en-US" sz="2000" b="1" dirty="0"/>
                  <a:t>prover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756" y="2093177"/>
                <a:ext cx="3664730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1165" t="-4310" r="-1165" b="-146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708" y="1394768"/>
                <a:ext cx="8475692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  <m:r>
                          <a:rPr lang="en-US" sz="22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</m:e>
                    </m:d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–</a:t>
                </a:r>
                <a:r>
                  <a:rPr lang="en-US" sz="22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(public key, private key) </a:t>
                </a:r>
                <a:r>
                  <a:rPr lang="en-US" sz="2200" dirty="0"/>
                  <a:t>pair of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prover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08" y="1394768"/>
                <a:ext cx="847569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urved Connector 8"/>
          <p:cNvCxnSpPr>
            <a:stCxn id="8" idx="1"/>
            <a:endCxn id="6" idx="1"/>
          </p:cNvCxnSpPr>
          <p:nvPr/>
        </p:nvCxnSpPr>
        <p:spPr>
          <a:xfrm rot="10800000" flipH="1" flipV="1">
            <a:off x="439708" y="1610211"/>
            <a:ext cx="2254266" cy="2841789"/>
          </a:xfrm>
          <a:prstGeom prst="curvedConnector3">
            <a:avLst>
              <a:gd name="adj1" fmla="val -1014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hape 16"/>
          <p:cNvCxnSpPr>
            <a:endCxn id="5" idx="1"/>
          </p:cNvCxnSpPr>
          <p:nvPr/>
        </p:nvCxnSpPr>
        <p:spPr>
          <a:xfrm rot="16200000" flipH="1">
            <a:off x="3520211" y="1889992"/>
            <a:ext cx="1331265" cy="1297786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6" descr="PL412a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65956" y="3149617"/>
            <a:ext cx="1857356" cy="1766863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7200043" y="4711666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3594" y="4799848"/>
            <a:ext cx="917495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prover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4359679" y="3690000"/>
            <a:ext cx="2034378" cy="762000"/>
            <a:chOff x="4525172" y="4095750"/>
            <a:chExt cx="1219200" cy="762000"/>
          </a:xfrm>
        </p:grpSpPr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4525172" y="40957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 flipH="1">
              <a:off x="4525172" y="42481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4525172" y="44005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 flipH="1">
              <a:off x="4525172" y="45529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4525172" y="47053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 flipH="1">
              <a:off x="4525172" y="48577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945838" y="5759005"/>
            <a:ext cx="2471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verifier’s output:</a:t>
            </a:r>
            <a:endParaRPr lang="pl-PL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3417835" y="5553565"/>
            <a:ext cx="4882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yes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if he believes he is talking to </a:t>
            </a:r>
            <a:r>
              <a:rPr lang="pl-PL" sz="2000" dirty="0"/>
              <a:t>the prover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17835" y="5996620"/>
            <a:ext cx="1826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– otherwise</a:t>
            </a:r>
            <a:endParaRPr lang="pl-PL" sz="2000" dirty="0"/>
          </a:p>
        </p:txBody>
      </p:sp>
      <p:sp>
        <p:nvSpPr>
          <p:cNvPr id="45" name="Left Brace 44"/>
          <p:cNvSpPr/>
          <p:nvPr/>
        </p:nvSpPr>
        <p:spPr>
          <a:xfrm>
            <a:off x="2998210" y="5553565"/>
            <a:ext cx="546100" cy="843165"/>
          </a:xfrm>
          <a:prstGeom prst="leftBrace">
            <a:avLst>
              <a:gd name="adj1" fmla="val 26938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205242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" grpId="0" animBg="1"/>
      <p:bldP spid="6" grpId="0" animBg="1"/>
      <p:bldP spid="7" grpId="0"/>
      <p:bldP spid="8" grpId="0" animBg="1"/>
      <p:bldP spid="16" grpId="0" animBg="1"/>
      <p:bldP spid="23" grpId="0" animBg="1"/>
      <p:bldP spid="40" grpId="0"/>
      <p:bldP spid="42" grpId="0"/>
      <p:bldP spid="43" grpId="0"/>
      <p:bldP spid="4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do not define identification schemes formally.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7030A0"/>
                </a:solidFill>
              </a:rPr>
              <a:t>Informally</a:t>
            </a:r>
            <a:r>
              <a:rPr lang="en-US" dirty="0"/>
              <a:t> they have to satisfy the following: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[correctness] </a:t>
            </a:r>
            <a:r>
              <a:rPr lang="en-US" dirty="0"/>
              <a:t>an honest prover should always convince the </a:t>
            </a:r>
            <a:r>
              <a:rPr lang="pl-PL" dirty="0" err="1"/>
              <a:t>verifier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[security] </a:t>
            </a:r>
            <a:r>
              <a:rPr lang="en-US" dirty="0"/>
              <a:t>no poly-time adversary should be able to </a:t>
            </a:r>
            <a:r>
              <a:rPr lang="en-US" b="1" dirty="0">
                <a:solidFill>
                  <a:srgbClr val="0070C0"/>
                </a:solidFill>
              </a:rPr>
              <a:t>impersonate the prover </a:t>
            </a:r>
            <a:r>
              <a:rPr lang="en-US" dirty="0"/>
              <a:t>with non-negligible probability.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194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ular Callout 21"/>
          <p:cNvSpPr/>
          <p:nvPr/>
        </p:nvSpPr>
        <p:spPr>
          <a:xfrm>
            <a:off x="3746500" y="2476930"/>
            <a:ext cx="2413000" cy="1303747"/>
          </a:xfrm>
          <a:prstGeom prst="wedgeRoundRectCallout">
            <a:avLst>
              <a:gd name="adj1" fmla="val 28114"/>
              <a:gd name="adj2" fmla="val 12338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2" y="-66923"/>
            <a:ext cx="7886700" cy="1106489"/>
          </a:xfrm>
        </p:spPr>
        <p:txBody>
          <a:bodyPr/>
          <a:lstStyle/>
          <a:p>
            <a:r>
              <a:rPr lang="en-US" dirty="0"/>
              <a:t>What is the attack model?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0" y="975390"/>
            <a:ext cx="7886700" cy="626260"/>
          </a:xfrm>
        </p:spPr>
        <p:txBody>
          <a:bodyPr/>
          <a:lstStyle/>
          <a:p>
            <a:pPr marL="0" indent="0">
              <a:buNone/>
            </a:pPr>
            <a:r>
              <a:rPr lang="pl-PL" dirty="0" err="1"/>
              <a:t>Let’s</a:t>
            </a:r>
            <a:r>
              <a:rPr lang="pl-PL" dirty="0"/>
              <a:t> </a:t>
            </a:r>
            <a:r>
              <a:rPr lang="en-US" dirty="0"/>
              <a:t>assume it’s rather weak:</a:t>
            </a:r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0506" y="2273523"/>
            <a:ext cx="1654194" cy="169356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91641" y="5633472"/>
                <a:ext cx="719136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641" y="5633472"/>
                <a:ext cx="719136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17724" y="3290179"/>
                <a:ext cx="593432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724" y="3290179"/>
                <a:ext cx="593432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PL412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89706" y="2218628"/>
            <a:ext cx="1857356" cy="176686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723793" y="3780677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7344" y="3868859"/>
            <a:ext cx="917495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883429" y="2759011"/>
            <a:ext cx="2034378" cy="762000"/>
            <a:chOff x="4525172" y="4095750"/>
            <a:chExt cx="1219200" cy="762000"/>
          </a:xfrm>
        </p:grpSpPr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4525172" y="40957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7"/>
            <p:cNvSpPr>
              <a:spLocks noChangeShapeType="1"/>
            </p:cNvSpPr>
            <p:nvPr/>
          </p:nvSpPr>
          <p:spPr bwMode="auto">
            <a:xfrm flipH="1">
              <a:off x="4525172" y="42481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4525172" y="44005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 flipH="1">
              <a:off x="4525172" y="45529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4525172" y="47053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 flipH="1">
              <a:off x="4525172" y="48577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" name="Picture 19" descr="MCj0435941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17559" y="5161667"/>
            <a:ext cx="1841500" cy="1273175"/>
          </a:xfrm>
          <a:prstGeom prst="rect">
            <a:avLst/>
          </a:prstGeom>
          <a:noFill/>
        </p:spPr>
      </p:pic>
      <p:sp>
        <p:nvSpPr>
          <p:cNvPr id="18" name="Right Arrow 17"/>
          <p:cNvSpPr/>
          <p:nvPr/>
        </p:nvSpPr>
        <p:spPr>
          <a:xfrm>
            <a:off x="2268780" y="5698562"/>
            <a:ext cx="2430476" cy="43596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337050" y="2841893"/>
                <a:ext cx="1327150" cy="59317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transcript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50" y="2841893"/>
                <a:ext cx="1327150" cy="5931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52818" y="4629886"/>
                <a:ext cx="47166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the adversary learns as many transcripts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400" dirty="0"/>
                  <a:t> as she wants</a:t>
                </a:r>
                <a:endParaRPr lang="pl-PL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8" y="4629886"/>
                <a:ext cx="4716676" cy="830997"/>
              </a:xfrm>
              <a:prstGeom prst="rect">
                <a:avLst/>
              </a:prstGeom>
              <a:blipFill>
                <a:blip r:embed="rId8"/>
                <a:stretch>
                  <a:fillRect t="-5970" b="-13433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17500" y="1594557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“learning phase”:</a:t>
            </a:r>
            <a:endParaRPr lang="pl-P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56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" grpId="0" animBg="1"/>
      <p:bldP spid="6" grpId="0" animBg="1"/>
      <p:bldP spid="8" grpId="0" animBg="1"/>
      <p:bldP spid="9" grpId="0" animBg="1"/>
      <p:bldP spid="18" grpId="0" animBg="1"/>
      <p:bldP spid="20" grpId="0" animBg="1"/>
      <p:bldP spid="21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506" y="343675"/>
            <a:ext cx="8496693" cy="964425"/>
          </a:xfrm>
        </p:spPr>
        <p:txBody>
          <a:bodyPr>
            <a:normAutofit/>
          </a:bodyPr>
          <a:lstStyle/>
          <a:p>
            <a:r>
              <a:rPr lang="en-US" sz="3600" dirty="0"/>
              <a:t>Then he has to win in the following game</a:t>
            </a:r>
            <a:endParaRPr lang="pl-PL" sz="3600" dirty="0"/>
          </a:p>
        </p:txBody>
      </p:sp>
      <p:pic>
        <p:nvPicPr>
          <p:cNvPr id="7" name="Picture 6" descr="PL412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32556" y="3250438"/>
            <a:ext cx="1857356" cy="176686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666643" y="4812487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sp>
        <p:nvSpPr>
          <p:cNvPr id="11" name="Line 26"/>
          <p:cNvSpPr>
            <a:spLocks noChangeShapeType="1"/>
          </p:cNvSpPr>
          <p:nvPr/>
        </p:nvSpPr>
        <p:spPr bwMode="auto">
          <a:xfrm>
            <a:off x="3826279" y="3797171"/>
            <a:ext cx="2034378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Line 27"/>
          <p:cNvSpPr>
            <a:spLocks noChangeShapeType="1"/>
          </p:cNvSpPr>
          <p:nvPr/>
        </p:nvSpPr>
        <p:spPr bwMode="auto">
          <a:xfrm flipH="1">
            <a:off x="3826279" y="3943221"/>
            <a:ext cx="2034378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>
            <a:off x="3826279" y="4095621"/>
            <a:ext cx="2034378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Line 29"/>
          <p:cNvSpPr>
            <a:spLocks noChangeShapeType="1"/>
          </p:cNvSpPr>
          <p:nvPr/>
        </p:nvSpPr>
        <p:spPr bwMode="auto">
          <a:xfrm flipH="1">
            <a:off x="3826279" y="4248021"/>
            <a:ext cx="2034378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Line 30"/>
          <p:cNvSpPr>
            <a:spLocks noChangeShapeType="1"/>
          </p:cNvSpPr>
          <p:nvPr/>
        </p:nvSpPr>
        <p:spPr bwMode="auto">
          <a:xfrm>
            <a:off x="3826279" y="4400421"/>
            <a:ext cx="2034378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Line 31"/>
          <p:cNvSpPr>
            <a:spLocks noChangeShapeType="1"/>
          </p:cNvSpPr>
          <p:nvPr/>
        </p:nvSpPr>
        <p:spPr bwMode="auto">
          <a:xfrm flipH="1">
            <a:off x="3826279" y="4552821"/>
            <a:ext cx="2034378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18" name="Picture 19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506" y="3301504"/>
            <a:ext cx="2481701" cy="1715797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4984356" y="5505271"/>
            <a:ext cx="3556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adversary wins if the verifier outputs </a:t>
            </a:r>
            <a:r>
              <a:rPr lang="en-US" sz="2400" b="1" dirty="0">
                <a:solidFill>
                  <a:srgbClr val="FF0000"/>
                </a:solidFill>
              </a:rPr>
              <a:t>yes</a:t>
            </a:r>
            <a:endParaRPr lang="pl-PL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ular Callout 19"/>
              <p:cNvSpPr/>
              <p:nvPr/>
            </p:nvSpPr>
            <p:spPr>
              <a:xfrm>
                <a:off x="1278556" y="2177009"/>
                <a:ext cx="5744556" cy="967764"/>
              </a:xfrm>
              <a:prstGeom prst="wedgeRoundRectCallout">
                <a:avLst>
                  <a:gd name="adj1" fmla="val -23928"/>
                  <a:gd name="adj2" fmla="val 7252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the adversary  does not know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en-US" sz="2400" dirty="0"/>
                  <a:t> but has access to transcripts</a:t>
                </a:r>
                <a:r>
                  <a:rPr lang="pl-PL" sz="2400" dirty="0"/>
                  <a:t> </a:t>
                </a:r>
              </a:p>
            </p:txBody>
          </p:sp>
        </mc:Choice>
        <mc:Fallback xmlns="">
          <p:sp>
            <p:nvSpPr>
              <p:cNvPr id="20" name="Rounded Rectangular Callou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556" y="2177009"/>
                <a:ext cx="5744556" cy="967764"/>
              </a:xfrm>
              <a:prstGeom prst="wedgeRoundRectCallout">
                <a:avLst>
                  <a:gd name="adj1" fmla="val -23928"/>
                  <a:gd name="adj2" fmla="val 72527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42506" y="1449072"/>
            <a:ext cx="2776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“challenge phase”:</a:t>
            </a:r>
            <a:endParaRPr lang="pl-P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77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250826"/>
            <a:ext cx="7886700" cy="1325563"/>
          </a:xfrm>
        </p:spPr>
        <p:txBody>
          <a:bodyPr/>
          <a:lstStyle/>
          <a:p>
            <a:r>
              <a:rPr lang="en-US" dirty="0"/>
              <a:t>Note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1755775"/>
            <a:ext cx="8356600" cy="4351338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adversary </a:t>
            </a:r>
            <a:r>
              <a:rPr lang="en-US" b="1" dirty="0">
                <a:solidFill>
                  <a:srgbClr val="FF0000"/>
                </a:solidFill>
              </a:rPr>
              <a:t>cannot talk to the prover during the learning phase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adversary </a:t>
            </a:r>
            <a:r>
              <a:rPr lang="en-US" b="1" dirty="0">
                <a:solidFill>
                  <a:srgbClr val="7030A0"/>
                </a:solidFill>
              </a:rPr>
              <a:t>cannot act as a man-in-the middle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(these problems can be solved</a:t>
            </a:r>
            <a:r>
              <a:rPr lang="pl-PL" dirty="0"/>
              <a:t>, </a:t>
            </a:r>
            <a:r>
              <a:rPr lang="en-US" dirty="0"/>
              <a:t>but are not relevant today)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come back again to these protocols when we talk about </a:t>
            </a:r>
            <a:r>
              <a:rPr lang="en-US" b="1" dirty="0">
                <a:solidFill>
                  <a:srgbClr val="00B050"/>
                </a:solidFill>
              </a:rPr>
              <a:t>zero-knowledge</a:t>
            </a:r>
            <a:r>
              <a:rPr lang="en-US" dirty="0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7461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Schnorr</a:t>
            </a:r>
            <a:r>
              <a:rPr lang="en-US" dirty="0"/>
              <a:t> identification scheme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0" y="1828316"/>
            <a:ext cx="8693150" cy="879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generation similar to the one in </a:t>
            </a:r>
            <a:r>
              <a:rPr lang="en-US" dirty="0" err="1"/>
              <a:t>ElGamal</a:t>
            </a:r>
            <a:r>
              <a:rPr lang="en-US" dirty="0"/>
              <a:t> encryption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44996" y="3741564"/>
                <a:ext cx="8358246" cy="830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first runs </a:t>
                </a:r>
                <a:r>
                  <a:rPr lang="en-US" sz="2400" b="1" dirty="0" err="1">
                    <a:solidFill>
                      <a:srgbClr val="FF0000"/>
                    </a:solidFill>
                  </a:rPr>
                  <a:t>GenG</a:t>
                </a:r>
                <a:r>
                  <a:rPr lang="en-US" sz="2400" dirty="0"/>
                  <a:t> to obtain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/>
                  <a:t> (assume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prime).   Then, it chooses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←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𝒁</m:t>
                    </m:r>
                    <m:r>
                      <a:rPr lang="en-GB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𝒒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computes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baseline="30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    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96" y="3741564"/>
                <a:ext cx="8358246" cy="830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4996" y="2955745"/>
                <a:ext cx="8470404" cy="461665"/>
              </a:xfrm>
              <a:prstGeom prst="rect">
                <a:avLst/>
              </a:prstGeom>
              <a:solidFill>
                <a:schemeClr val="bg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pl-PL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r>
                  <a:rPr lang="en-US" sz="2400" dirty="0"/>
                  <a:t> be such that </a:t>
                </a:r>
                <a:r>
                  <a:rPr lang="en-US" sz="2400" b="1" dirty="0"/>
                  <a:t>discrete log </a:t>
                </a:r>
                <a:r>
                  <a:rPr lang="en-US" sz="2400" dirty="0"/>
                  <a:t>is hard w. r. t. </a:t>
                </a:r>
                <a14:m>
                  <m:oMath xmlns:m="http://schemas.openxmlformats.org/officeDocument/2006/math">
                    <m:r>
                      <a:rPr lang="pl-PL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96" y="2955745"/>
                <a:ext cx="8470404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4996" y="4956009"/>
                <a:ext cx="8358246" cy="830997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public key is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sz="2400" dirty="0">
                    <a:ea typeface="ＭＳ Ｐゴシック" pitchFamily="34" charset="-128"/>
                  </a:rPr>
                  <a:t>.</a:t>
                </a:r>
                <a:endParaRPr lang="en-US" sz="2400" dirty="0"/>
              </a:p>
              <a:p>
                <a:r>
                  <a:rPr lang="en-US" sz="2400" dirty="0">
                    <a:ea typeface="ＭＳ Ｐゴシック" pitchFamily="34" charset="-128"/>
                  </a:rPr>
                  <a:t>The private key is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  <a:endParaRPr lang="en-GB" sz="24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96" y="4956009"/>
                <a:ext cx="8358246" cy="83099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31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protocol</a:t>
            </a:r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4706" y="1567680"/>
            <a:ext cx="1400194" cy="1433522"/>
          </a:xfrm>
          <a:prstGeom prst="rect">
            <a:avLst/>
          </a:prstGeom>
          <a:noFill/>
        </p:spPr>
      </p:pic>
      <p:pic>
        <p:nvPicPr>
          <p:cNvPr id="5" name="Picture 4" descr="PL41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3361" y="1567680"/>
            <a:ext cx="1501744" cy="142857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539643" y="2491328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05" y="2491328"/>
            <a:ext cx="917494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724976" y="1912636"/>
                <a:ext cx="12581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>
                    <a:latin typeface="Cambria Math" panose="02040503050406030204" pitchFamily="18" charset="0"/>
                  </a:rPr>
                  <a:t>knows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976" y="1912636"/>
                <a:ext cx="1258101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5882" b="-73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546350" y="2044700"/>
                <a:ext cx="1294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knows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50" y="2044700"/>
                <a:ext cx="1294713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7547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34800" y="3311731"/>
                <a:ext cx="1211550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00" y="3311731"/>
                <a:ext cx="1211550" cy="878126"/>
              </a:xfrm>
              <a:prstGeom prst="rect">
                <a:avLst/>
              </a:prstGeom>
              <a:blipFill rotWithShape="0">
                <a:blip r:embed="rId6"/>
                <a:stretch>
                  <a:fillRect l="-15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174703" y="257167"/>
                <a:ext cx="2277147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ＭＳ Ｐゴシック" pitchFamily="34" charset="-128"/>
                  </a:rPr>
                  <a:t> </a:t>
                </a:r>
                <a:r>
                  <a:rPr lang="en-US" sz="2000" b="1" dirty="0">
                    <a:latin typeface="Cambria Math" panose="02040503050406030204" pitchFamily="18" charset="0"/>
                    <a:ea typeface="ＭＳ Ｐゴシック" pitchFamily="34" charset="-128"/>
                  </a:rPr>
                  <a:t>– group,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=|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</m:oMath>
                </a14:m>
                <a:endParaRPr lang="pl-PL" sz="2000" dirty="0"/>
              </a:p>
              <a:p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ＭＳ Ｐゴシック" pitchFamily="34" charset="-128"/>
                  </a:rPr>
                  <a:t> </a:t>
                </a:r>
                <a:r>
                  <a:rPr lang="en-US" sz="2000" b="1" dirty="0">
                    <a:latin typeface="Cambria Math" panose="02040503050406030204" pitchFamily="18" charset="0"/>
                    <a:ea typeface="ＭＳ Ｐゴシック" pitchFamily="34" charset="-128"/>
                  </a:rPr>
                  <a:t>– generator 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703" y="257167"/>
                <a:ext cx="2277147" cy="70788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2724150" y="3638633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194528" y="3407800"/>
                <a:ext cx="420307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528" y="3407800"/>
                <a:ext cx="420307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642145" y="3796896"/>
                <a:ext cx="1189108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45" y="3796896"/>
                <a:ext cx="1189108" cy="494879"/>
              </a:xfrm>
              <a:prstGeom prst="rect">
                <a:avLst/>
              </a:prstGeom>
              <a:blipFill rotWithShape="0">
                <a:blip r:embed="rId9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 flipV="1">
            <a:off x="2724150" y="4587215"/>
            <a:ext cx="3327400" cy="7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219019" y="4332989"/>
                <a:ext cx="455573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19" y="4332989"/>
                <a:ext cx="455573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1329" y="5014892"/>
                <a:ext cx="27286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29" y="5014892"/>
                <a:ext cx="2728632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14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2748641" y="5597355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219019" y="5366522"/>
                <a:ext cx="442750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19" y="5366522"/>
                <a:ext cx="442750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83361" y="5302250"/>
                <a:ext cx="193283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output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yes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iff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361" y="5302250"/>
                <a:ext cx="1932837" cy="830997"/>
              </a:xfrm>
              <a:prstGeom prst="rect">
                <a:avLst/>
              </a:prstGeom>
              <a:blipFill rotWithShape="0">
                <a:blip r:embed="rId13"/>
                <a:stretch>
                  <a:fillRect l="-5047" t="-5882" r="-3785" b="-73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97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7" grpId="0" animBg="1"/>
      <p:bldP spid="18" grpId="0"/>
      <p:bldP spid="24" grpId="0" animBg="1"/>
      <p:bldP spid="25" grpId="0"/>
      <p:bldP spid="27" grpId="0" animBg="1"/>
      <p:bldP spid="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872" y="2807642"/>
            <a:ext cx="7886700" cy="1325563"/>
          </a:xfrm>
        </p:spPr>
        <p:txBody>
          <a:bodyPr/>
          <a:lstStyle/>
          <a:p>
            <a:r>
              <a:rPr lang="en-US" dirty="0"/>
              <a:t>Why is this protocol correct?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2369" y="4273549"/>
                <a:ext cx="7886700" cy="25844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𝒓𝒙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e>
                                <m:sup>
                                  <m:r>
                                    <a:rPr lang="en-US" sz="3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  <a:p>
                <a:pPr marL="30861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𝒓𝒙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𝒓𝒙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 marL="30861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sz="32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3086100" indent="0">
                  <a:buNone/>
                </a:pP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3200" dirty="0"/>
                  <a:t> </a:t>
                </a:r>
                <a:endParaRPr lang="pl-PL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369" y="4273549"/>
                <a:ext cx="7886700" cy="2584451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3377997" y="894115"/>
            <a:ext cx="5415033" cy="1743800"/>
            <a:chOff x="354262" y="3311731"/>
            <a:chExt cx="8198671" cy="31627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1215909" y="3311731"/>
                  <a:ext cx="1449331" cy="12365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909" y="3311731"/>
                  <a:ext cx="1449331" cy="123658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/>
            <p:cNvCxnSpPr/>
            <p:nvPr/>
          </p:nvCxnSpPr>
          <p:spPr>
            <a:xfrm>
              <a:off x="2724150" y="3638633"/>
              <a:ext cx="3327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194528" y="3407799"/>
                  <a:ext cx="534434" cy="72569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pl-PL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4528" y="3407799"/>
                  <a:ext cx="534434" cy="72569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408619" y="3796897"/>
                  <a:ext cx="1422633" cy="7152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619" y="3796897"/>
                  <a:ext cx="1422633" cy="71522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 flipH="1" flipV="1">
              <a:off x="2724150" y="4587215"/>
              <a:ext cx="3327400" cy="73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4219019" y="4332988"/>
                  <a:ext cx="573268" cy="72569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pl-PL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019" y="4332988"/>
                  <a:ext cx="573268" cy="72569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54262" y="4875801"/>
                  <a:ext cx="3172624" cy="6698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𝒓𝒙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262" y="4875801"/>
                  <a:ext cx="3172624" cy="66987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/>
            <p:nvPr/>
          </p:nvCxnSpPr>
          <p:spPr>
            <a:xfrm>
              <a:off x="2748641" y="5597355"/>
              <a:ext cx="3327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4219019" y="5366523"/>
                  <a:ext cx="558704" cy="72569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pl-PL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019" y="5366523"/>
                  <a:ext cx="558704" cy="725694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283361" y="5302251"/>
                  <a:ext cx="2269572" cy="11722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output </a:t>
                  </a:r>
                  <a:r>
                    <a:rPr lang="en-US" b="1" dirty="0">
                      <a:solidFill>
                        <a:srgbClr val="FF0000"/>
                      </a:solidFill>
                    </a:rPr>
                    <a:t>yes</a:t>
                  </a:r>
                  <a:r>
                    <a:rPr lang="en-US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dirty="0"/>
                    <a:t>iff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361" y="5302251"/>
                  <a:ext cx="2269572" cy="117227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3673" t="-6604" r="-3265" b="-3774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/>
          <p:cNvSpPr/>
          <p:nvPr/>
        </p:nvSpPr>
        <p:spPr>
          <a:xfrm>
            <a:off x="3160794" y="354157"/>
            <a:ext cx="5794940" cy="240480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821689" y="471497"/>
                <a:ext cx="9893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689" y="471497"/>
                <a:ext cx="989373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97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85726"/>
            <a:ext cx="7886700" cy="1325563"/>
          </a:xfrm>
        </p:spPr>
        <p:txBody>
          <a:bodyPr/>
          <a:lstStyle/>
          <a:p>
            <a:r>
              <a:rPr lang="en-US" dirty="0"/>
              <a:t>Security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844" y="1138917"/>
            <a:ext cx="7886700" cy="1012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First, suppose the adversary didn’t see any transcript. He has to win the following game.</a:t>
            </a:r>
          </a:p>
        </p:txBody>
      </p:sp>
      <p:pic>
        <p:nvPicPr>
          <p:cNvPr id="5" name="Picture 4" descr="PL412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59532" y="2196330"/>
            <a:ext cx="1501744" cy="142857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515814" y="3119978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712152" y="3968874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82530" y="3738041"/>
                <a:ext cx="420307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530" y="3738041"/>
                <a:ext cx="420307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630147" y="4127137"/>
                <a:ext cx="1189108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147" y="4127137"/>
                <a:ext cx="1189108" cy="494879"/>
              </a:xfrm>
              <a:prstGeom prst="rect">
                <a:avLst/>
              </a:prstGeom>
              <a:blipFill rotWithShape="0"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 flipV="1">
            <a:off x="2712152" y="4917456"/>
            <a:ext cx="3327400" cy="7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72556" y="4710021"/>
                <a:ext cx="455573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556" y="4710021"/>
                <a:ext cx="45557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2736643" y="5927596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207021" y="5696763"/>
                <a:ext cx="442750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021" y="5696763"/>
                <a:ext cx="44275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271363" y="5632491"/>
                <a:ext cx="193283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output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yes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iff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363" y="5632491"/>
                <a:ext cx="1932837" cy="830997"/>
              </a:xfrm>
              <a:prstGeom prst="rect">
                <a:avLst/>
              </a:prstGeom>
              <a:blipFill rotWithShape="0">
                <a:blip r:embed="rId7"/>
                <a:stretch>
                  <a:fillRect l="-5047" t="-5882" r="-3785" b="-73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MCj043594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6226" y="2196330"/>
            <a:ext cx="2229906" cy="15417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258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  <p:bldP spid="15" grpId="0" animBg="1"/>
      <p:bldP spid="18" grpId="0" animBg="1"/>
      <p:bldP spid="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450" y="244476"/>
            <a:ext cx="8089900" cy="1325563"/>
          </a:xfrm>
        </p:spPr>
        <p:txBody>
          <a:bodyPr/>
          <a:lstStyle/>
          <a:p>
            <a:r>
              <a:rPr lang="en-US" dirty="0"/>
              <a:t>Lemma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5450" y="3416300"/>
                <a:ext cx="8089900" cy="31813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How to prove it?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We show that for every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there exists </a:t>
                </a:r>
                <a:r>
                  <a:rPr lang="en-US" b="1" dirty="0">
                    <a:solidFill>
                      <a:srgbClr val="0070C0"/>
                    </a:solidFill>
                  </a:rPr>
                  <a:t>at most one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:r>
                  <a:rPr lang="en-US" b="1" dirty="0">
                    <a:solidFill>
                      <a:srgbClr val="0070C0"/>
                    </a:solidFill>
                  </a:rPr>
                  <a:t>the adversary can answer it correctly</a:t>
                </a:r>
                <a:r>
                  <a:rPr lang="en-US" dirty="0"/>
                  <a:t> (if she cannot compute the discrete log).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:r>
                  <a:rPr lang="en-US" dirty="0"/>
                  <a:t>(so: his probability of winning is at most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450" y="3416300"/>
                <a:ext cx="8089900" cy="3181349"/>
              </a:xfrm>
              <a:blipFill>
                <a:blip r:embed="rId2"/>
                <a:stretch>
                  <a:fillRect l="-1567" t="-3175" r="-1567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5450" y="1614785"/>
                <a:ext cx="8204200" cy="13849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If discrete logarithm is hard with respect to </a:t>
                </a:r>
                <a14:m>
                  <m:oMath xmlns:m="http://schemas.openxmlformats.org/officeDocument/2006/math">
                    <m:r>
                      <a:rPr lang="pl-PL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𝐆𝐞𝐧𝐆</m:t>
                    </m:r>
                  </m:oMath>
                </a14:m>
                <a:r>
                  <a:rPr lang="en-US" sz="2800" dirty="0"/>
                  <a:t> then the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probability that any poly-time adversary wins this game is negligible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50" y="1614785"/>
                <a:ext cx="8204200" cy="13849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51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0" y="-79374"/>
            <a:ext cx="7886700" cy="1325563"/>
          </a:xfrm>
        </p:spPr>
        <p:txBody>
          <a:bodyPr/>
          <a:lstStyle/>
          <a:p>
            <a:r>
              <a:rPr lang="en-US" dirty="0"/>
              <a:t>Proof by contradiction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4650" y="1381125"/>
                <a:ext cx="78867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Assume there exist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that the adversary knows answers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.</a:t>
                </a:r>
                <a:endParaRPr lang="pl-PL" dirty="0"/>
              </a:p>
              <a:p>
                <a:pPr marL="0" indent="0">
                  <a:buNone/>
                </a:pPr>
                <a:r>
                  <a:rPr lang="en-US" dirty="0"/>
                  <a:t>But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f>
                            <m:f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650" y="1381125"/>
                <a:ext cx="7886700" cy="4351338"/>
              </a:xfrm>
              <a:blipFill rotWithShape="0">
                <a:blip r:embed="rId2"/>
                <a:stretch>
                  <a:fillRect l="-1391" t="-322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5715000" y="4756150"/>
                <a:ext cx="2381250" cy="612648"/>
              </a:xfrm>
              <a:prstGeom prst="wedgeRectCallout">
                <a:avLst>
                  <a:gd name="adj1" fmla="val -66966"/>
                  <a:gd name="adj2" fmla="val 2207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𝐥𝐨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756150"/>
                <a:ext cx="2381250" cy="612648"/>
              </a:xfrm>
              <a:prstGeom prst="wedgeRectCallout">
                <a:avLst>
                  <a:gd name="adj1" fmla="val -66966"/>
                  <a:gd name="adj2" fmla="val 22077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934046" y="6062773"/>
            <a:ext cx="4960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finishes the proof of the lemma.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74550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finish the full</a:t>
            </a:r>
            <a:r>
              <a:rPr lang="pl-PL" dirty="0"/>
              <a:t> </a:t>
            </a:r>
            <a:r>
              <a:rPr lang="pl-PL" dirty="0" err="1"/>
              <a:t>security</a:t>
            </a:r>
            <a:r>
              <a:rPr lang="pl-PL" dirty="0"/>
              <a:t> </a:t>
            </a:r>
            <a:r>
              <a:rPr lang="en-US" dirty="0"/>
              <a:t>proof we need to show the following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Learning the transcripts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doesn’t help the adversary.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Q: Why is it true?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A:</a:t>
                </a:r>
                <a:r>
                  <a:rPr lang="en-US" dirty="0"/>
                  <a:t> It turns out that the adversary can “simulate” such transcripts himself (just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:r>
                  <a:rPr lang="en-US" dirty="0"/>
                  <a:t>We now explain it.</a:t>
                </a: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081" r="-1391" b="-18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40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40700" cy="1325563"/>
          </a:xfrm>
        </p:spPr>
        <p:txBody>
          <a:bodyPr/>
          <a:lstStyle/>
          <a:p>
            <a:r>
              <a:rPr lang="en-US" dirty="0"/>
              <a:t>How do the transcripts look like?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where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𝒓𝒙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We now show that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the transcripts with exactly the same distribution can be sampled by the adversary himself!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b="-42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74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77286"/>
            <a:ext cx="7886700" cy="1325563"/>
          </a:xfrm>
        </p:spPr>
        <p:txBody>
          <a:bodyPr/>
          <a:lstStyle/>
          <a:p>
            <a:r>
              <a:rPr lang="en-US" dirty="0"/>
              <a:t>How can the adversary do it?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0" y="1187948"/>
                <a:ext cx="7886700" cy="2257425"/>
              </a:xfrm>
            </p:spPr>
            <p:txBody>
              <a:bodyPr/>
              <a:lstStyle/>
              <a:p>
                <a:r>
                  <a:rPr lang="en-US" b="1" dirty="0"/>
                  <a:t>first </a:t>
                </a:r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</a:p>
              <a:p>
                <a:r>
                  <a:rPr lang="en-US" b="1" dirty="0"/>
                  <a:t>then </a:t>
                </a: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Why is the distribution the same?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187948"/>
                <a:ext cx="7886700" cy="2257425"/>
              </a:xfrm>
              <a:blipFill rotWithShape="0">
                <a:blip r:embed="rId2"/>
                <a:stretch>
                  <a:fillRect l="-1546" t="-48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043989"/>
                  </p:ext>
                </p:extLst>
              </p:nvPr>
            </p:nvGraphicFramePr>
            <p:xfrm>
              <a:off x="4025900" y="3334823"/>
              <a:ext cx="1308100" cy="1570546"/>
            </p:xfrm>
            <a:graphic>
              <a:graphicData uri="http://schemas.openxmlformats.org/drawingml/2006/table">
                <a:tbl>
                  <a:tblPr bandRow="1">
                    <a:tableStyleId>{00A15C55-8517-42AA-B614-E9B94910E393}</a:tableStyleId>
                  </a:tblPr>
                  <a:tblGrid>
                    <a:gridCol w="1308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≔</m:t>
                                    </m:r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p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l-PL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pl-PL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pl-PL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043989"/>
                  </p:ext>
                </p:extLst>
              </p:nvPr>
            </p:nvGraphicFramePr>
            <p:xfrm>
              <a:off x="4025900" y="3334823"/>
              <a:ext cx="1308100" cy="1570546"/>
            </p:xfrm>
            <a:graphic>
              <a:graphicData uri="http://schemas.openxmlformats.org/drawingml/2006/table">
                <a:tbl>
                  <a:tblPr bandRow="1">
                    <a:tableStyleId>{00A15C55-8517-42AA-B614-E9B94910E393}</a:tableStyleId>
                  </a:tblPr>
                  <a:tblGrid>
                    <a:gridCol w="1308100"/>
                  </a:tblGrid>
                  <a:tr h="534226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65" t="-1136" r="-1395" b="-19545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65" t="-104706" r="-1395" b="-102353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65" t="-204706" r="-1395" b="-235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315634" y="5176749"/>
                <a:ext cx="272863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/>
                  <a:t>such that</a:t>
                </a:r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634" y="5176749"/>
                <a:ext cx="2728632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5839" b="-656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2762250" y="3353370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Right Arrow 6"/>
          <p:cNvSpPr/>
          <p:nvPr/>
        </p:nvSpPr>
        <p:spPr>
          <a:xfrm>
            <a:off x="2762250" y="3940743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Right Arrow 7"/>
          <p:cNvSpPr/>
          <p:nvPr/>
        </p:nvSpPr>
        <p:spPr>
          <a:xfrm rot="10800000">
            <a:off x="5619242" y="3883589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Right Arrow 8"/>
          <p:cNvSpPr/>
          <p:nvPr/>
        </p:nvSpPr>
        <p:spPr>
          <a:xfrm rot="10800000">
            <a:off x="5619242" y="4470962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TextBox 9"/>
          <p:cNvSpPr txBox="1"/>
          <p:nvPr/>
        </p:nvSpPr>
        <p:spPr>
          <a:xfrm>
            <a:off x="1278366" y="3445373"/>
            <a:ext cx="1424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this is sampled</a:t>
            </a:r>
            <a:endParaRPr lang="pl-PL" sz="2400" dirty="0"/>
          </a:p>
        </p:txBody>
      </p:sp>
      <p:sp>
        <p:nvSpPr>
          <p:cNvPr id="11" name="Right Arrow 10"/>
          <p:cNvSpPr/>
          <p:nvPr/>
        </p:nvSpPr>
        <p:spPr>
          <a:xfrm>
            <a:off x="2762250" y="4528116"/>
            <a:ext cx="978408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Right Arrow 11"/>
          <p:cNvSpPr/>
          <p:nvPr/>
        </p:nvSpPr>
        <p:spPr>
          <a:xfrm rot="10800000">
            <a:off x="5619242" y="3305798"/>
            <a:ext cx="978408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TextBox 12"/>
          <p:cNvSpPr txBox="1"/>
          <p:nvPr/>
        </p:nvSpPr>
        <p:spPr>
          <a:xfrm>
            <a:off x="6769100" y="4009876"/>
            <a:ext cx="1424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sampled</a:t>
            </a:r>
            <a:endParaRPr lang="pl-PL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769100" y="2937871"/>
            <a:ext cx="2305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computed</a:t>
            </a:r>
            <a:endParaRPr lang="pl-PL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38429" y="4528116"/>
            <a:ext cx="198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this is computed</a:t>
            </a:r>
            <a:endParaRPr lang="pl-PL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05561" y="591863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It’s the same!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75197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60326"/>
            <a:ext cx="7886700" cy="1325563"/>
          </a:xfrm>
        </p:spPr>
        <p:txBody>
          <a:bodyPr/>
          <a:lstStyle/>
          <a:p>
            <a:r>
              <a:rPr lang="en-US" dirty="0"/>
              <a:t>Therefore</a:t>
            </a:r>
            <a:endParaRPr lang="pl-PL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3473623" y="2208478"/>
            <a:ext cx="2413000" cy="1303747"/>
          </a:xfrm>
          <a:prstGeom prst="wedgeRoundRectCallout">
            <a:avLst>
              <a:gd name="adj1" fmla="val 28377"/>
              <a:gd name="adj2" fmla="val 146762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6" name="Picture 6" descr="MCj041580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06" y="1987773"/>
            <a:ext cx="1654194" cy="169356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56691" y="5351546"/>
                <a:ext cx="719136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691" y="5351546"/>
                <a:ext cx="719136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38324" y="3004429"/>
                <a:ext cx="593432" cy="46166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4" y="3004429"/>
                <a:ext cx="593432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PL412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10306" y="1932878"/>
            <a:ext cx="1857356" cy="1766863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6444393" y="3494927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944" y="3583109"/>
            <a:ext cx="917495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prover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604029" y="2473261"/>
            <a:ext cx="2034378" cy="762000"/>
            <a:chOff x="4525172" y="4095750"/>
            <a:chExt cx="1219200" cy="762000"/>
          </a:xfrm>
        </p:grpSpPr>
        <p:sp>
          <p:nvSpPr>
            <p:cNvPr id="13" name="Line 26"/>
            <p:cNvSpPr>
              <a:spLocks noChangeShapeType="1"/>
            </p:cNvSpPr>
            <p:nvPr/>
          </p:nvSpPr>
          <p:spPr bwMode="auto">
            <a:xfrm>
              <a:off x="4525172" y="40957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 flipH="1">
              <a:off x="4525172" y="42481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4525172" y="44005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 flipH="1">
              <a:off x="4525172" y="45529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>
              <a:off x="4525172" y="47053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 flipH="1">
              <a:off x="4525172" y="485775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" name="Picture 19" descr="MCj0435941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82609" y="4879741"/>
            <a:ext cx="1841500" cy="1273175"/>
          </a:xfrm>
          <a:prstGeom prst="rect">
            <a:avLst/>
          </a:prstGeom>
          <a:noFill/>
        </p:spPr>
      </p:pic>
      <p:sp>
        <p:nvSpPr>
          <p:cNvPr id="20" name="Right Arrow 19"/>
          <p:cNvSpPr/>
          <p:nvPr/>
        </p:nvSpPr>
        <p:spPr>
          <a:xfrm>
            <a:off x="2033830" y="5416636"/>
            <a:ext cx="2430476" cy="43596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095750" y="2536725"/>
                <a:ext cx="1219200" cy="59317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transcript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0" y="2536725"/>
                <a:ext cx="1219200" cy="5931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38722" y="4279576"/>
            <a:ext cx="4014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access to the transcripts does not change anything!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26441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0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the difference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6798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adversary </a:t>
                </a:r>
                <a:r>
                  <a:rPr lang="en-US" b="1" dirty="0">
                    <a:solidFill>
                      <a:srgbClr val="7030A0"/>
                    </a:solidFill>
                  </a:rPr>
                  <a:t>can</a:t>
                </a:r>
                <a:r>
                  <a:rPr lang="en-US" b="1" dirty="0"/>
                  <a:t> </a:t>
                </a:r>
                <a:r>
                  <a:rPr lang="en-US" dirty="0"/>
                  <a:t>produce tuples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the right distribution </a:t>
                </a:r>
              </a:p>
              <a:p>
                <a:pPr marL="0" indent="0" algn="ctr">
                  <a:buNone/>
                </a:pPr>
                <a:r>
                  <a:rPr lang="en-US" dirty="0"/>
                  <a:t>if he “</a:t>
                </a:r>
                <a:r>
                  <a:rPr lang="en-US" b="1" dirty="0"/>
                  <a:t>starts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he </a:t>
                </a:r>
                <a:r>
                  <a:rPr lang="en-US" b="1" dirty="0">
                    <a:solidFill>
                      <a:srgbClr val="0070C0"/>
                    </a:solidFill>
                  </a:rPr>
                  <a:t>cannot do it </a:t>
                </a: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/>
                  <a:t>if he has to “</a:t>
                </a:r>
                <a:r>
                  <a:rPr lang="en-US" b="1" dirty="0"/>
                  <a:t>start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/>
                  <a:t>” and sampling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is out of his control.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679825"/>
              </a:xfrm>
              <a:blipFill>
                <a:blip r:embed="rId2"/>
                <a:stretch>
                  <a:fillRect l="-1546" t="-2815" r="-208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61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The </a:t>
            </a:r>
            <a:r>
              <a:rPr lang="en-US" b="1" dirty="0" err="1">
                <a:solidFill>
                  <a:srgbClr val="0070C0"/>
                </a:solidFill>
              </a:rPr>
              <a:t>Schnorr</a:t>
            </a:r>
            <a:r>
              <a:rPr lang="en-US" b="1" dirty="0">
                <a:solidFill>
                  <a:srgbClr val="0070C0"/>
                </a:solidFill>
              </a:rPr>
              <a:t> protocol is a secure identification scheme.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how is this related to the signature schemes?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now show how to transform </a:t>
            </a:r>
            <a:r>
              <a:rPr lang="en-US" b="1" dirty="0">
                <a:solidFill>
                  <a:srgbClr val="7030A0"/>
                </a:solidFill>
              </a:rPr>
              <a:t>any such identification scheme into a signature scheme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45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340768"/>
            <a:ext cx="6929486" cy="4680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definition of secure 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Signatures based on RSA, “hash-and-sign”, “full-domain-hash”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based on discrete log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identification schemes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/>
              <a:t>Schnorr</a:t>
            </a:r>
            <a:r>
              <a:rPr lang="en-US" dirty="0"/>
              <a:t> signatures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DSA signatures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Theoretical constructions</a:t>
            </a:r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09584" y="386171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11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00" y="212726"/>
            <a:ext cx="8555504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Fiat-Shamir</a:t>
            </a:r>
            <a:r>
              <a:rPr lang="en-US" dirty="0"/>
              <a:t> transform: main idea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802" y="1545862"/>
            <a:ext cx="8698147" cy="59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have an identification protocol of this form:</a:t>
            </a:r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6155" y="3288857"/>
            <a:ext cx="956849" cy="1061878"/>
          </a:xfrm>
          <a:prstGeom prst="rect">
            <a:avLst/>
          </a:prstGeom>
          <a:noFill/>
        </p:spPr>
      </p:pic>
      <p:pic>
        <p:nvPicPr>
          <p:cNvPr id="5" name="Picture 4" descr="PL41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33926" y="3288857"/>
            <a:ext cx="1026246" cy="105821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631326" y="3973047"/>
            <a:ext cx="831445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963" y="3973047"/>
            <a:ext cx="927197" cy="35020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prover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109226" y="4144036"/>
            <a:ext cx="22738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114037" y="3973047"/>
                <a:ext cx="424538" cy="41388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037" y="3973047"/>
                <a:ext cx="424538" cy="4138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 flipV="1">
            <a:off x="4109226" y="4846695"/>
            <a:ext cx="2273843" cy="54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32737" y="4646640"/>
                <a:ext cx="1239891" cy="40011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random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737" y="4646640"/>
                <a:ext cx="1239891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2817" t="-1333" b="-16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4125963" y="5594954"/>
            <a:ext cx="22738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09882" y="5390179"/>
                <a:ext cx="1485600" cy="40011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882" y="5390179"/>
                <a:ext cx="1485600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41036" y="2810530"/>
                <a:ext cx="719136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036" y="2810530"/>
                <a:ext cx="71913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659933" y="3564784"/>
                <a:ext cx="492443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33" y="3564784"/>
                <a:ext cx="492443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906155" y="2400410"/>
                <a:ext cx="2762896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  <m:r>
                            <a:rPr lang="en-US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𝐆𝐞𝐧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155" y="2400410"/>
                <a:ext cx="2762896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urved Connector 23"/>
          <p:cNvCxnSpPr>
            <a:stCxn id="23" idx="1"/>
            <a:endCxn id="22" idx="1"/>
          </p:cNvCxnSpPr>
          <p:nvPr/>
        </p:nvCxnSpPr>
        <p:spPr>
          <a:xfrm rot="10800000" flipV="1">
            <a:off x="2659933" y="2585076"/>
            <a:ext cx="246222" cy="1164374"/>
          </a:xfrm>
          <a:prstGeom prst="curvedConnector3">
            <a:avLst>
              <a:gd name="adj1" fmla="val 36821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hape 16"/>
          <p:cNvCxnSpPr>
            <a:stCxn id="23" idx="3"/>
            <a:endCxn id="21" idx="1"/>
          </p:cNvCxnSpPr>
          <p:nvPr/>
        </p:nvCxnSpPr>
        <p:spPr>
          <a:xfrm>
            <a:off x="5669051" y="2585076"/>
            <a:ext cx="1171985" cy="41012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ular Callout 31"/>
              <p:cNvSpPr/>
              <p:nvPr/>
            </p:nvSpPr>
            <p:spPr>
              <a:xfrm>
                <a:off x="679450" y="4562395"/>
                <a:ext cx="3289300" cy="1166763"/>
              </a:xfrm>
              <a:prstGeom prst="wedgeRoundRectCallout">
                <a:avLst>
                  <a:gd name="adj1" fmla="val 88492"/>
                  <a:gd name="adj2" fmla="val -71384"/>
                  <a:gd name="adj3" fmla="val 1666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technical assumption: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is “reasonably long”, say: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2" name="Rounded Rectangular Callou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0" y="4562395"/>
                <a:ext cx="3289300" cy="1166763"/>
              </a:xfrm>
              <a:prstGeom prst="wedgeRoundRectCallout">
                <a:avLst>
                  <a:gd name="adj1" fmla="val 88492"/>
                  <a:gd name="adj2" fmla="val -71384"/>
                  <a:gd name="adj3" fmla="val 16667"/>
                </a:avLst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592620" y="5335065"/>
                <a:ext cx="22041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compute some value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dirty="0"/>
                  <a:t> and accept iff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/>
                  <a:t>.</a:t>
                </a:r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620" y="5335065"/>
                <a:ext cx="2204184" cy="1323439"/>
              </a:xfrm>
              <a:prstGeom prst="rect">
                <a:avLst/>
              </a:prstGeom>
              <a:blipFill rotWithShape="0">
                <a:blip r:embed="rId11"/>
                <a:stretch>
                  <a:fillRect l="-2762" t="-2304" r="-4420" b="-737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10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5" grpId="0" animBg="1"/>
      <p:bldP spid="18" grpId="0" animBg="1"/>
      <p:bldP spid="21" grpId="0" animBg="1"/>
      <p:bldP spid="22" grpId="0" animBg="1"/>
      <p:bldP spid="23" grpId="0" animBg="1"/>
      <p:bldP spid="32" grpId="0" animBg="1"/>
      <p:bldP spid="3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450" y="223838"/>
            <a:ext cx="8509000" cy="814388"/>
          </a:xfrm>
        </p:spPr>
        <p:txBody>
          <a:bodyPr>
            <a:normAutofit/>
          </a:bodyPr>
          <a:lstStyle/>
          <a:p>
            <a:r>
              <a:rPr lang="en-US" sz="4000" dirty="0"/>
              <a:t>Create a signature scheme as follows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0" y="1103014"/>
                <a:ext cx="8280400" cy="184725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 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en-US" dirty="0"/>
                  <a:t> be a </a:t>
                </a:r>
                <a:r>
                  <a:rPr lang="en-US" b="1" dirty="0">
                    <a:solidFill>
                      <a:srgbClr val="7030A0"/>
                    </a:solidFill>
                  </a:rPr>
                  <a:t>hash function </a:t>
                </a:r>
                <a:r>
                  <a:rPr lang="en-US" dirty="0"/>
                  <a:t>(modelled as a </a:t>
                </a:r>
                <a:r>
                  <a:rPr lang="en-US" b="1" dirty="0">
                    <a:solidFill>
                      <a:srgbClr val="FF0000"/>
                    </a:solidFill>
                  </a:rPr>
                  <a:t>random oracle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key pair generation </a:t>
                </a:r>
                <a:r>
                  <a:rPr lang="en-US" dirty="0"/>
                  <a:t>– as in the authentication protocol</a:t>
                </a:r>
              </a:p>
              <a:p>
                <a:pPr marL="0" indent="0">
                  <a:buNone/>
                </a:pPr>
                <a:r>
                  <a:rPr lang="en-US" dirty="0"/>
                  <a:t>To sign a message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 the signing algorithm simulates the execution of the identification scheme:</a:t>
                </a:r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103014"/>
                <a:ext cx="8280400" cy="1847251"/>
              </a:xfrm>
              <a:blipFill rotWithShape="0">
                <a:blip r:embed="rId3"/>
                <a:stretch>
                  <a:fillRect l="-1104" t="-6271" b="-59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33434" y="2688092"/>
            <a:ext cx="1026246" cy="1058215"/>
          </a:xfrm>
          <a:prstGeom prst="rect">
            <a:avLst/>
          </a:prstGeom>
          <a:noFill/>
        </p:spPr>
      </p:pic>
      <p:sp>
        <p:nvSpPr>
          <p:cNvPr id="6" name="Rounded Rectangle 5"/>
          <p:cNvSpPr/>
          <p:nvPr/>
        </p:nvSpPr>
        <p:spPr>
          <a:xfrm>
            <a:off x="1086783" y="3955040"/>
            <a:ext cx="7213600" cy="267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601355" y="4763952"/>
            <a:ext cx="956849" cy="106187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55133" y="5039879"/>
                <a:ext cx="492443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133" y="5039879"/>
                <a:ext cx="492443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73294" y="3805102"/>
                <a:ext cx="2273300" cy="4064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94" y="3805102"/>
                <a:ext cx="2273300" cy="4064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3744646" y="5071629"/>
            <a:ext cx="18978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43367" y="4896704"/>
                <a:ext cx="336952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367" y="4896704"/>
                <a:ext cx="336952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loud Callout 12"/>
          <p:cNvSpPr/>
          <p:nvPr/>
        </p:nvSpPr>
        <p:spPr>
          <a:xfrm>
            <a:off x="5865482" y="4692881"/>
            <a:ext cx="1962150" cy="1204019"/>
          </a:xfrm>
          <a:prstGeom prst="cloudCallout">
            <a:avLst>
              <a:gd name="adj1" fmla="val -15978"/>
              <a:gd name="adj2" fmla="val -10205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64250" y="5100858"/>
                <a:ext cx="1436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50" y="5100858"/>
                <a:ext cx="1436612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61000" y="3445204"/>
                <a:ext cx="2520949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the verifier is “simulated using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dirty="0"/>
                  <a:t>“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445204"/>
                <a:ext cx="2520949" cy="70788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 flipV="1">
            <a:off x="3744064" y="5512065"/>
            <a:ext cx="1871771" cy="42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40162" y="5376776"/>
                <a:ext cx="340157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162" y="5376776"/>
                <a:ext cx="340157" cy="33855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3744063" y="5949397"/>
            <a:ext cx="18717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533899" y="5844739"/>
                <a:ext cx="346419" cy="34348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899" y="5844739"/>
                <a:ext cx="346419" cy="34348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511865" y="6303683"/>
                <a:ext cx="2541382" cy="43571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pl-PL" sz="20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65" y="6303683"/>
                <a:ext cx="2541382" cy="43571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9" grpId="0" animBg="1"/>
      <p:bldP spid="13" grpId="0" animBg="1"/>
      <p:bldP spid="12" grpId="0"/>
      <p:bldP spid="15" grpId="0" animBg="1"/>
      <p:bldP spid="17" grpId="0" animBg="1"/>
      <p:bldP spid="19" grpId="0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781549" y="381019"/>
            <a:ext cx="7335329" cy="165518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2546433" y="1324622"/>
            <a:ext cx="1566393" cy="6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81549" y="3386585"/>
            <a:ext cx="7378197" cy="28827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911" y="2197413"/>
            <a:ext cx="8216900" cy="883629"/>
          </a:xfrm>
        </p:spPr>
        <p:txBody>
          <a:bodyPr/>
          <a:lstStyle/>
          <a:p>
            <a:r>
              <a:rPr lang="en-US" dirty="0"/>
              <a:t>How to verify?</a:t>
            </a:r>
            <a:endParaRPr lang="pl-PL" dirty="0"/>
          </a:p>
        </p:txBody>
      </p:sp>
      <p:pic>
        <p:nvPicPr>
          <p:cNvPr id="10" name="Picture 6" descr="MCj0415808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6136" y="638864"/>
            <a:ext cx="967696" cy="96224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83410" y="955290"/>
                <a:ext cx="489582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10" y="955290"/>
                <a:ext cx="48958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66617" y="149720"/>
                <a:ext cx="1879816" cy="38782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7" y="149720"/>
                <a:ext cx="1879816" cy="38782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578284" y="1032252"/>
            <a:ext cx="15693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86643" y="804285"/>
                <a:ext cx="401088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643" y="804285"/>
                <a:ext cx="40108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01479" y="988951"/>
                <a:ext cx="15959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479" y="988951"/>
                <a:ext cx="1595957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86611" y="1184489"/>
                <a:ext cx="395631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611" y="1184489"/>
                <a:ext cx="395631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2577673" y="1682615"/>
            <a:ext cx="15477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186610" y="1571052"/>
                <a:ext cx="395632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610" y="1571052"/>
                <a:ext cx="395632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728326" y="1764865"/>
                <a:ext cx="2101496" cy="47178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pl-PL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326" y="1764865"/>
                <a:ext cx="2101496" cy="47178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35300" y="3531685"/>
                <a:ext cx="6845049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Assuming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dirty="0"/>
                  <a:t> is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r>
                  <a:rPr lang="en-US" sz="2000" dirty="0"/>
                  <a:t> “is a correct transcript” check if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dirty="0"/>
                  <a:t> was computed correctly. That is:</a:t>
                </a:r>
              </a:p>
              <a:p>
                <a:endParaRPr lang="en-US" sz="600" dirty="0"/>
              </a:p>
              <a:p>
                <a:endParaRPr lang="en-US" sz="600" dirty="0"/>
              </a:p>
              <a:p>
                <a:endParaRPr lang="en-US" sz="600" dirty="0"/>
              </a:p>
              <a:p>
                <a:endParaRPr lang="pl-PL" sz="600" dirty="0"/>
              </a:p>
              <a:p>
                <a:endParaRPr lang="en-US" sz="600" dirty="0"/>
              </a:p>
              <a:p>
                <a:r>
                  <a:rPr lang="pl-PL" sz="2000" dirty="0"/>
                  <a:t>let</a:t>
                </a:r>
                <a:r>
                  <a:rPr lang="pl-PL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pl-PL" sz="2000" dirty="0">
                    <a:latin typeface="Cambria" panose="02040503050406030204" pitchFamily="18" charset="0"/>
                  </a:rPr>
                  <a:t>and</a:t>
                </a:r>
                <a:r>
                  <a:rPr lang="en-US" sz="2000" dirty="0">
                    <a:latin typeface="Cambria" panose="02040503050406030204" pitchFamily="18" charset="0"/>
                  </a:rPr>
                  <a:t> check 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00" y="3531685"/>
                <a:ext cx="6845049" cy="1785104"/>
              </a:xfrm>
              <a:prstGeom prst="rect">
                <a:avLst/>
              </a:prstGeom>
              <a:blipFill rotWithShape="0">
                <a:blip r:embed="rId11"/>
                <a:stretch>
                  <a:fillRect l="-980" t="-1706" r="-623" b="-511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98500" y="3084415"/>
                <a:ext cx="2908217" cy="39325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3084415"/>
                <a:ext cx="2908217" cy="39325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968905" y="6085121"/>
                <a:ext cx="3535906" cy="47638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yes </a:t>
                </a:r>
                <a:r>
                  <a:rPr lang="en-US" sz="2000" dirty="0"/>
                  <a:t>iff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905" y="6085121"/>
                <a:ext cx="3535906" cy="4763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Left-Right Arrow 35"/>
          <p:cNvSpPr/>
          <p:nvPr/>
        </p:nvSpPr>
        <p:spPr>
          <a:xfrm>
            <a:off x="3963941" y="4706112"/>
            <a:ext cx="1705701" cy="484632"/>
          </a:xfrm>
          <a:prstGeom prst="left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equivalent</a:t>
            </a:r>
            <a:endParaRPr lang="pl-PL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752691" y="4594485"/>
                <a:ext cx="230505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Cambria" panose="02040503050406030204" pitchFamily="18" charset="0"/>
                  </a:rPr>
                  <a:t>check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691" y="4594485"/>
                <a:ext cx="2305050" cy="707886"/>
              </a:xfrm>
              <a:prstGeom prst="rect">
                <a:avLst/>
              </a:prstGeom>
              <a:blipFill rotWithShape="0">
                <a:blip r:embed="rId14"/>
                <a:stretch>
                  <a:fillRect t="-5172" b="-948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03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/>
      <p:bldP spid="32" grpId="0" animBg="1"/>
      <p:bldP spid="33" grpId="0" animBg="1"/>
      <p:bldP spid="36" grpId="0" animBg="1"/>
      <p:bldP spid="3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11127"/>
            <a:ext cx="7886700" cy="901702"/>
          </a:xfrm>
        </p:spPr>
        <p:txBody>
          <a:bodyPr/>
          <a:lstStyle/>
          <a:p>
            <a:r>
              <a:rPr lang="en-US" dirty="0"/>
              <a:t>More formally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1950" y="1012829"/>
                <a:ext cx="8312150" cy="64611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– the same as in the identification scheme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012829"/>
                <a:ext cx="8312150" cy="64611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61950" y="1771650"/>
                <a:ext cx="8312150" cy="280669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24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𝒔𝒌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computed by simulating the prover or random input as follows: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400" dirty="0"/>
                  <a:t> be the “first message of the prover”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sz="2400" dirty="0"/>
                  <a:t> be the “second message of the prover” (after receiving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output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771650"/>
                <a:ext cx="8312150" cy="28066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61950" y="4691059"/>
                <a:ext cx="8312150" cy="180340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24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 lvl="1"/>
                <a:r>
                  <a:rPr lang="en-US" sz="2400" b="1" dirty="0">
                    <a:solidFill>
                      <a:srgbClr val="0070C0"/>
                    </a:solidFill>
                  </a:rPr>
                  <a:t>output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yes</a:t>
                </a:r>
                <a:r>
                  <a:rPr lang="en-US" sz="2400" dirty="0"/>
                  <a:t> iff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  <a:endParaRPr lang="pl-PL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4691059"/>
                <a:ext cx="8312150" cy="18034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07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work?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51075"/>
            <a:ext cx="7886700" cy="240347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Correctness</a:t>
            </a:r>
            <a:r>
              <a:rPr lang="en-US" dirty="0"/>
              <a:t> is trivial – if the signer is honest then the verifier will always accept.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about </a:t>
            </a:r>
            <a:r>
              <a:rPr lang="en-US" b="1" dirty="0">
                <a:solidFill>
                  <a:srgbClr val="FF0000"/>
                </a:solidFill>
              </a:rPr>
              <a:t>security</a:t>
            </a:r>
            <a:r>
              <a:rPr lang="en-US" dirty="0"/>
              <a:t>?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9670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31777"/>
            <a:ext cx="7886700" cy="1000124"/>
          </a:xfrm>
        </p:spPr>
        <p:txBody>
          <a:bodyPr/>
          <a:lstStyle/>
          <a:p>
            <a:r>
              <a:rPr lang="pl-PL"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206002"/>
            <a:ext cx="7886700" cy="5016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First look at the </a:t>
            </a:r>
            <a:r>
              <a:rPr lang="en-US" b="1" dirty="0">
                <a:solidFill>
                  <a:srgbClr val="0070C0"/>
                </a:solidFill>
              </a:rPr>
              <a:t>learning phase</a:t>
            </a:r>
            <a:r>
              <a:rPr lang="en-US" dirty="0"/>
              <a:t>: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2900" y="1879600"/>
                <a:ext cx="4038600" cy="2889958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pl-PL" sz="2000" dirty="0"/>
                  <a:t>In</a:t>
                </a:r>
                <a:r>
                  <a:rPr lang="en-US" sz="2000" dirty="0"/>
                  <a:t> the </a:t>
                </a:r>
                <a:r>
                  <a:rPr lang="pl-PL" sz="2000" b="1" dirty="0">
                    <a:solidFill>
                      <a:srgbClr val="7030A0"/>
                    </a:solidFill>
                  </a:rPr>
                  <a:t>identification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scheme </a:t>
                </a:r>
                <a:r>
                  <a:rPr lang="en-US" sz="2000" dirty="0"/>
                  <a:t>the adversary learns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000" dirty="0"/>
                  <a:t> and can see many tuples of a form: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sampled as follows:</a:t>
                </a:r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pl-PL" sz="2000" dirty="0"/>
                  <a:t>random</a:t>
                </a:r>
                <a:r>
                  <a:rPr lang="pl-PL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random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879600"/>
                <a:ext cx="4038600" cy="2889958"/>
              </a:xfrm>
              <a:prstGeom prst="rect">
                <a:avLst/>
              </a:prstGeom>
              <a:blipFill>
                <a:blip r:embed="rId2"/>
                <a:stretch>
                  <a:fillRect l="-893" t="-2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67250" y="1879600"/>
                <a:ext cx="4038600" cy="2862322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pl-PL" sz="2000" dirty="0"/>
                  <a:t>In</a:t>
                </a:r>
                <a:r>
                  <a:rPr lang="en-US" sz="2000" dirty="0"/>
                  <a:t> the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signature scheme </a:t>
                </a:r>
                <a:r>
                  <a:rPr lang="en-US" sz="2000" dirty="0"/>
                  <a:t>the adversary learns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000" dirty="0"/>
                  <a:t> and can see many tuples of a form: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sampled as follows:</a:t>
                </a:r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pl-PL" sz="2000" dirty="0"/>
                  <a:t>random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0" y="1879600"/>
                <a:ext cx="4038600" cy="2862322"/>
              </a:xfrm>
              <a:prstGeom prst="rect">
                <a:avLst/>
              </a:prstGeom>
              <a:blipFill>
                <a:blip r:embed="rId3"/>
                <a:stretch>
                  <a:fillRect l="-1043" t="-2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900" y="4943245"/>
                <a:ext cx="81407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>
                    <a:solidFill>
                      <a:srgbClr val="0070C0"/>
                    </a:solidFill>
                  </a:rPr>
                  <a:t>Note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/>
                  <a:t>the adversary chooses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dirty="0"/>
                  <a:t> but she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cannot choose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dirty="0"/>
                  <a:t>, so by the properties of the random oracle: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completely random</a:t>
                </a:r>
                <a:r>
                  <a:rPr lang="en-US" sz="2000" dirty="0"/>
                  <a:t>.</a:t>
                </a:r>
              </a:p>
              <a:p>
                <a:r>
                  <a:rPr lang="en-US" sz="2000" b="1" u="sng" dirty="0">
                    <a:solidFill>
                      <a:srgbClr val="7030A0"/>
                    </a:solidFill>
                  </a:rPr>
                  <a:t>Moral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/>
                  <a:t>these two experiments are identical!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943245"/>
                <a:ext cx="8140700" cy="1631216"/>
              </a:xfrm>
              <a:prstGeom prst="rect">
                <a:avLst/>
              </a:prstGeom>
              <a:blipFill>
                <a:blip r:embed="rId4"/>
                <a:stretch>
                  <a:fillRect l="-622" t="-2326" b="-6202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-Right Arrow 8"/>
          <p:cNvSpPr/>
          <p:nvPr/>
        </p:nvSpPr>
        <p:spPr>
          <a:xfrm>
            <a:off x="2597345" y="3746500"/>
            <a:ext cx="2393754" cy="425450"/>
          </a:xfrm>
          <a:prstGeom prst="leftRightArrow">
            <a:avLst>
              <a:gd name="adj1" fmla="val 68605"/>
              <a:gd name="adj2" fmla="val 5000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difference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195897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uiExpand="1" build="p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950" y="200254"/>
            <a:ext cx="7886700" cy="1325563"/>
          </a:xfrm>
        </p:spPr>
        <p:txBody>
          <a:bodyPr/>
          <a:lstStyle/>
          <a:p>
            <a:r>
              <a:rPr lang="en-US" dirty="0"/>
              <a:t>Now look at the challenge phase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445000" y="1631950"/>
                <a:ext cx="4216400" cy="184785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pl-PL" sz="2100" dirty="0"/>
                  <a:t>In</a:t>
                </a:r>
                <a:r>
                  <a:rPr lang="en-US" sz="2100" dirty="0"/>
                  <a:t> the </a:t>
                </a:r>
                <a:r>
                  <a:rPr lang="pl-PL" sz="2100" b="1" dirty="0">
                    <a:solidFill>
                      <a:srgbClr val="7030A0"/>
                    </a:solidFill>
                  </a:rPr>
                  <a:t>signature</a:t>
                </a:r>
                <a:r>
                  <a:rPr lang="en-US" sz="2100" b="1" dirty="0">
                    <a:solidFill>
                      <a:srgbClr val="7030A0"/>
                    </a:solidFill>
                  </a:rPr>
                  <a:t> scheme </a:t>
                </a:r>
                <a:r>
                  <a:rPr lang="en-US" sz="2100" dirty="0"/>
                  <a:t>the adversary has to find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 such that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,</a:t>
                </a:r>
              </a:p>
              <a:p>
                <a:pPr algn="ctr"/>
                <a:endParaRPr lang="en-US" sz="600" dirty="0"/>
              </a:p>
              <a:p>
                <a:r>
                  <a:rPr lang="en-US" sz="2100" dirty="0"/>
                  <a:t>where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1631950"/>
                <a:ext cx="4216400" cy="1847850"/>
              </a:xfrm>
              <a:prstGeom prst="rect">
                <a:avLst/>
              </a:prstGeom>
              <a:blipFill>
                <a:blip r:embed="rId2"/>
                <a:stretch>
                  <a:fillRect l="-1141" b="-320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46100" y="1631950"/>
                <a:ext cx="3517900" cy="26924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100" dirty="0"/>
                  <a:t>To break the </a:t>
                </a:r>
                <a:r>
                  <a:rPr lang="en-US" sz="2100" b="1" dirty="0">
                    <a:solidFill>
                      <a:srgbClr val="7030A0"/>
                    </a:solidFill>
                  </a:rPr>
                  <a:t>authentication scheme </a:t>
                </a:r>
                <a:r>
                  <a:rPr lang="en-US" sz="2100" dirty="0"/>
                  <a:t>the adversary</a:t>
                </a:r>
                <a:r>
                  <a:rPr lang="pl-PL" sz="2100" dirty="0"/>
                  <a:t> </a:t>
                </a:r>
                <a:r>
                  <a:rPr lang="en-US" sz="2100" dirty="0"/>
                  <a:t>has to </a:t>
                </a:r>
              </a:p>
              <a:p>
                <a:r>
                  <a:rPr lang="en-US" sz="2100" dirty="0"/>
                  <a:t>find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100" dirty="0"/>
                  <a:t> such that</a:t>
                </a:r>
              </a:p>
              <a:p>
                <a:pPr lvl="1"/>
                <a:r>
                  <a:rPr lang="en-US" sz="2100" dirty="0"/>
                  <a:t>after learning random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2100" b="1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sz="2100" dirty="0"/>
                  <a:t>she can find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sz="2100" dirty="0"/>
              </a:p>
              <a:p>
                <a:pPr algn="ctr"/>
                <a:r>
                  <a:rPr lang="en-US" sz="2100" dirty="0"/>
                  <a:t>such that:</a:t>
                </a:r>
              </a:p>
              <a:p>
                <a:pPr algn="ctr"/>
                <a:endParaRPr lang="en-US" sz="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1631950"/>
                <a:ext cx="3517900" cy="2692400"/>
              </a:xfrm>
              <a:prstGeom prst="rect">
                <a:avLst/>
              </a:prstGeom>
              <a:blipFill>
                <a:blip r:embed="rId3"/>
                <a:stretch>
                  <a:fillRect l="-1418" r="-1064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445000" y="4572000"/>
                <a:ext cx="4216400" cy="177165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100" dirty="0"/>
                  <a:t>She has to:</a:t>
                </a:r>
              </a:p>
              <a:p>
                <a:r>
                  <a:rPr lang="en-US" sz="2100" dirty="0"/>
                  <a:t>choose the value of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100" dirty="0"/>
                  <a:t> first,</a:t>
                </a:r>
              </a:p>
              <a:p>
                <a:pPr lvl="1"/>
                <a:r>
                  <a:rPr lang="en-US" sz="2100" dirty="0"/>
                  <a:t>then she learns </a:t>
                </a: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,</a:t>
                </a:r>
              </a:p>
              <a:p>
                <a:pPr lvl="2"/>
                <a:r>
                  <a:rPr lang="en-US" sz="2100" dirty="0"/>
                  <a:t>and she has to find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100" dirty="0"/>
                  <a:t> such </a:t>
                </a:r>
              </a:p>
              <a:p>
                <a:pPr lvl="2"/>
                <a:endParaRPr lang="en-US" sz="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4572000"/>
                <a:ext cx="4216400" cy="1771650"/>
              </a:xfrm>
              <a:prstGeom prst="rect">
                <a:avLst/>
              </a:prstGeom>
              <a:blipFill>
                <a:blip r:embed="rId4"/>
                <a:stretch>
                  <a:fillRect l="-1187" t="-690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18"/>
          <p:cNvSpPr/>
          <p:nvPr/>
        </p:nvSpPr>
        <p:spPr>
          <a:xfrm rot="5400000">
            <a:off x="5984875" y="3746500"/>
            <a:ext cx="1136650" cy="60325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106297" y="3841234"/>
                <a:ext cx="2879378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a random oracle</a:t>
                </a:r>
                <a:endParaRPr lang="pl-PL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297" y="3841234"/>
                <a:ext cx="2879378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-Right Arrow 20"/>
          <p:cNvSpPr/>
          <p:nvPr/>
        </p:nvSpPr>
        <p:spPr>
          <a:xfrm rot="2327795">
            <a:off x="3493174" y="4080133"/>
            <a:ext cx="1136971" cy="622300"/>
          </a:xfrm>
          <a:prstGeom prst="left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TextBox 21"/>
          <p:cNvSpPr txBox="1"/>
          <p:nvPr/>
        </p:nvSpPr>
        <p:spPr>
          <a:xfrm>
            <a:off x="2195751" y="4572000"/>
            <a:ext cx="16209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it’s the same!</a:t>
            </a:r>
            <a:endParaRPr lang="pl-PL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ular Callout 22"/>
              <p:cNvSpPr/>
              <p:nvPr/>
            </p:nvSpPr>
            <p:spPr>
              <a:xfrm>
                <a:off x="234950" y="5219760"/>
                <a:ext cx="3943350" cy="1225601"/>
              </a:xfrm>
              <a:prstGeom prst="wedgeRectCallout">
                <a:avLst>
                  <a:gd name="adj1" fmla="val 66929"/>
                  <a:gd name="adj2" fmla="val -52786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because if he chooses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dirty="0"/>
                  <a:t> first she will not be able to find the right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(remember that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dirty="0"/>
                  <a:t> is long)</a:t>
                </a:r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ular Callou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" y="5219760"/>
                <a:ext cx="3943350" cy="1225601"/>
              </a:xfrm>
              <a:prstGeom prst="wedgeRectCallout">
                <a:avLst>
                  <a:gd name="adj1" fmla="val 66929"/>
                  <a:gd name="adj2" fmla="val -52786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63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uiExpand="1" build="p" animBg="1"/>
      <p:bldP spid="19" grpId="0" animBg="1"/>
      <p:bldP spid="20" grpId="0" animBg="1"/>
      <p:bldP spid="21" grpId="0" animBg="1"/>
      <p:bldP spid="22" grpId="0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this method we can construct signature schemes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73275"/>
            <a:ext cx="7886700" cy="8350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example:</a:t>
            </a:r>
            <a:endParaRPr lang="pl-PL" dirty="0"/>
          </a:p>
        </p:txBody>
      </p:sp>
      <p:sp>
        <p:nvSpPr>
          <p:cNvPr id="4" name="Rectangle 3"/>
          <p:cNvSpPr/>
          <p:nvPr/>
        </p:nvSpPr>
        <p:spPr>
          <a:xfrm>
            <a:off x="692150" y="3054350"/>
            <a:ext cx="2857500" cy="13779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Schnorr’s</a:t>
            </a:r>
            <a:r>
              <a:rPr lang="en-US" sz="2400" dirty="0"/>
              <a:t> identification scheme</a:t>
            </a:r>
            <a:endParaRPr lang="pl-PL" sz="2400" dirty="0"/>
          </a:p>
        </p:txBody>
      </p:sp>
      <p:sp>
        <p:nvSpPr>
          <p:cNvPr id="5" name="Rectangle 4"/>
          <p:cNvSpPr/>
          <p:nvPr/>
        </p:nvSpPr>
        <p:spPr>
          <a:xfrm>
            <a:off x="6261100" y="3009900"/>
            <a:ext cx="2330450" cy="13779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Schnorr’s</a:t>
            </a:r>
            <a:r>
              <a:rPr lang="en-US" sz="2400" dirty="0"/>
              <a:t> signature scheme</a:t>
            </a:r>
            <a:endParaRPr lang="pl-PL" sz="2400" dirty="0"/>
          </a:p>
        </p:txBody>
      </p:sp>
      <p:sp>
        <p:nvSpPr>
          <p:cNvPr id="6" name="Right Arrow 5"/>
          <p:cNvSpPr/>
          <p:nvPr/>
        </p:nvSpPr>
        <p:spPr>
          <a:xfrm>
            <a:off x="3863975" y="3009900"/>
            <a:ext cx="2187575" cy="150495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Fiat-Shamir paradigm</a:t>
            </a:r>
            <a:endParaRPr lang="pl-PL" sz="2000" b="1" dirty="0"/>
          </a:p>
        </p:txBody>
      </p:sp>
    </p:spTree>
    <p:extLst>
      <p:ext uri="{BB962C8B-B14F-4D97-AF65-F5344CB8AC3E}">
        <p14:creationId xmlns:p14="http://schemas.microsoft.com/office/powerpoint/2010/main" val="44395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50" y="146051"/>
            <a:ext cx="7886700" cy="952500"/>
          </a:xfrm>
        </p:spPr>
        <p:txBody>
          <a:bodyPr/>
          <a:lstStyle/>
          <a:p>
            <a:r>
              <a:rPr lang="en-US" dirty="0" err="1"/>
              <a:t>Schnorr’s</a:t>
            </a:r>
            <a:r>
              <a:rPr lang="en-US" dirty="0"/>
              <a:t> signature scheme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900" y="1177925"/>
                <a:ext cx="8420100" cy="1464091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run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GenG</a:t>
                </a:r>
                <a:r>
                  <a:rPr lang="en-US" sz="2000" dirty="0"/>
                  <a:t> to obtain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/>
                  <a:t> (assume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prime).   Then, choose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←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𝒁</m:t>
                    </m:r>
                    <m:r>
                      <a:rPr lang="en-GB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𝒒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computes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.   </a:t>
                </a:r>
              </a:p>
              <a:p>
                <a:r>
                  <a:rPr lang="en-US" sz="2000" dirty="0"/>
                  <a:t>The public key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sz="2000" dirty="0">
                    <a:ea typeface="ＭＳ Ｐゴシック" pitchFamily="34" charset="-128"/>
                  </a:rPr>
                  <a:t>.</a:t>
                </a:r>
                <a:endParaRPr lang="en-US" sz="2000" dirty="0"/>
              </a:p>
              <a:p>
                <a:r>
                  <a:rPr lang="en-US" sz="2000" dirty="0">
                    <a:ea typeface="ＭＳ Ｐゴシック" pitchFamily="34" charset="-128"/>
                  </a:rPr>
                  <a:t>The private key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ea typeface="ＭＳ Ｐゴシック" pitchFamily="34" charset="-128"/>
                  </a:rPr>
                  <a:t>is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177925"/>
                <a:ext cx="8420100" cy="146409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900" y="2772927"/>
                <a:ext cx="8420100" cy="165885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  <m:r>
                            <a:rPr lang="en-US" sz="20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choose uniform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and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compute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compute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𝒓𝒙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output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2772927"/>
                <a:ext cx="8420100" cy="16588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42900" y="4562690"/>
                <a:ext cx="8420100" cy="74751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000" dirty="0"/>
                  <a:t>output </a:t>
                </a:r>
                <a:r>
                  <a:rPr lang="en-US" sz="2000" b="1" dirty="0"/>
                  <a:t>yes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/>
                      <m:t>.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562690"/>
                <a:ext cx="8420100" cy="747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Dymek mowy: prostokąt 3">
                <a:extLst>
                  <a:ext uri="{FF2B5EF4-FFF2-40B4-BE49-F238E27FC236}">
                    <a16:creationId xmlns:a16="http://schemas.microsoft.com/office/drawing/2014/main" id="{67D1A36E-CD51-4380-AAFD-A51DD5148926}"/>
                  </a:ext>
                </a:extLst>
              </p:cNvPr>
              <p:cNvSpPr/>
              <p:nvPr/>
            </p:nvSpPr>
            <p:spPr>
              <a:xfrm>
                <a:off x="371006" y="5501390"/>
                <a:ext cx="8596860" cy="1210559"/>
              </a:xfrm>
              <a:prstGeom prst="wedgeRectCallout">
                <a:avLst>
                  <a:gd name="adj1" fmla="val -12575"/>
                  <a:gd name="adj2" fmla="val -73654"/>
                </a:avLst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/>
                  <a:t>By the way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It is important to check if the parameters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dirty="0"/>
                  <a:t> agree (“parameter validation”).</a:t>
                </a:r>
                <a:br>
                  <a:rPr lang="en-US" dirty="0"/>
                </a:br>
                <a:r>
                  <a:rPr lang="en-US" dirty="0"/>
                  <a:t>(see “</a:t>
                </a:r>
                <a:r>
                  <a:rPr lang="pl-PL" dirty="0">
                    <a:hlinkClick r:id="rId5"/>
                  </a:rPr>
                  <a:t>Windows </a:t>
                </a:r>
                <a:r>
                  <a:rPr lang="pl-PL" dirty="0" err="1">
                    <a:hlinkClick r:id="rId5"/>
                  </a:rPr>
                  <a:t>CryptoAPI</a:t>
                </a:r>
                <a:r>
                  <a:rPr lang="pl-PL" dirty="0">
                    <a:hlinkClick r:id="rId5"/>
                  </a:rPr>
                  <a:t> </a:t>
                </a:r>
                <a:r>
                  <a:rPr lang="pl-PL" dirty="0" err="1">
                    <a:hlinkClick r:id="rId5"/>
                  </a:rPr>
                  <a:t>Spoofing</a:t>
                </a:r>
                <a:r>
                  <a:rPr lang="pl-PL" dirty="0">
                    <a:hlinkClick r:id="rId5"/>
                  </a:rPr>
                  <a:t> </a:t>
                </a:r>
                <a:r>
                  <a:rPr lang="pl-PL" dirty="0" err="1">
                    <a:hlinkClick r:id="rId5"/>
                  </a:rPr>
                  <a:t>Vulnerability</a:t>
                </a:r>
                <a:r>
                  <a:rPr lang="en-US" dirty="0"/>
                  <a:t>” discovered in Jan 2020 by the NSA)</a:t>
                </a:r>
                <a:endParaRPr lang="pl-PL" dirty="0"/>
              </a:p>
            </p:txBody>
          </p:sp>
        </mc:Choice>
        <mc:Fallback xmlns="">
          <p:sp>
            <p:nvSpPr>
              <p:cNvPr id="4" name="Dymek mowy: prostokąt 3">
                <a:extLst>
                  <a:ext uri="{FF2B5EF4-FFF2-40B4-BE49-F238E27FC236}">
                    <a16:creationId xmlns:a16="http://schemas.microsoft.com/office/drawing/2014/main" id="{67D1A36E-CD51-4380-AAFD-A51DD5148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06" y="5501390"/>
                <a:ext cx="8596860" cy="1210559"/>
              </a:xfrm>
              <a:prstGeom prst="wedgeRectCallout">
                <a:avLst>
                  <a:gd name="adj1" fmla="val -12575"/>
                  <a:gd name="adj2" fmla="val -73654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87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animBg="1"/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340768"/>
            <a:ext cx="6929486" cy="4680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definition of secure 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Signatures based on RSA, “hash-and-sign”, “full-domain-hash”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based on discrete log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identification schemes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/>
              <a:t>Schnorr</a:t>
            </a:r>
            <a:r>
              <a:rPr lang="en-US" dirty="0"/>
              <a:t> signatures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DSA signatures</a:t>
            </a:r>
          </a:p>
          <a:p>
            <a:pPr marL="457200" indent="-514350">
              <a:buFont typeface="+mj-lt"/>
              <a:buAutoNum type="arabicPeriod"/>
            </a:pPr>
            <a:r>
              <a:rPr lang="en-US"/>
              <a:t>Theoretical constructions</a:t>
            </a: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23884" y="430621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594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DSS signatures (also called DSA)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650"/>
            <a:ext cx="7886700" cy="45323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based on a paradigm </a:t>
            </a:r>
            <a:r>
              <a:rPr lang="en-US" b="1" dirty="0">
                <a:solidFill>
                  <a:srgbClr val="FF0000"/>
                </a:solidFill>
              </a:rPr>
              <a:t>similar to </a:t>
            </a:r>
            <a:r>
              <a:rPr lang="en-US" b="1" dirty="0" err="1">
                <a:solidFill>
                  <a:srgbClr val="FF0000"/>
                </a:solidFill>
              </a:rPr>
              <a:t>Schnorr’s</a:t>
            </a:r>
            <a:r>
              <a:rPr lang="en-US" b="1" dirty="0">
                <a:solidFill>
                  <a:srgbClr val="FF0000"/>
                </a:solidFill>
              </a:rPr>
              <a:t> signatures</a:t>
            </a:r>
          </a:p>
          <a:p>
            <a:r>
              <a:rPr lang="en-US" dirty="0"/>
              <a:t>can also be viewed as a </a:t>
            </a:r>
            <a:r>
              <a:rPr lang="en-US" b="1" dirty="0">
                <a:solidFill>
                  <a:srgbClr val="7030A0"/>
                </a:solidFill>
              </a:rPr>
              <a:t>variant of </a:t>
            </a:r>
            <a:r>
              <a:rPr lang="en-US" b="1" dirty="0" err="1">
                <a:solidFill>
                  <a:srgbClr val="7030A0"/>
                </a:solidFill>
              </a:rPr>
              <a:t>ElGamal</a:t>
            </a:r>
            <a:r>
              <a:rPr lang="en-US" b="1" dirty="0">
                <a:solidFill>
                  <a:srgbClr val="7030A0"/>
                </a:solidFill>
              </a:rPr>
              <a:t> signatures</a:t>
            </a:r>
            <a:r>
              <a:rPr lang="en-US" dirty="0"/>
              <a:t> (</a:t>
            </a:r>
            <a:r>
              <a:rPr lang="en-US" b="1" dirty="0">
                <a:solidFill>
                  <a:srgbClr val="00B050"/>
                </a:solidFill>
              </a:rPr>
              <a:t>1984</a:t>
            </a:r>
            <a:r>
              <a:rPr lang="en-US" dirty="0"/>
              <a:t>)</a:t>
            </a:r>
          </a:p>
          <a:p>
            <a:r>
              <a:rPr lang="en-US" b="1" dirty="0"/>
              <a:t>DSS</a:t>
            </a:r>
            <a:r>
              <a:rPr lang="en-US" dirty="0"/>
              <a:t> was covered</a:t>
            </a:r>
            <a:r>
              <a:rPr lang="en-US" b="1" dirty="0"/>
              <a:t> </a:t>
            </a:r>
            <a:r>
              <a:rPr lang="en-US" dirty="0"/>
              <a:t>by an (expired) </a:t>
            </a:r>
            <a:r>
              <a:rPr lang="en-US" b="1" dirty="0">
                <a:solidFill>
                  <a:srgbClr val="0070C0"/>
                </a:solidFill>
              </a:rPr>
              <a:t>U.S. Patent </a:t>
            </a:r>
            <a:r>
              <a:rPr lang="en-US" dirty="0"/>
              <a:t>5,231,668 (</a:t>
            </a:r>
            <a:r>
              <a:rPr lang="en-US" b="1" dirty="0">
                <a:solidFill>
                  <a:srgbClr val="00B050"/>
                </a:solidFill>
              </a:rPr>
              <a:t>1991</a:t>
            </a:r>
            <a:r>
              <a:rPr lang="en-US" dirty="0"/>
              <a:t>) granted to the US government (available worldwide </a:t>
            </a:r>
            <a:r>
              <a:rPr lang="en-US" b="1" dirty="0">
                <a:solidFill>
                  <a:srgbClr val="0070C0"/>
                </a:solidFill>
              </a:rPr>
              <a:t>royalty-free</a:t>
            </a:r>
            <a:r>
              <a:rPr lang="en-US" dirty="0"/>
              <a:t>)</a:t>
            </a:r>
          </a:p>
          <a:p>
            <a:r>
              <a:rPr lang="en-US" dirty="0" err="1"/>
              <a:t>Schnorr</a:t>
            </a:r>
            <a:r>
              <a:rPr lang="en-US" dirty="0"/>
              <a:t> claimed that his </a:t>
            </a:r>
            <a:r>
              <a:rPr lang="en-US" b="1" dirty="0">
                <a:solidFill>
                  <a:srgbClr val="0070C0"/>
                </a:solidFill>
              </a:rPr>
              <a:t>U.S. Patent </a:t>
            </a:r>
            <a:r>
              <a:rPr lang="en-US" dirty="0"/>
              <a:t>4,995,082 (</a:t>
            </a:r>
            <a:r>
              <a:rPr lang="en-US" b="1" dirty="0">
                <a:solidFill>
                  <a:srgbClr val="00B050"/>
                </a:solidFill>
              </a:rPr>
              <a:t>1989</a:t>
            </a:r>
            <a:r>
              <a:rPr lang="en-US" dirty="0"/>
              <a:t>) covered </a:t>
            </a:r>
            <a:r>
              <a:rPr lang="en-US" b="1" dirty="0"/>
              <a:t>DSA</a:t>
            </a:r>
            <a:r>
              <a:rPr lang="en-US" dirty="0"/>
              <a:t> – this claim is disputed, and anyway it expired in </a:t>
            </a:r>
            <a:r>
              <a:rPr lang="pl-PL" b="1" dirty="0">
                <a:solidFill>
                  <a:srgbClr val="00B050"/>
                </a:solidFill>
              </a:rPr>
              <a:t>2008</a:t>
            </a:r>
            <a:r>
              <a:rPr lang="en-US" dirty="0"/>
              <a:t>.</a:t>
            </a:r>
          </a:p>
          <a:p>
            <a:r>
              <a:rPr lang="en-US" dirty="0"/>
              <a:t>very widely used in practice!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[we will present this scheme during the exercises]</a:t>
            </a:r>
            <a:endParaRPr lang="pl-PL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35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-203200"/>
            <a:ext cx="7988300" cy="1325563"/>
          </a:xfrm>
        </p:spPr>
        <p:txBody>
          <a:bodyPr/>
          <a:lstStyle/>
          <a:p>
            <a:r>
              <a:rPr lang="en-US" dirty="0"/>
              <a:t>Note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863600"/>
            <a:ext cx="8509000" cy="22351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In </a:t>
            </a:r>
            <a:r>
              <a:rPr lang="en-US" sz="3200" b="1" dirty="0" err="1">
                <a:solidFill>
                  <a:srgbClr val="FF0000"/>
                </a:solidFill>
              </a:rPr>
              <a:t>Schnorr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and </a:t>
            </a:r>
            <a:r>
              <a:rPr lang="en-US" sz="3200" b="1" dirty="0">
                <a:solidFill>
                  <a:srgbClr val="FF0000"/>
                </a:solidFill>
              </a:rPr>
              <a:t>DSS signatures </a:t>
            </a:r>
            <a:r>
              <a:rPr lang="en-US" sz="3200" dirty="0"/>
              <a:t>it’s </a:t>
            </a:r>
            <a:r>
              <a:rPr lang="en-US" sz="3200" b="1" u="sng" dirty="0"/>
              <a:t>very important</a:t>
            </a:r>
            <a:r>
              <a:rPr lang="pl-PL" sz="3200" dirty="0"/>
              <a:t> t</a:t>
            </a:r>
            <a:r>
              <a:rPr lang="en-US" sz="3200" dirty="0"/>
              <a:t>hat the signer</a:t>
            </a:r>
            <a:r>
              <a:rPr lang="pl-PL" sz="3200" dirty="0"/>
              <a:t>’s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randomness is generated properly </a:t>
            </a:r>
            <a:r>
              <a:rPr lang="en-US" sz="3200" dirty="0"/>
              <a:t>[</a:t>
            </a:r>
            <a:r>
              <a:rPr lang="en-US" sz="3200" b="1" dirty="0">
                <a:solidFill>
                  <a:srgbClr val="00B050"/>
                </a:solidFill>
              </a:rPr>
              <a:t>exercise</a:t>
            </a:r>
            <a:r>
              <a:rPr lang="en-US" sz="3200" dirty="0"/>
              <a:t>].</a:t>
            </a:r>
          </a:p>
          <a:p>
            <a:pPr marL="0" indent="0">
              <a:buNone/>
            </a:pPr>
            <a:r>
              <a:rPr lang="en-US" sz="3200" dirty="0"/>
              <a:t>Failure to do so can have catastrophic effects</a:t>
            </a:r>
            <a:r>
              <a:rPr lang="pl-PL" sz="3200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601" y="3182053"/>
            <a:ext cx="4328099" cy="33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340768"/>
            <a:ext cx="6929486" cy="46805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definition of secure 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Signatures based on RSA, “hash-and-sign”, “full-domain-hash”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based on discrete log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identification schemes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/>
              <a:t>Schnorr</a:t>
            </a:r>
            <a:r>
              <a:rPr lang="en-US" dirty="0"/>
              <a:t> signatures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DSA signatures</a:t>
            </a:r>
          </a:p>
          <a:p>
            <a:pPr marL="457200" indent="-514350">
              <a:buFont typeface="+mj-lt"/>
              <a:buAutoNum type="arabicPeriod"/>
            </a:pPr>
            <a:r>
              <a:rPr lang="en-US"/>
              <a:t>Theoretical constructions</a:t>
            </a: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475706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295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7"/>
          <p:cNvSpPr/>
          <p:nvPr/>
        </p:nvSpPr>
        <p:spPr>
          <a:xfrm>
            <a:off x="142844" y="1928802"/>
            <a:ext cx="8572560" cy="4000528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Signatures schemes can be constructed from any one-way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662" y="3639925"/>
            <a:ext cx="228601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signature schemes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43570" y="3643314"/>
            <a:ext cx="193168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one way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6" name="Down Arrow 5"/>
          <p:cNvSpPr/>
          <p:nvPr/>
        </p:nvSpPr>
        <p:spPr>
          <a:xfrm rot="16200000">
            <a:off x="4070505" y="3356133"/>
            <a:ext cx="642942" cy="193168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 rot="5400000">
            <a:off x="3999067" y="2641753"/>
            <a:ext cx="642942" cy="193168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786182" y="2571744"/>
            <a:ext cx="4081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another member of </a:t>
            </a:r>
            <a:r>
              <a:rPr lang="en-US" sz="2400" b="1" dirty="0" err="1">
                <a:solidFill>
                  <a:schemeClr val="bg1"/>
                </a:solidFill>
              </a:rPr>
              <a:t>minicrypt</a:t>
            </a:r>
            <a:r>
              <a:rPr lang="en-US" sz="2400" b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073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50199"/>
            <a:ext cx="8697542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One-time signatures (</a:t>
            </a:r>
            <a:r>
              <a:rPr lang="en-US" b="1" dirty="0"/>
              <a:t>Leslie </a:t>
            </a:r>
            <a:r>
              <a:rPr lang="en-US" b="1" dirty="0" err="1"/>
              <a:t>Lamport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000108"/>
                <a:ext cx="8229600" cy="86939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dirty="0"/>
                  <a:t>How to sign one bit?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– a one way function</a:t>
                </a:r>
                <a:endParaRPr lang="en-US" sz="2400" b="1" dirty="0"/>
              </a:p>
              <a:p>
                <a:pPr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000108"/>
                <a:ext cx="8229600" cy="869398"/>
              </a:xfrm>
              <a:blipFill rotWithShape="0">
                <a:blip r:embed="rId3"/>
                <a:stretch>
                  <a:fillRect l="-1111" t="-9790" b="-1608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879288" y="2620622"/>
                <a:ext cx="1121076" cy="87981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random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88" y="2620622"/>
                <a:ext cx="1121076" cy="87981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929322" y="2620622"/>
                <a:ext cx="2071702" cy="87981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22" y="2620622"/>
                <a:ext cx="2071702" cy="879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ight Arrow 5"/>
              <p:cNvSpPr/>
              <p:nvPr/>
            </p:nvSpPr>
            <p:spPr>
              <a:xfrm>
                <a:off x="3143240" y="2649253"/>
                <a:ext cx="2571768" cy="928694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0" y="2649253"/>
                <a:ext cx="2571768" cy="928694"/>
              </a:xfrm>
              <a:prstGeom prst="righ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879288" y="4049382"/>
                <a:ext cx="1121076" cy="87981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random</a:t>
                </a:r>
                <a:br>
                  <a:rPr lang="en-US" sz="2800" dirty="0">
                    <a:solidFill>
                      <a:srgbClr val="C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88" y="4049382"/>
                <a:ext cx="1121076" cy="87981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929322" y="4049382"/>
                <a:ext cx="2071702" cy="87981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22" y="4049382"/>
                <a:ext cx="2071702" cy="87981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ight Arrow 8"/>
              <p:cNvSpPr/>
              <p:nvPr/>
            </p:nvSpPr>
            <p:spPr>
              <a:xfrm>
                <a:off x="3143240" y="4071942"/>
                <a:ext cx="2571768" cy="928694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ight Arrow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0" y="4071942"/>
                <a:ext cx="2571768" cy="928694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9"/>
          <p:cNvSpPr/>
          <p:nvPr/>
        </p:nvSpPr>
        <p:spPr>
          <a:xfrm>
            <a:off x="1694164" y="2428868"/>
            <a:ext cx="1520514" cy="2786082"/>
          </a:xfrm>
          <a:prstGeom prst="wedgeRoundRectCallout">
            <a:avLst>
              <a:gd name="adj1" fmla="val -107178"/>
              <a:gd name="adj2" fmla="val -43192"/>
              <a:gd name="adj3" fmla="val 16667"/>
            </a:avLst>
          </a:prstGeom>
          <a:noFill/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5475" y="2059324"/>
            <a:ext cx="1396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private key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830122" y="2427714"/>
            <a:ext cx="2382650" cy="2786082"/>
          </a:xfrm>
          <a:prstGeom prst="wedgeRoundRectCallout">
            <a:avLst>
              <a:gd name="adj1" fmla="val -85483"/>
              <a:gd name="adj2" fmla="val -48755"/>
              <a:gd name="adj3" fmla="val 16667"/>
            </a:avLst>
          </a:prstGeom>
          <a:noFill/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860251" y="2059324"/>
            <a:ext cx="1301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public key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68377" y="5583462"/>
                <a:ext cx="5903397" cy="926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400" b="1" i="1" baseline="-250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𝐲𝐞𝐬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iff</m:t>
                      </m:r>
                      <m:r>
                        <a:rPr 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77" y="5583462"/>
                <a:ext cx="5903397" cy="92602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16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secure?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forge a signature on bit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 adversary needs to calculate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28794" y="3335002"/>
                <a:ext cx="1000132" cy="87981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94" y="3335002"/>
                <a:ext cx="1000132" cy="87981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857884" y="3335002"/>
                <a:ext cx="2071702" cy="87981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884" y="3335002"/>
                <a:ext cx="2071702" cy="87981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ight Arrow 5"/>
              <p:cNvSpPr/>
              <p:nvPr/>
            </p:nvSpPr>
            <p:spPr>
              <a:xfrm>
                <a:off x="3071802" y="3357562"/>
                <a:ext cx="2571768" cy="928694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ight Arrow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802" y="3357562"/>
                <a:ext cx="2571768" cy="928694"/>
              </a:xfrm>
              <a:prstGeom prst="righ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609600" y="5214950"/>
                <a:ext cx="8229600" cy="1063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This should be infeasible, since </a:t>
                </a:r>
                <a14:m>
                  <m:oMath xmlns:m="http://schemas.openxmlformats.org/officeDocument/2006/math">
                    <m:r>
                      <a:rPr kumimoji="0" lang="en-US" sz="3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𝒇</m:t>
                    </m:r>
                  </m:oMath>
                </a14:m>
                <a:r>
                  <a:rPr kumimoji="0" lang="en-US" sz="3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is one-way...</a:t>
                </a:r>
                <a:endParaRPr kumimoji="0" lang="en-US" sz="32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14950"/>
                <a:ext cx="8229600" cy="1063613"/>
              </a:xfrm>
              <a:prstGeom prst="rect">
                <a:avLst/>
              </a:prstGeom>
              <a:blipFill rotWithShape="0">
                <a:blip r:embed="rId7"/>
                <a:stretch>
                  <a:fillRect l="-1852" t="-742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28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1479" t="9022" r="13906" b="16541"/>
          <a:stretch>
            <a:fillRect/>
          </a:stretch>
        </p:blipFill>
        <p:spPr bwMode="auto">
          <a:xfrm>
            <a:off x="357158" y="3714752"/>
            <a:ext cx="1857388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5786" y="5857892"/>
            <a:ext cx="97815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Lamport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4546" y="214290"/>
            <a:ext cx="6643702" cy="6429420"/>
          </a:xfrm>
          <a:prstGeom prst="wedgeRectCallout">
            <a:avLst>
              <a:gd name="adj1" fmla="val -56336"/>
              <a:gd name="adj2" fmla="val 2436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950" b="1" dirty="0"/>
              <a:t>Constructing Digital Signatures from a One Way Function</a:t>
            </a:r>
            <a:br>
              <a:rPr lang="en-US" sz="1950" dirty="0"/>
            </a:br>
            <a:r>
              <a:rPr lang="en-US" sz="1950" dirty="0"/>
              <a:t>SRI International Technical Report CSL-98 (October 1979).</a:t>
            </a:r>
          </a:p>
          <a:p>
            <a:pPr>
              <a:buNone/>
            </a:pPr>
            <a:r>
              <a:rPr lang="en-US" sz="1950" dirty="0"/>
              <a:t>At a </a:t>
            </a:r>
            <a:r>
              <a:rPr lang="en-US" sz="1950" b="1" dirty="0"/>
              <a:t>coffee house in Berkeley </a:t>
            </a:r>
            <a:r>
              <a:rPr lang="en-US" sz="1950" dirty="0"/>
              <a:t>around </a:t>
            </a:r>
            <a:r>
              <a:rPr lang="en-US" sz="1950" b="1" dirty="0"/>
              <a:t>1975</a:t>
            </a:r>
            <a:r>
              <a:rPr lang="en-US" sz="1950" dirty="0"/>
              <a:t>, </a:t>
            </a:r>
            <a:r>
              <a:rPr lang="en-US" sz="1950" b="1" dirty="0"/>
              <a:t>Whitfield </a:t>
            </a:r>
            <a:r>
              <a:rPr lang="en-US" sz="1950" b="1" dirty="0" err="1"/>
              <a:t>Diffie</a:t>
            </a:r>
            <a:r>
              <a:rPr lang="en-US" sz="1950" b="1" dirty="0"/>
              <a:t> </a:t>
            </a:r>
            <a:r>
              <a:rPr lang="en-US" sz="1950" dirty="0"/>
              <a:t>described a problem to me that he had been trying to solve: constructing a digital signature for a document. </a:t>
            </a:r>
            <a:r>
              <a:rPr lang="en-US" sz="1950" b="1" dirty="0"/>
              <a:t> I immediately proposed a solution</a:t>
            </a:r>
            <a:r>
              <a:rPr lang="en-US" sz="1950" dirty="0"/>
              <a:t>.  Though </a:t>
            </a:r>
            <a:r>
              <a:rPr lang="en-US" sz="1950" b="1" dirty="0"/>
              <a:t>not very practical-</a:t>
            </a:r>
            <a:r>
              <a:rPr lang="en-US" sz="1950" dirty="0"/>
              <a:t>-it required perhaps 64 bits of published key to sign a single bit--it was the first digital signature algorithm. </a:t>
            </a:r>
          </a:p>
          <a:p>
            <a:pPr>
              <a:buNone/>
            </a:pPr>
            <a:r>
              <a:rPr lang="en-US" sz="1950" dirty="0"/>
              <a:t> In </a:t>
            </a:r>
            <a:r>
              <a:rPr lang="en-US" sz="1950" b="1" dirty="0"/>
              <a:t>1978</a:t>
            </a:r>
            <a:r>
              <a:rPr lang="en-US" sz="1950" dirty="0"/>
              <a:t>, </a:t>
            </a:r>
            <a:r>
              <a:rPr lang="en-US" sz="1950" b="1" dirty="0"/>
              <a:t>Michael Rabin </a:t>
            </a:r>
            <a:r>
              <a:rPr lang="en-US" sz="1950" dirty="0"/>
              <a:t>published a paper titled </a:t>
            </a:r>
            <a:r>
              <a:rPr lang="en-US" sz="1950" i="1" dirty="0"/>
              <a:t>Digitalized Signatures</a:t>
            </a:r>
            <a:r>
              <a:rPr lang="en-US" sz="1950" dirty="0"/>
              <a:t> containing a more practical scheme for generating digital signatures of documents.  </a:t>
            </a:r>
            <a:r>
              <a:rPr lang="en-US" sz="1950" b="1" dirty="0"/>
              <a:t>(I don't remember what other digital signature algorithms had already been proposed.)</a:t>
            </a:r>
            <a:r>
              <a:rPr lang="en-US" sz="1950" dirty="0"/>
              <a:t>  However, his solution had some drawbacks that limited its utility. </a:t>
            </a:r>
          </a:p>
          <a:p>
            <a:pPr>
              <a:buNone/>
            </a:pPr>
            <a:r>
              <a:rPr lang="en-US" sz="1950" dirty="0"/>
              <a:t>[...]  I didn't feel that it added much to what Rabin had done.  </a:t>
            </a:r>
            <a:r>
              <a:rPr lang="en-US" sz="1950" b="1" dirty="0"/>
              <a:t>However, I've been told that this paper is cited in the cryptography literature and is considered significant, so perhaps I was wrong</a:t>
            </a:r>
            <a:r>
              <a:rPr lang="en-US" sz="1950" dirty="0"/>
              <a:t>. </a:t>
            </a:r>
          </a:p>
          <a:p>
            <a:pPr>
              <a:buNone/>
            </a:pPr>
            <a:r>
              <a:rPr lang="en-US" sz="1950" dirty="0"/>
              <a:t>from: research.microsoft.com/</a:t>
            </a:r>
            <a:r>
              <a:rPr lang="en-US" sz="1950" dirty="0" err="1"/>
              <a:t>en</a:t>
            </a:r>
            <a:r>
              <a:rPr lang="en-US" sz="1950" dirty="0"/>
              <a:t>-us/um/people/</a:t>
            </a:r>
            <a:r>
              <a:rPr lang="en-US" sz="1950" dirty="0" err="1"/>
              <a:t>lamport</a:t>
            </a:r>
            <a:r>
              <a:rPr lang="en-US" sz="1950" dirty="0"/>
              <a:t>/</a:t>
            </a:r>
            <a:br>
              <a:rPr lang="en-US" sz="1950" dirty="0"/>
            </a:br>
            <a:r>
              <a:rPr lang="en-US" sz="1950" dirty="0"/>
              <a:t> </a:t>
            </a:r>
          </a:p>
          <a:p>
            <a:pPr>
              <a:buNone/>
            </a:pPr>
            <a:endParaRPr lang="en-US" sz="1950" dirty="0"/>
          </a:p>
        </p:txBody>
      </p:sp>
      <p:sp>
        <p:nvSpPr>
          <p:cNvPr id="6" name="Rectangular Callout 5"/>
          <p:cNvSpPr/>
          <p:nvPr/>
        </p:nvSpPr>
        <p:spPr>
          <a:xfrm>
            <a:off x="357158" y="1285860"/>
            <a:ext cx="1571636" cy="1214446"/>
          </a:xfrm>
          <a:prstGeom prst="wedgeRectCallout">
            <a:avLst>
              <a:gd name="adj1" fmla="val 90723"/>
              <a:gd name="adj2" fmla="val 12402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what about the RSA ???</a:t>
            </a:r>
          </a:p>
        </p:txBody>
      </p:sp>
    </p:spTree>
    <p:extLst>
      <p:ext uri="{BB962C8B-B14F-4D97-AF65-F5344CB8AC3E}">
        <p14:creationId xmlns:p14="http://schemas.microsoft.com/office/powerpoint/2010/main" val="408370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570" y="119284"/>
            <a:ext cx="7948408" cy="901703"/>
          </a:xfrm>
        </p:spPr>
        <p:txBody>
          <a:bodyPr>
            <a:normAutofit/>
          </a:bodyPr>
          <a:lstStyle/>
          <a:p>
            <a:r>
              <a:rPr lang="en-US" dirty="0"/>
              <a:t>How to sign longer messages?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7048" y="987023"/>
                <a:ext cx="8229600" cy="15857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show 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one-time signature </a:t>
                </a:r>
                <a:r>
                  <a:rPr lang="en-US" sz="2400" dirty="0"/>
                  <a:t>scheme (one public key can be used at most once).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– one way function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– length of the message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048" y="987023"/>
                <a:ext cx="8229600" cy="1585751"/>
              </a:xfrm>
              <a:blipFill rotWithShape="0">
                <a:blip r:embed="rId3"/>
                <a:stretch>
                  <a:fillRect l="-1185" t="-7692" b="-423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4060" y="2569296"/>
                <a:ext cx="19058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</a:rPr>
                  <a:t>private key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60" y="2569296"/>
                <a:ext cx="1905843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3195" t="-7576" r="-2236" b="-25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1428" y="2569296"/>
                <a:ext cx="183505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</a:rPr>
                  <a:t>public key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428" y="2569296"/>
                <a:ext cx="1835054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3654" t="-7576" r="-2326" b="-25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1278" y="4830030"/>
                <a:ext cx="8215370" cy="1940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4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𝐋𝐚𝐦𝐩𝐨𝐫𝐭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4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600" b="1" i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𝐋𝐚𝐦𝐩𝐨𝐫𝐭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</m:oMath>
                  </m:oMathPara>
                </a14:m>
                <a:endParaRPr lang="en-US" sz="3200" b="1" i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2400" b="1" dirty="0"/>
                  <a:t>check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baseline="-2500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sz="2400" b="1" i="1" baseline="-4200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baseline="-25000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sz="2400" b="1" i="1" baseline="-42000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b="1" i="1" baseline="-25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400" b="1" i="1" baseline="-42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4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b="1" i="1" baseline="-25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400" b="1" i="1" baseline="-42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b="1" dirty="0">
                    <a:solidFill>
                      <a:srgbClr val="C0000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78" y="4830030"/>
                <a:ext cx="8215370" cy="194040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8405956"/>
                  </p:ext>
                </p:extLst>
              </p:nvPr>
            </p:nvGraphicFramePr>
            <p:xfrm>
              <a:off x="4560780" y="3094615"/>
              <a:ext cx="4398096" cy="8641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2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614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38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baseline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. .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464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 . .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8405956"/>
                  </p:ext>
                </p:extLst>
              </p:nvPr>
            </p:nvGraphicFramePr>
            <p:xfrm>
              <a:off x="4560780" y="3094615"/>
              <a:ext cx="4398096" cy="8641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214"/>
                    <a:gridCol w="914400"/>
                    <a:gridCol w="1761482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353" t="-1471" r="-156537" b="-113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89333" t="-1471" r="-195333" b="-113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50173" t="-1471" r="-1384" b="-113235"/>
                          </a:stretch>
                        </a:blipFill>
                      </a:tcPr>
                    </a:tc>
                  </a:tr>
                  <a:tr h="454649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353" t="-92000" r="-15653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89333" t="-92000" r="-195333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50173" t="-92000" r="-1384" b="-2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236791"/>
                  </p:ext>
                </p:extLst>
              </p:nvPr>
            </p:nvGraphicFramePr>
            <p:xfrm>
              <a:off x="392688" y="3094615"/>
              <a:ext cx="3674430" cy="8738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98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512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7331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694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baseline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. .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694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 . .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236791"/>
                  </p:ext>
                </p:extLst>
              </p:nvPr>
            </p:nvGraphicFramePr>
            <p:xfrm>
              <a:off x="392688" y="3094615"/>
              <a:ext cx="3674430" cy="8738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9884"/>
                    <a:gridCol w="2151228"/>
                    <a:gridCol w="773318"/>
                  </a:tblGrid>
                  <a:tr h="436949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813" t="-1370" r="-394309" b="-1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5028" t="-1370" r="-37006" b="-10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76378" t="-1370" r="-3150" b="-101370"/>
                          </a:stretch>
                        </a:blipFill>
                      </a:tcPr>
                    </a:tc>
                  </a:tr>
                  <a:tr h="436949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813" t="-102778" r="-394309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5028" t="-102778" r="-37006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76378" t="-102778" r="-3150" b="-277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8"/>
              <p:cNvSpPr/>
              <p:nvPr/>
            </p:nvSpPr>
            <p:spPr>
              <a:xfrm>
                <a:off x="392688" y="4126604"/>
                <a:ext cx="2857488" cy="428628"/>
              </a:xfrm>
              <a:prstGeom prst="wedgeRectCallout">
                <a:avLst>
                  <a:gd name="adj1" fmla="val -22761"/>
                  <a:gd name="adj2" fmla="val -94286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all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𝒊𝒋</m:t>
                    </m:r>
                  </m:oMath>
                </a14:m>
                <a:r>
                  <a:rPr lang="en-US" dirty="0"/>
                  <a:t>’s are random strings</a:t>
                </a:r>
              </a:p>
            </p:txBody>
          </p:sp>
        </mc:Choice>
        <mc:Fallback xmlns="">
          <p:sp>
            <p:nvSpPr>
              <p:cNvPr id="9" name="Rectangular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8" y="4126604"/>
                <a:ext cx="2857488" cy="428628"/>
              </a:xfrm>
              <a:prstGeom prst="wedgeRectCallout">
                <a:avLst>
                  <a:gd name="adj1" fmla="val -22761"/>
                  <a:gd name="adj2" fmla="val -94286"/>
                </a:avLst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50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313029"/>
            <a:ext cx="7886700" cy="889876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378376"/>
                <a:ext cx="8229600" cy="357189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378376"/>
                <a:ext cx="8229600" cy="357189"/>
              </a:xfrm>
              <a:blipFill rotWithShape="0">
                <a:blip r:embed="rId3"/>
                <a:stretch>
                  <a:fillRect b="-152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5326323"/>
                  </p:ext>
                </p:extLst>
              </p:nvPr>
            </p:nvGraphicFramePr>
            <p:xfrm>
              <a:off x="1878982" y="3033916"/>
              <a:ext cx="6687846" cy="8190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6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81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81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5326323"/>
                  </p:ext>
                </p:extLst>
              </p:nvPr>
            </p:nvGraphicFramePr>
            <p:xfrm>
              <a:off x="1878982" y="3033916"/>
              <a:ext cx="6687846" cy="8190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641"/>
                    <a:gridCol w="1114641"/>
                    <a:gridCol w="1114641"/>
                    <a:gridCol w="1114641"/>
                    <a:gridCol w="1114641"/>
                    <a:gridCol w="1114641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46" t="-1471" r="-502186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546" t="-1471" r="-402186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546" t="-1471" r="-302186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546" t="-1471" r="-202186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546" t="-1471" r="-102186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0546" t="-1471" r="-2186" b="-102941"/>
                          </a:stretch>
                        </a:blipFill>
                      </a:tcPr>
                    </a:tc>
                  </a:tr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46" t="-101471" r="-502186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546" t="-101471" r="-402186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546" t="-101471" r="-302186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546" t="-101471" r="-202186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546" t="-101471" r="-102186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0546" t="-101471" r="-2186" b="-294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7158" y="1795006"/>
                <a:ext cx="31175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795006"/>
                <a:ext cx="3117585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902752" y="3442692"/>
            <a:ext cx="1051843" cy="41024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48008" y="3063089"/>
            <a:ext cx="1059910" cy="361023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22905" y="3432376"/>
            <a:ext cx="1132499" cy="413602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374887" y="3063089"/>
            <a:ext cx="1051843" cy="35719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182947" y="3425342"/>
            <a:ext cx="1051843" cy="41024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472830" y="3063089"/>
            <a:ext cx="1051843" cy="364195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57158" y="5543125"/>
            <a:ext cx="1378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signature: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200" y="2977815"/>
            <a:ext cx="1569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private key: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5894444"/>
                  </p:ext>
                </p:extLst>
              </p:nvPr>
            </p:nvGraphicFramePr>
            <p:xfrm>
              <a:off x="1797552" y="5513796"/>
              <a:ext cx="6687846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6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5894444"/>
                  </p:ext>
                </p:extLst>
              </p:nvPr>
            </p:nvGraphicFramePr>
            <p:xfrm>
              <a:off x="1797552" y="5513796"/>
              <a:ext cx="6687846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641"/>
                    <a:gridCol w="1114641"/>
                    <a:gridCol w="1114641"/>
                    <a:gridCol w="1114641"/>
                    <a:gridCol w="1114641"/>
                    <a:gridCol w="1114641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546" t="-1471" r="-502732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0546" t="-1471" r="-402732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200546" t="-1471" r="-302732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300546" t="-1471" r="-202732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400546" t="-1471" r="-102732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500546" t="-1471" r="-2732" b="-588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3" name="TextBox 32"/>
          <p:cNvSpPr txBox="1"/>
          <p:nvPr/>
        </p:nvSpPr>
        <p:spPr>
          <a:xfrm>
            <a:off x="281112" y="4188263"/>
            <a:ext cx="1467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public key: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161011"/>
                  </p:ext>
                </p:extLst>
              </p:nvPr>
            </p:nvGraphicFramePr>
            <p:xfrm>
              <a:off x="1864382" y="4244367"/>
              <a:ext cx="6687846" cy="8190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6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1464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81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814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161011"/>
                  </p:ext>
                </p:extLst>
              </p:nvPr>
            </p:nvGraphicFramePr>
            <p:xfrm>
              <a:off x="1864382" y="4244367"/>
              <a:ext cx="6687846" cy="8190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641"/>
                    <a:gridCol w="1114641"/>
                    <a:gridCol w="1114641"/>
                    <a:gridCol w="1114641"/>
                    <a:gridCol w="1114641"/>
                    <a:gridCol w="1114641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46" t="-1471" r="-502732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0546" t="-1471" r="-402732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200546" t="-1471" r="-302732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300546" t="-1471" r="-202732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400546" t="-1471" r="-102732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00546" t="-1471" r="-2732" b="-111765"/>
                          </a:stretch>
                        </a:blipFill>
                      </a:tcPr>
                    </a:tc>
                  </a:tr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46" t="-102985" r="-502732" b="-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0546" t="-102985" r="-402732" b="-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200546" t="-102985" r="-302732" b="-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300546" t="-102985" r="-202732" b="-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400546" t="-102985" r="-102732" b="-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00546" t="-102985" r="-2732" b="-134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555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/>
      <p:bldP spid="20" grpId="0"/>
      <p:bldP spid="3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8686800" cy="571504"/>
          </a:xfrm>
        </p:spPr>
        <p:txBody>
          <a:bodyPr>
            <a:normAutofit/>
          </a:bodyPr>
          <a:lstStyle/>
          <a:p>
            <a:r>
              <a:rPr lang="en-US" sz="3200" dirty="0"/>
              <a:t>Why each key can be used at most once?</a:t>
            </a:r>
          </a:p>
        </p:txBody>
      </p:sp>
      <p:pic>
        <p:nvPicPr>
          <p:cNvPr id="46" name="Picture 3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5206" y="3929066"/>
            <a:ext cx="1676400" cy="1158875"/>
          </a:xfrm>
          <a:prstGeom prst="rect">
            <a:avLst/>
          </a:prstGeom>
          <a:noFill/>
        </p:spPr>
      </p:pic>
      <p:sp>
        <p:nvSpPr>
          <p:cNvPr id="47" name="Curved Up Arrow 46"/>
          <p:cNvSpPr/>
          <p:nvPr/>
        </p:nvSpPr>
        <p:spPr>
          <a:xfrm rot="15210076">
            <a:off x="6784964" y="1718437"/>
            <a:ext cx="2660946" cy="1357322"/>
          </a:xfrm>
          <a:prstGeom prst="curved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 5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1127685"/>
                  </p:ext>
                </p:extLst>
              </p:nvPr>
            </p:nvGraphicFramePr>
            <p:xfrm>
              <a:off x="1875734" y="1383192"/>
              <a:ext cx="4991994" cy="831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9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56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6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 5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1127685"/>
                  </p:ext>
                </p:extLst>
              </p:nvPr>
            </p:nvGraphicFramePr>
            <p:xfrm>
              <a:off x="1875734" y="1383192"/>
              <a:ext cx="4991994" cy="831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999"/>
                    <a:gridCol w="831999"/>
                    <a:gridCol w="831999"/>
                    <a:gridCol w="831999"/>
                    <a:gridCol w="831999"/>
                    <a:gridCol w="831999"/>
                  </a:tblGrid>
                  <a:tr h="4156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30" t="-1449" r="-50146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1471" t="-1449" r="-405147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000" t="-1449" r="-30219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1449" r="-20219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2941" t="-1449" r="-103676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99270" t="-1449" r="-2920" b="-102899"/>
                          </a:stretch>
                        </a:blipFill>
                      </a:tcPr>
                    </a:tc>
                  </a:tr>
                  <a:tr h="4156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30" t="-101449" r="-50146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1471" t="-101449" r="-405147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000" t="-101449" r="-30219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000" t="-101449" r="-20219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2941" t="-101449" r="-103676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99270" t="-101449" r="-2920" b="-289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3" name="Rectangle 52"/>
          <p:cNvSpPr/>
          <p:nvPr/>
        </p:nvSpPr>
        <p:spPr>
          <a:xfrm>
            <a:off x="1899504" y="1791970"/>
            <a:ext cx="785125" cy="41642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710116" y="1408159"/>
            <a:ext cx="791146" cy="366461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376884" y="1801080"/>
            <a:ext cx="845329" cy="419832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250661" y="1418830"/>
            <a:ext cx="785125" cy="36257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559580" y="1795822"/>
            <a:ext cx="785125" cy="41642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059194" y="1425315"/>
            <a:ext cx="785125" cy="369681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93776" y="1381290"/>
            <a:ext cx="1614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private key: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7158" y="2351635"/>
            <a:ext cx="1378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signature: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" name="Table 6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7539534"/>
                  </p:ext>
                </p:extLst>
              </p:nvPr>
            </p:nvGraphicFramePr>
            <p:xfrm>
              <a:off x="1797552" y="2322306"/>
              <a:ext cx="5070174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50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06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" name="Table 6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7539534"/>
                  </p:ext>
                </p:extLst>
              </p:nvPr>
            </p:nvGraphicFramePr>
            <p:xfrm>
              <a:off x="1797552" y="2322306"/>
              <a:ext cx="5070174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5029"/>
                    <a:gridCol w="845029"/>
                    <a:gridCol w="845029"/>
                    <a:gridCol w="845029"/>
                    <a:gridCol w="845029"/>
                    <a:gridCol w="845029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719" t="-1449" r="-50215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719" t="-1449" r="-40215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0719" t="-1449" r="-30215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302899" t="-1449" r="-20434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00000" t="-1449" r="-10287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500000" t="-1449" r="-2878" b="-579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8" name="Curved Up Arrow 47"/>
          <p:cNvSpPr/>
          <p:nvPr/>
        </p:nvSpPr>
        <p:spPr>
          <a:xfrm rot="12260482">
            <a:off x="6576691" y="2401387"/>
            <a:ext cx="1839585" cy="1111514"/>
          </a:xfrm>
          <a:prstGeom prst="curved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72396" y="2786058"/>
            <a:ext cx="1285884" cy="461665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knows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2" name="Table 6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263433"/>
                  </p:ext>
                </p:extLst>
              </p:nvPr>
            </p:nvGraphicFramePr>
            <p:xfrm>
              <a:off x="1886476" y="3308160"/>
              <a:ext cx="4991994" cy="831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9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56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6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2" name="Table 6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263433"/>
                  </p:ext>
                </p:extLst>
              </p:nvPr>
            </p:nvGraphicFramePr>
            <p:xfrm>
              <a:off x="1886476" y="3308160"/>
              <a:ext cx="4991994" cy="831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999"/>
                    <a:gridCol w="831999"/>
                    <a:gridCol w="831999"/>
                    <a:gridCol w="831999"/>
                    <a:gridCol w="831999"/>
                    <a:gridCol w="831999"/>
                  </a:tblGrid>
                  <a:tr h="4156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730" t="-1449" r="-50146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1471" t="-1449" r="-405147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200000" t="-1449" r="-30219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300000" t="-1449" r="-20219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402941" t="-1449" r="-103676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499270" t="-1449" r="-2920" b="-102899"/>
                          </a:stretch>
                        </a:blipFill>
                      </a:tcPr>
                    </a:tc>
                  </a:tr>
                  <a:tr h="4156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730" t="-101449" r="-50146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1471" t="-101449" r="-405147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200000" t="-101449" r="-30219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300000" t="-101449" r="-20219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402941" t="-101449" r="-103676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499270" t="-101449" r="-2920" b="-289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3" name="Rectangle 62"/>
          <p:cNvSpPr/>
          <p:nvPr/>
        </p:nvSpPr>
        <p:spPr>
          <a:xfrm>
            <a:off x="1910246" y="3716938"/>
            <a:ext cx="785125" cy="416427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2722962" y="3706368"/>
            <a:ext cx="791146" cy="433727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386955" y="3297106"/>
            <a:ext cx="845329" cy="419832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274069" y="3743866"/>
            <a:ext cx="785125" cy="362570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570322" y="3720790"/>
            <a:ext cx="785125" cy="416427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059193" y="3736828"/>
            <a:ext cx="785125" cy="369681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204518" y="3306258"/>
            <a:ext cx="1614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private key: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7900" y="4276603"/>
            <a:ext cx="1378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signature: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1" name="Table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9760692"/>
                  </p:ext>
                </p:extLst>
              </p:nvPr>
            </p:nvGraphicFramePr>
            <p:xfrm>
              <a:off x="1808294" y="4247274"/>
              <a:ext cx="5070174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50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06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1" name="Table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9760692"/>
                  </p:ext>
                </p:extLst>
              </p:nvPr>
            </p:nvGraphicFramePr>
            <p:xfrm>
              <a:off x="1808294" y="4247274"/>
              <a:ext cx="5070174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5029"/>
                    <a:gridCol w="845029"/>
                    <a:gridCol w="845029"/>
                    <a:gridCol w="845029"/>
                    <a:gridCol w="845029"/>
                    <a:gridCol w="845029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719" t="-1471" r="-502158" b="-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0719" t="-1471" r="-402158" b="-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200719" t="-1471" r="-302158" b="-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302899" t="-1471" r="-204348" b="-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400000" t="-1471" r="-102878" b="-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00000" t="-1471" r="-2878" b="-735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2" name="Table 7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614221"/>
                  </p:ext>
                </p:extLst>
              </p:nvPr>
            </p:nvGraphicFramePr>
            <p:xfrm>
              <a:off x="1873884" y="5125949"/>
              <a:ext cx="4991994" cy="831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9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319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56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6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2" name="Table 7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614221"/>
                  </p:ext>
                </p:extLst>
              </p:nvPr>
            </p:nvGraphicFramePr>
            <p:xfrm>
              <a:off x="1873884" y="5125949"/>
              <a:ext cx="4991994" cy="8313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999"/>
                    <a:gridCol w="831999"/>
                    <a:gridCol w="831999"/>
                    <a:gridCol w="831999"/>
                    <a:gridCol w="831999"/>
                    <a:gridCol w="831999"/>
                  </a:tblGrid>
                  <a:tr h="4156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730" t="-1449" r="-50146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471" t="-1449" r="-405147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200000" t="-1449" r="-30219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00000" t="-1449" r="-20219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02941" t="-1449" r="-103676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99270" t="-1449" r="-2920" b="-102899"/>
                          </a:stretch>
                        </a:blipFill>
                      </a:tcPr>
                    </a:tc>
                  </a:tr>
                  <a:tr h="415681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730" t="-101449" r="-50146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471" t="-101449" r="-405147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200000" t="-101449" r="-30219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300000" t="-101449" r="-20219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02941" t="-101449" r="-103676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99270" t="-101449" r="-2920" b="-289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5" name="Rectangle 74"/>
          <p:cNvSpPr/>
          <p:nvPr/>
        </p:nvSpPr>
        <p:spPr>
          <a:xfrm>
            <a:off x="4374363" y="5114895"/>
            <a:ext cx="845329" cy="419832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261477" y="5561655"/>
            <a:ext cx="785125" cy="362570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046601" y="5554617"/>
            <a:ext cx="785125" cy="369681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191926" y="5124047"/>
            <a:ext cx="1614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private key: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5308" y="6094392"/>
            <a:ext cx="1378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signature: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1" name="Table 8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4503662"/>
                  </p:ext>
                </p:extLst>
              </p:nvPr>
            </p:nvGraphicFramePr>
            <p:xfrm>
              <a:off x="1795702" y="6065063"/>
              <a:ext cx="5070174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50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45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06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1" name="Table 8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4503662"/>
                  </p:ext>
                </p:extLst>
              </p:nvPr>
            </p:nvGraphicFramePr>
            <p:xfrm>
              <a:off x="1795702" y="6065063"/>
              <a:ext cx="5070174" cy="40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5029"/>
                    <a:gridCol w="845029"/>
                    <a:gridCol w="845029"/>
                    <a:gridCol w="845029"/>
                    <a:gridCol w="845029"/>
                    <a:gridCol w="845029"/>
                  </a:tblGrid>
                  <a:tr h="409512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719" t="-1449" r="-50215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0719" t="-1449" r="-40215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0719" t="-1449" r="-30215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302899" t="-1449" r="-20434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400000" t="-1449" r="-102878" b="-5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500000" t="-1449" r="-2878" b="-579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9" name="Curved Down Arrow 48"/>
          <p:cNvSpPr/>
          <p:nvPr/>
        </p:nvSpPr>
        <p:spPr>
          <a:xfrm rot="9169977">
            <a:off x="6624501" y="5538347"/>
            <a:ext cx="1895451" cy="686798"/>
          </a:xfrm>
          <a:prstGeom prst="curvedDownArrow">
            <a:avLst>
              <a:gd name="adj1" fmla="val 52981"/>
              <a:gd name="adj2" fmla="val 99715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57387" y="5643578"/>
            <a:ext cx="1429455" cy="830997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can</a:t>
            </a:r>
          </a:p>
          <a:p>
            <a:pPr algn="ctr"/>
            <a:r>
              <a:rPr lang="en-US" sz="2400" dirty="0"/>
              <a:t>calculate</a:t>
            </a:r>
            <a:endParaRPr lang="en-US" dirty="0"/>
          </a:p>
        </p:txBody>
      </p:sp>
      <p:sp>
        <p:nvSpPr>
          <p:cNvPr id="85" name="Rectangle 84"/>
          <p:cNvSpPr/>
          <p:nvPr/>
        </p:nvSpPr>
        <p:spPr>
          <a:xfrm>
            <a:off x="1905390" y="5532657"/>
            <a:ext cx="785125" cy="41642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2716002" y="5148846"/>
            <a:ext cx="791146" cy="366461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3565466" y="5536509"/>
            <a:ext cx="785125" cy="416427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5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/>
      <p:bldP spid="60" grpId="0"/>
      <p:bldP spid="48" grpId="0" animBg="1"/>
      <p:bldP spid="50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/>
      <p:bldP spid="70" grpId="0"/>
      <p:bldP spid="75" grpId="0" animBg="1"/>
      <p:bldP spid="76" grpId="0" animBg="1"/>
      <p:bldP spid="78" grpId="0" animBg="1"/>
      <p:bldP spid="79" grpId="0"/>
      <p:bldP spid="80" grpId="0"/>
      <p:bldP spid="49" grpId="0" animBg="1"/>
      <p:bldP spid="51" grpId="0" animBg="1"/>
      <p:bldP spid="85" grpId="0" animBg="1"/>
      <p:bldP spid="86" grpId="0" animBg="1"/>
      <p:bldP spid="8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495"/>
            <a:ext cx="8229600" cy="16430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Signature is much </a:t>
            </a:r>
            <a:r>
              <a:rPr lang="en-US" b="1" dirty="0">
                <a:solidFill>
                  <a:srgbClr val="FF0000"/>
                </a:solidFill>
              </a:rPr>
              <a:t>longer than the message</a:t>
            </a:r>
            <a:r>
              <a:rPr lang="en-US" dirty="0"/>
              <a:t>!</a:t>
            </a:r>
          </a:p>
          <a:p>
            <a:pPr>
              <a:buNone/>
            </a:pPr>
            <a:endParaRPr lang="en-US" dirty="0"/>
          </a:p>
          <a:p>
            <a:pPr algn="r">
              <a:buNone/>
            </a:pPr>
            <a:r>
              <a:rPr lang="en-US" dirty="0"/>
              <a:t>(and can be used </a:t>
            </a:r>
            <a:r>
              <a:rPr lang="en-US" b="1" dirty="0">
                <a:solidFill>
                  <a:srgbClr val="7030A0"/>
                </a:solidFill>
              </a:rPr>
              <a:t>only once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546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apezoid 9"/>
          <p:cNvSpPr/>
          <p:nvPr/>
        </p:nvSpPr>
        <p:spPr>
          <a:xfrm>
            <a:off x="928662" y="2786058"/>
            <a:ext cx="7429552" cy="2500330"/>
          </a:xfrm>
          <a:prstGeom prst="trapezoid">
            <a:avLst>
              <a:gd name="adj" fmla="val 8987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sign long messages?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147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Use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rapezoid 3"/>
              <p:cNvSpPr/>
              <p:nvPr/>
            </p:nvSpPr>
            <p:spPr>
              <a:xfrm>
                <a:off x="928662" y="3786190"/>
                <a:ext cx="7358114" cy="1500198"/>
              </a:xfrm>
              <a:prstGeom prst="trapezoid">
                <a:avLst>
                  <a:gd name="adj" fmla="val 183615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/>
                  <a:t>hash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rapezoi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62" y="3786190"/>
                <a:ext cx="7358114" cy="1500198"/>
              </a:xfrm>
              <a:prstGeom prst="trapezoid">
                <a:avLst>
                  <a:gd name="adj" fmla="val 183615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owchart: Manual Operation 6"/>
          <p:cNvSpPr/>
          <p:nvPr/>
        </p:nvSpPr>
        <p:spPr>
          <a:xfrm>
            <a:off x="3214678" y="2786058"/>
            <a:ext cx="2786082" cy="928694"/>
          </a:xfrm>
          <a:prstGeom prst="flowChartManualOperati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Sign</a:t>
            </a:r>
            <a:r>
              <a:rPr lang="en-US" b="1" baseline="-25000" dirty="0" err="1">
                <a:solidFill>
                  <a:srgbClr val="FF0000"/>
                </a:solidFill>
              </a:rPr>
              <a:t>Lamport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28662" y="5357826"/>
                <a:ext cx="7429552" cy="42862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 long message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62" y="5357826"/>
                <a:ext cx="7429552" cy="4286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14678" y="2285992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𝐋𝐚𝐦𝐩𝐨𝐫𝐭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678" y="2285992"/>
                <a:ext cx="2857520" cy="4286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27425" y="2881298"/>
                <a:ext cx="14323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denote it: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4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425" y="2881298"/>
                <a:ext cx="1432315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6809" t="-5882" r="-5532" b="-955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1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7" grpId="0" animBg="1"/>
      <p:bldP spid="8" grpId="0" animBg="1"/>
      <p:bldP spid="9" grpId="0" animBg="1"/>
      <p:bldP spid="1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1735"/>
          </a:xfrm>
        </p:spPr>
        <p:txBody>
          <a:bodyPr>
            <a:normAutofit fontScale="90000"/>
          </a:bodyPr>
          <a:lstStyle/>
          <a:p>
            <a:r>
              <a:rPr lang="en-US" dirty="0"/>
              <a:t>Idea: to sign multiple messages</a:t>
            </a:r>
            <a:br>
              <a:rPr lang="en-US" dirty="0"/>
            </a:br>
            <a:r>
              <a:rPr lang="en-US" dirty="0"/>
              <a:t>use “certification”</a:t>
            </a:r>
          </a:p>
        </p:txBody>
      </p:sp>
      <p:sp>
        <p:nvSpPr>
          <p:cNvPr id="4" name="Trapezoid 3"/>
          <p:cNvSpPr/>
          <p:nvPr/>
        </p:nvSpPr>
        <p:spPr>
          <a:xfrm>
            <a:off x="428596" y="2071678"/>
            <a:ext cx="5857916" cy="357190"/>
          </a:xfrm>
          <a:prstGeom prst="trapezoid">
            <a:avLst>
              <a:gd name="adj" fmla="val 41912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28596" y="2500306"/>
                <a:ext cx="2928958" cy="42862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2500306"/>
                <a:ext cx="2928958" cy="4286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28794" y="1571612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94" y="1571612"/>
                <a:ext cx="2857520" cy="4286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428992" y="2500306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92" y="2500306"/>
                <a:ext cx="2857520" cy="4286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rapezoid 7"/>
          <p:cNvSpPr/>
          <p:nvPr/>
        </p:nvSpPr>
        <p:spPr>
          <a:xfrm>
            <a:off x="428596" y="3643314"/>
            <a:ext cx="5857916" cy="357190"/>
          </a:xfrm>
          <a:prstGeom prst="trapezoid">
            <a:avLst>
              <a:gd name="adj" fmla="val 42522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28596" y="4071942"/>
                <a:ext cx="2928958" cy="42862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4071942"/>
                <a:ext cx="2928958" cy="42862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928794" y="3143248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94" y="3143248"/>
                <a:ext cx="2857520" cy="42862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428992" y="4071942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92" y="4071942"/>
                <a:ext cx="2857520" cy="42862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643702" y="2428868"/>
                <a:ext cx="21310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generate a new pair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702" y="2428868"/>
                <a:ext cx="2131096" cy="646331"/>
              </a:xfrm>
              <a:prstGeom prst="rect">
                <a:avLst/>
              </a:prstGeom>
              <a:blipFill rotWithShape="0">
                <a:blip r:embed="rId9"/>
                <a:stretch>
                  <a:fillRect l="-2579" t="-5660" r="-2006" b="-84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715140" y="4000504"/>
                <a:ext cx="21310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generate a new pair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140" y="4000504"/>
                <a:ext cx="2131096" cy="646331"/>
              </a:xfrm>
              <a:prstGeom prst="rect">
                <a:avLst/>
              </a:prstGeom>
              <a:blipFill rotWithShape="0">
                <a:blip r:embed="rId10"/>
                <a:stretch>
                  <a:fillRect l="-2579" t="-5660" r="-2006" b="-84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rapezoid 13"/>
          <p:cNvSpPr/>
          <p:nvPr/>
        </p:nvSpPr>
        <p:spPr>
          <a:xfrm>
            <a:off x="428596" y="5286388"/>
            <a:ext cx="5857916" cy="357190"/>
          </a:xfrm>
          <a:prstGeom prst="trapezoid">
            <a:avLst>
              <a:gd name="adj" fmla="val 42522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28596" y="5715016"/>
                <a:ext cx="2928958" cy="42862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5715016"/>
                <a:ext cx="2928958" cy="42862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928794" y="4786322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94" y="4786322"/>
                <a:ext cx="2857520" cy="42862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428992" y="5715016"/>
                <a:ext cx="2857520" cy="42862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92" y="5715016"/>
                <a:ext cx="2857520" cy="42862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715140" y="5572140"/>
                <a:ext cx="21310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generate a new pair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140" y="5572140"/>
                <a:ext cx="2131096" cy="646331"/>
              </a:xfrm>
              <a:prstGeom prst="rect">
                <a:avLst/>
              </a:prstGeom>
              <a:blipFill rotWithShape="0">
                <a:blip r:embed="rId14"/>
                <a:stretch>
                  <a:fillRect l="-2579" t="-5660" r="-2006" b="-84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 rot="5400000">
            <a:off x="3234179" y="633845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28177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1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verify?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00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signer needs to include the “certificate chain” in the signature.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69465" y="2907826"/>
                <a:ext cx="2546820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65" y="2907826"/>
                <a:ext cx="254682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369465" y="3550768"/>
                <a:ext cx="2546820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65" y="3550768"/>
                <a:ext cx="254682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69465" y="3979396"/>
                <a:ext cx="2546820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65" y="3979396"/>
                <a:ext cx="254682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9465" y="4765214"/>
                <a:ext cx="2546820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65" y="4765214"/>
                <a:ext cx="254682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9465" y="5193842"/>
                <a:ext cx="2546820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65" y="5193842"/>
                <a:ext cx="254682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369464" y="5622470"/>
                <a:ext cx="2546821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64" y="5622470"/>
                <a:ext cx="2546821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138561" y="2892437"/>
                <a:ext cx="22980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8561" y="2892437"/>
                <a:ext cx="2298026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63079" y="2919968"/>
                <a:ext cx="1759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verify using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79" y="2919968"/>
                <a:ext cx="1759136" cy="369332"/>
              </a:xfrm>
              <a:prstGeom prst="rect">
                <a:avLst/>
              </a:prstGeom>
              <a:blipFill>
                <a:blip r:embed="rId10"/>
                <a:stretch>
                  <a:fillRect l="-3125" t="-11475" b="-22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rot="10800000">
            <a:off x="6205823" y="3134282"/>
            <a:ext cx="785818" cy="158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63079" y="3562910"/>
                <a:ext cx="1759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verify using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79" y="3562910"/>
                <a:ext cx="1759136" cy="369332"/>
              </a:xfrm>
              <a:prstGeom prst="rect">
                <a:avLst/>
              </a:prstGeom>
              <a:blipFill>
                <a:blip r:embed="rId11"/>
                <a:stretch>
                  <a:fillRect l="-3125" t="-9836" b="-22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rot="10800000">
            <a:off x="6205823" y="3777224"/>
            <a:ext cx="785818" cy="158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63079" y="3991538"/>
                <a:ext cx="1759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verify using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79" y="3991538"/>
                <a:ext cx="1759136" cy="369332"/>
              </a:xfrm>
              <a:prstGeom prst="rect">
                <a:avLst/>
              </a:prstGeom>
              <a:blipFill>
                <a:blip r:embed="rId12"/>
                <a:stretch>
                  <a:fillRect l="-3125" t="-11667" b="-2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rot="10800000">
            <a:off x="6205823" y="4205852"/>
            <a:ext cx="785818" cy="158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063080" y="4777356"/>
                <a:ext cx="1759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verify using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80" y="4777356"/>
                <a:ext cx="1759136" cy="369332"/>
              </a:xfrm>
              <a:prstGeom prst="rect">
                <a:avLst/>
              </a:prstGeom>
              <a:blipFill>
                <a:blip r:embed="rId13"/>
                <a:stretch>
                  <a:fillRect l="-3125" t="-11667" b="-2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rot="10800000">
            <a:off x="6205824" y="4991670"/>
            <a:ext cx="785818" cy="158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063080" y="5205984"/>
                <a:ext cx="1759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verify using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80" y="5205984"/>
                <a:ext cx="1759136" cy="369332"/>
              </a:xfrm>
              <a:prstGeom prst="rect">
                <a:avLst/>
              </a:prstGeom>
              <a:blipFill>
                <a:blip r:embed="rId14"/>
                <a:stretch>
                  <a:fillRect l="-3125" t="-9836" b="-22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rot="10800000">
            <a:off x="6205824" y="5420298"/>
            <a:ext cx="785818" cy="158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63080" y="5622470"/>
                <a:ext cx="1759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verify using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080" y="5622470"/>
                <a:ext cx="1759136" cy="369332"/>
              </a:xfrm>
              <a:prstGeom prst="rect">
                <a:avLst/>
              </a:prstGeom>
              <a:blipFill>
                <a:blip r:embed="rId15"/>
                <a:stretch>
                  <a:fillRect l="-3125" t="-9836" b="-22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rot="10800000">
            <a:off x="6205824" y="5836784"/>
            <a:ext cx="785818" cy="158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87723" y="3550768"/>
                <a:ext cx="1102031" cy="36774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723" y="3550768"/>
                <a:ext cx="1102031" cy="3677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87723" y="4765214"/>
                <a:ext cx="110203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723" y="4765214"/>
                <a:ext cx="110203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987723" y="5193842"/>
                <a:ext cx="1102031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723" y="5193842"/>
                <a:ext cx="110203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81811" y="3519990"/>
                <a:ext cx="21116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11" y="3519990"/>
                <a:ext cx="2111668" cy="400110"/>
              </a:xfrm>
              <a:prstGeom prst="rect">
                <a:avLst/>
              </a:prstGeom>
              <a:blipFill rotWithShape="0">
                <a:blip r:embed="rId19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81811" y="4746074"/>
                <a:ext cx="21116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11" y="4746074"/>
                <a:ext cx="2111668" cy="400110"/>
              </a:xfrm>
              <a:prstGeom prst="rect">
                <a:avLst/>
              </a:prstGeom>
              <a:blipFill rotWithShape="0">
                <a:blip r:embed="rId20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70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4" grpId="0"/>
      <p:bldP spid="16" grpId="0"/>
      <p:bldP spid="18" grpId="0"/>
      <p:bldP spid="20" grpId="0"/>
      <p:bldP spid="22" grpId="0"/>
      <p:bldP spid="24" grpId="0" animBg="1"/>
      <p:bldP spid="25" grpId="0" animBg="1"/>
      <p:bldP spid="26" grpId="0" animBg="1"/>
      <p:bldP spid="12" grpId="0"/>
      <p:bldP spid="2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0240"/>
            <a:ext cx="8229600" cy="412592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length of the signature </a:t>
            </a:r>
            <a:r>
              <a:rPr lang="en-US" b="1" dirty="0">
                <a:solidFill>
                  <a:srgbClr val="7030A0"/>
                </a:solidFill>
              </a:rPr>
              <a:t>grows linearly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signing algorithm needs to </a:t>
            </a:r>
            <a:r>
              <a:rPr lang="en-US" b="1" dirty="0">
                <a:solidFill>
                  <a:srgbClr val="FF0000"/>
                </a:solidFill>
              </a:rPr>
              <a:t>have a state </a:t>
            </a:r>
            <a:r>
              <a:rPr lang="en-US" dirty="0"/>
              <a:t>(“memory”)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779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the </a:t>
            </a:r>
            <a:r>
              <a:rPr lang="pl-PL" dirty="0" err="1"/>
              <a:t>first</a:t>
            </a:r>
            <a:r>
              <a:rPr lang="pl-PL" dirty="0"/>
              <a:t> </a:t>
            </a:r>
            <a:r>
              <a:rPr lang="en-US" dirty="0"/>
              <a:t>problem</a:t>
            </a:r>
          </a:p>
        </p:txBody>
      </p:sp>
      <p:sp>
        <p:nvSpPr>
          <p:cNvPr id="4" name="Trapezoid 3"/>
          <p:cNvSpPr/>
          <p:nvPr/>
        </p:nvSpPr>
        <p:spPr>
          <a:xfrm>
            <a:off x="1428728" y="4160112"/>
            <a:ext cx="6905904" cy="554772"/>
          </a:xfrm>
          <a:prstGeom prst="trapezoid">
            <a:avLst>
              <a:gd name="adj" fmla="val 31855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84953" y="3372538"/>
                <a:ext cx="3257950" cy="66572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4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953" y="3372538"/>
                <a:ext cx="3257950" cy="6657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28728" y="4836732"/>
                <a:ext cx="3384230" cy="66572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28" y="4836732"/>
                <a:ext cx="3384230" cy="6657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924168" y="4836732"/>
                <a:ext cx="3410464" cy="66572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168" y="4836732"/>
                <a:ext cx="3410464" cy="665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38651" y="1536862"/>
            <a:ext cx="6856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Instead of a </a:t>
            </a:r>
            <a:r>
              <a:rPr lang="en-US" sz="2400" b="1" dirty="0"/>
              <a:t>chain </a:t>
            </a:r>
            <a:r>
              <a:rPr lang="en-US" sz="2400" dirty="0"/>
              <a:t>use a</a:t>
            </a:r>
            <a:r>
              <a:rPr lang="en-US" sz="2400" b="1" dirty="0"/>
              <a:t> binary tree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“certify each time </a:t>
            </a:r>
            <a:r>
              <a:rPr lang="en-US" sz="2400" b="1" dirty="0"/>
              <a:t>two</a:t>
            </a:r>
            <a:r>
              <a:rPr lang="en-US" sz="2400" dirty="0"/>
              <a:t> public keys”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86C88BF2-E695-4D34-8439-1EF08D1A708F}"/>
                  </a:ext>
                </a:extLst>
              </p14:cNvPr>
              <p14:cNvContentPartPr/>
              <p14:nvPr/>
            </p14:nvContentPartPr>
            <p14:xfrm>
              <a:off x="1583640" y="6222960"/>
              <a:ext cx="2520" cy="684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86C88BF2-E695-4D34-8439-1EF08D1A70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4280" y="6213600"/>
                <a:ext cx="2124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565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tree: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75820" y="2106046"/>
                <a:ext cx="1107996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820" y="2106046"/>
                <a:ext cx="1107996" cy="362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9804" y="2963302"/>
                <a:ext cx="1253868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804" y="2963302"/>
                <a:ext cx="1253868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633274" y="2963302"/>
                <a:ext cx="1204176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274" y="2963302"/>
                <a:ext cx="1204176" cy="36298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03986" y="4249186"/>
                <a:ext cx="1436612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6" y="4249186"/>
                <a:ext cx="1436612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75622" y="4249186"/>
                <a:ext cx="1436612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622" y="4249186"/>
                <a:ext cx="1436612" cy="3629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76018" y="4249186"/>
                <a:ext cx="1454244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018" y="4249186"/>
                <a:ext cx="1454244" cy="362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47654" y="4249186"/>
                <a:ext cx="1402948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654" y="4249186"/>
                <a:ext cx="1402948" cy="3629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5" idx="2"/>
            <a:endCxn id="6" idx="0"/>
          </p:cNvCxnSpPr>
          <p:nvPr/>
        </p:nvCxnSpPr>
        <p:spPr>
          <a:xfrm flipH="1">
            <a:off x="2616738" y="2469030"/>
            <a:ext cx="2213080" cy="49427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7" idx="0"/>
          </p:cNvCxnSpPr>
          <p:nvPr/>
        </p:nvCxnSpPr>
        <p:spPr>
          <a:xfrm>
            <a:off x="4829818" y="2469030"/>
            <a:ext cx="2405544" cy="49427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8" idx="0"/>
          </p:cNvCxnSpPr>
          <p:nvPr/>
        </p:nvCxnSpPr>
        <p:spPr>
          <a:xfrm flipH="1">
            <a:off x="1922292" y="3326286"/>
            <a:ext cx="694446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2"/>
            <a:endCxn id="9" idx="0"/>
          </p:cNvCxnSpPr>
          <p:nvPr/>
        </p:nvCxnSpPr>
        <p:spPr>
          <a:xfrm>
            <a:off x="2616738" y="3326286"/>
            <a:ext cx="877190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2"/>
            <a:endCxn id="10" idx="0"/>
          </p:cNvCxnSpPr>
          <p:nvPr/>
        </p:nvCxnSpPr>
        <p:spPr>
          <a:xfrm flipH="1">
            <a:off x="6503140" y="3326286"/>
            <a:ext cx="732222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1" idx="0"/>
          </p:cNvCxnSpPr>
          <p:nvPr/>
        </p:nvCxnSpPr>
        <p:spPr>
          <a:xfrm>
            <a:off x="7235362" y="3326286"/>
            <a:ext cx="813766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74920" y="5535070"/>
                <a:ext cx="1619354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0" y="5535070"/>
                <a:ext cx="1619354" cy="362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089706" y="5535070"/>
                <a:ext cx="1619354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706" y="5535070"/>
                <a:ext cx="1619354" cy="3629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8" idx="2"/>
            <a:endCxn id="24" idx="0"/>
          </p:cNvCxnSpPr>
          <p:nvPr/>
        </p:nvCxnSpPr>
        <p:spPr>
          <a:xfrm flipH="1">
            <a:off x="1184597" y="4612170"/>
            <a:ext cx="737695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2"/>
            <a:endCxn id="28" idx="0"/>
          </p:cNvCxnSpPr>
          <p:nvPr/>
        </p:nvCxnSpPr>
        <p:spPr>
          <a:xfrm>
            <a:off x="1922292" y="4612170"/>
            <a:ext cx="977091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 rot="994585">
            <a:off x="4347719" y="4344242"/>
            <a:ext cx="1342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75964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  <p:bldP spid="28" grpId="0" animBg="1"/>
      <p:bldP spid="4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details</a:t>
            </a:r>
          </a:p>
        </p:txBody>
      </p:sp>
      <p:sp>
        <p:nvSpPr>
          <p:cNvPr id="4" name="Trapezoid 3"/>
          <p:cNvSpPr/>
          <p:nvPr/>
        </p:nvSpPr>
        <p:spPr>
          <a:xfrm>
            <a:off x="1142976" y="1857364"/>
            <a:ext cx="7000924" cy="4143404"/>
          </a:xfrm>
          <a:prstGeom prst="trapezoid">
            <a:avLst>
              <a:gd name="adj" fmla="val 7886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143372" y="2786058"/>
            <a:ext cx="595941" cy="928694"/>
            <a:chOff x="357158" y="2214554"/>
            <a:chExt cx="595941" cy="928694"/>
          </a:xfrm>
        </p:grpSpPr>
        <p:cxnSp>
          <p:nvCxnSpPr>
            <p:cNvPr id="7" name="Straight Arrow Connector 6"/>
            <p:cNvCxnSpPr/>
            <p:nvPr/>
          </p:nvCxnSpPr>
          <p:spPr>
            <a:xfrm rot="16200000" flipH="1">
              <a:off x="142844" y="2428868"/>
              <a:ext cx="928694" cy="500066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428596" y="2428868"/>
                  <a:ext cx="524503" cy="362984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baseline="-25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b="1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96" y="2428868"/>
                  <a:ext cx="524503" cy="36298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4071934" y="1857364"/>
            <a:ext cx="667379" cy="928694"/>
            <a:chOff x="1643042" y="2143116"/>
            <a:chExt cx="667379" cy="928694"/>
          </a:xfrm>
        </p:grpSpPr>
        <p:cxnSp>
          <p:nvCxnSpPr>
            <p:cNvPr id="9" name="Straight Arrow Connector 8"/>
            <p:cNvCxnSpPr/>
            <p:nvPr/>
          </p:nvCxnSpPr>
          <p:spPr>
            <a:xfrm rot="5400000">
              <a:off x="1464447" y="2321711"/>
              <a:ext cx="928694" cy="571504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1785918" y="2357430"/>
                  <a:ext cx="524503" cy="362984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baseline="-25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="1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918" y="2357430"/>
                  <a:ext cx="524503" cy="36298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3929058" y="5072074"/>
            <a:ext cx="640128" cy="928694"/>
            <a:chOff x="1643042" y="2143116"/>
            <a:chExt cx="640128" cy="928694"/>
          </a:xfrm>
        </p:grpSpPr>
        <p:cxnSp>
          <p:nvCxnSpPr>
            <p:cNvPr id="23" name="Straight Arrow Connector 22"/>
            <p:cNvCxnSpPr/>
            <p:nvPr/>
          </p:nvCxnSpPr>
          <p:spPr>
            <a:xfrm rot="5400000">
              <a:off x="1464447" y="2321711"/>
              <a:ext cx="928694" cy="571504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785918" y="2357430"/>
                  <a:ext cx="497252" cy="362984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baseline="-25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b="1" baseline="-25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918" y="2357430"/>
                  <a:ext cx="497252" cy="36298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/>
          <p:cNvSpPr txBox="1"/>
          <p:nvPr/>
        </p:nvSpPr>
        <p:spPr>
          <a:xfrm rot="5400000">
            <a:off x="4307137" y="4053564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 . 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28596" y="1500174"/>
                <a:ext cx="221457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r>
                  <a:rPr lang="en-US" b="1" dirty="0"/>
                  <a:t>start at </a:t>
                </a:r>
                <a:r>
                  <a:rPr lang="en-US" b="1" dirty="0">
                    <a:solidFill>
                      <a:srgbClr val="FF0000"/>
                    </a:solidFill>
                  </a:rPr>
                  <a:t>root</a:t>
                </a:r>
              </a:p>
              <a:p>
                <a:r>
                  <a:rPr lang="en-US" b="1" dirty="0"/>
                  <a:t>if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go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LEFT</a:t>
                </a:r>
              </a:p>
              <a:p>
                <a:r>
                  <a:rPr lang="en-US" b="1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go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RIGHT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1500174"/>
                <a:ext cx="2214578" cy="1477328"/>
              </a:xfrm>
              <a:prstGeom prst="rect">
                <a:avLst/>
              </a:prstGeom>
              <a:blipFill rotWithShape="0">
                <a:blip r:embed="rId6"/>
                <a:stretch>
                  <a:fillRect l="-2198" b="-537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302590" y="6207785"/>
                <a:ext cx="38141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use the key in 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LEAF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to sign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590" y="6207785"/>
                <a:ext cx="3814121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1760" t="-7576" b="-25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76335" y="1156113"/>
                <a:ext cx="381823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now the “chain” has length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 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335" y="1156113"/>
                <a:ext cx="3818238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2556" t="-5882" b="-1102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54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rapezoid 70"/>
          <p:cNvSpPr/>
          <p:nvPr/>
        </p:nvSpPr>
        <p:spPr>
          <a:xfrm>
            <a:off x="-17361" y="1000108"/>
            <a:ext cx="8929718" cy="3929090"/>
          </a:xfrm>
          <a:prstGeom prst="trapezoid">
            <a:avLst>
              <a:gd name="adj" fmla="val 4574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US" dirty="0"/>
              <a:t>The key pairs are generated on-fly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071934" y="1071546"/>
                <a:ext cx="1002197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934" y="1071546"/>
                <a:ext cx="1002197" cy="362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429388" y="1928802"/>
                <a:ext cx="1220206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8" y="1928802"/>
                <a:ext cx="1220206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000100" y="3214686"/>
                <a:ext cx="1436612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00" y="3214686"/>
                <a:ext cx="1436612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929058" y="3214686"/>
                <a:ext cx="1402948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058" y="3214686"/>
                <a:ext cx="1402948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4282" y="4500570"/>
                <a:ext cx="1569660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4500570"/>
                <a:ext cx="1569660" cy="3629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1835942" y="4500570"/>
                <a:ext cx="1433425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942" y="4500570"/>
                <a:ext cx="1433425" cy="362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324056" y="4500570"/>
                <a:ext cx="1460282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𝟎𝟏𝟎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056" y="4500570"/>
                <a:ext cx="1460282" cy="3629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857751" y="4500570"/>
                <a:ext cx="1480861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1" y="4500570"/>
                <a:ext cx="1480861" cy="362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285984" y="2071678"/>
                <a:ext cx="1220206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84" y="2071678"/>
                <a:ext cx="1220206" cy="3629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/>
          <p:cNvGrpSpPr/>
          <p:nvPr/>
        </p:nvGrpSpPr>
        <p:grpSpPr>
          <a:xfrm>
            <a:off x="2896087" y="1434530"/>
            <a:ext cx="1676946" cy="637148"/>
            <a:chOff x="2896087" y="1434530"/>
            <a:chExt cx="1676946" cy="637148"/>
          </a:xfrm>
        </p:grpSpPr>
        <p:cxnSp>
          <p:nvCxnSpPr>
            <p:cNvPr id="13" name="Straight Arrow Connector 12"/>
            <p:cNvCxnSpPr>
              <a:stCxn id="5" idx="2"/>
              <a:endCxn id="6" idx="0"/>
            </p:cNvCxnSpPr>
            <p:nvPr/>
          </p:nvCxnSpPr>
          <p:spPr>
            <a:xfrm flipH="1">
              <a:off x="2896087" y="1434530"/>
              <a:ext cx="1676946" cy="63714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571868" y="1571612"/>
                  <a:ext cx="373820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868" y="1571612"/>
                  <a:ext cx="373820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/>
          <p:cNvGrpSpPr/>
          <p:nvPr/>
        </p:nvGrpSpPr>
        <p:grpSpPr>
          <a:xfrm>
            <a:off x="2896087" y="2434662"/>
            <a:ext cx="1734445" cy="780024"/>
            <a:chOff x="2896087" y="2434662"/>
            <a:chExt cx="1734445" cy="780024"/>
          </a:xfrm>
        </p:grpSpPr>
        <p:cxnSp>
          <p:nvCxnSpPr>
            <p:cNvPr id="19" name="Straight Arrow Connector 18"/>
            <p:cNvCxnSpPr>
              <a:stCxn id="6" idx="2"/>
              <a:endCxn id="9" idx="0"/>
            </p:cNvCxnSpPr>
            <p:nvPr/>
          </p:nvCxnSpPr>
          <p:spPr>
            <a:xfrm>
              <a:off x="2896087" y="2434662"/>
              <a:ext cx="1734445" cy="780024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3428992" y="2571744"/>
                  <a:ext cx="373820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992" y="2571744"/>
                  <a:ext cx="373820" cy="369332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/>
          <p:cNvGrpSpPr/>
          <p:nvPr/>
        </p:nvGrpSpPr>
        <p:grpSpPr>
          <a:xfrm>
            <a:off x="4569192" y="3584018"/>
            <a:ext cx="1028990" cy="916552"/>
            <a:chOff x="4569192" y="3584018"/>
            <a:chExt cx="1028990" cy="916552"/>
          </a:xfrm>
        </p:grpSpPr>
        <p:cxnSp>
          <p:nvCxnSpPr>
            <p:cNvPr id="29" name="Straight Arrow Connector 28"/>
            <p:cNvCxnSpPr>
              <a:endCxn id="26" idx="0"/>
            </p:cNvCxnSpPr>
            <p:nvPr/>
          </p:nvCxnSpPr>
          <p:spPr>
            <a:xfrm>
              <a:off x="4569192" y="3584018"/>
              <a:ext cx="1028990" cy="916552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857752" y="3857628"/>
                  <a:ext cx="301686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7752" y="3857628"/>
                  <a:ext cx="301686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/>
          <p:cNvSpPr txBox="1"/>
          <p:nvPr/>
        </p:nvSpPr>
        <p:spPr>
          <a:xfrm>
            <a:off x="6019425" y="928670"/>
            <a:ext cx="291029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“old” public keys have to remembered and reused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718406" y="3577670"/>
            <a:ext cx="834249" cy="922900"/>
            <a:chOff x="1718406" y="3577670"/>
            <a:chExt cx="834249" cy="922900"/>
          </a:xfrm>
        </p:grpSpPr>
        <p:cxnSp>
          <p:nvCxnSpPr>
            <p:cNvPr id="32" name="Straight Arrow Connector 31"/>
            <p:cNvCxnSpPr>
              <a:stCxn id="8" idx="2"/>
              <a:endCxn id="28" idx="0"/>
            </p:cNvCxnSpPr>
            <p:nvPr/>
          </p:nvCxnSpPr>
          <p:spPr>
            <a:xfrm>
              <a:off x="1718406" y="3577670"/>
              <a:ext cx="834249" cy="92290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1857356" y="3857628"/>
                  <a:ext cx="301686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356" y="3857628"/>
                  <a:ext cx="301686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/>
          <p:cNvGrpSpPr/>
          <p:nvPr/>
        </p:nvGrpSpPr>
        <p:grpSpPr>
          <a:xfrm>
            <a:off x="1718406" y="2434662"/>
            <a:ext cx="1177681" cy="780024"/>
            <a:chOff x="1718406" y="2434662"/>
            <a:chExt cx="1177681" cy="780024"/>
          </a:xfrm>
        </p:grpSpPr>
        <p:cxnSp>
          <p:nvCxnSpPr>
            <p:cNvPr id="17" name="Straight Arrow Connector 16"/>
            <p:cNvCxnSpPr>
              <a:stCxn id="6" idx="2"/>
              <a:endCxn id="8" idx="0"/>
            </p:cNvCxnSpPr>
            <p:nvPr/>
          </p:nvCxnSpPr>
          <p:spPr>
            <a:xfrm flipH="1">
              <a:off x="1718406" y="2434662"/>
              <a:ext cx="1177681" cy="780024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143108" y="2571744"/>
                  <a:ext cx="373820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3108" y="2571744"/>
                  <a:ext cx="373820" cy="369332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oup 62"/>
          <p:cNvGrpSpPr/>
          <p:nvPr/>
        </p:nvGrpSpPr>
        <p:grpSpPr>
          <a:xfrm>
            <a:off x="999112" y="3577670"/>
            <a:ext cx="719294" cy="922900"/>
            <a:chOff x="999112" y="3577670"/>
            <a:chExt cx="719294" cy="922900"/>
          </a:xfrm>
        </p:grpSpPr>
        <p:cxnSp>
          <p:nvCxnSpPr>
            <p:cNvPr id="30" name="Straight Arrow Connector 29"/>
            <p:cNvCxnSpPr>
              <a:stCxn id="8" idx="2"/>
              <a:endCxn id="24" idx="0"/>
            </p:cNvCxnSpPr>
            <p:nvPr/>
          </p:nvCxnSpPr>
          <p:spPr>
            <a:xfrm flipH="1">
              <a:off x="999112" y="3577670"/>
              <a:ext cx="719294" cy="92290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1142976" y="3857628"/>
                  <a:ext cx="373820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976" y="3857628"/>
                  <a:ext cx="373820" cy="369332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/>
          <p:cNvGrpSpPr/>
          <p:nvPr/>
        </p:nvGrpSpPr>
        <p:grpSpPr>
          <a:xfrm>
            <a:off x="4054197" y="3584019"/>
            <a:ext cx="532360" cy="916551"/>
            <a:chOff x="4054197" y="3584019"/>
            <a:chExt cx="532360" cy="916551"/>
          </a:xfrm>
        </p:grpSpPr>
        <p:cxnSp>
          <p:nvCxnSpPr>
            <p:cNvPr id="27" name="Straight Arrow Connector 26"/>
            <p:cNvCxnSpPr>
              <a:endCxn id="25" idx="0"/>
            </p:cNvCxnSpPr>
            <p:nvPr/>
          </p:nvCxnSpPr>
          <p:spPr>
            <a:xfrm flipH="1">
              <a:off x="4054197" y="3584019"/>
              <a:ext cx="532360" cy="916551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4143372" y="3857628"/>
                  <a:ext cx="373820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3372" y="3857628"/>
                  <a:ext cx="373820" cy="369332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42844" y="5000636"/>
                <a:ext cx="24112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4" y="5000636"/>
                <a:ext cx="2411238" cy="369332"/>
              </a:xfrm>
              <a:prstGeom prst="rect">
                <a:avLst/>
              </a:prstGeom>
              <a:blipFill rotWithShape="0">
                <a:blip r:embed="rId1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142812" y="5429264"/>
                <a:ext cx="2000296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12" y="5429264"/>
                <a:ext cx="2000296" cy="338554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2143108" y="5417122"/>
                <a:ext cx="2286016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08" y="5417122"/>
                <a:ext cx="2286016" cy="338554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4429124" y="5417122"/>
                <a:ext cx="2493389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4" y="5417122"/>
                <a:ext cx="2493389" cy="338554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6922513" y="5417127"/>
                <a:ext cx="2143108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513" y="5417127"/>
                <a:ext cx="2143108" cy="338554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60054" y="5845750"/>
                <a:ext cx="24112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54" y="5845750"/>
                <a:ext cx="2411238" cy="369332"/>
              </a:xfrm>
              <a:prstGeom prst="rect">
                <a:avLst/>
              </a:prstGeom>
              <a:blipFill rotWithShape="0">
                <a:blip r:embed="rId2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/>
          <p:cNvGrpSpPr/>
          <p:nvPr/>
        </p:nvGrpSpPr>
        <p:grpSpPr>
          <a:xfrm>
            <a:off x="4573033" y="1434530"/>
            <a:ext cx="2466458" cy="494272"/>
            <a:chOff x="4573033" y="1434530"/>
            <a:chExt cx="2466458" cy="494272"/>
          </a:xfrm>
        </p:grpSpPr>
        <p:cxnSp>
          <p:nvCxnSpPr>
            <p:cNvPr id="15" name="Straight Arrow Connector 14"/>
            <p:cNvCxnSpPr>
              <a:stCxn id="5" idx="2"/>
              <a:endCxn id="7" idx="0"/>
            </p:cNvCxnSpPr>
            <p:nvPr/>
          </p:nvCxnSpPr>
          <p:spPr>
            <a:xfrm>
              <a:off x="4573033" y="1434530"/>
              <a:ext cx="2466458" cy="494272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5500694" y="1500174"/>
                  <a:ext cx="301686" cy="36933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694" y="1500174"/>
                  <a:ext cx="301686" cy="369332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160054" y="6317293"/>
                <a:ext cx="2000296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54" y="6317293"/>
                <a:ext cx="2000296" cy="338554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2160350" y="6305151"/>
                <a:ext cx="2286016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350" y="6305151"/>
                <a:ext cx="2286016" cy="338554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4446366" y="6305151"/>
                <a:ext cx="2493389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66" y="6305151"/>
                <a:ext cx="2493389" cy="338554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6939755" y="6305156"/>
                <a:ext cx="2143108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6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755" y="6305156"/>
                <a:ext cx="2143108" cy="338554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F1D309F2-1D5E-48DD-9DCE-940A2C159389}"/>
                  </a:ext>
                </a:extLst>
              </p14:cNvPr>
              <p14:cNvContentPartPr/>
              <p14:nvPr/>
            </p14:nvContentPartPr>
            <p14:xfrm>
              <a:off x="4501440" y="1424160"/>
              <a:ext cx="1207080" cy="430704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F1D309F2-1D5E-48DD-9DCE-940A2C15938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92080" y="1414800"/>
                <a:ext cx="1225800" cy="43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43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  <p:bldP spid="9" grpId="1" animBg="1"/>
      <p:bldP spid="24" grpId="0" animBg="1"/>
      <p:bldP spid="28" grpId="0" animBg="1"/>
      <p:bldP spid="25" grpId="0" animBg="1"/>
      <p:bldP spid="26" grpId="0" animBg="1"/>
      <p:bldP spid="6" grpId="0" animBg="1"/>
      <p:bldP spid="38" grpId="0" animBg="1"/>
      <p:bldP spid="48" grpId="0"/>
      <p:bldP spid="49" grpId="0" animBg="1"/>
      <p:bldP spid="50" grpId="0" animBg="1"/>
      <p:bldP spid="51" grpId="0" animBg="1"/>
      <p:bldP spid="52" grpId="0" animBg="1"/>
      <p:bldP spid="53" grpId="0"/>
      <p:bldP spid="59" grpId="0" animBg="1"/>
      <p:bldP spid="68" grpId="0" animBg="1"/>
      <p:bldP spid="69" grpId="0" animBg="1"/>
      <p:bldP spid="7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Arrow Connector 79"/>
          <p:cNvCxnSpPr>
            <a:stCxn id="70" idx="2"/>
            <a:endCxn id="71" idx="0"/>
          </p:cNvCxnSpPr>
          <p:nvPr/>
        </p:nvCxnSpPr>
        <p:spPr>
          <a:xfrm flipH="1">
            <a:off x="2011664" y="2771216"/>
            <a:ext cx="745880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0" idx="2"/>
            <a:endCxn id="72" idx="0"/>
          </p:cNvCxnSpPr>
          <p:nvPr/>
        </p:nvCxnSpPr>
        <p:spPr>
          <a:xfrm>
            <a:off x="2757544" y="2771216"/>
            <a:ext cx="833771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Why we have to remember the old keys?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2106596" y="2408232"/>
                <a:ext cx="1301895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596" y="2408232"/>
                <a:ext cx="1301895" cy="362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1249340" y="3694116"/>
                <a:ext cx="1524648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40" y="3694116"/>
                <a:ext cx="1524648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/>
              <p:cNvSpPr txBox="1"/>
              <p:nvPr/>
            </p:nvSpPr>
            <p:spPr>
              <a:xfrm>
                <a:off x="2820976" y="3694116"/>
                <a:ext cx="1540678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976" y="3694116"/>
                <a:ext cx="1540678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892414" y="3051174"/>
                <a:ext cx="301686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414" y="3051174"/>
                <a:ext cx="30168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2178034" y="3051174"/>
                <a:ext cx="373820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034" y="3051174"/>
                <a:ext cx="37382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>
            <a:stCxn id="92" idx="2"/>
            <a:endCxn id="93" idx="0"/>
          </p:cNvCxnSpPr>
          <p:nvPr/>
        </p:nvCxnSpPr>
        <p:spPr>
          <a:xfrm flipH="1">
            <a:off x="5583564" y="2771216"/>
            <a:ext cx="745880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92" idx="2"/>
            <a:endCxn id="94" idx="0"/>
          </p:cNvCxnSpPr>
          <p:nvPr/>
        </p:nvCxnSpPr>
        <p:spPr>
          <a:xfrm>
            <a:off x="6329444" y="2771216"/>
            <a:ext cx="855412" cy="9229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/>
              <p:cNvSpPr txBox="1"/>
              <p:nvPr/>
            </p:nvSpPr>
            <p:spPr>
              <a:xfrm>
                <a:off x="5678496" y="2408232"/>
                <a:ext cx="1301895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6" y="2408232"/>
                <a:ext cx="1301895" cy="362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/>
              <p:cNvSpPr txBox="1"/>
              <p:nvPr/>
            </p:nvSpPr>
            <p:spPr>
              <a:xfrm>
                <a:off x="4821240" y="3694116"/>
                <a:ext cx="1524648" cy="36298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240" y="3694116"/>
                <a:ext cx="1524648" cy="3629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6392876" y="3694116"/>
                <a:ext cx="1583960" cy="36792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Sup>
                        <m:sSub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Sup>
                        <m:sSub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76" y="3694116"/>
                <a:ext cx="1583960" cy="3679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464314" y="3051174"/>
                <a:ext cx="301686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314" y="3051174"/>
                <a:ext cx="301686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5736539" y="3051174"/>
                <a:ext cx="373820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539" y="3051174"/>
                <a:ext cx="373820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1047750" y="4479934"/>
                <a:ext cx="2844796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𝐢𝐠𝐧</m:t>
                      </m:r>
                      <m:r>
                        <a:rPr lang="en-US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4479934"/>
                <a:ext cx="2844796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5106992" y="4479934"/>
                <a:ext cx="2836308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b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𝐢𝐠𝐧</m:t>
                      </m:r>
                      <m:r>
                        <a:rPr lang="en-US" b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𝐇𝐋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bSup>
                        <m:sSub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l-PL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992" y="4479934"/>
                <a:ext cx="2836308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/>
          <p:cNvSpPr txBox="1"/>
          <p:nvPr/>
        </p:nvSpPr>
        <p:spPr>
          <a:xfrm>
            <a:off x="534960" y="1336662"/>
            <a:ext cx="2503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Suppose we don’t: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08106" y="5931934"/>
            <a:ext cx="6265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 we signed two different messages with the same key!</a:t>
            </a:r>
          </a:p>
        </p:txBody>
      </p:sp>
      <p:cxnSp>
        <p:nvCxnSpPr>
          <p:cNvPr id="104" name="Curved Connector 103"/>
          <p:cNvCxnSpPr>
            <a:stCxn id="100" idx="0"/>
            <a:endCxn id="97" idx="2"/>
          </p:cNvCxnSpPr>
          <p:nvPr/>
        </p:nvCxnSpPr>
        <p:spPr>
          <a:xfrm rot="16200000" flipV="1">
            <a:off x="3014136" y="4305278"/>
            <a:ext cx="1082668" cy="2170643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/>
          <p:cNvCxnSpPr>
            <a:stCxn id="100" idx="0"/>
            <a:endCxn id="98" idx="2"/>
          </p:cNvCxnSpPr>
          <p:nvPr/>
        </p:nvCxnSpPr>
        <p:spPr>
          <a:xfrm rot="5400000" flipH="1" flipV="1">
            <a:off x="5041634" y="4448423"/>
            <a:ext cx="1082668" cy="1884355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87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5" grpId="0" animBg="1"/>
      <p:bldP spid="78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10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tree is constructed on-fly, so we need to remember the state.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0070C0"/>
                </a:solidFill>
              </a:rPr>
              <a:t>A stupid solution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generate the whole tree beforehand.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A better solution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generate the whole tree </a:t>
            </a:r>
            <a:r>
              <a:rPr lang="en-US" dirty="0" err="1"/>
              <a:t>pseudorandomly</a:t>
            </a:r>
            <a:r>
              <a:rPr lang="en-US" dirty="0"/>
              <a:t> and just remember the seed.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925DB31-2AC6-48A2-BDA9-6109443FD1DF}"/>
                  </a:ext>
                </a:extLst>
              </p14:cNvPr>
              <p14:cNvContentPartPr/>
              <p14:nvPr/>
            </p14:nvContentPartPr>
            <p14:xfrm>
              <a:off x="4725000" y="725040"/>
              <a:ext cx="1827360" cy="372240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925DB31-2AC6-48A2-BDA9-6109443FD1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5640" y="715680"/>
                <a:ext cx="1846080" cy="3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156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Remember the pseudorandom functions (PRFs)?</a:t>
            </a:r>
          </a:p>
        </p:txBody>
      </p:sp>
      <p:pic>
        <p:nvPicPr>
          <p:cNvPr id="1026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2177" y="1292113"/>
            <a:ext cx="2447409" cy="2851267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572132" y="2720873"/>
                <a:ext cx="2790818" cy="40011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{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132" y="2720873"/>
                <a:ext cx="2790818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28794" y="1935055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ight Arrow 7"/>
              <p:cNvSpPr/>
              <p:nvPr/>
            </p:nvSpPr>
            <p:spPr>
              <a:xfrm>
                <a:off x="3714744" y="2220807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44" y="2220807"/>
                <a:ext cx="1589063" cy="667032"/>
              </a:xfrm>
              <a:prstGeom prst="righ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eft Arrow 9"/>
              <p:cNvSpPr/>
              <p:nvPr/>
            </p:nvSpPr>
            <p:spPr>
              <a:xfrm>
                <a:off x="3500430" y="2863749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Lef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2863749"/>
                <a:ext cx="1643074" cy="766919"/>
              </a:xfrm>
              <a:prstGeom prst="lef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57224" y="4429132"/>
                <a:ext cx="778674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For a random key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dirty="0"/>
                  <a:t> and any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8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the values</a:t>
                </a:r>
                <a:br>
                  <a:rPr lang="en-US" sz="2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),…, </m:t>
                      </m:r>
                      <m:r>
                        <a:rPr lang="en-US" sz="2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800" dirty="0"/>
                  <a:t>“look random”</a:t>
                </a:r>
              </a:p>
              <a:p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4" y="4429132"/>
                <a:ext cx="7786742" cy="1815882"/>
              </a:xfrm>
              <a:prstGeom prst="rect">
                <a:avLst/>
              </a:prstGeom>
              <a:blipFill rotWithShape="0">
                <a:blip r:embed="rId8"/>
                <a:stretch>
                  <a:fillRect t="-370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98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24" y="11895"/>
            <a:ext cx="7886700" cy="1325563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3143240" y="2000240"/>
            <a:ext cx="4985484" cy="3429024"/>
          </a:xfrm>
          <a:prstGeom prst="trapezoid">
            <a:avLst>
              <a:gd name="adj" fmla="val 6182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00892" y="2643182"/>
                <a:ext cx="1792286" cy="392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92" y="2643182"/>
                <a:ext cx="1792286" cy="392993"/>
              </a:xfrm>
              <a:prstGeom prst="rect">
                <a:avLst/>
              </a:prstGeom>
              <a:blipFill rotWithShape="0">
                <a:blip r:embed="rId3"/>
                <a:stretch>
                  <a:fillRect r="-340" b="-1875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5485518" y="2000241"/>
            <a:ext cx="718457" cy="2214577"/>
          </a:xfrm>
          <a:custGeom>
            <a:avLst/>
            <a:gdLst>
              <a:gd name="connsiteX0" fmla="*/ 32657 w 718457"/>
              <a:gd name="connsiteY0" fmla="*/ 0 h 3537857"/>
              <a:gd name="connsiteX1" fmla="*/ 326571 w 718457"/>
              <a:gd name="connsiteY1" fmla="*/ 653142 h 3537857"/>
              <a:gd name="connsiteX2" fmla="*/ 0 w 718457"/>
              <a:gd name="connsiteY2" fmla="*/ 1469571 h 3537857"/>
              <a:gd name="connsiteX3" fmla="*/ 718457 w 718457"/>
              <a:gd name="connsiteY3" fmla="*/ 2362200 h 3537857"/>
              <a:gd name="connsiteX4" fmla="*/ 293914 w 718457"/>
              <a:gd name="connsiteY4" fmla="*/ 3102428 h 3537857"/>
              <a:gd name="connsiteX5" fmla="*/ 674914 w 718457"/>
              <a:gd name="connsiteY5" fmla="*/ 3537857 h 3537857"/>
              <a:gd name="connsiteX6" fmla="*/ 674914 w 718457"/>
              <a:gd name="connsiteY6" fmla="*/ 3537857 h 3537857"/>
              <a:gd name="connsiteX7" fmla="*/ 674914 w 718457"/>
              <a:gd name="connsiteY7" fmla="*/ 3537857 h 353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8457" h="3537857">
                <a:moveTo>
                  <a:pt x="32657" y="0"/>
                </a:moveTo>
                <a:lnTo>
                  <a:pt x="326571" y="653142"/>
                </a:lnTo>
                <a:lnTo>
                  <a:pt x="0" y="1469571"/>
                </a:lnTo>
                <a:lnTo>
                  <a:pt x="718457" y="2362200"/>
                </a:lnTo>
                <a:lnTo>
                  <a:pt x="293914" y="3102428"/>
                </a:lnTo>
                <a:lnTo>
                  <a:pt x="674914" y="3537857"/>
                </a:lnTo>
                <a:lnTo>
                  <a:pt x="674914" y="3537857"/>
                </a:lnTo>
                <a:lnTo>
                  <a:pt x="674914" y="3537857"/>
                </a:ln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251450" y="4214818"/>
                <a:ext cx="1320814" cy="50006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node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50" y="4214818"/>
                <a:ext cx="1320814" cy="50006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5720" y="1285860"/>
                <a:ext cx="2502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Take some PRF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0" y="1285860"/>
                <a:ext cx="2502160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902" t="-10526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5721" y="2000240"/>
                <a:ext cx="381003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private key: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en-US" sz="2400" dirty="0"/>
                  <a:t> – a private key for</a:t>
                </a:r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hashed </a:t>
                </a:r>
                <a:r>
                  <a:rPr lang="en-US" sz="2400" b="1" dirty="0" err="1">
                    <a:solidFill>
                      <a:srgbClr val="0070C0"/>
                    </a:solidFill>
                  </a:rPr>
                  <a:t>Lamport</a:t>
                </a:r>
                <a:endParaRPr lang="en-US" sz="2400" b="1" dirty="0">
                  <a:solidFill>
                    <a:srgbClr val="0070C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– a key for </a:t>
                </a:r>
                <a:r>
                  <a:rPr lang="en-US" sz="2400" b="1" dirty="0"/>
                  <a:t>PRF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C00000"/>
                  </a:solidFill>
                </a:endParaRPr>
              </a:p>
              <a:p>
                <a:r>
                  <a:rPr lang="en-US" sz="2400" dirty="0"/>
                  <a:t>public key: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– a  public key for</a:t>
                </a:r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hashed </a:t>
                </a:r>
                <a:r>
                  <a:rPr lang="en-US" sz="2400" b="1" dirty="0" err="1">
                    <a:solidFill>
                      <a:srgbClr val="0070C0"/>
                    </a:solidFill>
                  </a:rPr>
                  <a:t>Lamport</a:t>
                </a:r>
                <a:endParaRPr lang="en-US" sz="2400" dirty="0">
                  <a:solidFill>
                    <a:srgbClr val="0070C0"/>
                  </a:solidFill>
                </a:endParaRPr>
              </a:p>
              <a:p>
                <a:endParaRPr lang="en-US" sz="2400" dirty="0"/>
              </a:p>
              <a:p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1" y="2000240"/>
                <a:ext cx="3810030" cy="3785652"/>
              </a:xfrm>
              <a:prstGeom prst="rect">
                <a:avLst/>
              </a:prstGeom>
              <a:blipFill rotWithShape="0">
                <a:blip r:embed="rId6"/>
                <a:stretch>
                  <a:fillRect l="-2560" t="-128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hape 12"/>
          <p:cNvCxnSpPr>
            <a:stCxn id="5" idx="2"/>
            <a:endCxn id="9" idx="3"/>
          </p:cNvCxnSpPr>
          <p:nvPr/>
        </p:nvCxnSpPr>
        <p:spPr>
          <a:xfrm rot="5400000">
            <a:off x="6520312" y="3088128"/>
            <a:ext cx="1428676" cy="1324771"/>
          </a:xfrm>
          <a:prstGeom prst="curvedConnector2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19D3FCC5-E957-44B2-B161-2547BE0A5287}"/>
                  </a:ext>
                </a:extLst>
              </p14:cNvPr>
              <p14:cNvContentPartPr/>
              <p14:nvPr/>
            </p14:nvContentPartPr>
            <p14:xfrm>
              <a:off x="469800" y="3668760"/>
              <a:ext cx="47160" cy="44280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19D3FCC5-E957-44B2-B161-2547BE0A52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0440" y="3659400"/>
                <a:ext cx="65880" cy="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438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animBg="1"/>
      <p:bldP spid="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28596" y="1643050"/>
            <a:ext cx="8072494" cy="14287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dirty="0"/>
              <a:t>We have shown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430" y="4500570"/>
            <a:ext cx="228601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signature schemes exist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57686" y="3500438"/>
            <a:ext cx="642942" cy="795063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4348" y="2071678"/>
            <a:ext cx="193168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one way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3306" y="2071678"/>
            <a:ext cx="192882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hash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7441" y="1933178"/>
            <a:ext cx="179799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pseudorandom </a:t>
            </a:r>
            <a:br>
              <a:rPr lang="en-US" b="1" dirty="0"/>
            </a:br>
            <a:r>
              <a:rPr lang="en-US" b="1" dirty="0"/>
              <a:t>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8926" y="2214554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6446" y="2214554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17654244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00034" y="2143116"/>
            <a:ext cx="8072494" cy="264320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dirty="0"/>
              <a:t>But we know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9" y="3434364"/>
            <a:ext cx="217649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one way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3306" y="3434364"/>
            <a:ext cx="192882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hash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291488"/>
            <a:ext cx="186149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pseudorandom </a:t>
            </a:r>
            <a:br>
              <a:rPr lang="en-US" b="1" dirty="0"/>
            </a:br>
            <a:r>
              <a:rPr lang="en-US" b="1" dirty="0"/>
              <a:t>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14" name="U-Turn Arrow 13"/>
          <p:cNvSpPr/>
          <p:nvPr/>
        </p:nvSpPr>
        <p:spPr>
          <a:xfrm>
            <a:off x="1928794" y="1500174"/>
            <a:ext cx="5572164" cy="1857388"/>
          </a:xfrm>
          <a:prstGeom prst="uturnArrow">
            <a:avLst>
              <a:gd name="adj1" fmla="val 9722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U-Turn Arrow 14"/>
          <p:cNvSpPr/>
          <p:nvPr/>
        </p:nvSpPr>
        <p:spPr>
          <a:xfrm flipH="1">
            <a:off x="1357290" y="2428868"/>
            <a:ext cx="3009920" cy="857256"/>
          </a:xfrm>
          <a:prstGeom prst="utur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6554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Therefore we have shown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430" y="4500570"/>
            <a:ext cx="228601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signature schemes exist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57686" y="2928934"/>
            <a:ext cx="642942" cy="136656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43306" y="2071678"/>
            <a:ext cx="192882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hash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</p:spTree>
    <p:extLst>
      <p:ext uri="{BB962C8B-B14F-4D97-AF65-F5344CB8AC3E}">
        <p14:creationId xmlns:p14="http://schemas.microsoft.com/office/powerpoint/2010/main" val="15932466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proof that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430" y="4286256"/>
            <a:ext cx="228601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signature schemes exist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57686" y="2714620"/>
            <a:ext cx="642942" cy="136656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43306" y="1857364"/>
            <a:ext cx="221457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one-way functions</a:t>
            </a:r>
            <a:br>
              <a:rPr lang="en-US" b="1" dirty="0"/>
            </a:br>
            <a:r>
              <a:rPr lang="en-US" b="1" dirty="0"/>
              <a:t>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6050" y="5786454"/>
            <a:ext cx="3962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is more complicated</a:t>
            </a:r>
          </a:p>
        </p:txBody>
      </p:sp>
    </p:spTree>
    <p:extLst>
      <p:ext uri="{BB962C8B-B14F-4D97-AF65-F5344CB8AC3E}">
        <p14:creationId xmlns:p14="http://schemas.microsoft.com/office/powerpoint/2010/main" val="16926322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20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 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43904</TotalTime>
  <Words>5233</Words>
  <Application>Microsoft Office PowerPoint</Application>
  <PresentationFormat>Pokaz na ekranie (4:3)</PresentationFormat>
  <Paragraphs>1003</Paragraphs>
  <Slides>89</Slides>
  <Notes>60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89</vt:i4>
      </vt:variant>
    </vt:vector>
  </HeadingPairs>
  <TitlesOfParts>
    <vt:vector size="96" baseType="lpstr">
      <vt:lpstr>ＭＳ Ｐゴシック</vt:lpstr>
      <vt:lpstr>Arial</vt:lpstr>
      <vt:lpstr>Calibri</vt:lpstr>
      <vt:lpstr>Cambria</vt:lpstr>
      <vt:lpstr>Cambria Math</vt:lpstr>
      <vt:lpstr>Lucida Calligraphy</vt:lpstr>
      <vt:lpstr>Office Theme</vt:lpstr>
      <vt:lpstr>Prezentacja programu PowerPoint</vt:lpstr>
      <vt:lpstr>Plan</vt:lpstr>
      <vt:lpstr>Signature schemes</vt:lpstr>
      <vt:lpstr>Message Authentication Codes</vt:lpstr>
      <vt:lpstr>Signatures</vt:lpstr>
      <vt:lpstr>Digital Signature Schemes</vt:lpstr>
      <vt:lpstr>Correctness</vt:lpstr>
      <vt:lpstr>How to define security?</vt:lpstr>
      <vt:lpstr>Prezentacja programu PowerPoint</vt:lpstr>
      <vt:lpstr>The security definition</vt:lpstr>
      <vt:lpstr>Prezentacja programu PowerPoint</vt:lpstr>
      <vt:lpstr>In general it’s not that simple</vt:lpstr>
      <vt:lpstr>Plan</vt:lpstr>
      <vt:lpstr>Prezentacja programu PowerPoint</vt:lpstr>
      <vt:lpstr>Problems with the “handbook RSA” [1/2]</vt:lpstr>
      <vt:lpstr>Problems with the “handbook RSA” [2/2]</vt:lpstr>
      <vt:lpstr>Is it a problem?</vt:lpstr>
      <vt:lpstr>Solution</vt:lpstr>
      <vt:lpstr>How to choose such H?</vt:lpstr>
      <vt:lpstr>A typical choice of H</vt:lpstr>
      <vt:lpstr>Hash-and-Sign [1/4]</vt:lpstr>
      <vt:lpstr>Hash-and-Sign [2/4]</vt:lpstr>
      <vt:lpstr>Hash-and-Sign [3/4]</vt:lpstr>
      <vt:lpstr>Hash-and-Sign [4/4]</vt:lpstr>
      <vt:lpstr>Can anything be proven about the “hashed RSA” scheme?</vt:lpstr>
      <vt:lpstr>Why the security proof from the RSA assumption is impossible?</vt:lpstr>
      <vt:lpstr>Solution: “Full Domain Hash” (FDH)</vt:lpstr>
      <vt:lpstr>Fact (security of the Full Domain Hash)</vt:lpstr>
      <vt:lpstr>Remember the Random Oracle Model?</vt:lpstr>
      <vt:lpstr>Why does it help?</vt:lpstr>
      <vt:lpstr>Intuition</vt:lpstr>
      <vt:lpstr>Other popular signature schemes</vt:lpstr>
      <vt:lpstr>Plan</vt:lpstr>
      <vt:lpstr>Identification schemes</vt:lpstr>
      <vt:lpstr>Definition</vt:lpstr>
      <vt:lpstr>What is the attack model?</vt:lpstr>
      <vt:lpstr>Then he has to win in the following game</vt:lpstr>
      <vt:lpstr>Note</vt:lpstr>
      <vt:lpstr>Schnorr identification scheme</vt:lpstr>
      <vt:lpstr>The protocol</vt:lpstr>
      <vt:lpstr>Why is this protocol correct?</vt:lpstr>
      <vt:lpstr>Security</vt:lpstr>
      <vt:lpstr>Lemma</vt:lpstr>
      <vt:lpstr>Proof by contradiction</vt:lpstr>
      <vt:lpstr>To finish the full security proof we need to show the following</vt:lpstr>
      <vt:lpstr>How do the transcripts look like?</vt:lpstr>
      <vt:lpstr>How can the adversary do it?</vt:lpstr>
      <vt:lpstr>Therefore</vt:lpstr>
      <vt:lpstr>Note the difference</vt:lpstr>
      <vt:lpstr>Conclusion</vt:lpstr>
      <vt:lpstr>Plan</vt:lpstr>
      <vt:lpstr>Fiat-Shamir transform: main idea</vt:lpstr>
      <vt:lpstr>Create a signature scheme as follows</vt:lpstr>
      <vt:lpstr>How to verify?</vt:lpstr>
      <vt:lpstr>More formally</vt:lpstr>
      <vt:lpstr>Why does it work?</vt:lpstr>
      <vt:lpstr>Security</vt:lpstr>
      <vt:lpstr>Now look at the challenge phase</vt:lpstr>
      <vt:lpstr>Using this method we can construct signature schemes</vt:lpstr>
      <vt:lpstr>Schnorr’s signature scheme</vt:lpstr>
      <vt:lpstr>Plan</vt:lpstr>
      <vt:lpstr>DSS signatures (also called DSA)</vt:lpstr>
      <vt:lpstr>Note</vt:lpstr>
      <vt:lpstr>Plan</vt:lpstr>
      <vt:lpstr>Signatures schemes can be constructed from any one-way function</vt:lpstr>
      <vt:lpstr>One-time signatures (Leslie Lamport)</vt:lpstr>
      <vt:lpstr>Why is it secure?</vt:lpstr>
      <vt:lpstr>Prezentacja programu PowerPoint</vt:lpstr>
      <vt:lpstr>How to sign longer messages?</vt:lpstr>
      <vt:lpstr>Example</vt:lpstr>
      <vt:lpstr>Why each key can be used at most once?</vt:lpstr>
      <vt:lpstr>Problem</vt:lpstr>
      <vt:lpstr>How to sign long messages?</vt:lpstr>
      <vt:lpstr>Idea: to sign multiple messages use “certification”</vt:lpstr>
      <vt:lpstr>How to verify?</vt:lpstr>
      <vt:lpstr>Problems</vt:lpstr>
      <vt:lpstr>Solution to the first problem</vt:lpstr>
      <vt:lpstr>The tree:</vt:lpstr>
      <vt:lpstr>The details</vt:lpstr>
      <vt:lpstr>The key pairs are generated on-fly</vt:lpstr>
      <vt:lpstr>Why we have to remember the old keys?</vt:lpstr>
      <vt:lpstr>Problem</vt:lpstr>
      <vt:lpstr>Remember the pseudorandom functions (PRFs)?</vt:lpstr>
      <vt:lpstr>Solution</vt:lpstr>
      <vt:lpstr>We have shown that</vt:lpstr>
      <vt:lpstr>But we know that</vt:lpstr>
      <vt:lpstr>Therefore we have shown that</vt:lpstr>
      <vt:lpstr>The proof that 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1173</cp:revision>
  <cp:lastPrinted>2018-12-05T15:09:24Z</cp:lastPrinted>
  <dcterms:created xsi:type="dcterms:W3CDTF">2015-07-03T16:44:25Z</dcterms:created>
  <dcterms:modified xsi:type="dcterms:W3CDTF">2026-01-12T09:51:46Z</dcterms:modified>
</cp:coreProperties>
</file>